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hyperlink" Target="https://pratibimb-pi.vercel.app" TargetMode="External"/><Relationship Id="rId7" Type="http://schemas.openxmlformats.org/officeDocument/2006/relationships/hyperlink" Target="https://github.com/pndynkt/Team-AMAZE_IIM-Lucknow" TargetMode="External"/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image" Target="../media/image-2-18.png"/><Relationship Id="rId19" Type="http://schemas.openxmlformats.org/officeDocument/2006/relationships/image" Target="../media/image-2-19.png"/><Relationship Id="rId20" Type="http://schemas.openxmlformats.org/officeDocument/2006/relationships/image" Target="../media/image-2-20.png"/><Relationship Id="rId21" Type="http://schemas.openxmlformats.org/officeDocument/2006/relationships/image" Target="../media/image-2-21.png"/><Relationship Id="rId22" Type="http://schemas.openxmlformats.org/officeDocument/2006/relationships/image" Target="../media/image-2-22.png"/><Relationship Id="rId23" Type="http://schemas.openxmlformats.org/officeDocument/2006/relationships/image" Target="../media/image-2-23.png"/><Relationship Id="rId24" Type="http://schemas.openxmlformats.org/officeDocument/2006/relationships/image" Target="../media/image-2-24.png"/><Relationship Id="rId25" Type="http://schemas.openxmlformats.org/officeDocument/2006/relationships/image" Target="../media/image-2-25.png"/><Relationship Id="rId26" Type="http://schemas.openxmlformats.org/officeDocument/2006/relationships/image" Target="../media/image-2-26.png"/><Relationship Id="rId27" Type="http://schemas.openxmlformats.org/officeDocument/2006/relationships/image" Target="../media/image-2-27.png"/><Relationship Id="rId28" Type="http://schemas.openxmlformats.org/officeDocument/2006/relationships/image" Target="../media/image-2-28.png"/><Relationship Id="rId29" Type="http://schemas.openxmlformats.org/officeDocument/2006/relationships/image" Target="../media/image-2-29.png"/><Relationship Id="rId30" Type="http://schemas.openxmlformats.org/officeDocument/2006/relationships/image" Target="../media/image-2-4.png"/><Relationship Id="rId31" Type="http://schemas.openxmlformats.org/officeDocument/2006/relationships/image" Target="../media/image-2-31.png"/><Relationship Id="rId32" Type="http://schemas.openxmlformats.org/officeDocument/2006/relationships/image" Target="../media/image-2-32.png"/><Relationship Id="rId33" Type="http://schemas.openxmlformats.org/officeDocument/2006/relationships/image" Target="../media/image-2-33.png"/><Relationship Id="rId34" Type="http://schemas.openxmlformats.org/officeDocument/2006/relationships/image" Target="../media/image-2-34.png"/><Relationship Id="rId35" Type="http://schemas.openxmlformats.org/officeDocument/2006/relationships/image" Target="../media/image-2-35.png"/><Relationship Id="rId36" Type="http://schemas.openxmlformats.org/officeDocument/2006/relationships/image" Target="../media/image-2-36.png"/><Relationship Id="rId37" Type="http://schemas.openxmlformats.org/officeDocument/2006/relationships/slideLayout" Target="../slideLayouts/slideLayout2.xml"/><Relationship Id="rId3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image" Target="../media/image-3-19.png"/><Relationship Id="rId20" Type="http://schemas.openxmlformats.org/officeDocument/2006/relationships/image" Target="../media/image-3-20.png"/><Relationship Id="rId21" Type="http://schemas.openxmlformats.org/officeDocument/2006/relationships/image" Target="../media/image-3-21.png"/><Relationship Id="rId22" Type="http://schemas.openxmlformats.org/officeDocument/2006/relationships/image" Target="../media/image-3-22.png"/><Relationship Id="rId23" Type="http://schemas.openxmlformats.org/officeDocument/2006/relationships/image" Target="../media/image-3-23.png"/><Relationship Id="rId24" Type="http://schemas.openxmlformats.org/officeDocument/2006/relationships/slideLayout" Target="../slideLayouts/slideLayout2.xml"/><Relationship Id="rId2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5" Type="http://schemas.openxmlformats.org/officeDocument/2006/relationships/hyperlink" Target="https://pratibimb-pi.vercel.app" TargetMode="External"/><Relationship Id="rId16" Type="http://schemas.openxmlformats.org/officeDocument/2006/relationships/hyperlink" Target="https://github.com/pndynkt/Team-AMAZE_IIM-Lucknow" TargetMode="External"/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7" Type="http://schemas.openxmlformats.org/officeDocument/2006/relationships/slideLayout" Target="../slideLayouts/slideLayout2.xml"/><Relationship Id="rId1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hyperlink" Target="https://pratibimb-pi.vercel.app" TargetMode="Externa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13248" y="0"/>
            <a:ext cx="1005840" cy="6858000"/>
          </a:xfrm>
          <a:custGeom>
            <a:avLst/>
            <a:gdLst/>
            <a:ahLst/>
            <a:cxnLst/>
            <a:rect l="l" t="t" r="r" b="b"/>
            <a:pathLst>
              <a:path w="1005840" h="6858000">
                <a:moveTo>
                  <a:pt x="822960" y="0"/>
                </a:moveTo>
                <a:lnTo>
                  <a:pt x="1005840" y="0"/>
                </a:lnTo>
                <a:lnTo>
                  <a:pt x="18288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B7F86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0" y="0"/>
            <a:ext cx="1060704" cy="6858000"/>
          </a:xfrm>
          <a:custGeom>
            <a:avLst/>
            <a:gdLst/>
            <a:ahLst/>
            <a:cxnLst/>
            <a:rect l="l" t="t" r="r" b="b"/>
            <a:pathLst>
              <a:path w="1060704" h="6858000">
                <a:moveTo>
                  <a:pt x="822960" y="0"/>
                </a:moveTo>
                <a:lnTo>
                  <a:pt x="1060704" y="0"/>
                </a:lnTo>
                <a:lnTo>
                  <a:pt x="23774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D9668E"/>
          </a:solidFill>
          <a:ln/>
        </p:spPr>
      </p:sp>
      <p:sp>
        <p:nvSpPr>
          <p:cNvPr id="4" name="Shape 2"/>
          <p:cNvSpPr/>
          <p:nvPr/>
        </p:nvSpPr>
        <p:spPr>
          <a:xfrm>
            <a:off x="5989320" y="0"/>
            <a:ext cx="6202375" cy="6858000"/>
          </a:xfrm>
          <a:custGeom>
            <a:avLst/>
            <a:gdLst/>
            <a:ahLst/>
            <a:cxnLst/>
            <a:rect l="l" t="t" r="r" b="b"/>
            <a:pathLst>
              <a:path w="6202375" h="6858000">
                <a:moveTo>
                  <a:pt x="822960" y="0"/>
                </a:moveTo>
                <a:lnTo>
                  <a:pt x="6202375" y="0"/>
                </a:lnTo>
                <a:lnTo>
                  <a:pt x="620237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10302F"/>
          </a:solidFill>
          <a:ln/>
        </p:spPr>
      </p:sp>
      <p:pic>
        <p:nvPicPr>
          <p:cNvPr id="5" name="Image 0" descr="Light on still water patter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97112" y="0"/>
            <a:ext cx="3291840" cy="6858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0" y="2240280"/>
            <a:ext cx="4206240" cy="4206240"/>
          </a:xfrm>
          <a:prstGeom prst="ellipse">
            <a:avLst/>
          </a:prstGeom>
          <a:solidFill>
            <a:srgbClr val="F4F1EA"/>
          </a:solidFill>
          <a:ln w="31750">
            <a:solidFill>
              <a:srgbClr val="D9668E"/>
            </a:solidFill>
            <a:prstDash val="solid"/>
          </a:ln>
        </p:spPr>
      </p:sp>
      <p:pic>
        <p:nvPicPr>
          <p:cNvPr id="7" name="Image 1" descr="Meera, a synthetic patient, showing her watc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7184" y="2157984"/>
            <a:ext cx="4434840" cy="4730496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9829800" y="320040"/>
            <a:ext cx="205740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829800" y="39319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10302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HAPPIEST HEALTH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9829800" y="66751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B23F69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DIGITAL TWIN CHALLENGE 2026</a:t>
            </a:r>
            <a:endParaRPr lang="en-US" sz="800" dirty="0"/>
          </a:p>
        </p:txBody>
      </p:sp>
      <p:pic>
        <p:nvPicPr>
          <p:cNvPr id="11" name="Image 2" descr="Pratibimb log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02920"/>
            <a:ext cx="2377440" cy="45781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66928" y="109728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B23F69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DIGITAL TWIN CHALLENGE 2026  |  PHASE 1  |  PROTOTYPE AND CODE</a:t>
            </a:r>
            <a:endParaRPr lang="en-US" sz="1000" dirty="0"/>
          </a:p>
        </p:txBody>
      </p:sp>
      <p:sp>
        <p:nvSpPr>
          <p:cNvPr id="13" name="Text 8"/>
          <p:cNvSpPr txBox="1"/>
          <p:nvPr/>
        </p:nvSpPr>
        <p:spPr>
          <a:xfrm>
            <a:off x="457200" y="1371600"/>
            <a:ext cx="5669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7600" b="1" dirty="0">
                <a:solidFill>
                  <a:srgbClr val="086A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PRATIBIMB</a:t>
            </a:r>
            <a:endParaRPr lang="en-US" sz="7600" dirty="0"/>
          </a:p>
        </p:txBody>
      </p:sp>
      <p:pic>
        <p:nvPicPr>
          <p:cNvPr id="14" name="Image 3" descr="Pratibimb written in Devanagari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" y="2615184"/>
            <a:ext cx="2701897" cy="786384"/>
          </a:xfrm>
          <a:prstGeom prst="rect">
            <a:avLst/>
          </a:prstGeom>
        </p:spPr>
      </p:pic>
      <p:pic>
        <p:nvPicPr>
          <p:cNvPr id="15" name="Image 4" descr="Motif strip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3639312"/>
            <a:ext cx="3017520" cy="15544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566928" y="3950208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86A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Reflection, in Hindi and Sanskrit. </a:t>
            </a:r>
            <a:r>
              <a:rPr lang="en-US" sz="15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 digital twin of one patient's body that fuses the health record with a budget watch and a home BP cuff, and warns the doctor up to 72 hours before a strain episode.</a:t>
            </a:r>
            <a:endParaRPr lang="en-US" sz="1500" dirty="0"/>
          </a:p>
        </p:txBody>
      </p:sp>
      <p:sp>
        <p:nvSpPr>
          <p:cNvPr id="17" name="Shape 10"/>
          <p:cNvSpPr/>
          <p:nvPr/>
        </p:nvSpPr>
        <p:spPr>
          <a:xfrm>
            <a:off x="566928" y="5074920"/>
            <a:ext cx="54864" cy="868680"/>
          </a:xfrm>
          <a:prstGeom prst="rect">
            <a:avLst/>
          </a:prstGeom>
          <a:solidFill>
            <a:srgbClr val="B23F69"/>
          </a:solidFill>
          <a:ln/>
        </p:spPr>
      </p:sp>
      <p:sp>
        <p:nvSpPr>
          <p:cNvPr id="18" name="Text 11"/>
          <p:cNvSpPr txBox="1"/>
          <p:nvPr/>
        </p:nvSpPr>
        <p:spPr>
          <a:xfrm>
            <a:off x="749808" y="50566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SUBMITTED BY</a:t>
            </a:r>
            <a:endParaRPr lang="en-US" sz="900" dirty="0"/>
          </a:p>
        </p:txBody>
      </p:sp>
      <p:sp>
        <p:nvSpPr>
          <p:cNvPr id="19" name="Text 12"/>
          <p:cNvSpPr txBox="1"/>
          <p:nvPr/>
        </p:nvSpPr>
        <p:spPr>
          <a:xfrm>
            <a:off x="749808" y="527608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86A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Team AMAZE</a:t>
            </a:r>
            <a:endParaRPr lang="en-US" sz="1900" dirty="0"/>
          </a:p>
        </p:txBody>
      </p:sp>
      <p:sp>
        <p:nvSpPr>
          <p:cNvPr id="20" name="Text 13"/>
          <p:cNvSpPr txBox="1"/>
          <p:nvPr/>
        </p:nvSpPr>
        <p:spPr>
          <a:xfrm>
            <a:off x="749808" y="56052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Nikita Pandey (team leader)  |  Suraj Aryan</a:t>
            </a:r>
            <a:endParaRPr lang="en-US" sz="1250" dirty="0"/>
          </a:p>
        </p:txBody>
      </p:sp>
      <p:sp>
        <p:nvSpPr>
          <p:cNvPr id="21" name="Text 14"/>
          <p:cNvSpPr txBox="1"/>
          <p:nvPr/>
        </p:nvSpPr>
        <p:spPr>
          <a:xfrm>
            <a:off x="749808" y="583387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IIM Lucknow, PGP in Sustainable Management</a:t>
            </a:r>
            <a:endParaRPr lang="en-US" sz="1000" dirty="0"/>
          </a:p>
        </p:txBody>
      </p:sp>
      <p:sp>
        <p:nvSpPr>
          <p:cNvPr id="22" name="Text 15"/>
          <p:cNvSpPr txBox="1"/>
          <p:nvPr/>
        </p:nvSpPr>
        <p:spPr>
          <a:xfrm>
            <a:off x="566928" y="6291072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Live demo  </a:t>
            </a:r>
            <a:r>
              <a:rPr lang="en-US" sz="950" b="1" u="sng" dirty="0">
                <a:solidFill>
                  <a:srgbClr val="086A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  <a:hlinkClick r:id="rId6" invalidUrl="" action="" tgtFrame="" tooltip="https://pratibimb-pi.vercel.app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pratibimb-pi.vercel.app</a:t>
            </a:r>
            <a:r>
              <a:rPr lang="en-US" sz="950" b="1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     Code  </a:t>
            </a:r>
            <a:r>
              <a:rPr lang="en-US" sz="950" u="sng" dirty="0">
                <a:solidFill>
                  <a:srgbClr val="086A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  <a:hlinkClick r:id="rId7" invalidUrl="" action="" tgtFrame="" tooltip="https://github.com/pndynkt/Team-AMAZE_IIM-Lucknow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github.com/pndynkt/Team-AMAZE_IIM-Lucknow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atibimb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82296"/>
            <a:ext cx="1627632" cy="3134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82880" y="429768"/>
            <a:ext cx="1737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spc="50" kern="0" dirty="0">
                <a:solidFill>
                  <a:srgbClr val="B23F69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DIGITAL TWIN CHALLENGE 2026</a:t>
            </a:r>
            <a:endParaRPr lang="en-US" sz="700" dirty="0"/>
          </a:p>
        </p:txBody>
      </p:sp>
      <p:sp>
        <p:nvSpPr>
          <p:cNvPr id="4" name="Shape 1"/>
          <p:cNvSpPr/>
          <p:nvPr/>
        </p:nvSpPr>
        <p:spPr>
          <a:xfrm>
            <a:off x="1956816" y="91440"/>
            <a:ext cx="91" cy="457200"/>
          </a:xfrm>
          <a:prstGeom prst="line">
            <a:avLst/>
          </a:prstGeom>
          <a:noFill/>
          <a:ln w="9525">
            <a:solidFill>
              <a:srgbClr val="D6D0C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2066544" y="1828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86A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PRATIBIMB</a:t>
            </a:r>
            <a:r>
              <a:rPr lang="en-US" sz="2400" b="1" dirty="0">
                <a:solidFill>
                  <a:srgbClr val="B23F69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 AT A GLANCE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2075688" y="393192"/>
            <a:ext cx="3291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 digital twin for Indian adults with high blood pressure, on the watch they already own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358384" y="91440"/>
            <a:ext cx="45720" cy="457200"/>
          </a:xfrm>
          <a:prstGeom prst="rect">
            <a:avLst/>
          </a:prstGeom>
          <a:solidFill>
            <a:srgbClr val="B23F69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77256" y="54864"/>
            <a:ext cx="4434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86A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Read every night against the patient's own body. </a:t>
            </a:r>
            <a:r>
              <a:rPr lang="en-US" sz="9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Pratibimb learns how one person responds to sleep and walking and alerts only on what those habits cannot explain: </a:t>
            </a:r>
            <a:r>
              <a:rPr lang="en-US" sz="950" b="1" dirty="0">
                <a:solidFill>
                  <a:srgbClr val="086A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70% of strain episodes caught, a median 48 hours early, at 1 false alert per 22 patient-days.</a:t>
            </a:r>
            <a:endParaRPr lang="en-US" sz="950" dirty="0"/>
          </a:p>
        </p:txBody>
      </p:sp>
      <p:pic>
        <p:nvPicPr>
          <p:cNvPr id="9" name="Image 1" descr="QR code to the live dem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0112" y="73152"/>
            <a:ext cx="475488" cy="47548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552176" y="82296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SCAN FOR THE</a:t>
            </a:r>
            <a:endParaRPr lang="en-US" sz="650" dirty="0"/>
          </a:p>
          <a:p>
            <a:pPr algn="l" indent="0" marL="0">
              <a:buNone/>
            </a:pPr>
            <a:r>
              <a:rPr lang="en-US" sz="650" b="1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LIVE DEMO</a:t>
            </a:r>
            <a:endParaRPr lang="en-US" sz="650" dirty="0"/>
          </a:p>
          <a:p>
            <a:pPr algn="l" indent="0" marL="0">
              <a:buNone/>
            </a:pPr>
            <a:r>
              <a:rPr lang="en-US" sz="650" b="1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no sign-in</a:t>
            </a:r>
            <a:endParaRPr lang="en-US" sz="650" dirty="0"/>
          </a:p>
        </p:txBody>
      </p:sp>
      <p:sp>
        <p:nvSpPr>
          <p:cNvPr id="11" name="Text 7"/>
          <p:cNvSpPr txBox="1"/>
          <p:nvPr/>
        </p:nvSpPr>
        <p:spPr>
          <a:xfrm>
            <a:off x="11064240" y="82296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86A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TEAM AMAZE</a:t>
            </a:r>
            <a:endParaRPr lang="en-US" sz="750" dirty="0"/>
          </a:p>
          <a:p>
            <a:pPr algn="r" indent="0" marL="0">
              <a:buNone/>
            </a:pPr>
            <a:r>
              <a:rPr lang="en-US" sz="750" b="1" dirty="0">
                <a:solidFill>
                  <a:srgbClr val="086A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IIM LUCKNOW</a:t>
            </a:r>
            <a:endParaRPr lang="en-US" sz="750" dirty="0"/>
          </a:p>
          <a:p>
            <a:pPr algn="r" indent="0" marL="0">
              <a:buNone/>
            </a:pPr>
            <a:r>
              <a:rPr lang="en-US" sz="750" b="1" dirty="0">
                <a:solidFill>
                  <a:srgbClr val="086A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PGPSM</a:t>
            </a:r>
            <a:endParaRPr lang="en-US" sz="750" dirty="0"/>
          </a:p>
        </p:txBody>
      </p:sp>
      <p:pic>
        <p:nvPicPr>
          <p:cNvPr id="12" name="Image 2" descr="Motif stri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" y="612648"/>
            <a:ext cx="11969496" cy="6400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109728" y="722376"/>
            <a:ext cx="11969496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2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109728" y="722376"/>
            <a:ext cx="237744" cy="1847088"/>
          </a:xfrm>
          <a:prstGeom prst="rect">
            <a:avLst/>
          </a:prstGeom>
          <a:solidFill>
            <a:srgbClr val="B23F69"/>
          </a:solidFill>
          <a:ln/>
        </p:spPr>
      </p:sp>
      <p:sp>
        <p:nvSpPr>
          <p:cNvPr id="15" name="Text 10"/>
          <p:cNvSpPr txBox="1"/>
          <p:nvPr/>
        </p:nvSpPr>
        <p:spPr>
          <a:xfrm rot="16200000">
            <a:off x="-694944" y="1527048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01  WHAT WE FOUND</a:t>
            </a:r>
            <a:endParaRPr lang="en-US" sz="800" dirty="0"/>
          </a:p>
        </p:txBody>
      </p:sp>
      <p:sp>
        <p:nvSpPr>
          <p:cNvPr id="16" name="Shape 11"/>
          <p:cNvSpPr/>
          <p:nvPr/>
        </p:nvSpPr>
        <p:spPr>
          <a:xfrm>
            <a:off x="3136392" y="795528"/>
            <a:ext cx="91" cy="1700784"/>
          </a:xfrm>
          <a:prstGeom prst="line">
            <a:avLst/>
          </a:prstGeom>
          <a:noFill/>
          <a:ln w="9525">
            <a:solidFill>
              <a:srgbClr val="D6D0C2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586984" y="795528"/>
            <a:ext cx="91" cy="1700784"/>
          </a:xfrm>
          <a:prstGeom prst="line">
            <a:avLst/>
          </a:prstGeom>
          <a:noFill/>
          <a:ln w="9525">
            <a:solidFill>
              <a:srgbClr val="D6D0C2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8074152" y="795528"/>
            <a:ext cx="91" cy="1700784"/>
          </a:xfrm>
          <a:prstGeom prst="line">
            <a:avLst/>
          </a:prstGeom>
          <a:noFill/>
          <a:ln w="9525">
            <a:solidFill>
              <a:srgbClr val="D6D0C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10122408" y="795528"/>
            <a:ext cx="91" cy="1700784"/>
          </a:xfrm>
          <a:prstGeom prst="line">
            <a:avLst/>
          </a:prstGeom>
          <a:noFill/>
          <a:ln w="9525">
            <a:solidFill>
              <a:srgbClr val="D6D0C2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57200" y="800100"/>
            <a:ext cx="64008" cy="64008"/>
          </a:xfrm>
          <a:prstGeom prst="rect">
            <a:avLst/>
          </a:prstGeom>
          <a:solidFill>
            <a:srgbClr val="B23F69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557784" y="754380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WHO WE BUILD FOR</a:t>
            </a:r>
            <a:endParaRPr lang="en-US" sz="800" dirty="0"/>
          </a:p>
        </p:txBody>
      </p:sp>
      <p:sp>
        <p:nvSpPr>
          <p:cNvPr id="22" name="Text 17"/>
          <p:cNvSpPr txBox="1"/>
          <p:nvPr/>
        </p:nvSpPr>
        <p:spPr>
          <a:xfrm>
            <a:off x="2615184" y="754380"/>
            <a:ext cx="457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B23F69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SEE A1</a:t>
            </a:r>
            <a:endParaRPr lang="en-US" sz="700" dirty="0"/>
          </a:p>
        </p:txBody>
      </p:sp>
      <p:pic>
        <p:nvPicPr>
          <p:cNvPr id="23" name="Image 3" descr="Meera Iyer, 58  |  Patient, Bengaluru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36" y="987552"/>
            <a:ext cx="475488" cy="475488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932688" y="978408"/>
            <a:ext cx="2157984" cy="155448"/>
          </a:xfrm>
          <a:prstGeom prst="rect">
            <a:avLst/>
          </a:prstGeom>
          <a:solidFill>
            <a:srgbClr val="B23F69"/>
          </a:solidFill>
          <a:ln/>
        </p:spPr>
      </p:sp>
      <p:sp>
        <p:nvSpPr>
          <p:cNvPr id="25" name="Text 19"/>
          <p:cNvSpPr txBox="1"/>
          <p:nvPr/>
        </p:nvSpPr>
        <p:spPr>
          <a:xfrm>
            <a:off x="969264" y="978408"/>
            <a:ext cx="1600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Meera Iyer, 58  |  Patient, Bengaluru</a:t>
            </a:r>
            <a:endParaRPr lang="en-US" sz="730" dirty="0"/>
          </a:p>
        </p:txBody>
      </p:sp>
      <p:sp>
        <p:nvSpPr>
          <p:cNvPr id="26" name="Text 20"/>
          <p:cNvSpPr txBox="1"/>
          <p:nvPr/>
        </p:nvSpPr>
        <p:spPr>
          <a:xfrm>
            <a:off x="2395728" y="978408"/>
            <a:ext cx="6583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PATIENT</a:t>
            </a:r>
            <a:endParaRPr lang="en-US" sz="650" dirty="0"/>
          </a:p>
        </p:txBody>
      </p:sp>
      <p:pic>
        <p:nvPicPr>
          <p:cNvPr id="27" name="Image 4" descr="g_want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76" y="1163117"/>
            <a:ext cx="77724" cy="77724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051560" y="1152144"/>
            <a:ext cx="205740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086A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Wants: </a:t>
            </a:r>
            <a:r>
              <a:rPr lang="en-US" sz="68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to stay well and out of hospital</a:t>
            </a:r>
            <a:endParaRPr lang="en-US" sz="680" dirty="0"/>
          </a:p>
        </p:txBody>
      </p:sp>
      <p:pic>
        <p:nvPicPr>
          <p:cNvPr id="29" name="Image 5" descr="g_pain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976" y="1268273"/>
            <a:ext cx="77724" cy="77724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1051560" y="1257300"/>
            <a:ext cx="205740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B03A2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Pain: </a:t>
            </a:r>
            <a:r>
              <a:rPr lang="en-US" sz="68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feels fine until the day she does not</a:t>
            </a:r>
            <a:endParaRPr lang="en-US" sz="680" dirty="0"/>
          </a:p>
        </p:txBody>
      </p:sp>
      <p:pic>
        <p:nvPicPr>
          <p:cNvPr id="31" name="Image 6" descr="g_gets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0976" y="1373429"/>
            <a:ext cx="77724" cy="77724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1051560" y="1362456"/>
            <a:ext cx="205740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187A4C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Gets: </a:t>
            </a:r>
            <a:r>
              <a:rPr lang="en-US" sz="68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one line in Hindi or English, her best habit</a:t>
            </a:r>
            <a:endParaRPr lang="en-US" sz="680" dirty="0"/>
          </a:p>
        </p:txBody>
      </p:sp>
      <p:pic>
        <p:nvPicPr>
          <p:cNvPr id="33" name="Image 7" descr="Dr Kavya Rao  |  Physician, 240 patients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2336" y="1508760"/>
            <a:ext cx="475488" cy="475488"/>
          </a:xfrm>
          <a:prstGeom prst="rect">
            <a:avLst/>
          </a:prstGeom>
        </p:spPr>
      </p:pic>
      <p:sp>
        <p:nvSpPr>
          <p:cNvPr id="34" name="Shape 24"/>
          <p:cNvSpPr/>
          <p:nvPr/>
        </p:nvSpPr>
        <p:spPr>
          <a:xfrm>
            <a:off x="932688" y="1499616"/>
            <a:ext cx="2157984" cy="155448"/>
          </a:xfrm>
          <a:prstGeom prst="rect">
            <a:avLst/>
          </a:prstGeom>
          <a:solidFill>
            <a:srgbClr val="086A70"/>
          </a:solidFill>
          <a:ln/>
        </p:spPr>
      </p:sp>
      <p:sp>
        <p:nvSpPr>
          <p:cNvPr id="35" name="Text 25"/>
          <p:cNvSpPr txBox="1"/>
          <p:nvPr/>
        </p:nvSpPr>
        <p:spPr>
          <a:xfrm>
            <a:off x="969264" y="1499616"/>
            <a:ext cx="1600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Dr Kavya Rao  |  Physician, 240 patients</a:t>
            </a:r>
            <a:endParaRPr lang="en-US" sz="730" dirty="0"/>
          </a:p>
        </p:txBody>
      </p:sp>
      <p:sp>
        <p:nvSpPr>
          <p:cNvPr id="36" name="Text 26"/>
          <p:cNvSpPr txBox="1"/>
          <p:nvPr/>
        </p:nvSpPr>
        <p:spPr>
          <a:xfrm>
            <a:off x="2395728" y="1499616"/>
            <a:ext cx="6583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DOCTOR</a:t>
            </a:r>
            <a:endParaRPr lang="en-US" sz="650" dirty="0"/>
          </a:p>
        </p:txBody>
      </p:sp>
      <p:pic>
        <p:nvPicPr>
          <p:cNvPr id="37" name="Image 8" descr="g_want ico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0976" y="1684325"/>
            <a:ext cx="77724" cy="77724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1051560" y="1673352"/>
            <a:ext cx="205740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086A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Wants: </a:t>
            </a:r>
            <a:r>
              <a:rPr lang="en-US" sz="68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to know whom to call today</a:t>
            </a:r>
            <a:endParaRPr lang="en-US" sz="680" dirty="0"/>
          </a:p>
        </p:txBody>
      </p:sp>
      <p:pic>
        <p:nvPicPr>
          <p:cNvPr id="39" name="Image 9" descr="g_pain icon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0976" y="1789481"/>
            <a:ext cx="77724" cy="77724"/>
          </a:xfrm>
          <a:prstGeom prst="rect">
            <a:avLst/>
          </a:prstGeom>
        </p:spPr>
      </p:pic>
      <p:sp>
        <p:nvSpPr>
          <p:cNvPr id="40" name="Text 28"/>
          <p:cNvSpPr txBox="1"/>
          <p:nvPr/>
        </p:nvSpPr>
        <p:spPr>
          <a:xfrm>
            <a:off x="1051560" y="1778508"/>
            <a:ext cx="205740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B03A2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Pain: </a:t>
            </a:r>
            <a:r>
              <a:rPr lang="en-US" sz="68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threshold alarms on half of all readings</a:t>
            </a:r>
            <a:endParaRPr lang="en-US" sz="680" dirty="0"/>
          </a:p>
        </p:txBody>
      </p:sp>
      <p:pic>
        <p:nvPicPr>
          <p:cNvPr id="41" name="Image 10" descr="g_gets icon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0976" y="1894637"/>
            <a:ext cx="77724" cy="77724"/>
          </a:xfrm>
          <a:prstGeom prst="rect">
            <a:avLst/>
          </a:prstGeom>
        </p:spPr>
      </p:pic>
      <p:sp>
        <p:nvSpPr>
          <p:cNvPr id="42" name="Text 29"/>
          <p:cNvSpPr txBox="1"/>
          <p:nvPr/>
        </p:nvSpPr>
        <p:spPr>
          <a:xfrm>
            <a:off x="1051560" y="1883664"/>
            <a:ext cx="205740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187A4C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Gets: </a:t>
            </a:r>
            <a:r>
              <a:rPr lang="en-US" sz="68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 risk-sorted list inside an alarm budget</a:t>
            </a:r>
            <a:endParaRPr lang="en-US" sz="680" dirty="0"/>
          </a:p>
        </p:txBody>
      </p:sp>
      <p:pic>
        <p:nvPicPr>
          <p:cNvPr id="43" name="Image 11" descr="Anita Iyer, 34  |  Daughter-in-law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02336" y="2029968"/>
            <a:ext cx="475488" cy="475488"/>
          </a:xfrm>
          <a:prstGeom prst="rect">
            <a:avLst/>
          </a:prstGeom>
        </p:spPr>
      </p:pic>
      <p:sp>
        <p:nvSpPr>
          <p:cNvPr id="44" name="Shape 30"/>
          <p:cNvSpPr/>
          <p:nvPr/>
        </p:nvSpPr>
        <p:spPr>
          <a:xfrm>
            <a:off x="932688" y="2020824"/>
            <a:ext cx="2157984" cy="155448"/>
          </a:xfrm>
          <a:prstGeom prst="rect">
            <a:avLst/>
          </a:prstGeom>
          <a:solidFill>
            <a:srgbClr val="8A5A2B"/>
          </a:solidFill>
          <a:ln/>
        </p:spPr>
      </p:sp>
      <p:sp>
        <p:nvSpPr>
          <p:cNvPr id="45" name="Text 31"/>
          <p:cNvSpPr txBox="1"/>
          <p:nvPr/>
        </p:nvSpPr>
        <p:spPr>
          <a:xfrm>
            <a:off x="969264" y="2020824"/>
            <a:ext cx="1600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Anita Iyer, 34  |  Daughter-in-law</a:t>
            </a:r>
            <a:endParaRPr lang="en-US" sz="730" dirty="0"/>
          </a:p>
        </p:txBody>
      </p:sp>
      <p:sp>
        <p:nvSpPr>
          <p:cNvPr id="46" name="Text 32"/>
          <p:cNvSpPr txBox="1"/>
          <p:nvPr/>
        </p:nvSpPr>
        <p:spPr>
          <a:xfrm>
            <a:off x="2395728" y="2020824"/>
            <a:ext cx="6583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FAMILY</a:t>
            </a:r>
            <a:endParaRPr lang="en-US" sz="650" dirty="0"/>
          </a:p>
        </p:txBody>
      </p:sp>
      <p:pic>
        <p:nvPicPr>
          <p:cNvPr id="47" name="Image 12" descr="g_want icon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0976" y="2205533"/>
            <a:ext cx="77724" cy="77724"/>
          </a:xfrm>
          <a:prstGeom prst="rect">
            <a:avLst/>
          </a:prstGeom>
        </p:spPr>
      </p:pic>
      <p:sp>
        <p:nvSpPr>
          <p:cNvPr id="48" name="Text 33"/>
          <p:cNvSpPr txBox="1"/>
          <p:nvPr/>
        </p:nvSpPr>
        <p:spPr>
          <a:xfrm>
            <a:off x="1051560" y="2194560"/>
            <a:ext cx="205740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086A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Wants: </a:t>
            </a:r>
            <a:r>
              <a:rPr lang="en-US" sz="68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to know when to step in</a:t>
            </a:r>
            <a:endParaRPr lang="en-US" sz="680" dirty="0"/>
          </a:p>
        </p:txBody>
      </p:sp>
      <p:pic>
        <p:nvPicPr>
          <p:cNvPr id="49" name="Image 13" descr="g_pain icon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50976" y="2310689"/>
            <a:ext cx="77724" cy="77724"/>
          </a:xfrm>
          <a:prstGeom prst="rect">
            <a:avLst/>
          </a:prstGeom>
        </p:spPr>
      </p:pic>
      <p:sp>
        <p:nvSpPr>
          <p:cNvPr id="50" name="Text 34"/>
          <p:cNvSpPr txBox="1"/>
          <p:nvPr/>
        </p:nvSpPr>
        <p:spPr>
          <a:xfrm>
            <a:off x="1051560" y="2299716"/>
            <a:ext cx="205740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B03A2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Pain: </a:t>
            </a:r>
            <a:r>
              <a:rPr lang="en-US" sz="68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hears only once it is an emergency</a:t>
            </a:r>
            <a:endParaRPr lang="en-US" sz="680" dirty="0"/>
          </a:p>
        </p:txBody>
      </p:sp>
      <p:pic>
        <p:nvPicPr>
          <p:cNvPr id="51" name="Image 14" descr="g_gets icon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50976" y="2415845"/>
            <a:ext cx="77724" cy="77724"/>
          </a:xfrm>
          <a:prstGeom prst="rect">
            <a:avLst/>
          </a:prstGeom>
        </p:spPr>
      </p:pic>
      <p:sp>
        <p:nvSpPr>
          <p:cNvPr id="52" name="Text 35"/>
          <p:cNvSpPr txBox="1"/>
          <p:nvPr/>
        </p:nvSpPr>
        <p:spPr>
          <a:xfrm>
            <a:off x="1051560" y="2404872"/>
            <a:ext cx="205740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187A4C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Gets: </a:t>
            </a:r>
            <a:r>
              <a:rPr lang="en-US" sz="68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 consented SOS ladder, one tap to 112</a:t>
            </a:r>
            <a:endParaRPr lang="en-US" sz="680" dirty="0"/>
          </a:p>
        </p:txBody>
      </p:sp>
      <p:sp>
        <p:nvSpPr>
          <p:cNvPr id="53" name="Shape 36"/>
          <p:cNvSpPr/>
          <p:nvPr/>
        </p:nvSpPr>
        <p:spPr>
          <a:xfrm>
            <a:off x="3264408" y="800100"/>
            <a:ext cx="64008" cy="64008"/>
          </a:xfrm>
          <a:prstGeom prst="rect">
            <a:avLst/>
          </a:prstGeom>
          <a:solidFill>
            <a:srgbClr val="B23F69"/>
          </a:solidFill>
          <a:ln/>
        </p:spPr>
      </p:sp>
      <p:sp>
        <p:nvSpPr>
          <p:cNvPr id="54" name="Text 37"/>
          <p:cNvSpPr txBox="1"/>
          <p:nvPr/>
        </p:nvSpPr>
        <p:spPr>
          <a:xfrm>
            <a:off x="3364992" y="754380"/>
            <a:ext cx="1645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CONDITION</a:t>
            </a:r>
            <a:endParaRPr lang="en-US" sz="800" dirty="0"/>
          </a:p>
        </p:txBody>
      </p:sp>
      <p:sp>
        <p:nvSpPr>
          <p:cNvPr id="55" name="Text 38"/>
          <p:cNvSpPr txBox="1"/>
          <p:nvPr/>
        </p:nvSpPr>
        <p:spPr>
          <a:xfrm>
            <a:off x="5056632" y="754380"/>
            <a:ext cx="457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B23F69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SEE A1</a:t>
            </a:r>
            <a:endParaRPr lang="en-US" sz="700" dirty="0"/>
          </a:p>
        </p:txBody>
      </p:sp>
      <p:sp>
        <p:nvSpPr>
          <p:cNvPr id="56" name="Text 39"/>
          <p:cNvSpPr txBox="1"/>
          <p:nvPr/>
        </p:nvSpPr>
        <p:spPr>
          <a:xfrm>
            <a:off x="3209544" y="941832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B23F69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24%</a:t>
            </a:r>
            <a:endParaRPr lang="en-US" sz="2200" dirty="0"/>
          </a:p>
        </p:txBody>
      </p:sp>
      <p:sp>
        <p:nvSpPr>
          <p:cNvPr id="57" name="Text 40"/>
          <p:cNvSpPr txBox="1"/>
          <p:nvPr/>
        </p:nvSpPr>
        <p:spPr>
          <a:xfrm>
            <a:off x="3849624" y="96926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of Indian</a:t>
            </a:r>
            <a:endParaRPr lang="en-US" sz="680" dirty="0"/>
          </a:p>
          <a:p>
            <a:pPr algn="l" indent="0" marL="0">
              <a:buNone/>
            </a:pPr>
            <a:r>
              <a:rPr lang="en-US" sz="68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men</a:t>
            </a:r>
            <a:endParaRPr lang="en-US" sz="680" dirty="0"/>
          </a:p>
        </p:txBody>
      </p:sp>
      <p:sp>
        <p:nvSpPr>
          <p:cNvPr id="58" name="Text 41"/>
          <p:cNvSpPr txBox="1"/>
          <p:nvPr/>
        </p:nvSpPr>
        <p:spPr>
          <a:xfrm>
            <a:off x="4334256" y="941832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B23F69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21%</a:t>
            </a:r>
            <a:endParaRPr lang="en-US" sz="2200" dirty="0"/>
          </a:p>
        </p:txBody>
      </p:sp>
      <p:sp>
        <p:nvSpPr>
          <p:cNvPr id="59" name="Text 42"/>
          <p:cNvSpPr txBox="1"/>
          <p:nvPr/>
        </p:nvSpPr>
        <p:spPr>
          <a:xfrm>
            <a:off x="4974336" y="96926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of Indian</a:t>
            </a:r>
            <a:endParaRPr lang="en-US" sz="680" dirty="0"/>
          </a:p>
          <a:p>
            <a:pPr algn="l" indent="0" marL="0">
              <a:buNone/>
            </a:pPr>
            <a:r>
              <a:rPr lang="en-US" sz="68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women</a:t>
            </a:r>
            <a:endParaRPr lang="en-US" sz="680" dirty="0"/>
          </a:p>
        </p:txBody>
      </p:sp>
      <p:sp>
        <p:nvSpPr>
          <p:cNvPr id="60" name="Text 43"/>
          <p:cNvSpPr txBox="1"/>
          <p:nvPr/>
        </p:nvSpPr>
        <p:spPr>
          <a:xfrm>
            <a:off x="3209544" y="129844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8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have high blood pressure (NFHS-5). It is quiet: strain builds for days before a surge, a clinic or an ER visit.</a:t>
            </a:r>
            <a:endParaRPr lang="en-US" sz="680" dirty="0"/>
          </a:p>
        </p:txBody>
      </p:sp>
      <p:sp>
        <p:nvSpPr>
          <p:cNvPr id="61" name="Shape 44"/>
          <p:cNvSpPr/>
          <p:nvPr/>
        </p:nvSpPr>
        <p:spPr>
          <a:xfrm>
            <a:off x="3483864" y="1863090"/>
            <a:ext cx="2011680" cy="82296"/>
          </a:xfrm>
          <a:prstGeom prst="rect">
            <a:avLst/>
          </a:prstGeom>
          <a:solidFill>
            <a:srgbClr val="E5E1D6"/>
          </a:solidFill>
          <a:ln/>
        </p:spPr>
      </p:sp>
      <p:sp>
        <p:nvSpPr>
          <p:cNvPr id="62" name="Text 45"/>
          <p:cNvSpPr txBox="1"/>
          <p:nvPr/>
        </p:nvSpPr>
        <p:spPr>
          <a:xfrm>
            <a:off x="3209544" y="164592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B23F69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Heart</a:t>
            </a:r>
            <a:endParaRPr lang="en-US" sz="600" dirty="0"/>
          </a:p>
          <a:p>
            <a:pPr algn="l" indent="0" marL="0">
              <a:buNone/>
            </a:pPr>
            <a:r>
              <a:rPr lang="en-US" sz="600" b="1" dirty="0">
                <a:solidFill>
                  <a:srgbClr val="B23F69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rate</a:t>
            </a:r>
            <a:endParaRPr lang="en-US" sz="600" dirty="0"/>
          </a:p>
        </p:txBody>
      </p:sp>
      <p:sp>
        <p:nvSpPr>
          <p:cNvPr id="63" name="Shape 46"/>
          <p:cNvSpPr/>
          <p:nvPr/>
        </p:nvSpPr>
        <p:spPr>
          <a:xfrm flipV="1">
            <a:off x="3483864" y="1930298"/>
            <a:ext cx="223520" cy="6858"/>
          </a:xfrm>
          <a:prstGeom prst="line">
            <a:avLst/>
          </a:prstGeom>
          <a:noFill/>
          <a:ln w="19050">
            <a:solidFill>
              <a:srgbClr val="B23F69"/>
            </a:solidFill>
            <a:prstDash val="solid"/>
          </a:ln>
        </p:spPr>
      </p:sp>
      <p:sp>
        <p:nvSpPr>
          <p:cNvPr id="64" name="Shape 47"/>
          <p:cNvSpPr/>
          <p:nvPr/>
        </p:nvSpPr>
        <p:spPr>
          <a:xfrm flipV="1">
            <a:off x="3707384" y="1896008"/>
            <a:ext cx="223520" cy="34290"/>
          </a:xfrm>
          <a:prstGeom prst="line">
            <a:avLst/>
          </a:prstGeom>
          <a:noFill/>
          <a:ln w="19050">
            <a:solidFill>
              <a:srgbClr val="B23F69"/>
            </a:solidFill>
            <a:prstDash val="solid"/>
          </a:ln>
        </p:spPr>
      </p:sp>
      <p:sp>
        <p:nvSpPr>
          <p:cNvPr id="65" name="Shape 48"/>
          <p:cNvSpPr/>
          <p:nvPr/>
        </p:nvSpPr>
        <p:spPr>
          <a:xfrm flipV="1">
            <a:off x="3930904" y="1865833"/>
            <a:ext cx="223520" cy="30175"/>
          </a:xfrm>
          <a:prstGeom prst="line">
            <a:avLst/>
          </a:prstGeom>
          <a:noFill/>
          <a:ln w="19050">
            <a:solidFill>
              <a:srgbClr val="B23F69"/>
            </a:solidFill>
            <a:prstDash val="solid"/>
          </a:ln>
        </p:spPr>
      </p:sp>
      <p:sp>
        <p:nvSpPr>
          <p:cNvPr id="66" name="Shape 49"/>
          <p:cNvSpPr/>
          <p:nvPr/>
        </p:nvSpPr>
        <p:spPr>
          <a:xfrm>
            <a:off x="4154424" y="1865833"/>
            <a:ext cx="223520" cy="6858"/>
          </a:xfrm>
          <a:prstGeom prst="line">
            <a:avLst/>
          </a:prstGeom>
          <a:noFill/>
          <a:ln w="19050">
            <a:solidFill>
              <a:srgbClr val="B23F69"/>
            </a:solidFill>
            <a:prstDash val="solid"/>
          </a:ln>
        </p:spPr>
      </p:sp>
      <p:sp>
        <p:nvSpPr>
          <p:cNvPr id="67" name="Shape 50"/>
          <p:cNvSpPr/>
          <p:nvPr/>
        </p:nvSpPr>
        <p:spPr>
          <a:xfrm>
            <a:off x="4377944" y="1872691"/>
            <a:ext cx="223520" cy="24689"/>
          </a:xfrm>
          <a:prstGeom prst="line">
            <a:avLst/>
          </a:prstGeom>
          <a:noFill/>
          <a:ln w="19050">
            <a:solidFill>
              <a:srgbClr val="B23F69"/>
            </a:solidFill>
            <a:prstDash val="solid"/>
          </a:ln>
        </p:spPr>
      </p:sp>
      <p:sp>
        <p:nvSpPr>
          <p:cNvPr id="68" name="Shape 51"/>
          <p:cNvSpPr/>
          <p:nvPr/>
        </p:nvSpPr>
        <p:spPr>
          <a:xfrm flipV="1">
            <a:off x="5272024" y="1714957"/>
            <a:ext cx="223520" cy="82296"/>
          </a:xfrm>
          <a:prstGeom prst="line">
            <a:avLst/>
          </a:prstGeom>
          <a:noFill/>
          <a:ln w="19050">
            <a:solidFill>
              <a:srgbClr val="B23F69"/>
            </a:solidFill>
            <a:prstDash val="solid"/>
          </a:ln>
        </p:spPr>
      </p:sp>
      <p:sp>
        <p:nvSpPr>
          <p:cNvPr id="69" name="Shape 52"/>
          <p:cNvSpPr/>
          <p:nvPr/>
        </p:nvSpPr>
        <p:spPr>
          <a:xfrm>
            <a:off x="5463540" y="1682953"/>
            <a:ext cx="64008" cy="64008"/>
          </a:xfrm>
          <a:prstGeom prst="ellipse">
            <a:avLst/>
          </a:prstGeom>
          <a:solidFill>
            <a:srgbClr val="B23F69"/>
          </a:solidFill>
          <a:ln/>
        </p:spPr>
      </p:sp>
      <p:sp>
        <p:nvSpPr>
          <p:cNvPr id="70" name="Shape 53"/>
          <p:cNvSpPr/>
          <p:nvPr/>
        </p:nvSpPr>
        <p:spPr>
          <a:xfrm>
            <a:off x="3483864" y="2179930"/>
            <a:ext cx="2011680" cy="112863"/>
          </a:xfrm>
          <a:prstGeom prst="rect">
            <a:avLst/>
          </a:prstGeom>
          <a:solidFill>
            <a:srgbClr val="E5E1D6"/>
          </a:solidFill>
          <a:ln/>
        </p:spPr>
      </p:sp>
      <p:sp>
        <p:nvSpPr>
          <p:cNvPr id="71" name="Text 54"/>
          <p:cNvSpPr txBox="1"/>
          <p:nvPr/>
        </p:nvSpPr>
        <p:spPr>
          <a:xfrm>
            <a:off x="3209544" y="2029968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086A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Home</a:t>
            </a:r>
            <a:endParaRPr lang="en-US" sz="600" dirty="0"/>
          </a:p>
          <a:p>
            <a:pPr algn="l" indent="0" marL="0">
              <a:buNone/>
            </a:pPr>
            <a:r>
              <a:rPr lang="en-US" sz="600" b="1" dirty="0">
                <a:solidFill>
                  <a:srgbClr val="086A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BP</a:t>
            </a:r>
            <a:endParaRPr lang="en-US" sz="600" dirty="0"/>
          </a:p>
        </p:txBody>
      </p:sp>
      <p:sp>
        <p:nvSpPr>
          <p:cNvPr id="72" name="Shape 55"/>
          <p:cNvSpPr/>
          <p:nvPr/>
        </p:nvSpPr>
        <p:spPr>
          <a:xfrm flipV="1">
            <a:off x="3483864" y="2170524"/>
            <a:ext cx="223520" cy="122268"/>
          </a:xfrm>
          <a:prstGeom prst="line">
            <a:avLst/>
          </a:prstGeom>
          <a:noFill/>
          <a:ln w="19050">
            <a:solidFill>
              <a:srgbClr val="086A70"/>
            </a:solidFill>
            <a:prstDash val="solid"/>
          </a:ln>
        </p:spPr>
      </p:sp>
      <p:sp>
        <p:nvSpPr>
          <p:cNvPr id="73" name="Shape 56"/>
          <p:cNvSpPr/>
          <p:nvPr/>
        </p:nvSpPr>
        <p:spPr>
          <a:xfrm flipV="1">
            <a:off x="3707384" y="2142309"/>
            <a:ext cx="223520" cy="28216"/>
          </a:xfrm>
          <a:prstGeom prst="line">
            <a:avLst/>
          </a:prstGeom>
          <a:noFill/>
          <a:ln w="19050">
            <a:solidFill>
              <a:srgbClr val="086A70"/>
            </a:solidFill>
            <a:prstDash val="solid"/>
          </a:ln>
        </p:spPr>
      </p:sp>
      <p:sp>
        <p:nvSpPr>
          <p:cNvPr id="74" name="Shape 57"/>
          <p:cNvSpPr/>
          <p:nvPr/>
        </p:nvSpPr>
        <p:spPr>
          <a:xfrm>
            <a:off x="3930904" y="2142309"/>
            <a:ext cx="223520" cy="37621"/>
          </a:xfrm>
          <a:prstGeom prst="line">
            <a:avLst/>
          </a:prstGeom>
          <a:noFill/>
          <a:ln w="19050">
            <a:solidFill>
              <a:srgbClr val="086A70"/>
            </a:solidFill>
            <a:prstDash val="solid"/>
          </a:ln>
        </p:spPr>
      </p:sp>
      <p:sp>
        <p:nvSpPr>
          <p:cNvPr id="75" name="Shape 58"/>
          <p:cNvSpPr/>
          <p:nvPr/>
        </p:nvSpPr>
        <p:spPr>
          <a:xfrm>
            <a:off x="4154424" y="2179930"/>
            <a:ext cx="223520" cy="37621"/>
          </a:xfrm>
          <a:prstGeom prst="line">
            <a:avLst/>
          </a:prstGeom>
          <a:noFill/>
          <a:ln w="19050">
            <a:solidFill>
              <a:srgbClr val="086A70"/>
            </a:solidFill>
            <a:prstDash val="solid"/>
          </a:ln>
        </p:spPr>
      </p:sp>
      <p:sp>
        <p:nvSpPr>
          <p:cNvPr id="76" name="Shape 59"/>
          <p:cNvSpPr/>
          <p:nvPr/>
        </p:nvSpPr>
        <p:spPr>
          <a:xfrm>
            <a:off x="4377944" y="2217551"/>
            <a:ext cx="223520" cy="91"/>
          </a:xfrm>
          <a:prstGeom prst="line">
            <a:avLst/>
          </a:prstGeom>
          <a:noFill/>
          <a:ln w="19050">
            <a:solidFill>
              <a:srgbClr val="086A70"/>
            </a:solidFill>
            <a:prstDash val="solid"/>
          </a:ln>
        </p:spPr>
      </p:sp>
      <p:sp>
        <p:nvSpPr>
          <p:cNvPr id="77" name="Shape 60"/>
          <p:cNvSpPr/>
          <p:nvPr/>
        </p:nvSpPr>
        <p:spPr>
          <a:xfrm flipV="1">
            <a:off x="4601464" y="2189335"/>
            <a:ext cx="223520" cy="28216"/>
          </a:xfrm>
          <a:prstGeom prst="line">
            <a:avLst/>
          </a:prstGeom>
          <a:noFill/>
          <a:ln w="19050">
            <a:solidFill>
              <a:srgbClr val="086A70"/>
            </a:solidFill>
            <a:prstDash val="solid"/>
          </a:ln>
        </p:spPr>
      </p:sp>
      <p:sp>
        <p:nvSpPr>
          <p:cNvPr id="78" name="Shape 61"/>
          <p:cNvSpPr/>
          <p:nvPr/>
        </p:nvSpPr>
        <p:spPr>
          <a:xfrm flipV="1">
            <a:off x="4824984" y="2123498"/>
            <a:ext cx="223520" cy="65837"/>
          </a:xfrm>
          <a:prstGeom prst="line">
            <a:avLst/>
          </a:prstGeom>
          <a:noFill/>
          <a:ln w="19050">
            <a:solidFill>
              <a:srgbClr val="086A70"/>
            </a:solidFill>
            <a:prstDash val="solid"/>
          </a:ln>
        </p:spPr>
      </p:sp>
      <p:sp>
        <p:nvSpPr>
          <p:cNvPr id="79" name="Shape 62"/>
          <p:cNvSpPr/>
          <p:nvPr/>
        </p:nvSpPr>
        <p:spPr>
          <a:xfrm flipV="1">
            <a:off x="5048504" y="2095282"/>
            <a:ext cx="223520" cy="28216"/>
          </a:xfrm>
          <a:prstGeom prst="line">
            <a:avLst/>
          </a:prstGeom>
          <a:noFill/>
          <a:ln w="19050">
            <a:solidFill>
              <a:srgbClr val="086A70"/>
            </a:solidFill>
            <a:prstDash val="solid"/>
          </a:ln>
        </p:spPr>
      </p:sp>
      <p:sp>
        <p:nvSpPr>
          <p:cNvPr id="80" name="Shape 63"/>
          <p:cNvSpPr/>
          <p:nvPr/>
        </p:nvSpPr>
        <p:spPr>
          <a:xfrm>
            <a:off x="5272024" y="2095282"/>
            <a:ext cx="223520" cy="9405"/>
          </a:xfrm>
          <a:prstGeom prst="line">
            <a:avLst/>
          </a:prstGeom>
          <a:noFill/>
          <a:ln w="19050">
            <a:solidFill>
              <a:srgbClr val="086A70"/>
            </a:solidFill>
            <a:prstDash val="solid"/>
          </a:ln>
        </p:spPr>
      </p:sp>
      <p:sp>
        <p:nvSpPr>
          <p:cNvPr id="81" name="Shape 64"/>
          <p:cNvSpPr/>
          <p:nvPr/>
        </p:nvSpPr>
        <p:spPr>
          <a:xfrm>
            <a:off x="5463540" y="2072684"/>
            <a:ext cx="64008" cy="64008"/>
          </a:xfrm>
          <a:prstGeom prst="ellipse">
            <a:avLst/>
          </a:prstGeom>
          <a:solidFill>
            <a:srgbClr val="086A70"/>
          </a:solidFill>
          <a:ln/>
        </p:spPr>
      </p:sp>
      <p:sp>
        <p:nvSpPr>
          <p:cNvPr id="82" name="Text 65"/>
          <p:cNvSpPr txBox="1"/>
          <p:nvPr/>
        </p:nvSpPr>
        <p:spPr>
          <a:xfrm>
            <a:off x="3392424" y="2395728"/>
            <a:ext cx="365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 Oct</a:t>
            </a:r>
            <a:endParaRPr lang="en-US" sz="600" dirty="0"/>
          </a:p>
        </p:txBody>
      </p:sp>
      <p:sp>
        <p:nvSpPr>
          <p:cNvPr id="83" name="Text 66"/>
          <p:cNvSpPr txBox="1"/>
          <p:nvPr/>
        </p:nvSpPr>
        <p:spPr>
          <a:xfrm>
            <a:off x="5221224" y="2395728"/>
            <a:ext cx="365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12 Oct</a:t>
            </a:r>
            <a:endParaRPr lang="en-US" sz="600" dirty="0"/>
          </a:p>
        </p:txBody>
      </p:sp>
      <p:sp>
        <p:nvSpPr>
          <p:cNvPr id="84" name="Text 67"/>
          <p:cNvSpPr txBox="1"/>
          <p:nvPr/>
        </p:nvSpPr>
        <p:spPr>
          <a:xfrm>
            <a:off x="3758184" y="2395728"/>
            <a:ext cx="1463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i="1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Meera: both climb above her own usual range (grey)</a:t>
            </a:r>
            <a:endParaRPr lang="en-US" sz="600" dirty="0"/>
          </a:p>
        </p:txBody>
      </p:sp>
      <p:sp>
        <p:nvSpPr>
          <p:cNvPr id="85" name="Shape 68"/>
          <p:cNvSpPr/>
          <p:nvPr/>
        </p:nvSpPr>
        <p:spPr>
          <a:xfrm>
            <a:off x="5715000" y="800100"/>
            <a:ext cx="64008" cy="64008"/>
          </a:xfrm>
          <a:prstGeom prst="rect">
            <a:avLst/>
          </a:prstGeom>
          <a:solidFill>
            <a:srgbClr val="B23F69"/>
          </a:solidFill>
          <a:ln/>
        </p:spPr>
      </p:sp>
      <p:sp>
        <p:nvSpPr>
          <p:cNvPr id="86" name="Text 69"/>
          <p:cNvSpPr txBox="1"/>
          <p:nvPr/>
        </p:nvSpPr>
        <p:spPr>
          <a:xfrm>
            <a:off x="5815584" y="754380"/>
            <a:ext cx="17007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WHAT THE EVIDENCE SAYS</a:t>
            </a:r>
            <a:endParaRPr lang="en-US" sz="800" dirty="0"/>
          </a:p>
        </p:txBody>
      </p:sp>
      <p:sp>
        <p:nvSpPr>
          <p:cNvPr id="87" name="Text 70"/>
          <p:cNvSpPr txBox="1"/>
          <p:nvPr/>
        </p:nvSpPr>
        <p:spPr>
          <a:xfrm>
            <a:off x="7562088" y="754380"/>
            <a:ext cx="457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B23F69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SEE A1</a:t>
            </a:r>
            <a:endParaRPr lang="en-US" sz="700" dirty="0"/>
          </a:p>
        </p:txBody>
      </p:sp>
      <p:sp>
        <p:nvSpPr>
          <p:cNvPr id="88" name="Shape 71"/>
          <p:cNvSpPr/>
          <p:nvPr/>
        </p:nvSpPr>
        <p:spPr>
          <a:xfrm>
            <a:off x="5660136" y="960120"/>
            <a:ext cx="2377440" cy="356616"/>
          </a:xfrm>
          <a:prstGeom prst="rect">
            <a:avLst/>
          </a:prstGeom>
          <a:solidFill>
            <a:srgbClr val="F4F1EA"/>
          </a:solidFill>
          <a:ln/>
        </p:spPr>
      </p:sp>
      <p:sp>
        <p:nvSpPr>
          <p:cNvPr id="89" name="Shape 72"/>
          <p:cNvSpPr/>
          <p:nvPr/>
        </p:nvSpPr>
        <p:spPr>
          <a:xfrm>
            <a:off x="5696712" y="1014984"/>
            <a:ext cx="246888" cy="246888"/>
          </a:xfrm>
          <a:prstGeom prst="ellipse">
            <a:avLst/>
          </a:prstGeom>
          <a:solidFill>
            <a:srgbClr val="086A70"/>
          </a:solidFill>
          <a:ln/>
        </p:spPr>
      </p:sp>
      <p:pic>
        <p:nvPicPr>
          <p:cNvPr id="90" name="Image 15" descr="watch icon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48558" y="1066830"/>
            <a:ext cx="143195" cy="143195"/>
          </a:xfrm>
          <a:prstGeom prst="rect">
            <a:avLst/>
          </a:prstGeom>
        </p:spPr>
      </p:pic>
      <p:sp>
        <p:nvSpPr>
          <p:cNvPr id="91" name="Text 73"/>
          <p:cNvSpPr txBox="1"/>
          <p:nvPr/>
        </p:nvSpPr>
        <p:spPr>
          <a:xfrm>
            <a:off x="5989320" y="978408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086A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WATCHES ARE EVERYWHERE:</a:t>
            </a:r>
            <a:r>
              <a:rPr lang="en-US" sz="66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 91.6% of smartwatches sold in India cost under US$50 (IDC)</a:t>
            </a:r>
            <a:endParaRPr lang="en-US" sz="660" dirty="0"/>
          </a:p>
          <a:p>
            <a:pPr algn="l" indent="0" marL="0">
              <a:buNone/>
            </a:pPr>
            <a:r>
              <a:rPr lang="en-US" sz="660" b="1" i="1" dirty="0">
                <a:solidFill>
                  <a:srgbClr val="086A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So: </a:t>
            </a:r>
            <a:r>
              <a:rPr lang="en-US" sz="660" i="1" dirty="0">
                <a:solidFill>
                  <a:srgbClr val="086A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build on the watch people own</a:t>
            </a:r>
            <a:endParaRPr lang="en-US" sz="660" dirty="0"/>
          </a:p>
        </p:txBody>
      </p:sp>
      <p:sp>
        <p:nvSpPr>
          <p:cNvPr id="92" name="Shape 74"/>
          <p:cNvSpPr/>
          <p:nvPr/>
        </p:nvSpPr>
        <p:spPr>
          <a:xfrm>
            <a:off x="5660136" y="1353312"/>
            <a:ext cx="2377440" cy="356616"/>
          </a:xfrm>
          <a:prstGeom prst="rect">
            <a:avLst/>
          </a:prstGeom>
          <a:solidFill>
            <a:srgbClr val="F4F1EA"/>
          </a:solidFill>
          <a:ln/>
        </p:spPr>
      </p:sp>
      <p:sp>
        <p:nvSpPr>
          <p:cNvPr id="93" name="Shape 75"/>
          <p:cNvSpPr/>
          <p:nvPr/>
        </p:nvSpPr>
        <p:spPr>
          <a:xfrm>
            <a:off x="5696712" y="1408176"/>
            <a:ext cx="246888" cy="246888"/>
          </a:xfrm>
          <a:prstGeom prst="ellipse">
            <a:avLst/>
          </a:prstGeom>
          <a:solidFill>
            <a:srgbClr val="B03A23"/>
          </a:solidFill>
          <a:ln/>
        </p:spPr>
      </p:sp>
      <p:pic>
        <p:nvPicPr>
          <p:cNvPr id="94" name="Image 16" descr="bell icon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748558" y="1460022"/>
            <a:ext cx="143195" cy="143195"/>
          </a:xfrm>
          <a:prstGeom prst="rect">
            <a:avLst/>
          </a:prstGeom>
        </p:spPr>
      </p:pic>
      <p:sp>
        <p:nvSpPr>
          <p:cNvPr id="95" name="Text 76"/>
          <p:cNvSpPr txBox="1"/>
          <p:nvPr/>
        </p:nvSpPr>
        <p:spPr>
          <a:xfrm>
            <a:off x="5989320" y="1371600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B03A2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ALARMS DROWN DOCTORS:</a:t>
            </a:r>
            <a:r>
              <a:rPr lang="en-US" sz="66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 fixed thresholds flagged 55.8% of readings in one study</a:t>
            </a:r>
            <a:endParaRPr lang="en-US" sz="660" dirty="0"/>
          </a:p>
          <a:p>
            <a:pPr algn="l" indent="0" marL="0">
              <a:buNone/>
            </a:pPr>
            <a:r>
              <a:rPr lang="en-US" sz="660" b="1" i="1" dirty="0">
                <a:solidFill>
                  <a:srgbClr val="086A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So: </a:t>
            </a:r>
            <a:r>
              <a:rPr lang="en-US" sz="660" i="1" dirty="0">
                <a:solidFill>
                  <a:srgbClr val="086A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every alert sits inside a budget</a:t>
            </a:r>
            <a:endParaRPr lang="en-US" sz="660" dirty="0"/>
          </a:p>
        </p:txBody>
      </p:sp>
      <p:sp>
        <p:nvSpPr>
          <p:cNvPr id="96" name="Shape 77"/>
          <p:cNvSpPr/>
          <p:nvPr/>
        </p:nvSpPr>
        <p:spPr>
          <a:xfrm>
            <a:off x="5660136" y="1746504"/>
            <a:ext cx="2377440" cy="356616"/>
          </a:xfrm>
          <a:prstGeom prst="rect">
            <a:avLst/>
          </a:prstGeom>
          <a:solidFill>
            <a:srgbClr val="F4F1EA"/>
          </a:solidFill>
          <a:ln/>
        </p:spPr>
      </p:sp>
      <p:sp>
        <p:nvSpPr>
          <p:cNvPr id="97" name="Shape 78"/>
          <p:cNvSpPr/>
          <p:nvPr/>
        </p:nvSpPr>
        <p:spPr>
          <a:xfrm>
            <a:off x="5696712" y="1801368"/>
            <a:ext cx="246888" cy="246888"/>
          </a:xfrm>
          <a:prstGeom prst="ellipse">
            <a:avLst/>
          </a:prstGeom>
          <a:solidFill>
            <a:srgbClr val="A8703C"/>
          </a:solidFill>
          <a:ln/>
        </p:spPr>
      </p:sp>
      <p:pic>
        <p:nvPicPr>
          <p:cNvPr id="98" name="Image 17" descr="users icon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748558" y="1853214"/>
            <a:ext cx="143195" cy="143195"/>
          </a:xfrm>
          <a:prstGeom prst="rect">
            <a:avLst/>
          </a:prstGeom>
        </p:spPr>
      </p:pic>
      <p:sp>
        <p:nvSpPr>
          <p:cNvPr id="99" name="Text 79"/>
          <p:cNvSpPr txBox="1"/>
          <p:nvPr/>
        </p:nvSpPr>
        <p:spPr>
          <a:xfrm>
            <a:off x="5989320" y="1764792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A8703C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BODIES DIFFER:</a:t>
            </a:r>
            <a:r>
              <a:rPr lang="en-US" sz="66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 in our cohort, an hour less sleep moves heart rate 0.3 to 2 bpm</a:t>
            </a:r>
            <a:endParaRPr lang="en-US" sz="660" dirty="0"/>
          </a:p>
          <a:p>
            <a:pPr algn="l" indent="0" marL="0">
              <a:buNone/>
            </a:pPr>
            <a:r>
              <a:rPr lang="en-US" sz="660" b="1" i="1" dirty="0">
                <a:solidFill>
                  <a:srgbClr val="086A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So: </a:t>
            </a:r>
            <a:r>
              <a:rPr lang="en-US" sz="660" i="1" dirty="0">
                <a:solidFill>
                  <a:srgbClr val="086A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learn each person's own response</a:t>
            </a:r>
            <a:endParaRPr lang="en-US" sz="660" dirty="0"/>
          </a:p>
        </p:txBody>
      </p:sp>
      <p:sp>
        <p:nvSpPr>
          <p:cNvPr id="100" name="Shape 80"/>
          <p:cNvSpPr/>
          <p:nvPr/>
        </p:nvSpPr>
        <p:spPr>
          <a:xfrm>
            <a:off x="5660136" y="2139696"/>
            <a:ext cx="2377440" cy="356616"/>
          </a:xfrm>
          <a:prstGeom prst="rect">
            <a:avLst/>
          </a:prstGeom>
          <a:solidFill>
            <a:srgbClr val="F4F1EA"/>
          </a:solidFill>
          <a:ln/>
        </p:spPr>
      </p:sp>
      <p:sp>
        <p:nvSpPr>
          <p:cNvPr id="101" name="Shape 81"/>
          <p:cNvSpPr/>
          <p:nvPr/>
        </p:nvSpPr>
        <p:spPr>
          <a:xfrm>
            <a:off x="5696712" y="2194560"/>
            <a:ext cx="246888" cy="246888"/>
          </a:xfrm>
          <a:prstGeom prst="ellipse">
            <a:avLst/>
          </a:prstGeom>
          <a:solidFill>
            <a:srgbClr val="D9668E"/>
          </a:solidFill>
          <a:ln/>
        </p:spPr>
      </p:sp>
      <p:pic>
        <p:nvPicPr>
          <p:cNvPr id="102" name="Image 18" descr="thermo icon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748558" y="2246406"/>
            <a:ext cx="143195" cy="143195"/>
          </a:xfrm>
          <a:prstGeom prst="rect">
            <a:avLst/>
          </a:prstGeom>
        </p:spPr>
      </p:pic>
      <p:sp>
        <p:nvSpPr>
          <p:cNvPr id="103" name="Text 82"/>
          <p:cNvSpPr txBox="1"/>
          <p:nvPr/>
        </p:nvSpPr>
        <p:spPr>
          <a:xfrm>
            <a:off x="5989320" y="2157984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D9668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 COLD LOOKS LIKE STRAIN:</a:t>
            </a:r>
            <a:r>
              <a:rPr lang="en-US" sz="66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 heart rate rises in both; BP rarely does</a:t>
            </a:r>
            <a:endParaRPr lang="en-US" sz="660" dirty="0"/>
          </a:p>
          <a:p>
            <a:pPr algn="l" indent="0" marL="0">
              <a:buNone/>
            </a:pPr>
            <a:r>
              <a:rPr lang="en-US" sz="660" b="1" i="1" dirty="0">
                <a:solidFill>
                  <a:srgbClr val="086A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So: </a:t>
            </a:r>
            <a:r>
              <a:rPr lang="en-US" sz="660" i="1" dirty="0">
                <a:solidFill>
                  <a:srgbClr val="086A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fuse the home BP cuff with the watch</a:t>
            </a:r>
            <a:endParaRPr lang="en-US" sz="660" dirty="0"/>
          </a:p>
        </p:txBody>
      </p:sp>
      <p:sp>
        <p:nvSpPr>
          <p:cNvPr id="104" name="Shape 83"/>
          <p:cNvSpPr/>
          <p:nvPr/>
        </p:nvSpPr>
        <p:spPr>
          <a:xfrm>
            <a:off x="8202168" y="800100"/>
            <a:ext cx="64008" cy="64008"/>
          </a:xfrm>
          <a:prstGeom prst="rect">
            <a:avLst/>
          </a:prstGeom>
          <a:solidFill>
            <a:srgbClr val="B23F69"/>
          </a:solidFill>
          <a:ln/>
        </p:spPr>
      </p:sp>
      <p:sp>
        <p:nvSpPr>
          <p:cNvPr id="105" name="Text 84"/>
          <p:cNvSpPr txBox="1"/>
          <p:nvPr/>
        </p:nvSpPr>
        <p:spPr>
          <a:xfrm>
            <a:off x="8302752" y="754380"/>
            <a:ext cx="17190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WHAT BLOCKS EARLY WARNING</a:t>
            </a:r>
            <a:endParaRPr lang="en-US" sz="800" dirty="0"/>
          </a:p>
        </p:txBody>
      </p:sp>
      <p:sp>
        <p:nvSpPr>
          <p:cNvPr id="106" name="Shape 85"/>
          <p:cNvSpPr/>
          <p:nvPr/>
        </p:nvSpPr>
        <p:spPr>
          <a:xfrm>
            <a:off x="8174736" y="996696"/>
            <a:ext cx="329184" cy="329184"/>
          </a:xfrm>
          <a:prstGeom prst="ellipse">
            <a:avLst/>
          </a:prstGeom>
          <a:solidFill>
            <a:srgbClr val="B23F69"/>
          </a:solidFill>
          <a:ln/>
        </p:spPr>
      </p:sp>
      <p:pic>
        <p:nvPicPr>
          <p:cNvPr id="107" name="Image 19" descr="users icon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243865" y="1065825"/>
            <a:ext cx="190927" cy="190927"/>
          </a:xfrm>
          <a:prstGeom prst="rect">
            <a:avLst/>
          </a:prstGeom>
        </p:spPr>
      </p:pic>
      <p:sp>
        <p:nvSpPr>
          <p:cNvPr id="108" name="Text 86"/>
          <p:cNvSpPr txBox="1"/>
          <p:nvPr/>
        </p:nvSpPr>
        <p:spPr>
          <a:xfrm>
            <a:off x="8558784" y="978408"/>
            <a:ext cx="60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One rule for</a:t>
            </a:r>
            <a:endParaRPr lang="en-US" sz="680" dirty="0"/>
          </a:p>
          <a:p>
            <a:pPr algn="l" indent="0" marL="0">
              <a:buNone/>
            </a:pPr>
            <a:r>
              <a:rPr lang="en-US" sz="68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everyone</a:t>
            </a:r>
            <a:endParaRPr lang="en-US" sz="680" dirty="0"/>
          </a:p>
        </p:txBody>
      </p:sp>
      <p:sp>
        <p:nvSpPr>
          <p:cNvPr id="109" name="Shape 87"/>
          <p:cNvSpPr/>
          <p:nvPr/>
        </p:nvSpPr>
        <p:spPr>
          <a:xfrm>
            <a:off x="9153144" y="996696"/>
            <a:ext cx="329184" cy="329184"/>
          </a:xfrm>
          <a:prstGeom prst="ellipse">
            <a:avLst/>
          </a:prstGeom>
          <a:solidFill>
            <a:srgbClr val="B23F69"/>
          </a:solidFill>
          <a:ln/>
        </p:spPr>
      </p:sp>
      <p:pic>
        <p:nvPicPr>
          <p:cNvPr id="110" name="Image 20" descr="bell icon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222273" y="1065825"/>
            <a:ext cx="190927" cy="190927"/>
          </a:xfrm>
          <a:prstGeom prst="rect">
            <a:avLst/>
          </a:prstGeom>
        </p:spPr>
      </p:pic>
      <p:sp>
        <p:nvSpPr>
          <p:cNvPr id="111" name="Text 88"/>
          <p:cNvSpPr txBox="1"/>
          <p:nvPr/>
        </p:nvSpPr>
        <p:spPr>
          <a:xfrm>
            <a:off x="9537192" y="978408"/>
            <a:ext cx="60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Alarm</a:t>
            </a:r>
            <a:endParaRPr lang="en-US" sz="680" dirty="0"/>
          </a:p>
          <a:p>
            <a:pPr algn="l" indent="0" marL="0">
              <a:buNone/>
            </a:pPr>
            <a:r>
              <a:rPr lang="en-US" sz="68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fatigue</a:t>
            </a:r>
            <a:endParaRPr lang="en-US" sz="680" dirty="0"/>
          </a:p>
        </p:txBody>
      </p:sp>
      <p:sp>
        <p:nvSpPr>
          <p:cNvPr id="112" name="Shape 89"/>
          <p:cNvSpPr/>
          <p:nvPr/>
        </p:nvSpPr>
        <p:spPr>
          <a:xfrm>
            <a:off x="8174736" y="1453896"/>
            <a:ext cx="329184" cy="329184"/>
          </a:xfrm>
          <a:prstGeom prst="ellipse">
            <a:avLst/>
          </a:prstGeom>
          <a:solidFill>
            <a:srgbClr val="B23F69"/>
          </a:solidFill>
          <a:ln/>
        </p:spPr>
      </p:sp>
      <p:pic>
        <p:nvPicPr>
          <p:cNvPr id="113" name="Image 21" descr="clock icon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243865" y="1523025"/>
            <a:ext cx="190927" cy="190927"/>
          </a:xfrm>
          <a:prstGeom prst="rect">
            <a:avLst/>
          </a:prstGeom>
        </p:spPr>
      </p:pic>
      <p:sp>
        <p:nvSpPr>
          <p:cNvPr id="114" name="Text 90"/>
          <p:cNvSpPr txBox="1"/>
          <p:nvPr/>
        </p:nvSpPr>
        <p:spPr>
          <a:xfrm>
            <a:off x="8558784" y="1435608"/>
            <a:ext cx="60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Watches sync</a:t>
            </a:r>
            <a:endParaRPr lang="en-US" sz="680" dirty="0"/>
          </a:p>
          <a:p>
            <a:pPr algn="l" indent="0" marL="0">
              <a:buNone/>
            </a:pPr>
            <a:r>
              <a:rPr lang="en-US" sz="68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once a day</a:t>
            </a:r>
            <a:endParaRPr lang="en-US" sz="680" dirty="0"/>
          </a:p>
        </p:txBody>
      </p:sp>
      <p:sp>
        <p:nvSpPr>
          <p:cNvPr id="115" name="Shape 91"/>
          <p:cNvSpPr/>
          <p:nvPr/>
        </p:nvSpPr>
        <p:spPr>
          <a:xfrm>
            <a:off x="9153144" y="1453896"/>
            <a:ext cx="329184" cy="329184"/>
          </a:xfrm>
          <a:prstGeom prst="ellipse">
            <a:avLst/>
          </a:prstGeom>
          <a:solidFill>
            <a:srgbClr val="B23F69"/>
          </a:solidFill>
          <a:ln/>
        </p:spPr>
      </p:sp>
      <p:pic>
        <p:nvPicPr>
          <p:cNvPr id="116" name="Image 22" descr="thermo icon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222273" y="1523025"/>
            <a:ext cx="190927" cy="190927"/>
          </a:xfrm>
          <a:prstGeom prst="rect">
            <a:avLst/>
          </a:prstGeom>
        </p:spPr>
      </p:pic>
      <p:sp>
        <p:nvSpPr>
          <p:cNvPr id="117" name="Text 92"/>
          <p:cNvSpPr txBox="1"/>
          <p:nvPr/>
        </p:nvSpPr>
        <p:spPr>
          <a:xfrm>
            <a:off x="9537192" y="1435608"/>
            <a:ext cx="60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Colds and late</a:t>
            </a:r>
            <a:endParaRPr lang="en-US" sz="680" dirty="0"/>
          </a:p>
          <a:p>
            <a:pPr algn="l" indent="0" marL="0">
              <a:buNone/>
            </a:pPr>
            <a:r>
              <a:rPr lang="en-US" sz="68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nights look alike</a:t>
            </a:r>
            <a:endParaRPr lang="en-US" sz="680" dirty="0"/>
          </a:p>
        </p:txBody>
      </p:sp>
      <p:sp>
        <p:nvSpPr>
          <p:cNvPr id="118" name="Shape 93"/>
          <p:cNvSpPr/>
          <p:nvPr/>
        </p:nvSpPr>
        <p:spPr>
          <a:xfrm>
            <a:off x="8174736" y="1911096"/>
            <a:ext cx="329184" cy="329184"/>
          </a:xfrm>
          <a:prstGeom prst="ellipse">
            <a:avLst/>
          </a:prstGeom>
          <a:solidFill>
            <a:srgbClr val="B23F69"/>
          </a:solidFill>
          <a:ln/>
        </p:spPr>
      </p:sp>
      <p:pic>
        <p:nvPicPr>
          <p:cNvPr id="119" name="Image 23" descr="file icon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243865" y="1980225"/>
            <a:ext cx="190927" cy="190927"/>
          </a:xfrm>
          <a:prstGeom prst="rect">
            <a:avLst/>
          </a:prstGeom>
        </p:spPr>
      </p:pic>
      <p:sp>
        <p:nvSpPr>
          <p:cNvPr id="120" name="Text 94"/>
          <p:cNvSpPr txBox="1"/>
          <p:nvPr/>
        </p:nvSpPr>
        <p:spPr>
          <a:xfrm>
            <a:off x="8558784" y="1892808"/>
            <a:ext cx="60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No record</a:t>
            </a:r>
            <a:endParaRPr lang="en-US" sz="680" dirty="0"/>
          </a:p>
          <a:p>
            <a:pPr algn="l" indent="0" marL="0">
              <a:buNone/>
            </a:pPr>
            <a:r>
              <a:rPr lang="en-US" sz="68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context</a:t>
            </a:r>
            <a:endParaRPr lang="en-US" sz="680" dirty="0"/>
          </a:p>
        </p:txBody>
      </p:sp>
      <p:sp>
        <p:nvSpPr>
          <p:cNvPr id="121" name="Shape 95"/>
          <p:cNvSpPr/>
          <p:nvPr/>
        </p:nvSpPr>
        <p:spPr>
          <a:xfrm>
            <a:off x="9153144" y="1911096"/>
            <a:ext cx="329184" cy="329184"/>
          </a:xfrm>
          <a:prstGeom prst="ellipse">
            <a:avLst/>
          </a:prstGeom>
          <a:solidFill>
            <a:srgbClr val="B23F69"/>
          </a:solidFill>
          <a:ln/>
        </p:spPr>
      </p:sp>
      <p:pic>
        <p:nvPicPr>
          <p:cNvPr id="122" name="Image 24" descr="lock icon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222273" y="1980225"/>
            <a:ext cx="190927" cy="190927"/>
          </a:xfrm>
          <a:prstGeom prst="rect">
            <a:avLst/>
          </a:prstGeom>
        </p:spPr>
      </p:pic>
      <p:sp>
        <p:nvSpPr>
          <p:cNvPr id="123" name="Text 96"/>
          <p:cNvSpPr txBox="1"/>
          <p:nvPr/>
        </p:nvSpPr>
        <p:spPr>
          <a:xfrm>
            <a:off x="9537192" y="1892808"/>
            <a:ext cx="60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Privacy and</a:t>
            </a:r>
            <a:endParaRPr lang="en-US" sz="680" dirty="0"/>
          </a:p>
          <a:p>
            <a:pPr algn="l" indent="0" marL="0">
              <a:buNone/>
            </a:pPr>
            <a:r>
              <a:rPr lang="en-US" sz="68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trust</a:t>
            </a:r>
            <a:endParaRPr lang="en-US" sz="680" dirty="0"/>
          </a:p>
        </p:txBody>
      </p:sp>
      <p:sp>
        <p:nvSpPr>
          <p:cNvPr id="124" name="Text 97"/>
          <p:cNvSpPr txBox="1"/>
          <p:nvPr/>
        </p:nvSpPr>
        <p:spPr>
          <a:xfrm>
            <a:off x="8174736" y="2368296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20" i="1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Each barrier maps to the answer that removes it (A1)</a:t>
            </a:r>
            <a:endParaRPr lang="en-US" sz="620" dirty="0"/>
          </a:p>
        </p:txBody>
      </p:sp>
      <p:sp>
        <p:nvSpPr>
          <p:cNvPr id="125" name="Shape 98"/>
          <p:cNvSpPr/>
          <p:nvPr/>
        </p:nvSpPr>
        <p:spPr>
          <a:xfrm>
            <a:off x="10250424" y="800100"/>
            <a:ext cx="64008" cy="64008"/>
          </a:xfrm>
          <a:prstGeom prst="rect">
            <a:avLst/>
          </a:prstGeom>
          <a:solidFill>
            <a:srgbClr val="B23F69"/>
          </a:solidFill>
          <a:ln/>
        </p:spPr>
      </p:sp>
      <p:sp>
        <p:nvSpPr>
          <p:cNvPr id="126" name="Text 99"/>
          <p:cNvSpPr txBox="1"/>
          <p:nvPr/>
        </p:nvSpPr>
        <p:spPr>
          <a:xfrm>
            <a:off x="10351008" y="754380"/>
            <a:ext cx="11521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EVENT WE PREDICT</a:t>
            </a:r>
            <a:endParaRPr lang="en-US" sz="800" dirty="0"/>
          </a:p>
        </p:txBody>
      </p:sp>
      <p:sp>
        <p:nvSpPr>
          <p:cNvPr id="127" name="Text 100"/>
          <p:cNvSpPr txBox="1"/>
          <p:nvPr/>
        </p:nvSpPr>
        <p:spPr>
          <a:xfrm>
            <a:off x="11548872" y="754380"/>
            <a:ext cx="457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B23F69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SEE A3</a:t>
            </a:r>
            <a:endParaRPr lang="en-US" sz="700" dirty="0"/>
          </a:p>
        </p:txBody>
      </p:sp>
      <p:sp>
        <p:nvSpPr>
          <p:cNvPr id="128" name="Shape 101"/>
          <p:cNvSpPr/>
          <p:nvPr/>
        </p:nvSpPr>
        <p:spPr>
          <a:xfrm>
            <a:off x="10204704" y="996696"/>
            <a:ext cx="274320" cy="274320"/>
          </a:xfrm>
          <a:prstGeom prst="ellipse">
            <a:avLst/>
          </a:prstGeom>
          <a:solidFill>
            <a:srgbClr val="086A70"/>
          </a:solidFill>
          <a:ln/>
        </p:spPr>
      </p:sp>
      <p:pic>
        <p:nvPicPr>
          <p:cNvPr id="129" name="Image 25" descr="clock icon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262311" y="1054303"/>
            <a:ext cx="159106" cy="159106"/>
          </a:xfrm>
          <a:prstGeom prst="rect">
            <a:avLst/>
          </a:prstGeom>
        </p:spPr>
      </p:pic>
      <p:sp>
        <p:nvSpPr>
          <p:cNvPr id="130" name="Text 102"/>
          <p:cNvSpPr txBox="1"/>
          <p:nvPr/>
        </p:nvSpPr>
        <p:spPr>
          <a:xfrm>
            <a:off x="10543032" y="969264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086A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72 hours ahead</a:t>
            </a:r>
            <a:endParaRPr lang="en-US" sz="680" dirty="0"/>
          </a:p>
          <a:p>
            <a:pPr algn="l" indent="0" marL="0">
              <a:buNone/>
            </a:pPr>
            <a:r>
              <a:rPr lang="en-US" sz="68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 strain episode, scored every night</a:t>
            </a:r>
            <a:endParaRPr lang="en-US" sz="680" dirty="0"/>
          </a:p>
        </p:txBody>
      </p:sp>
      <p:sp>
        <p:nvSpPr>
          <p:cNvPr id="131" name="Shape 103"/>
          <p:cNvSpPr/>
          <p:nvPr/>
        </p:nvSpPr>
        <p:spPr>
          <a:xfrm>
            <a:off x="10204704" y="1389888"/>
            <a:ext cx="274320" cy="274320"/>
          </a:xfrm>
          <a:prstGeom prst="ellipse">
            <a:avLst/>
          </a:prstGeom>
          <a:solidFill>
            <a:srgbClr val="B23F69"/>
          </a:solidFill>
          <a:ln/>
        </p:spPr>
      </p:sp>
      <p:pic>
        <p:nvPicPr>
          <p:cNvPr id="132" name="Image 26" descr="heart icon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262311" y="1447495"/>
            <a:ext cx="159106" cy="159106"/>
          </a:xfrm>
          <a:prstGeom prst="rect">
            <a:avLst/>
          </a:prstGeom>
        </p:spPr>
      </p:pic>
      <p:sp>
        <p:nvSpPr>
          <p:cNvPr id="133" name="Text 104"/>
          <p:cNvSpPr txBox="1"/>
          <p:nvPr/>
        </p:nvSpPr>
        <p:spPr>
          <a:xfrm>
            <a:off x="10543032" y="1362456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B23F69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Against her own normal</a:t>
            </a:r>
            <a:endParaRPr lang="en-US" sz="680" dirty="0"/>
          </a:p>
          <a:p>
            <a:pPr algn="l" indent="0" marL="0">
              <a:buNone/>
            </a:pPr>
            <a:r>
              <a:rPr lang="en-US" sz="68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heart rate up, HRV down, sleep and steps down, home BP climbing</a:t>
            </a:r>
            <a:endParaRPr lang="en-US" sz="680" dirty="0"/>
          </a:p>
        </p:txBody>
      </p:sp>
      <p:sp>
        <p:nvSpPr>
          <p:cNvPr id="134" name="Shape 105"/>
          <p:cNvSpPr/>
          <p:nvPr/>
        </p:nvSpPr>
        <p:spPr>
          <a:xfrm>
            <a:off x="10204704" y="1783080"/>
            <a:ext cx="274320" cy="274320"/>
          </a:xfrm>
          <a:prstGeom prst="ellipse">
            <a:avLst/>
          </a:prstGeom>
          <a:solidFill>
            <a:srgbClr val="B03A23"/>
          </a:solidFill>
          <a:ln/>
        </p:spPr>
      </p:sp>
      <p:pic>
        <p:nvPicPr>
          <p:cNvPr id="135" name="Image 27" descr="siren icon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0262311" y="1840687"/>
            <a:ext cx="159106" cy="159106"/>
          </a:xfrm>
          <a:prstGeom prst="rect">
            <a:avLst/>
          </a:prstGeom>
        </p:spPr>
      </p:pic>
      <p:sp>
        <p:nvSpPr>
          <p:cNvPr id="136" name="Text 106"/>
          <p:cNvSpPr txBox="1"/>
          <p:nvPr/>
        </p:nvSpPr>
        <p:spPr>
          <a:xfrm>
            <a:off x="10543032" y="1755648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B03A2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Amber, not red</a:t>
            </a:r>
            <a:endParaRPr lang="en-US" sz="680" dirty="0"/>
          </a:p>
          <a:p>
            <a:pPr algn="l" indent="0" marL="0">
              <a:buNone/>
            </a:pPr>
            <a:r>
              <a:rPr lang="en-US" sz="68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model warns days ahead; SOS and 112 stay with people</a:t>
            </a:r>
            <a:endParaRPr lang="en-US" sz="680" dirty="0"/>
          </a:p>
        </p:txBody>
      </p:sp>
      <p:sp>
        <p:nvSpPr>
          <p:cNvPr id="137" name="Shape 107"/>
          <p:cNvSpPr/>
          <p:nvPr/>
        </p:nvSpPr>
        <p:spPr>
          <a:xfrm>
            <a:off x="10204704" y="2176272"/>
            <a:ext cx="274320" cy="274320"/>
          </a:xfrm>
          <a:prstGeom prst="ellipse">
            <a:avLst/>
          </a:prstGeom>
          <a:solidFill>
            <a:srgbClr val="A8703C"/>
          </a:solidFill>
          <a:ln/>
        </p:spPr>
      </p:sp>
      <p:pic>
        <p:nvPicPr>
          <p:cNvPr id="138" name="Image 28" descr="steth icon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262311" y="2233879"/>
            <a:ext cx="159106" cy="159106"/>
          </a:xfrm>
          <a:prstGeom prst="rect">
            <a:avLst/>
          </a:prstGeom>
        </p:spPr>
      </p:pic>
      <p:sp>
        <p:nvSpPr>
          <p:cNvPr id="139" name="Text 108"/>
          <p:cNvSpPr txBox="1"/>
          <p:nvPr/>
        </p:nvSpPr>
        <p:spPr>
          <a:xfrm>
            <a:off x="10543032" y="2148840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A8703C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Not a diagnosis</a:t>
            </a:r>
            <a:endParaRPr lang="en-US" sz="680" dirty="0"/>
          </a:p>
          <a:p>
            <a:pPr algn="l" indent="0" marL="0">
              <a:buNone/>
            </a:pPr>
            <a:r>
              <a:rPr lang="en-US" sz="68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decision support for a registered doctor</a:t>
            </a:r>
            <a:endParaRPr lang="en-US" sz="680" dirty="0"/>
          </a:p>
        </p:txBody>
      </p:sp>
      <p:sp>
        <p:nvSpPr>
          <p:cNvPr id="140" name="Shape 109"/>
          <p:cNvSpPr/>
          <p:nvPr/>
        </p:nvSpPr>
        <p:spPr>
          <a:xfrm>
            <a:off x="109728" y="2642616"/>
            <a:ext cx="11969496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2"/>
            </a:solidFill>
            <a:prstDash val="solid"/>
          </a:ln>
        </p:spPr>
      </p:sp>
      <p:sp>
        <p:nvSpPr>
          <p:cNvPr id="141" name="Shape 110"/>
          <p:cNvSpPr/>
          <p:nvPr/>
        </p:nvSpPr>
        <p:spPr>
          <a:xfrm>
            <a:off x="109728" y="2642616"/>
            <a:ext cx="237744" cy="1847088"/>
          </a:xfrm>
          <a:prstGeom prst="rect">
            <a:avLst/>
          </a:prstGeom>
          <a:solidFill>
            <a:srgbClr val="086A70"/>
          </a:solidFill>
          <a:ln/>
        </p:spPr>
      </p:sp>
      <p:sp>
        <p:nvSpPr>
          <p:cNvPr id="142" name="Text 111"/>
          <p:cNvSpPr txBox="1"/>
          <p:nvPr/>
        </p:nvSpPr>
        <p:spPr>
          <a:xfrm rot="16200000">
            <a:off x="-694944" y="3447288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02  WHAT WE BUILT</a:t>
            </a:r>
            <a:endParaRPr lang="en-US" sz="800" dirty="0"/>
          </a:p>
        </p:txBody>
      </p:sp>
      <p:sp>
        <p:nvSpPr>
          <p:cNvPr id="143" name="Shape 112"/>
          <p:cNvSpPr/>
          <p:nvPr/>
        </p:nvSpPr>
        <p:spPr>
          <a:xfrm>
            <a:off x="3429000" y="2715768"/>
            <a:ext cx="91" cy="1700784"/>
          </a:xfrm>
          <a:prstGeom prst="line">
            <a:avLst/>
          </a:prstGeom>
          <a:noFill/>
          <a:ln w="9525">
            <a:solidFill>
              <a:srgbClr val="D6D0C2"/>
            </a:solidFill>
            <a:prstDash val="solid"/>
          </a:ln>
        </p:spPr>
      </p:sp>
      <p:sp>
        <p:nvSpPr>
          <p:cNvPr id="144" name="Shape 113"/>
          <p:cNvSpPr/>
          <p:nvPr/>
        </p:nvSpPr>
        <p:spPr>
          <a:xfrm>
            <a:off x="6483096" y="2715768"/>
            <a:ext cx="91" cy="1700784"/>
          </a:xfrm>
          <a:prstGeom prst="line">
            <a:avLst/>
          </a:prstGeom>
          <a:noFill/>
          <a:ln w="9525">
            <a:solidFill>
              <a:srgbClr val="D6D0C2"/>
            </a:solidFill>
            <a:prstDash val="solid"/>
          </a:ln>
        </p:spPr>
      </p:sp>
      <p:sp>
        <p:nvSpPr>
          <p:cNvPr id="145" name="Shape 114"/>
          <p:cNvSpPr/>
          <p:nvPr/>
        </p:nvSpPr>
        <p:spPr>
          <a:xfrm>
            <a:off x="9189720" y="2715768"/>
            <a:ext cx="91" cy="1700784"/>
          </a:xfrm>
          <a:prstGeom prst="line">
            <a:avLst/>
          </a:prstGeom>
          <a:noFill/>
          <a:ln w="9525">
            <a:solidFill>
              <a:srgbClr val="D6D0C2"/>
            </a:solidFill>
            <a:prstDash val="solid"/>
          </a:ln>
        </p:spPr>
      </p:sp>
      <p:sp>
        <p:nvSpPr>
          <p:cNvPr id="146" name="Shape 115"/>
          <p:cNvSpPr/>
          <p:nvPr/>
        </p:nvSpPr>
        <p:spPr>
          <a:xfrm>
            <a:off x="457200" y="2720340"/>
            <a:ext cx="64008" cy="64008"/>
          </a:xfrm>
          <a:prstGeom prst="rect">
            <a:avLst/>
          </a:prstGeom>
          <a:solidFill>
            <a:srgbClr val="086A70"/>
          </a:solidFill>
          <a:ln/>
        </p:spPr>
      </p:sp>
      <p:sp>
        <p:nvSpPr>
          <p:cNvPr id="147" name="Text 116"/>
          <p:cNvSpPr txBox="1"/>
          <p:nvPr/>
        </p:nvSpPr>
        <p:spPr>
          <a:xfrm>
            <a:off x="557784" y="267462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WHITE SPACE: WHAT EACH APPROACH USES</a:t>
            </a:r>
            <a:endParaRPr lang="en-US" sz="800" dirty="0"/>
          </a:p>
        </p:txBody>
      </p:sp>
      <p:sp>
        <p:nvSpPr>
          <p:cNvPr id="148" name="Text 117"/>
          <p:cNvSpPr txBox="1"/>
          <p:nvPr/>
        </p:nvSpPr>
        <p:spPr>
          <a:xfrm>
            <a:off x="2889504" y="2674620"/>
            <a:ext cx="457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86A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SEE A2</a:t>
            </a:r>
            <a:endParaRPr lang="en-US" sz="700" dirty="0"/>
          </a:p>
        </p:txBody>
      </p:sp>
      <p:sp>
        <p:nvSpPr>
          <p:cNvPr id="149" name="Text 118"/>
          <p:cNvSpPr txBox="1"/>
          <p:nvPr/>
        </p:nvSpPr>
        <p:spPr>
          <a:xfrm>
            <a:off x="1481328" y="2843784"/>
            <a:ext cx="2331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Health record</a:t>
            </a:r>
            <a:endParaRPr lang="en-US" sz="640" dirty="0"/>
          </a:p>
        </p:txBody>
      </p:sp>
      <p:sp>
        <p:nvSpPr>
          <p:cNvPr id="150" name="Text 119"/>
          <p:cNvSpPr txBox="1"/>
          <p:nvPr/>
        </p:nvSpPr>
        <p:spPr>
          <a:xfrm>
            <a:off x="1714500" y="2843784"/>
            <a:ext cx="2331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Watch</a:t>
            </a:r>
            <a:endParaRPr lang="en-US" sz="640" dirty="0"/>
          </a:p>
        </p:txBody>
      </p:sp>
      <p:sp>
        <p:nvSpPr>
          <p:cNvPr id="151" name="Text 120"/>
          <p:cNvSpPr txBox="1"/>
          <p:nvPr/>
        </p:nvSpPr>
        <p:spPr>
          <a:xfrm>
            <a:off x="1947672" y="2843784"/>
            <a:ext cx="2331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Home BP cuff</a:t>
            </a:r>
            <a:endParaRPr lang="en-US" sz="640" dirty="0"/>
          </a:p>
        </p:txBody>
      </p:sp>
      <p:sp>
        <p:nvSpPr>
          <p:cNvPr id="152" name="Text 121"/>
          <p:cNvSpPr txBox="1"/>
          <p:nvPr/>
        </p:nvSpPr>
        <p:spPr>
          <a:xfrm>
            <a:off x="2180844" y="2843784"/>
            <a:ext cx="2331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Own baseline</a:t>
            </a:r>
            <a:endParaRPr lang="en-US" sz="640" dirty="0"/>
          </a:p>
        </p:txBody>
      </p:sp>
      <p:sp>
        <p:nvSpPr>
          <p:cNvPr id="153" name="Text 122"/>
          <p:cNvSpPr txBox="1"/>
          <p:nvPr/>
        </p:nvSpPr>
        <p:spPr>
          <a:xfrm>
            <a:off x="2414016" y="2843784"/>
            <a:ext cx="2331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Own response</a:t>
            </a:r>
            <a:endParaRPr lang="en-US" sz="640" dirty="0"/>
          </a:p>
        </p:txBody>
      </p:sp>
      <p:sp>
        <p:nvSpPr>
          <p:cNvPr id="154" name="Text 123"/>
          <p:cNvSpPr txBox="1"/>
          <p:nvPr/>
        </p:nvSpPr>
        <p:spPr>
          <a:xfrm>
            <a:off x="2647188" y="2843784"/>
            <a:ext cx="2331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Calibrated</a:t>
            </a:r>
            <a:endParaRPr lang="en-US" sz="640" dirty="0"/>
          </a:p>
        </p:txBody>
      </p:sp>
      <p:sp>
        <p:nvSpPr>
          <p:cNvPr id="155" name="Text 124"/>
          <p:cNvSpPr txBox="1"/>
          <p:nvPr/>
        </p:nvSpPr>
        <p:spPr>
          <a:xfrm>
            <a:off x="2880360" y="2843784"/>
            <a:ext cx="2331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Alarm budget</a:t>
            </a:r>
            <a:endParaRPr lang="en-US" sz="640" dirty="0"/>
          </a:p>
        </p:txBody>
      </p:sp>
      <p:sp>
        <p:nvSpPr>
          <p:cNvPr id="156" name="Text 125"/>
          <p:cNvSpPr txBox="1"/>
          <p:nvPr/>
        </p:nvSpPr>
        <p:spPr>
          <a:xfrm>
            <a:off x="3131820" y="2843784"/>
            <a:ext cx="27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Score</a:t>
            </a:r>
            <a:endParaRPr lang="en-US" sz="640" dirty="0"/>
          </a:p>
        </p:txBody>
      </p:sp>
      <p:sp>
        <p:nvSpPr>
          <p:cNvPr id="157" name="Text 126"/>
          <p:cNvSpPr txBox="1"/>
          <p:nvPr/>
        </p:nvSpPr>
        <p:spPr>
          <a:xfrm>
            <a:off x="420624" y="3401568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Threshold alarms</a:t>
            </a:r>
            <a:r>
              <a:rPr lang="en-US" sz="60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  </a:t>
            </a:r>
            <a:endParaRPr lang="en-US" sz="680" dirty="0"/>
          </a:p>
        </p:txBody>
      </p:sp>
      <p:sp>
        <p:nvSpPr>
          <p:cNvPr id="158" name="Shape 127"/>
          <p:cNvSpPr/>
          <p:nvPr/>
        </p:nvSpPr>
        <p:spPr>
          <a:xfrm>
            <a:off x="1499616" y="3419856"/>
            <a:ext cx="196596" cy="128016"/>
          </a:xfrm>
          <a:prstGeom prst="rect">
            <a:avLst/>
          </a:prstGeom>
          <a:solidFill>
            <a:srgbClr val="ECE8DF"/>
          </a:solidFill>
          <a:ln/>
        </p:spPr>
      </p:sp>
      <p:sp>
        <p:nvSpPr>
          <p:cNvPr id="159" name="Shape 128"/>
          <p:cNvSpPr/>
          <p:nvPr/>
        </p:nvSpPr>
        <p:spPr>
          <a:xfrm>
            <a:off x="1732788" y="3419856"/>
            <a:ext cx="196596" cy="128016"/>
          </a:xfrm>
          <a:prstGeom prst="rect">
            <a:avLst/>
          </a:prstGeom>
          <a:solidFill>
            <a:srgbClr val="086A70"/>
          </a:solidFill>
          <a:ln/>
        </p:spPr>
      </p:sp>
      <p:sp>
        <p:nvSpPr>
          <p:cNvPr id="160" name="Shape 129"/>
          <p:cNvSpPr/>
          <p:nvPr/>
        </p:nvSpPr>
        <p:spPr>
          <a:xfrm>
            <a:off x="1965960" y="3419856"/>
            <a:ext cx="196596" cy="128016"/>
          </a:xfrm>
          <a:prstGeom prst="rect">
            <a:avLst/>
          </a:prstGeom>
          <a:solidFill>
            <a:srgbClr val="086A70"/>
          </a:solidFill>
          <a:ln/>
        </p:spPr>
      </p:sp>
      <p:sp>
        <p:nvSpPr>
          <p:cNvPr id="161" name="Shape 130"/>
          <p:cNvSpPr/>
          <p:nvPr/>
        </p:nvSpPr>
        <p:spPr>
          <a:xfrm>
            <a:off x="2199132" y="3419856"/>
            <a:ext cx="196596" cy="128016"/>
          </a:xfrm>
          <a:prstGeom prst="rect">
            <a:avLst/>
          </a:prstGeom>
          <a:solidFill>
            <a:srgbClr val="ECE8DF"/>
          </a:solidFill>
          <a:ln/>
        </p:spPr>
      </p:sp>
      <p:sp>
        <p:nvSpPr>
          <p:cNvPr id="162" name="Shape 131"/>
          <p:cNvSpPr/>
          <p:nvPr/>
        </p:nvSpPr>
        <p:spPr>
          <a:xfrm>
            <a:off x="2432304" y="3419856"/>
            <a:ext cx="196596" cy="128016"/>
          </a:xfrm>
          <a:prstGeom prst="rect">
            <a:avLst/>
          </a:prstGeom>
          <a:solidFill>
            <a:srgbClr val="ECE8DF"/>
          </a:solidFill>
          <a:ln/>
        </p:spPr>
      </p:sp>
      <p:sp>
        <p:nvSpPr>
          <p:cNvPr id="163" name="Shape 132"/>
          <p:cNvSpPr/>
          <p:nvPr/>
        </p:nvSpPr>
        <p:spPr>
          <a:xfrm>
            <a:off x="2665476" y="3419856"/>
            <a:ext cx="196596" cy="128016"/>
          </a:xfrm>
          <a:prstGeom prst="rect">
            <a:avLst/>
          </a:prstGeom>
          <a:solidFill>
            <a:srgbClr val="ECE8DF"/>
          </a:solidFill>
          <a:ln/>
        </p:spPr>
      </p:sp>
      <p:sp>
        <p:nvSpPr>
          <p:cNvPr id="164" name="Shape 133"/>
          <p:cNvSpPr/>
          <p:nvPr/>
        </p:nvSpPr>
        <p:spPr>
          <a:xfrm>
            <a:off x="2898648" y="3419856"/>
            <a:ext cx="196596" cy="128016"/>
          </a:xfrm>
          <a:prstGeom prst="rect">
            <a:avLst/>
          </a:prstGeom>
          <a:solidFill>
            <a:srgbClr val="ECE8DF"/>
          </a:solidFill>
          <a:ln/>
        </p:spPr>
      </p:sp>
      <p:sp>
        <p:nvSpPr>
          <p:cNvPr id="165" name="Text 134"/>
          <p:cNvSpPr txBox="1"/>
          <p:nvPr/>
        </p:nvSpPr>
        <p:spPr>
          <a:xfrm>
            <a:off x="3131820" y="3401568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2/7</a:t>
            </a:r>
            <a:endParaRPr lang="en-US" sz="700" dirty="0"/>
          </a:p>
        </p:txBody>
      </p:sp>
      <p:sp>
        <p:nvSpPr>
          <p:cNvPr id="166" name="Text 135"/>
          <p:cNvSpPr txBox="1"/>
          <p:nvPr/>
        </p:nvSpPr>
        <p:spPr>
          <a:xfrm>
            <a:off x="420624" y="3579876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Overnight HR rule</a:t>
            </a:r>
            <a:r>
              <a:rPr lang="en-US" sz="60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  </a:t>
            </a:r>
            <a:endParaRPr lang="en-US" sz="680" dirty="0"/>
          </a:p>
        </p:txBody>
      </p:sp>
      <p:sp>
        <p:nvSpPr>
          <p:cNvPr id="167" name="Shape 136"/>
          <p:cNvSpPr/>
          <p:nvPr/>
        </p:nvSpPr>
        <p:spPr>
          <a:xfrm>
            <a:off x="1499616" y="3598164"/>
            <a:ext cx="196596" cy="128016"/>
          </a:xfrm>
          <a:prstGeom prst="rect">
            <a:avLst/>
          </a:prstGeom>
          <a:solidFill>
            <a:srgbClr val="ECE8DF"/>
          </a:solidFill>
          <a:ln/>
        </p:spPr>
      </p:sp>
      <p:sp>
        <p:nvSpPr>
          <p:cNvPr id="168" name="Shape 137"/>
          <p:cNvSpPr/>
          <p:nvPr/>
        </p:nvSpPr>
        <p:spPr>
          <a:xfrm>
            <a:off x="1732788" y="3598164"/>
            <a:ext cx="196596" cy="128016"/>
          </a:xfrm>
          <a:prstGeom prst="rect">
            <a:avLst/>
          </a:prstGeom>
          <a:solidFill>
            <a:srgbClr val="086A70"/>
          </a:solidFill>
          <a:ln/>
        </p:spPr>
      </p:sp>
      <p:sp>
        <p:nvSpPr>
          <p:cNvPr id="169" name="Shape 138"/>
          <p:cNvSpPr/>
          <p:nvPr/>
        </p:nvSpPr>
        <p:spPr>
          <a:xfrm>
            <a:off x="1965960" y="3598164"/>
            <a:ext cx="196596" cy="128016"/>
          </a:xfrm>
          <a:prstGeom prst="rect">
            <a:avLst/>
          </a:prstGeom>
          <a:solidFill>
            <a:srgbClr val="ECE8DF"/>
          </a:solidFill>
          <a:ln/>
        </p:spPr>
      </p:sp>
      <p:sp>
        <p:nvSpPr>
          <p:cNvPr id="170" name="Shape 139"/>
          <p:cNvSpPr/>
          <p:nvPr/>
        </p:nvSpPr>
        <p:spPr>
          <a:xfrm>
            <a:off x="2199132" y="3598164"/>
            <a:ext cx="196596" cy="128016"/>
          </a:xfrm>
          <a:prstGeom prst="rect">
            <a:avLst/>
          </a:prstGeom>
          <a:solidFill>
            <a:srgbClr val="086A70"/>
          </a:solidFill>
          <a:ln/>
        </p:spPr>
      </p:sp>
      <p:sp>
        <p:nvSpPr>
          <p:cNvPr id="171" name="Shape 140"/>
          <p:cNvSpPr/>
          <p:nvPr/>
        </p:nvSpPr>
        <p:spPr>
          <a:xfrm>
            <a:off x="2432304" y="3598164"/>
            <a:ext cx="196596" cy="128016"/>
          </a:xfrm>
          <a:prstGeom prst="rect">
            <a:avLst/>
          </a:prstGeom>
          <a:solidFill>
            <a:srgbClr val="ECE8DF"/>
          </a:solidFill>
          <a:ln/>
        </p:spPr>
      </p:sp>
      <p:sp>
        <p:nvSpPr>
          <p:cNvPr id="172" name="Shape 141"/>
          <p:cNvSpPr/>
          <p:nvPr/>
        </p:nvSpPr>
        <p:spPr>
          <a:xfrm>
            <a:off x="2665476" y="3598164"/>
            <a:ext cx="196596" cy="128016"/>
          </a:xfrm>
          <a:prstGeom prst="rect">
            <a:avLst/>
          </a:prstGeom>
          <a:solidFill>
            <a:srgbClr val="ECE8DF"/>
          </a:solidFill>
          <a:ln/>
        </p:spPr>
      </p:sp>
      <p:sp>
        <p:nvSpPr>
          <p:cNvPr id="173" name="Shape 142"/>
          <p:cNvSpPr/>
          <p:nvPr/>
        </p:nvSpPr>
        <p:spPr>
          <a:xfrm>
            <a:off x="2898648" y="3598164"/>
            <a:ext cx="196596" cy="128016"/>
          </a:xfrm>
          <a:prstGeom prst="rect">
            <a:avLst/>
          </a:prstGeom>
          <a:solidFill>
            <a:srgbClr val="ECE8DF"/>
          </a:solidFill>
          <a:ln/>
        </p:spPr>
      </p:sp>
      <p:sp>
        <p:nvSpPr>
          <p:cNvPr id="174" name="Text 143"/>
          <p:cNvSpPr txBox="1"/>
          <p:nvPr/>
        </p:nvSpPr>
        <p:spPr>
          <a:xfrm>
            <a:off x="3131820" y="3579876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2/7</a:t>
            </a:r>
            <a:endParaRPr lang="en-US" sz="700" dirty="0"/>
          </a:p>
        </p:txBody>
      </p:sp>
      <p:sp>
        <p:nvSpPr>
          <p:cNvPr id="175" name="Text 144"/>
          <p:cNvSpPr txBox="1"/>
          <p:nvPr/>
        </p:nvSpPr>
        <p:spPr>
          <a:xfrm>
            <a:off x="420624" y="3758184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Framingham score</a:t>
            </a:r>
            <a:r>
              <a:rPr lang="en-US" sz="60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  </a:t>
            </a:r>
            <a:endParaRPr lang="en-US" sz="680" dirty="0"/>
          </a:p>
        </p:txBody>
      </p:sp>
      <p:sp>
        <p:nvSpPr>
          <p:cNvPr id="176" name="Shape 145"/>
          <p:cNvSpPr/>
          <p:nvPr/>
        </p:nvSpPr>
        <p:spPr>
          <a:xfrm>
            <a:off x="1499616" y="3776472"/>
            <a:ext cx="196596" cy="128016"/>
          </a:xfrm>
          <a:prstGeom prst="rect">
            <a:avLst/>
          </a:prstGeom>
          <a:solidFill>
            <a:srgbClr val="086A70"/>
          </a:solidFill>
          <a:ln/>
        </p:spPr>
      </p:sp>
      <p:sp>
        <p:nvSpPr>
          <p:cNvPr id="177" name="Shape 146"/>
          <p:cNvSpPr/>
          <p:nvPr/>
        </p:nvSpPr>
        <p:spPr>
          <a:xfrm>
            <a:off x="1732788" y="3776472"/>
            <a:ext cx="196596" cy="128016"/>
          </a:xfrm>
          <a:prstGeom prst="rect">
            <a:avLst/>
          </a:prstGeom>
          <a:solidFill>
            <a:srgbClr val="ECE8DF"/>
          </a:solidFill>
          <a:ln/>
        </p:spPr>
      </p:sp>
      <p:sp>
        <p:nvSpPr>
          <p:cNvPr id="178" name="Shape 147"/>
          <p:cNvSpPr/>
          <p:nvPr/>
        </p:nvSpPr>
        <p:spPr>
          <a:xfrm>
            <a:off x="1965960" y="3776472"/>
            <a:ext cx="196596" cy="128016"/>
          </a:xfrm>
          <a:prstGeom prst="rect">
            <a:avLst/>
          </a:prstGeom>
          <a:solidFill>
            <a:srgbClr val="ECE8DF"/>
          </a:solidFill>
          <a:ln/>
        </p:spPr>
      </p:sp>
      <p:sp>
        <p:nvSpPr>
          <p:cNvPr id="179" name="Shape 148"/>
          <p:cNvSpPr/>
          <p:nvPr/>
        </p:nvSpPr>
        <p:spPr>
          <a:xfrm>
            <a:off x="2199132" y="3776472"/>
            <a:ext cx="196596" cy="128016"/>
          </a:xfrm>
          <a:prstGeom prst="rect">
            <a:avLst/>
          </a:prstGeom>
          <a:solidFill>
            <a:srgbClr val="ECE8DF"/>
          </a:solidFill>
          <a:ln/>
        </p:spPr>
      </p:sp>
      <p:sp>
        <p:nvSpPr>
          <p:cNvPr id="180" name="Shape 149"/>
          <p:cNvSpPr/>
          <p:nvPr/>
        </p:nvSpPr>
        <p:spPr>
          <a:xfrm>
            <a:off x="2432304" y="3776472"/>
            <a:ext cx="196596" cy="128016"/>
          </a:xfrm>
          <a:prstGeom prst="rect">
            <a:avLst/>
          </a:prstGeom>
          <a:solidFill>
            <a:srgbClr val="ECE8DF"/>
          </a:solidFill>
          <a:ln/>
        </p:spPr>
      </p:sp>
      <p:sp>
        <p:nvSpPr>
          <p:cNvPr id="181" name="Shape 150"/>
          <p:cNvSpPr/>
          <p:nvPr/>
        </p:nvSpPr>
        <p:spPr>
          <a:xfrm>
            <a:off x="2665476" y="3776472"/>
            <a:ext cx="196596" cy="128016"/>
          </a:xfrm>
          <a:prstGeom prst="rect">
            <a:avLst/>
          </a:prstGeom>
          <a:solidFill>
            <a:srgbClr val="8FC9CB"/>
          </a:solidFill>
          <a:ln/>
        </p:spPr>
      </p:sp>
      <p:sp>
        <p:nvSpPr>
          <p:cNvPr id="182" name="Shape 151"/>
          <p:cNvSpPr/>
          <p:nvPr/>
        </p:nvSpPr>
        <p:spPr>
          <a:xfrm>
            <a:off x="2898648" y="3776472"/>
            <a:ext cx="196596" cy="128016"/>
          </a:xfrm>
          <a:prstGeom prst="rect">
            <a:avLst/>
          </a:prstGeom>
          <a:solidFill>
            <a:srgbClr val="ECE8DF"/>
          </a:solidFill>
          <a:ln/>
        </p:spPr>
      </p:sp>
      <p:sp>
        <p:nvSpPr>
          <p:cNvPr id="183" name="Text 152"/>
          <p:cNvSpPr txBox="1"/>
          <p:nvPr/>
        </p:nvSpPr>
        <p:spPr>
          <a:xfrm>
            <a:off x="3131820" y="3758184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1.5/7</a:t>
            </a:r>
            <a:endParaRPr lang="en-US" sz="700" dirty="0"/>
          </a:p>
        </p:txBody>
      </p:sp>
      <p:sp>
        <p:nvSpPr>
          <p:cNvPr id="184" name="Text 153"/>
          <p:cNvSpPr txBox="1"/>
          <p:nvPr/>
        </p:nvSpPr>
        <p:spPr>
          <a:xfrm>
            <a:off x="420624" y="3936492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Same model, no twin</a:t>
            </a:r>
            <a:r>
              <a:rPr lang="en-US" sz="60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  </a:t>
            </a:r>
            <a:endParaRPr lang="en-US" sz="680" dirty="0"/>
          </a:p>
        </p:txBody>
      </p:sp>
      <p:sp>
        <p:nvSpPr>
          <p:cNvPr id="185" name="Shape 154"/>
          <p:cNvSpPr/>
          <p:nvPr/>
        </p:nvSpPr>
        <p:spPr>
          <a:xfrm>
            <a:off x="1499616" y="3954780"/>
            <a:ext cx="196596" cy="128016"/>
          </a:xfrm>
          <a:prstGeom prst="rect">
            <a:avLst/>
          </a:prstGeom>
          <a:solidFill>
            <a:srgbClr val="086A70"/>
          </a:solidFill>
          <a:ln/>
        </p:spPr>
      </p:sp>
      <p:sp>
        <p:nvSpPr>
          <p:cNvPr id="186" name="Shape 155"/>
          <p:cNvSpPr/>
          <p:nvPr/>
        </p:nvSpPr>
        <p:spPr>
          <a:xfrm>
            <a:off x="1732788" y="3954780"/>
            <a:ext cx="196596" cy="128016"/>
          </a:xfrm>
          <a:prstGeom prst="rect">
            <a:avLst/>
          </a:prstGeom>
          <a:solidFill>
            <a:srgbClr val="086A70"/>
          </a:solidFill>
          <a:ln/>
        </p:spPr>
      </p:sp>
      <p:sp>
        <p:nvSpPr>
          <p:cNvPr id="187" name="Shape 156"/>
          <p:cNvSpPr/>
          <p:nvPr/>
        </p:nvSpPr>
        <p:spPr>
          <a:xfrm>
            <a:off x="1965960" y="3954780"/>
            <a:ext cx="196596" cy="128016"/>
          </a:xfrm>
          <a:prstGeom prst="rect">
            <a:avLst/>
          </a:prstGeom>
          <a:solidFill>
            <a:srgbClr val="086A70"/>
          </a:solidFill>
          <a:ln/>
        </p:spPr>
      </p:sp>
      <p:sp>
        <p:nvSpPr>
          <p:cNvPr id="188" name="Shape 157"/>
          <p:cNvSpPr/>
          <p:nvPr/>
        </p:nvSpPr>
        <p:spPr>
          <a:xfrm>
            <a:off x="2199132" y="3954780"/>
            <a:ext cx="196596" cy="128016"/>
          </a:xfrm>
          <a:prstGeom prst="rect">
            <a:avLst/>
          </a:prstGeom>
          <a:solidFill>
            <a:srgbClr val="8FC9CB"/>
          </a:solidFill>
          <a:ln/>
        </p:spPr>
      </p:sp>
      <p:sp>
        <p:nvSpPr>
          <p:cNvPr id="189" name="Shape 158"/>
          <p:cNvSpPr/>
          <p:nvPr/>
        </p:nvSpPr>
        <p:spPr>
          <a:xfrm>
            <a:off x="2432304" y="3954780"/>
            <a:ext cx="196596" cy="128016"/>
          </a:xfrm>
          <a:prstGeom prst="rect">
            <a:avLst/>
          </a:prstGeom>
          <a:solidFill>
            <a:srgbClr val="ECE8DF"/>
          </a:solidFill>
          <a:ln/>
        </p:spPr>
      </p:sp>
      <p:sp>
        <p:nvSpPr>
          <p:cNvPr id="190" name="Shape 159"/>
          <p:cNvSpPr/>
          <p:nvPr/>
        </p:nvSpPr>
        <p:spPr>
          <a:xfrm>
            <a:off x="2665476" y="3954780"/>
            <a:ext cx="196596" cy="128016"/>
          </a:xfrm>
          <a:prstGeom prst="rect">
            <a:avLst/>
          </a:prstGeom>
          <a:solidFill>
            <a:srgbClr val="086A70"/>
          </a:solidFill>
          <a:ln/>
        </p:spPr>
      </p:sp>
      <p:sp>
        <p:nvSpPr>
          <p:cNvPr id="191" name="Shape 160"/>
          <p:cNvSpPr/>
          <p:nvPr/>
        </p:nvSpPr>
        <p:spPr>
          <a:xfrm>
            <a:off x="2898648" y="3954780"/>
            <a:ext cx="196596" cy="128016"/>
          </a:xfrm>
          <a:prstGeom prst="rect">
            <a:avLst/>
          </a:prstGeom>
          <a:solidFill>
            <a:srgbClr val="086A70"/>
          </a:solidFill>
          <a:ln/>
        </p:spPr>
      </p:sp>
      <p:sp>
        <p:nvSpPr>
          <p:cNvPr id="192" name="Text 161"/>
          <p:cNvSpPr txBox="1"/>
          <p:nvPr/>
        </p:nvSpPr>
        <p:spPr>
          <a:xfrm>
            <a:off x="3131820" y="393649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5.5/7</a:t>
            </a:r>
            <a:endParaRPr lang="en-US" sz="700" dirty="0"/>
          </a:p>
        </p:txBody>
      </p:sp>
      <p:sp>
        <p:nvSpPr>
          <p:cNvPr id="193" name="Shape 162"/>
          <p:cNvSpPr/>
          <p:nvPr/>
        </p:nvSpPr>
        <p:spPr>
          <a:xfrm>
            <a:off x="402336" y="4105656"/>
            <a:ext cx="2980944" cy="182880"/>
          </a:xfrm>
          <a:prstGeom prst="rect">
            <a:avLst/>
          </a:prstGeom>
          <a:solidFill>
            <a:srgbClr val="FBE6EE"/>
          </a:solidFill>
          <a:ln/>
        </p:spPr>
      </p:sp>
      <p:sp>
        <p:nvSpPr>
          <p:cNvPr id="194" name="Text 163"/>
          <p:cNvSpPr txBox="1"/>
          <p:nvPr/>
        </p:nvSpPr>
        <p:spPr>
          <a:xfrm>
            <a:off x="420624" y="4114800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B23F69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PRATIBIMB</a:t>
            </a:r>
            <a:r>
              <a:rPr lang="en-US" sz="60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  </a:t>
            </a:r>
            <a:endParaRPr lang="en-US" sz="680" dirty="0"/>
          </a:p>
        </p:txBody>
      </p:sp>
      <p:sp>
        <p:nvSpPr>
          <p:cNvPr id="195" name="Shape 164"/>
          <p:cNvSpPr/>
          <p:nvPr/>
        </p:nvSpPr>
        <p:spPr>
          <a:xfrm>
            <a:off x="1499616" y="4133088"/>
            <a:ext cx="196596" cy="128016"/>
          </a:xfrm>
          <a:prstGeom prst="rect">
            <a:avLst/>
          </a:prstGeom>
          <a:solidFill>
            <a:srgbClr val="086A70"/>
          </a:solidFill>
          <a:ln/>
        </p:spPr>
      </p:sp>
      <p:sp>
        <p:nvSpPr>
          <p:cNvPr id="196" name="Shape 165"/>
          <p:cNvSpPr/>
          <p:nvPr/>
        </p:nvSpPr>
        <p:spPr>
          <a:xfrm>
            <a:off x="1732788" y="4133088"/>
            <a:ext cx="196596" cy="128016"/>
          </a:xfrm>
          <a:prstGeom prst="rect">
            <a:avLst/>
          </a:prstGeom>
          <a:solidFill>
            <a:srgbClr val="086A70"/>
          </a:solidFill>
          <a:ln/>
        </p:spPr>
      </p:sp>
      <p:sp>
        <p:nvSpPr>
          <p:cNvPr id="197" name="Shape 166"/>
          <p:cNvSpPr/>
          <p:nvPr/>
        </p:nvSpPr>
        <p:spPr>
          <a:xfrm>
            <a:off x="1965960" y="4133088"/>
            <a:ext cx="196596" cy="128016"/>
          </a:xfrm>
          <a:prstGeom prst="rect">
            <a:avLst/>
          </a:prstGeom>
          <a:solidFill>
            <a:srgbClr val="086A70"/>
          </a:solidFill>
          <a:ln/>
        </p:spPr>
      </p:sp>
      <p:sp>
        <p:nvSpPr>
          <p:cNvPr id="198" name="Shape 167"/>
          <p:cNvSpPr/>
          <p:nvPr/>
        </p:nvSpPr>
        <p:spPr>
          <a:xfrm>
            <a:off x="2199132" y="4133088"/>
            <a:ext cx="196596" cy="128016"/>
          </a:xfrm>
          <a:prstGeom prst="rect">
            <a:avLst/>
          </a:prstGeom>
          <a:solidFill>
            <a:srgbClr val="086A70"/>
          </a:solidFill>
          <a:ln/>
        </p:spPr>
      </p:sp>
      <p:sp>
        <p:nvSpPr>
          <p:cNvPr id="199" name="Shape 168"/>
          <p:cNvSpPr/>
          <p:nvPr/>
        </p:nvSpPr>
        <p:spPr>
          <a:xfrm>
            <a:off x="2432304" y="4133088"/>
            <a:ext cx="196596" cy="128016"/>
          </a:xfrm>
          <a:prstGeom prst="rect">
            <a:avLst/>
          </a:prstGeom>
          <a:solidFill>
            <a:srgbClr val="086A70"/>
          </a:solidFill>
          <a:ln/>
        </p:spPr>
      </p:sp>
      <p:sp>
        <p:nvSpPr>
          <p:cNvPr id="200" name="Shape 169"/>
          <p:cNvSpPr/>
          <p:nvPr/>
        </p:nvSpPr>
        <p:spPr>
          <a:xfrm>
            <a:off x="2665476" y="4133088"/>
            <a:ext cx="196596" cy="128016"/>
          </a:xfrm>
          <a:prstGeom prst="rect">
            <a:avLst/>
          </a:prstGeom>
          <a:solidFill>
            <a:srgbClr val="086A70"/>
          </a:solidFill>
          <a:ln/>
        </p:spPr>
      </p:sp>
      <p:sp>
        <p:nvSpPr>
          <p:cNvPr id="201" name="Shape 170"/>
          <p:cNvSpPr/>
          <p:nvPr/>
        </p:nvSpPr>
        <p:spPr>
          <a:xfrm>
            <a:off x="2898648" y="4133088"/>
            <a:ext cx="196596" cy="128016"/>
          </a:xfrm>
          <a:prstGeom prst="rect">
            <a:avLst/>
          </a:prstGeom>
          <a:solidFill>
            <a:srgbClr val="086A70"/>
          </a:solidFill>
          <a:ln/>
        </p:spPr>
      </p:sp>
      <p:sp>
        <p:nvSpPr>
          <p:cNvPr id="202" name="Text 171"/>
          <p:cNvSpPr txBox="1"/>
          <p:nvPr/>
        </p:nvSpPr>
        <p:spPr>
          <a:xfrm>
            <a:off x="3131820" y="411480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B23F69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7/7</a:t>
            </a:r>
            <a:endParaRPr lang="en-US" sz="700" dirty="0"/>
          </a:p>
        </p:txBody>
      </p:sp>
      <p:sp>
        <p:nvSpPr>
          <p:cNvPr id="203" name="Shape 172"/>
          <p:cNvSpPr/>
          <p:nvPr/>
        </p:nvSpPr>
        <p:spPr>
          <a:xfrm>
            <a:off x="438912" y="4325112"/>
            <a:ext cx="109728" cy="91440"/>
          </a:xfrm>
          <a:prstGeom prst="rect">
            <a:avLst/>
          </a:prstGeom>
          <a:solidFill>
            <a:srgbClr val="086A70"/>
          </a:solidFill>
          <a:ln/>
        </p:spPr>
      </p:sp>
      <p:sp>
        <p:nvSpPr>
          <p:cNvPr id="204" name="Text 173"/>
          <p:cNvSpPr txBox="1"/>
          <p:nvPr/>
        </p:nvSpPr>
        <p:spPr>
          <a:xfrm>
            <a:off x="576072" y="4306824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Uses it</a:t>
            </a:r>
            <a:endParaRPr lang="en-US" sz="620" dirty="0"/>
          </a:p>
        </p:txBody>
      </p:sp>
      <p:sp>
        <p:nvSpPr>
          <p:cNvPr id="205" name="Shape 174"/>
          <p:cNvSpPr/>
          <p:nvPr/>
        </p:nvSpPr>
        <p:spPr>
          <a:xfrm>
            <a:off x="1042416" y="4325112"/>
            <a:ext cx="109728" cy="91440"/>
          </a:xfrm>
          <a:prstGeom prst="rect">
            <a:avLst/>
          </a:prstGeom>
          <a:solidFill>
            <a:srgbClr val="8FC9CB"/>
          </a:solidFill>
          <a:ln/>
        </p:spPr>
      </p:sp>
      <p:sp>
        <p:nvSpPr>
          <p:cNvPr id="206" name="Text 175"/>
          <p:cNvSpPr txBox="1"/>
          <p:nvPr/>
        </p:nvSpPr>
        <p:spPr>
          <a:xfrm>
            <a:off x="1179576" y="4306824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Partly</a:t>
            </a:r>
            <a:endParaRPr lang="en-US" sz="620" dirty="0"/>
          </a:p>
        </p:txBody>
      </p:sp>
      <p:sp>
        <p:nvSpPr>
          <p:cNvPr id="207" name="Shape 176"/>
          <p:cNvSpPr/>
          <p:nvPr/>
        </p:nvSpPr>
        <p:spPr>
          <a:xfrm>
            <a:off x="1645920" y="4325112"/>
            <a:ext cx="109728" cy="91440"/>
          </a:xfrm>
          <a:prstGeom prst="rect">
            <a:avLst/>
          </a:prstGeom>
          <a:solidFill>
            <a:srgbClr val="ECE8DF"/>
          </a:solidFill>
          <a:ln/>
        </p:spPr>
      </p:sp>
      <p:sp>
        <p:nvSpPr>
          <p:cNvPr id="208" name="Text 177"/>
          <p:cNvSpPr txBox="1"/>
          <p:nvPr/>
        </p:nvSpPr>
        <p:spPr>
          <a:xfrm>
            <a:off x="1783080" y="4306824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Not used</a:t>
            </a:r>
            <a:endParaRPr lang="en-US" sz="620" dirty="0"/>
          </a:p>
        </p:txBody>
      </p:sp>
      <p:sp>
        <p:nvSpPr>
          <p:cNvPr id="209" name="Text 178"/>
          <p:cNvSpPr txBox="1"/>
          <p:nvPr/>
        </p:nvSpPr>
        <p:spPr>
          <a:xfrm>
            <a:off x="2176272" y="4297680"/>
            <a:ext cx="12070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B23F69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Only Pratibimb fills all seven</a:t>
            </a:r>
            <a:endParaRPr lang="en-US" sz="650" dirty="0"/>
          </a:p>
        </p:txBody>
      </p:sp>
      <p:sp>
        <p:nvSpPr>
          <p:cNvPr id="210" name="Shape 179"/>
          <p:cNvSpPr/>
          <p:nvPr/>
        </p:nvSpPr>
        <p:spPr>
          <a:xfrm>
            <a:off x="3557016" y="2720340"/>
            <a:ext cx="64008" cy="64008"/>
          </a:xfrm>
          <a:prstGeom prst="rect">
            <a:avLst/>
          </a:prstGeom>
          <a:solidFill>
            <a:srgbClr val="086A70"/>
          </a:solidFill>
          <a:ln/>
        </p:spPr>
      </p:sp>
      <p:sp>
        <p:nvSpPr>
          <p:cNvPr id="211" name="Text 180"/>
          <p:cNvSpPr txBox="1"/>
          <p:nvPr/>
        </p:nvSpPr>
        <p:spPr>
          <a:xfrm>
            <a:off x="3657600" y="2674620"/>
            <a:ext cx="22677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HOW THE TWIN DECIDES, ON MEERA</a:t>
            </a:r>
            <a:endParaRPr lang="en-US" sz="800" dirty="0"/>
          </a:p>
        </p:txBody>
      </p:sp>
      <p:sp>
        <p:nvSpPr>
          <p:cNvPr id="212" name="Text 181"/>
          <p:cNvSpPr txBox="1"/>
          <p:nvPr/>
        </p:nvSpPr>
        <p:spPr>
          <a:xfrm>
            <a:off x="5971032" y="2674620"/>
            <a:ext cx="457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86A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SEE A3</a:t>
            </a:r>
            <a:endParaRPr lang="en-US" sz="700" dirty="0"/>
          </a:p>
        </p:txBody>
      </p:sp>
      <p:sp>
        <p:nvSpPr>
          <p:cNvPr id="213" name="Shape 182"/>
          <p:cNvSpPr/>
          <p:nvPr/>
        </p:nvSpPr>
        <p:spPr>
          <a:xfrm>
            <a:off x="4471416" y="3118104"/>
            <a:ext cx="1024128" cy="1024128"/>
          </a:xfrm>
          <a:prstGeom prst="ellipse">
            <a:avLst/>
          </a:prstGeom>
          <a:ln w="15875">
            <a:solidFill>
              <a:srgbClr val="8FC9CB"/>
            </a:solidFill>
            <a:prstDash val="dash"/>
          </a:ln>
        </p:spPr>
      </p:sp>
      <p:pic>
        <p:nvPicPr>
          <p:cNvPr id="214" name="Image 29" descr="Meera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672584" y="3319272"/>
            <a:ext cx="621792" cy="621792"/>
          </a:xfrm>
          <a:prstGeom prst="rect">
            <a:avLst/>
          </a:prstGeom>
        </p:spPr>
      </p:pic>
      <p:sp>
        <p:nvSpPr>
          <p:cNvPr id="215" name="Shape 183"/>
          <p:cNvSpPr/>
          <p:nvPr/>
        </p:nvSpPr>
        <p:spPr>
          <a:xfrm>
            <a:off x="4855464" y="2990088"/>
            <a:ext cx="256032" cy="256032"/>
          </a:xfrm>
          <a:prstGeom prst="ellipse">
            <a:avLst/>
          </a:prstGeom>
          <a:solidFill>
            <a:srgbClr val="086A70"/>
          </a:solidFill>
          <a:ln/>
        </p:spPr>
      </p:sp>
      <p:sp>
        <p:nvSpPr>
          <p:cNvPr id="216" name="Text 184"/>
          <p:cNvSpPr txBox="1"/>
          <p:nvPr/>
        </p:nvSpPr>
        <p:spPr>
          <a:xfrm>
            <a:off x="4855464" y="29900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</a:t>
            </a:r>
            <a:endParaRPr lang="en-US" sz="900" dirty="0"/>
          </a:p>
        </p:txBody>
      </p:sp>
      <p:sp>
        <p:nvSpPr>
          <p:cNvPr id="217" name="Shape 185"/>
          <p:cNvSpPr/>
          <p:nvPr/>
        </p:nvSpPr>
        <p:spPr>
          <a:xfrm>
            <a:off x="5120640" y="3118104"/>
            <a:ext cx="237744" cy="91"/>
          </a:xfrm>
          <a:prstGeom prst="line">
            <a:avLst/>
          </a:prstGeom>
          <a:noFill/>
          <a:ln w="9525">
            <a:solidFill>
              <a:srgbClr val="8FC9CB"/>
            </a:solidFill>
            <a:prstDash val="solid"/>
          </a:ln>
        </p:spPr>
      </p:sp>
      <p:sp>
        <p:nvSpPr>
          <p:cNvPr id="218" name="Text 186"/>
          <p:cNvSpPr txBox="1"/>
          <p:nvPr/>
        </p:nvSpPr>
        <p:spPr>
          <a:xfrm>
            <a:off x="5394960" y="2980944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086A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HER USUAL</a:t>
            </a:r>
            <a:endParaRPr lang="en-US" sz="620" dirty="0"/>
          </a:p>
          <a:p>
            <a:pPr algn="l" indent="0" marL="0">
              <a:buNone/>
            </a:pPr>
            <a:r>
              <a:rPr lang="en-US" sz="62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+13.8 bpm over her usual</a:t>
            </a:r>
            <a:endParaRPr lang="en-US" sz="620" dirty="0"/>
          </a:p>
        </p:txBody>
      </p:sp>
      <p:sp>
        <p:nvSpPr>
          <p:cNvPr id="219" name="Shape 187"/>
          <p:cNvSpPr/>
          <p:nvPr/>
        </p:nvSpPr>
        <p:spPr>
          <a:xfrm>
            <a:off x="5342466" y="3343916"/>
            <a:ext cx="256032" cy="256032"/>
          </a:xfrm>
          <a:prstGeom prst="ellipse">
            <a:avLst/>
          </a:prstGeom>
          <a:solidFill>
            <a:srgbClr val="086A70"/>
          </a:solidFill>
          <a:ln/>
        </p:spPr>
      </p:sp>
      <p:sp>
        <p:nvSpPr>
          <p:cNvPr id="220" name="Text 188"/>
          <p:cNvSpPr txBox="1"/>
          <p:nvPr/>
        </p:nvSpPr>
        <p:spPr>
          <a:xfrm>
            <a:off x="5342466" y="33439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</a:t>
            </a:r>
            <a:endParaRPr lang="en-US" sz="900" dirty="0"/>
          </a:p>
        </p:txBody>
      </p:sp>
      <p:sp>
        <p:nvSpPr>
          <p:cNvPr id="221" name="Text 189"/>
          <p:cNvSpPr txBox="1"/>
          <p:nvPr/>
        </p:nvSpPr>
        <p:spPr>
          <a:xfrm>
            <a:off x="5625930" y="333477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086A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HER RESPONSES</a:t>
            </a:r>
            <a:endParaRPr lang="en-US" sz="620" dirty="0"/>
          </a:p>
          <a:p>
            <a:pPr algn="l" indent="0" marL="0">
              <a:buNone/>
            </a:pPr>
            <a:r>
              <a:rPr lang="en-US" sz="62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 slopes, 109 calm days</a:t>
            </a:r>
            <a:endParaRPr lang="en-US" sz="620" dirty="0"/>
          </a:p>
        </p:txBody>
      </p:sp>
      <p:sp>
        <p:nvSpPr>
          <p:cNvPr id="222" name="Shape 190"/>
          <p:cNvSpPr/>
          <p:nvPr/>
        </p:nvSpPr>
        <p:spPr>
          <a:xfrm>
            <a:off x="5156448" y="3916420"/>
            <a:ext cx="256032" cy="256032"/>
          </a:xfrm>
          <a:prstGeom prst="ellipse">
            <a:avLst/>
          </a:prstGeom>
          <a:solidFill>
            <a:srgbClr val="086A70"/>
          </a:solidFill>
          <a:ln/>
        </p:spPr>
      </p:sp>
      <p:sp>
        <p:nvSpPr>
          <p:cNvPr id="223" name="Text 191"/>
          <p:cNvSpPr txBox="1"/>
          <p:nvPr/>
        </p:nvSpPr>
        <p:spPr>
          <a:xfrm>
            <a:off x="5156448" y="39164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</a:t>
            </a:r>
            <a:endParaRPr lang="en-US" sz="900" dirty="0"/>
          </a:p>
        </p:txBody>
      </p:sp>
      <p:sp>
        <p:nvSpPr>
          <p:cNvPr id="224" name="Text 192"/>
          <p:cNvSpPr txBox="1"/>
          <p:nvPr/>
        </p:nvSpPr>
        <p:spPr>
          <a:xfrm>
            <a:off x="5439912" y="3907276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086A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BORROW FROM ALL</a:t>
            </a:r>
            <a:endParaRPr lang="en-US" sz="620" dirty="0"/>
          </a:p>
          <a:p>
            <a:pPr algn="l" indent="0" marL="0">
              <a:buNone/>
            </a:pPr>
            <a:r>
              <a:rPr lang="en-US" sz="62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57% weight on her own data</a:t>
            </a:r>
            <a:endParaRPr lang="en-US" sz="620" dirty="0"/>
          </a:p>
        </p:txBody>
      </p:sp>
      <p:sp>
        <p:nvSpPr>
          <p:cNvPr id="225" name="Shape 193"/>
          <p:cNvSpPr/>
          <p:nvPr/>
        </p:nvSpPr>
        <p:spPr>
          <a:xfrm>
            <a:off x="4554480" y="3916420"/>
            <a:ext cx="256032" cy="256032"/>
          </a:xfrm>
          <a:prstGeom prst="ellipse">
            <a:avLst/>
          </a:prstGeom>
          <a:solidFill>
            <a:srgbClr val="B23F69"/>
          </a:solidFill>
          <a:ln/>
        </p:spPr>
      </p:sp>
      <p:sp>
        <p:nvSpPr>
          <p:cNvPr id="226" name="Text 194"/>
          <p:cNvSpPr txBox="1"/>
          <p:nvPr/>
        </p:nvSpPr>
        <p:spPr>
          <a:xfrm>
            <a:off x="4554480" y="39164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</a:t>
            </a:r>
            <a:endParaRPr lang="en-US" sz="900" dirty="0"/>
          </a:p>
        </p:txBody>
      </p:sp>
      <p:sp>
        <p:nvSpPr>
          <p:cNvPr id="227" name="Text 195"/>
          <p:cNvSpPr txBox="1"/>
          <p:nvPr/>
        </p:nvSpPr>
        <p:spPr>
          <a:xfrm>
            <a:off x="3685800" y="3907276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b="1" dirty="0">
                <a:solidFill>
                  <a:srgbClr val="B23F69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EXPLAINED OR NOT</a:t>
            </a:r>
            <a:endParaRPr lang="en-US" sz="620" dirty="0"/>
          </a:p>
          <a:p>
            <a:pPr algn="r" indent="0" marL="0">
              <a:buNone/>
            </a:pPr>
            <a:r>
              <a:rPr lang="en-US" sz="62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+12.6 bpm her habits miss</a:t>
            </a:r>
            <a:endParaRPr lang="en-US" sz="620" dirty="0"/>
          </a:p>
        </p:txBody>
      </p:sp>
      <p:sp>
        <p:nvSpPr>
          <p:cNvPr id="228" name="Shape 196"/>
          <p:cNvSpPr/>
          <p:nvPr/>
        </p:nvSpPr>
        <p:spPr>
          <a:xfrm>
            <a:off x="4368462" y="3343916"/>
            <a:ext cx="256032" cy="256032"/>
          </a:xfrm>
          <a:prstGeom prst="ellipse">
            <a:avLst/>
          </a:prstGeom>
          <a:solidFill>
            <a:srgbClr val="086A70"/>
          </a:solidFill>
          <a:ln/>
        </p:spPr>
      </p:sp>
      <p:sp>
        <p:nvSpPr>
          <p:cNvPr id="229" name="Text 197"/>
          <p:cNvSpPr txBox="1"/>
          <p:nvPr/>
        </p:nvSpPr>
        <p:spPr>
          <a:xfrm>
            <a:off x="4368462" y="33439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5</a:t>
            </a:r>
            <a:endParaRPr lang="en-US" sz="900" dirty="0"/>
          </a:p>
        </p:txBody>
      </p:sp>
      <p:sp>
        <p:nvSpPr>
          <p:cNvPr id="230" name="Text 198"/>
          <p:cNvSpPr txBox="1"/>
          <p:nvPr/>
        </p:nvSpPr>
        <p:spPr>
          <a:xfrm>
            <a:off x="3499782" y="333477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b="1" dirty="0">
                <a:solidFill>
                  <a:srgbClr val="086A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FUSE AND DECIDE</a:t>
            </a:r>
            <a:endParaRPr lang="en-US" sz="620" dirty="0"/>
          </a:p>
          <a:p>
            <a:pPr algn="r" indent="0" marL="0">
              <a:buNone/>
            </a:pPr>
            <a:r>
              <a:rPr lang="en-US" sz="62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24% in 72 h, score 63</a:t>
            </a:r>
            <a:endParaRPr lang="en-US" sz="620" dirty="0"/>
          </a:p>
        </p:txBody>
      </p:sp>
      <p:sp>
        <p:nvSpPr>
          <p:cNvPr id="231" name="Text 199"/>
          <p:cNvSpPr txBox="1"/>
          <p:nvPr/>
        </p:nvSpPr>
        <p:spPr>
          <a:xfrm>
            <a:off x="3529584" y="4315968"/>
            <a:ext cx="2907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40" i="1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Only the change her habits cannot explain becomes the warning</a:t>
            </a:r>
            <a:endParaRPr lang="en-US" sz="640" dirty="0"/>
          </a:p>
        </p:txBody>
      </p:sp>
      <p:sp>
        <p:nvSpPr>
          <p:cNvPr id="232" name="Shape 200"/>
          <p:cNvSpPr/>
          <p:nvPr/>
        </p:nvSpPr>
        <p:spPr>
          <a:xfrm>
            <a:off x="6611112" y="2720340"/>
            <a:ext cx="64008" cy="64008"/>
          </a:xfrm>
          <a:prstGeom prst="rect">
            <a:avLst/>
          </a:prstGeom>
          <a:solidFill>
            <a:srgbClr val="086A70"/>
          </a:solidFill>
          <a:ln/>
        </p:spPr>
      </p:sp>
      <p:sp>
        <p:nvSpPr>
          <p:cNvPr id="233" name="Text 201"/>
          <p:cNvSpPr txBox="1"/>
          <p:nvPr/>
        </p:nvSpPr>
        <p:spPr>
          <a:xfrm>
            <a:off x="6711696" y="2674620"/>
            <a:ext cx="1920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TWO STREAMS, ONE PERSON</a:t>
            </a:r>
            <a:endParaRPr lang="en-US" sz="800" dirty="0"/>
          </a:p>
        </p:txBody>
      </p:sp>
      <p:sp>
        <p:nvSpPr>
          <p:cNvPr id="234" name="Text 202"/>
          <p:cNvSpPr txBox="1"/>
          <p:nvPr/>
        </p:nvSpPr>
        <p:spPr>
          <a:xfrm>
            <a:off x="8677656" y="2674620"/>
            <a:ext cx="457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86A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SEE A2</a:t>
            </a:r>
            <a:endParaRPr lang="en-US" sz="700" dirty="0"/>
          </a:p>
        </p:txBody>
      </p:sp>
      <p:sp>
        <p:nvSpPr>
          <p:cNvPr id="235" name="Shape 203"/>
          <p:cNvSpPr/>
          <p:nvPr/>
        </p:nvSpPr>
        <p:spPr>
          <a:xfrm>
            <a:off x="6565392" y="2880360"/>
            <a:ext cx="1216152" cy="164592"/>
          </a:xfrm>
          <a:prstGeom prst="rect">
            <a:avLst/>
          </a:prstGeom>
          <a:solidFill>
            <a:srgbClr val="A8703C"/>
          </a:solidFill>
          <a:ln/>
        </p:spPr>
      </p:sp>
      <p:sp>
        <p:nvSpPr>
          <p:cNvPr id="236" name="Text 204"/>
          <p:cNvSpPr txBox="1"/>
          <p:nvPr/>
        </p:nvSpPr>
        <p:spPr>
          <a:xfrm>
            <a:off x="6565392" y="2880360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HEALTH RECORD (STATIC)</a:t>
            </a:r>
            <a:endParaRPr lang="en-US" sz="660" dirty="0"/>
          </a:p>
        </p:txBody>
      </p:sp>
      <p:sp>
        <p:nvSpPr>
          <p:cNvPr id="237" name="Shape 205"/>
          <p:cNvSpPr/>
          <p:nvPr/>
        </p:nvSpPr>
        <p:spPr>
          <a:xfrm>
            <a:off x="7927848" y="2880360"/>
            <a:ext cx="1234440" cy="164592"/>
          </a:xfrm>
          <a:prstGeom prst="rect">
            <a:avLst/>
          </a:prstGeom>
          <a:solidFill>
            <a:srgbClr val="086A70"/>
          </a:solidFill>
          <a:ln/>
        </p:spPr>
      </p:sp>
      <p:sp>
        <p:nvSpPr>
          <p:cNvPr id="238" name="Text 206"/>
          <p:cNvSpPr txBox="1"/>
          <p:nvPr/>
        </p:nvSpPr>
        <p:spPr>
          <a:xfrm>
            <a:off x="7927848" y="2880360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WATCH AND CUFF (NIGHTLY)</a:t>
            </a:r>
            <a:endParaRPr lang="en-US" sz="660" dirty="0"/>
          </a:p>
        </p:txBody>
      </p:sp>
      <p:sp>
        <p:nvSpPr>
          <p:cNvPr id="239" name="Text 207"/>
          <p:cNvSpPr txBox="1"/>
          <p:nvPr/>
        </p:nvSpPr>
        <p:spPr>
          <a:xfrm>
            <a:off x="6592824" y="3081528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Demographics</a:t>
            </a:r>
            <a:endParaRPr lang="en-US" sz="660" dirty="0"/>
          </a:p>
        </p:txBody>
      </p:sp>
      <p:sp>
        <p:nvSpPr>
          <p:cNvPr id="240" name="Text 208"/>
          <p:cNvSpPr txBox="1"/>
          <p:nvPr/>
        </p:nvSpPr>
        <p:spPr>
          <a:xfrm>
            <a:off x="6592824" y="3227832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Past diagnoses (SNOMED CT)</a:t>
            </a:r>
            <a:endParaRPr lang="en-US" sz="660" dirty="0"/>
          </a:p>
        </p:txBody>
      </p:sp>
      <p:sp>
        <p:nvSpPr>
          <p:cNvPr id="241" name="Text 209"/>
          <p:cNvSpPr txBox="1"/>
          <p:nvPr/>
        </p:nvSpPr>
        <p:spPr>
          <a:xfrm>
            <a:off x="6592824" y="3374136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Lab results (LOINC)</a:t>
            </a:r>
            <a:endParaRPr lang="en-US" sz="660" dirty="0"/>
          </a:p>
        </p:txBody>
      </p:sp>
      <p:sp>
        <p:nvSpPr>
          <p:cNvPr id="242" name="Text 210"/>
          <p:cNvSpPr txBox="1"/>
          <p:nvPr/>
        </p:nvSpPr>
        <p:spPr>
          <a:xfrm>
            <a:off x="6592824" y="3520440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Medicines and adherence</a:t>
            </a:r>
            <a:endParaRPr lang="en-US" sz="660" dirty="0"/>
          </a:p>
        </p:txBody>
      </p:sp>
      <p:sp>
        <p:nvSpPr>
          <p:cNvPr id="243" name="Text 211"/>
          <p:cNvSpPr txBox="1"/>
          <p:nvPr/>
        </p:nvSpPr>
        <p:spPr>
          <a:xfrm>
            <a:off x="6592824" y="3666744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Genetic marker, family history</a:t>
            </a:r>
            <a:endParaRPr lang="en-US" sz="660" dirty="0"/>
          </a:p>
        </p:txBody>
      </p:sp>
      <p:sp>
        <p:nvSpPr>
          <p:cNvPr id="244" name="Text 212"/>
          <p:cNvSpPr txBox="1"/>
          <p:nvPr/>
        </p:nvSpPr>
        <p:spPr>
          <a:xfrm>
            <a:off x="7955280" y="3081528"/>
            <a:ext cx="12070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Resting heart rate, HRV</a:t>
            </a:r>
            <a:endParaRPr lang="en-US" sz="660" dirty="0"/>
          </a:p>
        </p:txBody>
      </p:sp>
      <p:sp>
        <p:nvSpPr>
          <p:cNvPr id="245" name="Text 213"/>
          <p:cNvSpPr txBox="1"/>
          <p:nvPr/>
        </p:nvSpPr>
        <p:spPr>
          <a:xfrm>
            <a:off x="7955280" y="3227832"/>
            <a:ext cx="12070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Sleep stages: deep, REM</a:t>
            </a:r>
            <a:endParaRPr lang="en-US" sz="660" dirty="0"/>
          </a:p>
        </p:txBody>
      </p:sp>
      <p:sp>
        <p:nvSpPr>
          <p:cNvPr id="246" name="Text 214"/>
          <p:cNvSpPr txBox="1"/>
          <p:nvPr/>
        </p:nvSpPr>
        <p:spPr>
          <a:xfrm>
            <a:off x="7955280" y="3374136"/>
            <a:ext cx="12070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Step count</a:t>
            </a:r>
            <a:endParaRPr lang="en-US" sz="660" dirty="0"/>
          </a:p>
        </p:txBody>
      </p:sp>
      <p:sp>
        <p:nvSpPr>
          <p:cNvPr id="247" name="Text 215"/>
          <p:cNvSpPr txBox="1"/>
          <p:nvPr/>
        </p:nvSpPr>
        <p:spPr>
          <a:xfrm>
            <a:off x="7955280" y="3520440"/>
            <a:ext cx="12070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SpO2, breathing rate</a:t>
            </a:r>
            <a:endParaRPr lang="en-US" sz="660" dirty="0"/>
          </a:p>
        </p:txBody>
      </p:sp>
      <p:sp>
        <p:nvSpPr>
          <p:cNvPr id="248" name="Text 216"/>
          <p:cNvSpPr txBox="1"/>
          <p:nvPr/>
        </p:nvSpPr>
        <p:spPr>
          <a:xfrm>
            <a:off x="7955280" y="3666744"/>
            <a:ext cx="12070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Home BP cuff, mornings</a:t>
            </a:r>
            <a:endParaRPr lang="en-US" sz="660" dirty="0"/>
          </a:p>
        </p:txBody>
      </p:sp>
      <p:sp>
        <p:nvSpPr>
          <p:cNvPr id="249" name="Shape 217"/>
          <p:cNvSpPr/>
          <p:nvPr/>
        </p:nvSpPr>
        <p:spPr>
          <a:xfrm>
            <a:off x="7178040" y="3831336"/>
            <a:ext cx="530352" cy="146304"/>
          </a:xfrm>
          <a:prstGeom prst="line">
            <a:avLst/>
          </a:prstGeom>
          <a:noFill/>
          <a:ln w="19050">
            <a:solidFill>
              <a:srgbClr val="A8703C"/>
            </a:solidFill>
            <a:prstDash val="solid"/>
          </a:ln>
        </p:spPr>
      </p:sp>
      <p:sp>
        <p:nvSpPr>
          <p:cNvPr id="250" name="Shape 218"/>
          <p:cNvSpPr/>
          <p:nvPr/>
        </p:nvSpPr>
        <p:spPr>
          <a:xfrm flipV="1">
            <a:off x="8019288" y="3831336"/>
            <a:ext cx="530352" cy="146304"/>
          </a:xfrm>
          <a:prstGeom prst="line">
            <a:avLst/>
          </a:prstGeom>
          <a:noFill/>
          <a:ln w="19050">
            <a:solidFill>
              <a:srgbClr val="086A70"/>
            </a:solidFill>
            <a:prstDash val="solid"/>
          </a:ln>
        </p:spPr>
      </p:sp>
      <p:sp>
        <p:nvSpPr>
          <p:cNvPr id="251" name="Shape 219"/>
          <p:cNvSpPr/>
          <p:nvPr/>
        </p:nvSpPr>
        <p:spPr>
          <a:xfrm>
            <a:off x="7324344" y="3968496"/>
            <a:ext cx="1078992" cy="201168"/>
          </a:xfrm>
          <a:prstGeom prst="roundRect">
            <a:avLst>
              <a:gd name="adj" fmla="val 50000"/>
            </a:avLst>
          </a:prstGeom>
          <a:solidFill>
            <a:srgbClr val="10302F"/>
          </a:solidFill>
          <a:ln/>
        </p:spPr>
      </p:sp>
      <p:sp>
        <p:nvSpPr>
          <p:cNvPr id="252" name="Text 220"/>
          <p:cNvSpPr txBox="1"/>
          <p:nvPr/>
        </p:nvSpPr>
        <p:spPr>
          <a:xfrm>
            <a:off x="7324344" y="3968496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TWIN</a:t>
            </a:r>
            <a:endParaRPr lang="en-US" sz="750" dirty="0"/>
          </a:p>
        </p:txBody>
      </p:sp>
      <p:sp>
        <p:nvSpPr>
          <p:cNvPr id="253" name="Text 221"/>
          <p:cNvSpPr txBox="1"/>
          <p:nvPr/>
        </p:nvSpPr>
        <p:spPr>
          <a:xfrm>
            <a:off x="6565392" y="4242816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i="1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240 synthetic patients x 120 days, 342 labelled episodes, seed 42</a:t>
            </a:r>
            <a:endParaRPr lang="en-US" sz="640" dirty="0"/>
          </a:p>
        </p:txBody>
      </p:sp>
      <p:sp>
        <p:nvSpPr>
          <p:cNvPr id="254" name="Shape 222"/>
          <p:cNvSpPr/>
          <p:nvPr/>
        </p:nvSpPr>
        <p:spPr>
          <a:xfrm>
            <a:off x="9317736" y="2720340"/>
            <a:ext cx="64008" cy="64008"/>
          </a:xfrm>
          <a:prstGeom prst="rect">
            <a:avLst/>
          </a:prstGeom>
          <a:solidFill>
            <a:srgbClr val="086A70"/>
          </a:solidFill>
          <a:ln/>
        </p:spPr>
      </p:sp>
      <p:sp>
        <p:nvSpPr>
          <p:cNvPr id="255" name="Text 223"/>
          <p:cNvSpPr txBox="1"/>
          <p:nvPr/>
        </p:nvSpPr>
        <p:spPr>
          <a:xfrm>
            <a:off x="9418320" y="2674620"/>
            <a:ext cx="20665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WHAT THE DOCTOR AND PATIENT SEE</a:t>
            </a:r>
            <a:endParaRPr lang="en-US" sz="800" dirty="0"/>
          </a:p>
        </p:txBody>
      </p:sp>
      <p:sp>
        <p:nvSpPr>
          <p:cNvPr id="256" name="Text 224"/>
          <p:cNvSpPr txBox="1"/>
          <p:nvPr/>
        </p:nvSpPr>
        <p:spPr>
          <a:xfrm>
            <a:off x="11530584" y="2674620"/>
            <a:ext cx="457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86A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SEE A5</a:t>
            </a:r>
            <a:endParaRPr lang="en-US" sz="700" dirty="0"/>
          </a:p>
        </p:txBody>
      </p:sp>
      <p:pic>
        <p:nvPicPr>
          <p:cNvPr id="257" name="Image 30" descr="Doctor console: today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9281160" y="2889504"/>
            <a:ext cx="1792224" cy="1368110"/>
          </a:xfrm>
          <a:prstGeom prst="rect">
            <a:avLst/>
          </a:prstGeom>
        </p:spPr>
      </p:pic>
      <p:sp>
        <p:nvSpPr>
          <p:cNvPr id="258" name="Shape 225"/>
          <p:cNvSpPr/>
          <p:nvPr/>
        </p:nvSpPr>
        <p:spPr>
          <a:xfrm>
            <a:off x="9281160" y="2889504"/>
            <a:ext cx="1792224" cy="1368110"/>
          </a:xfrm>
          <a:prstGeom prst="rect">
            <a:avLst/>
          </a:prstGeom>
          <a:ln w="9525">
            <a:solidFill>
              <a:srgbClr val="D6D0C2"/>
            </a:solidFill>
            <a:prstDash val="solid"/>
          </a:ln>
        </p:spPr>
      </p:sp>
      <p:pic>
        <p:nvPicPr>
          <p:cNvPr id="259" name="Image 31" descr="Patient view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1183112" y="2889504"/>
            <a:ext cx="632820" cy="1371600"/>
          </a:xfrm>
          <a:prstGeom prst="rect">
            <a:avLst/>
          </a:prstGeom>
        </p:spPr>
      </p:pic>
      <p:sp>
        <p:nvSpPr>
          <p:cNvPr id="260" name="Shape 226"/>
          <p:cNvSpPr/>
          <p:nvPr/>
        </p:nvSpPr>
        <p:spPr>
          <a:xfrm>
            <a:off x="11183112" y="2889504"/>
            <a:ext cx="632820" cy="1371600"/>
          </a:xfrm>
          <a:prstGeom prst="rect">
            <a:avLst/>
          </a:prstGeom>
          <a:ln w="9525">
            <a:solidFill>
              <a:srgbClr val="D6D0C2"/>
            </a:solidFill>
            <a:prstDash val="solid"/>
          </a:ln>
        </p:spPr>
      </p:sp>
      <p:sp>
        <p:nvSpPr>
          <p:cNvPr id="261" name="Text 227"/>
          <p:cNvSpPr txBox="1"/>
          <p:nvPr/>
        </p:nvSpPr>
        <p:spPr>
          <a:xfrm>
            <a:off x="9281160" y="4288536"/>
            <a:ext cx="1810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Doctor: 240 people sorted by 72 h risk, reasons in words</a:t>
            </a:r>
            <a:endParaRPr lang="en-US" sz="640" dirty="0"/>
          </a:p>
        </p:txBody>
      </p:sp>
      <p:sp>
        <p:nvSpPr>
          <p:cNvPr id="262" name="Text 228"/>
          <p:cNvSpPr txBox="1"/>
          <p:nvPr/>
        </p:nvSpPr>
        <p:spPr>
          <a:xfrm>
            <a:off x="11146536" y="4288536"/>
            <a:ext cx="896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Meera: one status, in her language</a:t>
            </a:r>
            <a:endParaRPr lang="en-US" sz="640" dirty="0"/>
          </a:p>
        </p:txBody>
      </p:sp>
      <p:sp>
        <p:nvSpPr>
          <p:cNvPr id="263" name="Shape 229"/>
          <p:cNvSpPr/>
          <p:nvPr/>
        </p:nvSpPr>
        <p:spPr>
          <a:xfrm>
            <a:off x="109728" y="4562856"/>
            <a:ext cx="11969496" cy="1700784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2"/>
            </a:solidFill>
            <a:prstDash val="solid"/>
          </a:ln>
        </p:spPr>
      </p:sp>
      <p:sp>
        <p:nvSpPr>
          <p:cNvPr id="264" name="Shape 230"/>
          <p:cNvSpPr/>
          <p:nvPr/>
        </p:nvSpPr>
        <p:spPr>
          <a:xfrm>
            <a:off x="109728" y="4562856"/>
            <a:ext cx="237744" cy="1700784"/>
          </a:xfrm>
          <a:prstGeom prst="rect">
            <a:avLst/>
          </a:prstGeom>
          <a:solidFill>
            <a:srgbClr val="187A4C"/>
          </a:solidFill>
          <a:ln/>
        </p:spPr>
      </p:sp>
      <p:sp>
        <p:nvSpPr>
          <p:cNvPr id="265" name="Text 231"/>
          <p:cNvSpPr txBox="1"/>
          <p:nvPr/>
        </p:nvSpPr>
        <p:spPr>
          <a:xfrm rot="16200000">
            <a:off x="-621792" y="5294376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03  PROOF AND PATH</a:t>
            </a:r>
            <a:endParaRPr lang="en-US" sz="800" dirty="0"/>
          </a:p>
        </p:txBody>
      </p:sp>
      <p:sp>
        <p:nvSpPr>
          <p:cNvPr id="266" name="Shape 232"/>
          <p:cNvSpPr/>
          <p:nvPr/>
        </p:nvSpPr>
        <p:spPr>
          <a:xfrm>
            <a:off x="4050792" y="4636008"/>
            <a:ext cx="91" cy="1554480"/>
          </a:xfrm>
          <a:prstGeom prst="line">
            <a:avLst/>
          </a:prstGeom>
          <a:noFill/>
          <a:ln w="9525">
            <a:solidFill>
              <a:srgbClr val="D6D0C2"/>
            </a:solidFill>
            <a:prstDash val="solid"/>
          </a:ln>
        </p:spPr>
      </p:sp>
      <p:sp>
        <p:nvSpPr>
          <p:cNvPr id="267" name="Shape 233"/>
          <p:cNvSpPr/>
          <p:nvPr/>
        </p:nvSpPr>
        <p:spPr>
          <a:xfrm>
            <a:off x="6300216" y="4636008"/>
            <a:ext cx="91" cy="1554480"/>
          </a:xfrm>
          <a:prstGeom prst="line">
            <a:avLst/>
          </a:prstGeom>
          <a:noFill/>
          <a:ln w="9525">
            <a:solidFill>
              <a:srgbClr val="D6D0C2"/>
            </a:solidFill>
            <a:prstDash val="solid"/>
          </a:ln>
        </p:spPr>
      </p:sp>
      <p:sp>
        <p:nvSpPr>
          <p:cNvPr id="268" name="Shape 234"/>
          <p:cNvSpPr/>
          <p:nvPr/>
        </p:nvSpPr>
        <p:spPr>
          <a:xfrm>
            <a:off x="8513064" y="4636008"/>
            <a:ext cx="91" cy="1554480"/>
          </a:xfrm>
          <a:prstGeom prst="line">
            <a:avLst/>
          </a:prstGeom>
          <a:noFill/>
          <a:ln w="9525">
            <a:solidFill>
              <a:srgbClr val="D6D0C2"/>
            </a:solidFill>
            <a:prstDash val="solid"/>
          </a:ln>
        </p:spPr>
      </p:sp>
      <p:sp>
        <p:nvSpPr>
          <p:cNvPr id="269" name="Shape 235"/>
          <p:cNvSpPr/>
          <p:nvPr/>
        </p:nvSpPr>
        <p:spPr>
          <a:xfrm>
            <a:off x="10616184" y="4636008"/>
            <a:ext cx="91" cy="1554480"/>
          </a:xfrm>
          <a:prstGeom prst="line">
            <a:avLst/>
          </a:prstGeom>
          <a:noFill/>
          <a:ln w="9525">
            <a:solidFill>
              <a:srgbClr val="D6D0C2"/>
            </a:solidFill>
            <a:prstDash val="solid"/>
          </a:ln>
        </p:spPr>
      </p:sp>
      <p:sp>
        <p:nvSpPr>
          <p:cNvPr id="270" name="Shape 236"/>
          <p:cNvSpPr/>
          <p:nvPr/>
        </p:nvSpPr>
        <p:spPr>
          <a:xfrm>
            <a:off x="457200" y="4640580"/>
            <a:ext cx="64008" cy="64008"/>
          </a:xfrm>
          <a:prstGeom prst="rect">
            <a:avLst/>
          </a:prstGeom>
          <a:solidFill>
            <a:srgbClr val="187A4C"/>
          </a:solidFill>
          <a:ln/>
        </p:spPr>
      </p:sp>
      <p:sp>
        <p:nvSpPr>
          <p:cNvPr id="271" name="Text 237"/>
          <p:cNvSpPr txBox="1"/>
          <p:nvPr/>
        </p:nvSpPr>
        <p:spPr>
          <a:xfrm>
            <a:off x="557784" y="4594860"/>
            <a:ext cx="2926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RESULTS ON PATIENTS THE MODEL NEVER SAW</a:t>
            </a:r>
            <a:endParaRPr lang="en-US" sz="800" dirty="0"/>
          </a:p>
        </p:txBody>
      </p:sp>
      <p:sp>
        <p:nvSpPr>
          <p:cNvPr id="272" name="Text 238"/>
          <p:cNvSpPr txBox="1"/>
          <p:nvPr/>
        </p:nvSpPr>
        <p:spPr>
          <a:xfrm>
            <a:off x="3529584" y="4594860"/>
            <a:ext cx="457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87A4C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SEE A4</a:t>
            </a:r>
            <a:endParaRPr lang="en-US" sz="700" dirty="0"/>
          </a:p>
        </p:txBody>
      </p:sp>
      <p:sp>
        <p:nvSpPr>
          <p:cNvPr id="273" name="Text 239"/>
          <p:cNvSpPr txBox="1"/>
          <p:nvPr/>
        </p:nvSpPr>
        <p:spPr>
          <a:xfrm>
            <a:off x="1691640" y="4782312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AUROC (0.5 is guessing)</a:t>
            </a:r>
            <a:endParaRPr lang="en-US" sz="620" dirty="0"/>
          </a:p>
        </p:txBody>
      </p:sp>
      <p:sp>
        <p:nvSpPr>
          <p:cNvPr id="274" name="Text 240"/>
          <p:cNvSpPr txBox="1"/>
          <p:nvPr/>
        </p:nvSpPr>
        <p:spPr>
          <a:xfrm>
            <a:off x="2926080" y="4782312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Episodes caught at the budget</a:t>
            </a:r>
            <a:endParaRPr lang="en-US" sz="620" dirty="0"/>
          </a:p>
        </p:txBody>
      </p:sp>
      <p:sp>
        <p:nvSpPr>
          <p:cNvPr id="275" name="Shape 241"/>
          <p:cNvSpPr/>
          <p:nvPr/>
        </p:nvSpPr>
        <p:spPr>
          <a:xfrm>
            <a:off x="402336" y="4937760"/>
            <a:ext cx="3621024" cy="173736"/>
          </a:xfrm>
          <a:prstGeom prst="rect">
            <a:avLst/>
          </a:prstGeom>
          <a:solidFill>
            <a:srgbClr val="FBE6EE"/>
          </a:solidFill>
          <a:ln/>
        </p:spPr>
      </p:sp>
      <p:sp>
        <p:nvSpPr>
          <p:cNvPr id="276" name="Text 242"/>
          <p:cNvSpPr txBox="1"/>
          <p:nvPr/>
        </p:nvSpPr>
        <p:spPr>
          <a:xfrm>
            <a:off x="429768" y="4946904"/>
            <a:ext cx="12618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B23F69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Pratibimb: all streams + twin</a:t>
            </a:r>
            <a:endParaRPr lang="en-US" sz="680" dirty="0"/>
          </a:p>
        </p:txBody>
      </p:sp>
      <p:sp>
        <p:nvSpPr>
          <p:cNvPr id="277" name="Shape 243"/>
          <p:cNvSpPr/>
          <p:nvPr/>
        </p:nvSpPr>
        <p:spPr>
          <a:xfrm>
            <a:off x="1700784" y="4978908"/>
            <a:ext cx="816559" cy="100584"/>
          </a:xfrm>
          <a:prstGeom prst="rect">
            <a:avLst/>
          </a:prstGeom>
          <a:solidFill>
            <a:srgbClr val="086A70"/>
          </a:solidFill>
          <a:ln/>
        </p:spPr>
      </p:sp>
      <p:sp>
        <p:nvSpPr>
          <p:cNvPr id="278" name="Text 244"/>
          <p:cNvSpPr txBox="1"/>
          <p:nvPr/>
        </p:nvSpPr>
        <p:spPr>
          <a:xfrm>
            <a:off x="2544775" y="4946904"/>
            <a:ext cx="320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0.876</a:t>
            </a:r>
            <a:endParaRPr lang="en-US" sz="660" dirty="0"/>
          </a:p>
        </p:txBody>
      </p:sp>
      <p:sp>
        <p:nvSpPr>
          <p:cNvPr id="279" name="Shape 245"/>
          <p:cNvSpPr/>
          <p:nvPr/>
        </p:nvSpPr>
        <p:spPr>
          <a:xfrm>
            <a:off x="2926080" y="4978908"/>
            <a:ext cx="680085" cy="100584"/>
          </a:xfrm>
          <a:prstGeom prst="rect">
            <a:avLst/>
          </a:prstGeom>
          <a:solidFill>
            <a:srgbClr val="187A4C"/>
          </a:solidFill>
          <a:ln/>
        </p:spPr>
      </p:sp>
      <p:sp>
        <p:nvSpPr>
          <p:cNvPr id="280" name="Text 246"/>
          <p:cNvSpPr txBox="1"/>
          <p:nvPr/>
        </p:nvSpPr>
        <p:spPr>
          <a:xfrm>
            <a:off x="3633597" y="4946904"/>
            <a:ext cx="274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70%</a:t>
            </a:r>
            <a:endParaRPr lang="en-US" sz="660" dirty="0"/>
          </a:p>
        </p:txBody>
      </p:sp>
      <p:sp>
        <p:nvSpPr>
          <p:cNvPr id="281" name="Text 247"/>
          <p:cNvSpPr txBox="1"/>
          <p:nvPr/>
        </p:nvSpPr>
        <p:spPr>
          <a:xfrm>
            <a:off x="429768" y="5134356"/>
            <a:ext cx="12618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All streams, no twin</a:t>
            </a:r>
            <a:endParaRPr lang="en-US" sz="680" dirty="0"/>
          </a:p>
        </p:txBody>
      </p:sp>
      <p:sp>
        <p:nvSpPr>
          <p:cNvPr id="282" name="Shape 248"/>
          <p:cNvSpPr/>
          <p:nvPr/>
        </p:nvSpPr>
        <p:spPr>
          <a:xfrm>
            <a:off x="1700784" y="5166360"/>
            <a:ext cx="762267" cy="100584"/>
          </a:xfrm>
          <a:prstGeom prst="rect">
            <a:avLst/>
          </a:prstGeom>
          <a:solidFill>
            <a:srgbClr val="A9AEB0"/>
          </a:solidFill>
          <a:ln/>
        </p:spPr>
      </p:sp>
      <p:sp>
        <p:nvSpPr>
          <p:cNvPr id="283" name="Text 249"/>
          <p:cNvSpPr txBox="1"/>
          <p:nvPr/>
        </p:nvSpPr>
        <p:spPr>
          <a:xfrm>
            <a:off x="2490483" y="5134356"/>
            <a:ext cx="320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0.851</a:t>
            </a:r>
            <a:endParaRPr lang="en-US" sz="660" dirty="0"/>
          </a:p>
        </p:txBody>
      </p:sp>
      <p:sp>
        <p:nvSpPr>
          <p:cNvPr id="284" name="Shape 250"/>
          <p:cNvSpPr/>
          <p:nvPr/>
        </p:nvSpPr>
        <p:spPr>
          <a:xfrm>
            <a:off x="2926080" y="5166360"/>
            <a:ext cx="621792" cy="100584"/>
          </a:xfrm>
          <a:prstGeom prst="rect">
            <a:avLst/>
          </a:prstGeom>
          <a:solidFill>
            <a:srgbClr val="A9AEB0"/>
          </a:solidFill>
          <a:ln/>
        </p:spPr>
      </p:sp>
      <p:sp>
        <p:nvSpPr>
          <p:cNvPr id="285" name="Text 251"/>
          <p:cNvSpPr txBox="1"/>
          <p:nvPr/>
        </p:nvSpPr>
        <p:spPr>
          <a:xfrm>
            <a:off x="3575304" y="5134356"/>
            <a:ext cx="274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64%</a:t>
            </a:r>
            <a:endParaRPr lang="en-US" sz="660" dirty="0"/>
          </a:p>
        </p:txBody>
      </p:sp>
      <p:sp>
        <p:nvSpPr>
          <p:cNvPr id="286" name="Text 252"/>
          <p:cNvSpPr txBox="1"/>
          <p:nvPr/>
        </p:nvSpPr>
        <p:spPr>
          <a:xfrm>
            <a:off x="429768" y="5321808"/>
            <a:ext cx="12618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Watch + cuff + twin</a:t>
            </a:r>
            <a:endParaRPr lang="en-US" sz="680" dirty="0"/>
          </a:p>
        </p:txBody>
      </p:sp>
      <p:sp>
        <p:nvSpPr>
          <p:cNvPr id="287" name="Shape 253"/>
          <p:cNvSpPr/>
          <p:nvPr/>
        </p:nvSpPr>
        <p:spPr>
          <a:xfrm>
            <a:off x="1700784" y="5353812"/>
            <a:ext cx="803529" cy="100584"/>
          </a:xfrm>
          <a:prstGeom prst="rect">
            <a:avLst/>
          </a:prstGeom>
          <a:solidFill>
            <a:srgbClr val="A9AEB0"/>
          </a:solidFill>
          <a:ln/>
        </p:spPr>
      </p:sp>
      <p:sp>
        <p:nvSpPr>
          <p:cNvPr id="288" name="Text 254"/>
          <p:cNvSpPr txBox="1"/>
          <p:nvPr/>
        </p:nvSpPr>
        <p:spPr>
          <a:xfrm>
            <a:off x="2531745" y="5321808"/>
            <a:ext cx="320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0.870</a:t>
            </a:r>
            <a:endParaRPr lang="en-US" sz="660" dirty="0"/>
          </a:p>
        </p:txBody>
      </p:sp>
      <p:sp>
        <p:nvSpPr>
          <p:cNvPr id="289" name="Shape 255"/>
          <p:cNvSpPr/>
          <p:nvPr/>
        </p:nvSpPr>
        <p:spPr>
          <a:xfrm>
            <a:off x="2926080" y="5353812"/>
            <a:ext cx="699516" cy="100584"/>
          </a:xfrm>
          <a:prstGeom prst="rect">
            <a:avLst/>
          </a:prstGeom>
          <a:solidFill>
            <a:srgbClr val="A9AEB0"/>
          </a:solidFill>
          <a:ln/>
        </p:spPr>
      </p:sp>
      <p:sp>
        <p:nvSpPr>
          <p:cNvPr id="290" name="Text 256"/>
          <p:cNvSpPr txBox="1"/>
          <p:nvPr/>
        </p:nvSpPr>
        <p:spPr>
          <a:xfrm>
            <a:off x="3653028" y="5321808"/>
            <a:ext cx="274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72%</a:t>
            </a:r>
            <a:endParaRPr lang="en-US" sz="660" dirty="0"/>
          </a:p>
        </p:txBody>
      </p:sp>
      <p:sp>
        <p:nvSpPr>
          <p:cNvPr id="291" name="Text 257"/>
          <p:cNvSpPr txBox="1"/>
          <p:nvPr/>
        </p:nvSpPr>
        <p:spPr>
          <a:xfrm>
            <a:off x="429768" y="5509260"/>
            <a:ext cx="12618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Watch only + twin</a:t>
            </a:r>
            <a:endParaRPr lang="en-US" sz="680" dirty="0"/>
          </a:p>
        </p:txBody>
      </p:sp>
      <p:sp>
        <p:nvSpPr>
          <p:cNvPr id="292" name="Shape 258"/>
          <p:cNvSpPr/>
          <p:nvPr/>
        </p:nvSpPr>
        <p:spPr>
          <a:xfrm>
            <a:off x="1700784" y="5541264"/>
            <a:ext cx="660197" cy="100584"/>
          </a:xfrm>
          <a:prstGeom prst="rect">
            <a:avLst/>
          </a:prstGeom>
          <a:solidFill>
            <a:srgbClr val="A9AEB0"/>
          </a:solidFill>
          <a:ln/>
        </p:spPr>
      </p:sp>
      <p:sp>
        <p:nvSpPr>
          <p:cNvPr id="293" name="Text 259"/>
          <p:cNvSpPr txBox="1"/>
          <p:nvPr/>
        </p:nvSpPr>
        <p:spPr>
          <a:xfrm>
            <a:off x="2388413" y="5509260"/>
            <a:ext cx="320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0.804</a:t>
            </a:r>
            <a:endParaRPr lang="en-US" sz="660" dirty="0"/>
          </a:p>
        </p:txBody>
      </p:sp>
      <p:sp>
        <p:nvSpPr>
          <p:cNvPr id="294" name="Shape 260"/>
          <p:cNvSpPr/>
          <p:nvPr/>
        </p:nvSpPr>
        <p:spPr>
          <a:xfrm>
            <a:off x="2926080" y="5541264"/>
            <a:ext cx="534353" cy="100584"/>
          </a:xfrm>
          <a:prstGeom prst="rect">
            <a:avLst/>
          </a:prstGeom>
          <a:solidFill>
            <a:srgbClr val="A9AEB0"/>
          </a:solidFill>
          <a:ln/>
        </p:spPr>
      </p:sp>
      <p:sp>
        <p:nvSpPr>
          <p:cNvPr id="295" name="Text 261"/>
          <p:cNvSpPr txBox="1"/>
          <p:nvPr/>
        </p:nvSpPr>
        <p:spPr>
          <a:xfrm>
            <a:off x="3487865" y="5509260"/>
            <a:ext cx="274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55%</a:t>
            </a:r>
            <a:endParaRPr lang="en-US" sz="660" dirty="0"/>
          </a:p>
        </p:txBody>
      </p:sp>
      <p:sp>
        <p:nvSpPr>
          <p:cNvPr id="296" name="Text 262"/>
          <p:cNvSpPr txBox="1"/>
          <p:nvPr/>
        </p:nvSpPr>
        <p:spPr>
          <a:xfrm>
            <a:off x="429768" y="5696712"/>
            <a:ext cx="12618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Overnight HR rule</a:t>
            </a:r>
            <a:endParaRPr lang="en-US" sz="680" dirty="0"/>
          </a:p>
        </p:txBody>
      </p:sp>
      <p:sp>
        <p:nvSpPr>
          <p:cNvPr id="297" name="Shape 263"/>
          <p:cNvSpPr/>
          <p:nvPr/>
        </p:nvSpPr>
        <p:spPr>
          <a:xfrm>
            <a:off x="1700784" y="5728716"/>
            <a:ext cx="451714" cy="100584"/>
          </a:xfrm>
          <a:prstGeom prst="rect">
            <a:avLst/>
          </a:prstGeom>
          <a:solidFill>
            <a:srgbClr val="A9AEB0"/>
          </a:solidFill>
          <a:ln/>
        </p:spPr>
      </p:sp>
      <p:sp>
        <p:nvSpPr>
          <p:cNvPr id="298" name="Text 264"/>
          <p:cNvSpPr txBox="1"/>
          <p:nvPr/>
        </p:nvSpPr>
        <p:spPr>
          <a:xfrm>
            <a:off x="2179930" y="5696712"/>
            <a:ext cx="320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0.708</a:t>
            </a:r>
            <a:endParaRPr lang="en-US" sz="660" dirty="0"/>
          </a:p>
        </p:txBody>
      </p:sp>
      <p:sp>
        <p:nvSpPr>
          <p:cNvPr id="299" name="Shape 265"/>
          <p:cNvSpPr/>
          <p:nvPr/>
        </p:nvSpPr>
        <p:spPr>
          <a:xfrm>
            <a:off x="2926080" y="5728716"/>
            <a:ext cx="408051" cy="100584"/>
          </a:xfrm>
          <a:prstGeom prst="rect">
            <a:avLst/>
          </a:prstGeom>
          <a:solidFill>
            <a:srgbClr val="A9AEB0"/>
          </a:solidFill>
          <a:ln/>
        </p:spPr>
      </p:sp>
      <p:sp>
        <p:nvSpPr>
          <p:cNvPr id="300" name="Text 266"/>
          <p:cNvSpPr txBox="1"/>
          <p:nvPr/>
        </p:nvSpPr>
        <p:spPr>
          <a:xfrm>
            <a:off x="3361563" y="5696712"/>
            <a:ext cx="274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42%</a:t>
            </a:r>
            <a:endParaRPr lang="en-US" sz="660" dirty="0"/>
          </a:p>
        </p:txBody>
      </p:sp>
      <p:sp>
        <p:nvSpPr>
          <p:cNvPr id="301" name="Text 267"/>
          <p:cNvSpPr txBox="1"/>
          <p:nvPr/>
        </p:nvSpPr>
        <p:spPr>
          <a:xfrm>
            <a:off x="429768" y="5884164"/>
            <a:ext cx="12618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Health record only</a:t>
            </a:r>
            <a:endParaRPr lang="en-US" sz="680" dirty="0"/>
          </a:p>
        </p:txBody>
      </p:sp>
      <p:sp>
        <p:nvSpPr>
          <p:cNvPr id="302" name="Shape 268"/>
          <p:cNvSpPr/>
          <p:nvPr/>
        </p:nvSpPr>
        <p:spPr>
          <a:xfrm>
            <a:off x="1700784" y="5916168"/>
            <a:ext cx="169393" cy="100584"/>
          </a:xfrm>
          <a:prstGeom prst="rect">
            <a:avLst/>
          </a:prstGeom>
          <a:solidFill>
            <a:srgbClr val="A9AEB0"/>
          </a:solidFill>
          <a:ln/>
        </p:spPr>
      </p:sp>
      <p:sp>
        <p:nvSpPr>
          <p:cNvPr id="303" name="Text 269"/>
          <p:cNvSpPr txBox="1"/>
          <p:nvPr/>
        </p:nvSpPr>
        <p:spPr>
          <a:xfrm>
            <a:off x="1897609" y="5884164"/>
            <a:ext cx="320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0.578</a:t>
            </a:r>
            <a:endParaRPr lang="en-US" sz="660" dirty="0"/>
          </a:p>
        </p:txBody>
      </p:sp>
      <p:sp>
        <p:nvSpPr>
          <p:cNvPr id="304" name="Shape 270"/>
          <p:cNvSpPr/>
          <p:nvPr/>
        </p:nvSpPr>
        <p:spPr>
          <a:xfrm>
            <a:off x="2926080" y="5916168"/>
            <a:ext cx="145733" cy="100584"/>
          </a:xfrm>
          <a:prstGeom prst="rect">
            <a:avLst/>
          </a:prstGeom>
          <a:solidFill>
            <a:srgbClr val="A9AEB0"/>
          </a:solidFill>
          <a:ln/>
        </p:spPr>
      </p:sp>
      <p:sp>
        <p:nvSpPr>
          <p:cNvPr id="305" name="Text 271"/>
          <p:cNvSpPr txBox="1"/>
          <p:nvPr/>
        </p:nvSpPr>
        <p:spPr>
          <a:xfrm>
            <a:off x="3099245" y="5884164"/>
            <a:ext cx="274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15%</a:t>
            </a:r>
            <a:endParaRPr lang="en-US" sz="660" dirty="0"/>
          </a:p>
        </p:txBody>
      </p:sp>
      <p:sp>
        <p:nvSpPr>
          <p:cNvPr id="306" name="Text 272"/>
          <p:cNvSpPr txBox="1"/>
          <p:nvPr/>
        </p:nvSpPr>
        <p:spPr>
          <a:xfrm>
            <a:off x="429768" y="6080760"/>
            <a:ext cx="3566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20" i="1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Mean of 3 patient splits. Budget: 0.045 false alerts a patient-day.</a:t>
            </a:r>
            <a:endParaRPr lang="en-US" sz="620" dirty="0"/>
          </a:p>
        </p:txBody>
      </p:sp>
      <p:sp>
        <p:nvSpPr>
          <p:cNvPr id="307" name="Shape 273"/>
          <p:cNvSpPr/>
          <p:nvPr/>
        </p:nvSpPr>
        <p:spPr>
          <a:xfrm>
            <a:off x="4178808" y="4640580"/>
            <a:ext cx="64008" cy="64008"/>
          </a:xfrm>
          <a:prstGeom prst="rect">
            <a:avLst/>
          </a:prstGeom>
          <a:solidFill>
            <a:srgbClr val="187A4C"/>
          </a:solidFill>
          <a:ln/>
        </p:spPr>
      </p:sp>
      <p:sp>
        <p:nvSpPr>
          <p:cNvPr id="308" name="Text 274"/>
          <p:cNvSpPr txBox="1"/>
          <p:nvPr/>
        </p:nvSpPr>
        <p:spPr>
          <a:xfrm>
            <a:off x="4279392" y="4594860"/>
            <a:ext cx="1463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TWIN LEARNS THE PERSON</a:t>
            </a:r>
            <a:endParaRPr lang="en-US" sz="800" dirty="0"/>
          </a:p>
        </p:txBody>
      </p:sp>
      <p:sp>
        <p:nvSpPr>
          <p:cNvPr id="309" name="Text 275"/>
          <p:cNvSpPr txBox="1"/>
          <p:nvPr/>
        </p:nvSpPr>
        <p:spPr>
          <a:xfrm>
            <a:off x="5788152" y="4594860"/>
            <a:ext cx="457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87A4C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SEE A4</a:t>
            </a:r>
            <a:endParaRPr lang="en-US" sz="700" dirty="0"/>
          </a:p>
        </p:txBody>
      </p:sp>
      <p:sp>
        <p:nvSpPr>
          <p:cNvPr id="310" name="Text 276"/>
          <p:cNvSpPr txBox="1"/>
          <p:nvPr/>
        </p:nvSpPr>
        <p:spPr>
          <a:xfrm>
            <a:off x="4151376" y="4855464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Sleep to heart rate</a:t>
            </a:r>
            <a:endParaRPr lang="en-US" sz="660" dirty="0"/>
          </a:p>
        </p:txBody>
      </p:sp>
      <p:sp>
        <p:nvSpPr>
          <p:cNvPr id="311" name="Shape 277"/>
          <p:cNvSpPr/>
          <p:nvPr/>
        </p:nvSpPr>
        <p:spPr>
          <a:xfrm>
            <a:off x="5093208" y="4937760"/>
            <a:ext cx="1097280" cy="91"/>
          </a:xfrm>
          <a:prstGeom prst="line">
            <a:avLst/>
          </a:prstGeom>
          <a:noFill/>
          <a:ln w="12700">
            <a:solidFill>
              <a:srgbClr val="ECE8DF"/>
            </a:solidFill>
            <a:prstDash val="solid"/>
          </a:ln>
        </p:spPr>
      </p:sp>
      <p:sp>
        <p:nvSpPr>
          <p:cNvPr id="312" name="Shape 278"/>
          <p:cNvSpPr/>
          <p:nvPr/>
        </p:nvSpPr>
        <p:spPr>
          <a:xfrm>
            <a:off x="5093208" y="4937760"/>
            <a:ext cx="779069" cy="91"/>
          </a:xfrm>
          <a:prstGeom prst="line">
            <a:avLst/>
          </a:prstGeom>
          <a:noFill/>
          <a:ln w="25400">
            <a:solidFill>
              <a:srgbClr val="187A4C"/>
            </a:solidFill>
            <a:prstDash val="solid"/>
          </a:ln>
        </p:spPr>
      </p:sp>
      <p:sp>
        <p:nvSpPr>
          <p:cNvPr id="313" name="Shape 279"/>
          <p:cNvSpPr/>
          <p:nvPr/>
        </p:nvSpPr>
        <p:spPr>
          <a:xfrm>
            <a:off x="5826557" y="4892040"/>
            <a:ext cx="91440" cy="91440"/>
          </a:xfrm>
          <a:prstGeom prst="ellipse">
            <a:avLst/>
          </a:prstGeom>
          <a:solidFill>
            <a:srgbClr val="187A4C"/>
          </a:solidFill>
          <a:ln/>
        </p:spPr>
      </p:sp>
      <p:sp>
        <p:nvSpPr>
          <p:cNvPr id="314" name="Text 280"/>
          <p:cNvSpPr txBox="1"/>
          <p:nvPr/>
        </p:nvSpPr>
        <p:spPr>
          <a:xfrm>
            <a:off x="5936285" y="485546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0.71</a:t>
            </a:r>
            <a:endParaRPr lang="en-US" sz="660" dirty="0"/>
          </a:p>
        </p:txBody>
      </p:sp>
      <p:sp>
        <p:nvSpPr>
          <p:cNvPr id="315" name="Text 281"/>
          <p:cNvSpPr txBox="1"/>
          <p:nvPr/>
        </p:nvSpPr>
        <p:spPr>
          <a:xfrm>
            <a:off x="4151376" y="5084064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Walking to BP</a:t>
            </a:r>
            <a:endParaRPr lang="en-US" sz="660" dirty="0"/>
          </a:p>
        </p:txBody>
      </p:sp>
      <p:sp>
        <p:nvSpPr>
          <p:cNvPr id="316" name="Shape 282"/>
          <p:cNvSpPr/>
          <p:nvPr/>
        </p:nvSpPr>
        <p:spPr>
          <a:xfrm>
            <a:off x="5093208" y="5166360"/>
            <a:ext cx="1097280" cy="91"/>
          </a:xfrm>
          <a:prstGeom prst="line">
            <a:avLst/>
          </a:prstGeom>
          <a:noFill/>
          <a:ln w="12700">
            <a:solidFill>
              <a:srgbClr val="ECE8DF"/>
            </a:solidFill>
            <a:prstDash val="solid"/>
          </a:ln>
        </p:spPr>
      </p:sp>
      <p:sp>
        <p:nvSpPr>
          <p:cNvPr id="317" name="Shape 283"/>
          <p:cNvSpPr/>
          <p:nvPr/>
        </p:nvSpPr>
        <p:spPr>
          <a:xfrm>
            <a:off x="5093208" y="5166360"/>
            <a:ext cx="735178" cy="91"/>
          </a:xfrm>
          <a:prstGeom prst="line">
            <a:avLst/>
          </a:prstGeom>
          <a:noFill/>
          <a:ln w="25400">
            <a:solidFill>
              <a:srgbClr val="187A4C"/>
            </a:solidFill>
            <a:prstDash val="solid"/>
          </a:ln>
        </p:spPr>
      </p:sp>
      <p:sp>
        <p:nvSpPr>
          <p:cNvPr id="318" name="Shape 284"/>
          <p:cNvSpPr/>
          <p:nvPr/>
        </p:nvSpPr>
        <p:spPr>
          <a:xfrm>
            <a:off x="5782666" y="5120640"/>
            <a:ext cx="91440" cy="91440"/>
          </a:xfrm>
          <a:prstGeom prst="ellipse">
            <a:avLst/>
          </a:prstGeom>
          <a:solidFill>
            <a:srgbClr val="187A4C"/>
          </a:solidFill>
          <a:ln/>
        </p:spPr>
      </p:sp>
      <p:sp>
        <p:nvSpPr>
          <p:cNvPr id="319" name="Text 285"/>
          <p:cNvSpPr txBox="1"/>
          <p:nvPr/>
        </p:nvSpPr>
        <p:spPr>
          <a:xfrm>
            <a:off x="5892394" y="508406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0.67</a:t>
            </a:r>
            <a:endParaRPr lang="en-US" sz="660" dirty="0"/>
          </a:p>
        </p:txBody>
      </p:sp>
      <p:sp>
        <p:nvSpPr>
          <p:cNvPr id="320" name="Text 286"/>
          <p:cNvSpPr txBox="1"/>
          <p:nvPr/>
        </p:nvSpPr>
        <p:spPr>
          <a:xfrm>
            <a:off x="4151376" y="5312664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Walking to heart rate</a:t>
            </a:r>
            <a:endParaRPr lang="en-US" sz="660" dirty="0"/>
          </a:p>
        </p:txBody>
      </p:sp>
      <p:sp>
        <p:nvSpPr>
          <p:cNvPr id="321" name="Shape 287"/>
          <p:cNvSpPr/>
          <p:nvPr/>
        </p:nvSpPr>
        <p:spPr>
          <a:xfrm>
            <a:off x="5093208" y="5394960"/>
            <a:ext cx="1097280" cy="91"/>
          </a:xfrm>
          <a:prstGeom prst="line">
            <a:avLst/>
          </a:prstGeom>
          <a:noFill/>
          <a:ln w="12700">
            <a:solidFill>
              <a:srgbClr val="ECE8DF"/>
            </a:solidFill>
            <a:prstDash val="solid"/>
          </a:ln>
        </p:spPr>
      </p:sp>
      <p:sp>
        <p:nvSpPr>
          <p:cNvPr id="322" name="Shape 288"/>
          <p:cNvSpPr/>
          <p:nvPr/>
        </p:nvSpPr>
        <p:spPr>
          <a:xfrm>
            <a:off x="5093208" y="5394960"/>
            <a:ext cx="724205" cy="91"/>
          </a:xfrm>
          <a:prstGeom prst="line">
            <a:avLst/>
          </a:prstGeom>
          <a:noFill/>
          <a:ln w="25400">
            <a:solidFill>
              <a:srgbClr val="187A4C"/>
            </a:solidFill>
            <a:prstDash val="solid"/>
          </a:ln>
        </p:spPr>
      </p:sp>
      <p:sp>
        <p:nvSpPr>
          <p:cNvPr id="323" name="Shape 289"/>
          <p:cNvSpPr/>
          <p:nvPr/>
        </p:nvSpPr>
        <p:spPr>
          <a:xfrm>
            <a:off x="5771693" y="5349240"/>
            <a:ext cx="91440" cy="91440"/>
          </a:xfrm>
          <a:prstGeom prst="ellipse">
            <a:avLst/>
          </a:prstGeom>
          <a:solidFill>
            <a:srgbClr val="187A4C"/>
          </a:solidFill>
          <a:ln/>
        </p:spPr>
      </p:sp>
      <p:sp>
        <p:nvSpPr>
          <p:cNvPr id="324" name="Text 290"/>
          <p:cNvSpPr txBox="1"/>
          <p:nvPr/>
        </p:nvSpPr>
        <p:spPr>
          <a:xfrm>
            <a:off x="5881421" y="531266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0.66</a:t>
            </a:r>
            <a:endParaRPr lang="en-US" sz="660" dirty="0"/>
          </a:p>
        </p:txBody>
      </p:sp>
      <p:sp>
        <p:nvSpPr>
          <p:cNvPr id="325" name="Text 291"/>
          <p:cNvSpPr txBox="1"/>
          <p:nvPr/>
        </p:nvSpPr>
        <p:spPr>
          <a:xfrm>
            <a:off x="4151376" y="5541264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Sleep to HRV</a:t>
            </a:r>
            <a:endParaRPr lang="en-US" sz="660" dirty="0"/>
          </a:p>
        </p:txBody>
      </p:sp>
      <p:sp>
        <p:nvSpPr>
          <p:cNvPr id="326" name="Shape 292"/>
          <p:cNvSpPr/>
          <p:nvPr/>
        </p:nvSpPr>
        <p:spPr>
          <a:xfrm>
            <a:off x="5093208" y="5623560"/>
            <a:ext cx="1097280" cy="91"/>
          </a:xfrm>
          <a:prstGeom prst="line">
            <a:avLst/>
          </a:prstGeom>
          <a:noFill/>
          <a:ln w="12700">
            <a:solidFill>
              <a:srgbClr val="ECE8DF"/>
            </a:solidFill>
            <a:prstDash val="solid"/>
          </a:ln>
        </p:spPr>
      </p:sp>
      <p:sp>
        <p:nvSpPr>
          <p:cNvPr id="327" name="Shape 293"/>
          <p:cNvSpPr/>
          <p:nvPr/>
        </p:nvSpPr>
        <p:spPr>
          <a:xfrm>
            <a:off x="5093208" y="5623560"/>
            <a:ext cx="647395" cy="91"/>
          </a:xfrm>
          <a:prstGeom prst="line">
            <a:avLst/>
          </a:prstGeom>
          <a:noFill/>
          <a:ln w="25400">
            <a:solidFill>
              <a:srgbClr val="187A4C"/>
            </a:solidFill>
            <a:prstDash val="solid"/>
          </a:ln>
        </p:spPr>
      </p:sp>
      <p:sp>
        <p:nvSpPr>
          <p:cNvPr id="328" name="Shape 294"/>
          <p:cNvSpPr/>
          <p:nvPr/>
        </p:nvSpPr>
        <p:spPr>
          <a:xfrm>
            <a:off x="5694883" y="5577840"/>
            <a:ext cx="91440" cy="91440"/>
          </a:xfrm>
          <a:prstGeom prst="ellipse">
            <a:avLst/>
          </a:prstGeom>
          <a:solidFill>
            <a:srgbClr val="187A4C"/>
          </a:solidFill>
          <a:ln/>
        </p:spPr>
      </p:sp>
      <p:sp>
        <p:nvSpPr>
          <p:cNvPr id="329" name="Text 295"/>
          <p:cNvSpPr txBox="1"/>
          <p:nvPr/>
        </p:nvSpPr>
        <p:spPr>
          <a:xfrm>
            <a:off x="5804611" y="554126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0.59</a:t>
            </a:r>
            <a:endParaRPr lang="en-US" sz="660" dirty="0"/>
          </a:p>
        </p:txBody>
      </p:sp>
      <p:sp>
        <p:nvSpPr>
          <p:cNvPr id="330" name="Text 296"/>
          <p:cNvSpPr txBox="1"/>
          <p:nvPr/>
        </p:nvSpPr>
        <p:spPr>
          <a:xfrm>
            <a:off x="4151376" y="5779008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2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Match with each hidden true slope (r)</a:t>
            </a:r>
            <a:endParaRPr lang="en-US" sz="620" dirty="0"/>
          </a:p>
        </p:txBody>
      </p:sp>
      <p:sp>
        <p:nvSpPr>
          <p:cNvPr id="331" name="Text 297"/>
          <p:cNvSpPr txBox="1"/>
          <p:nvPr/>
        </p:nvSpPr>
        <p:spPr>
          <a:xfrm>
            <a:off x="4151376" y="5934456"/>
            <a:ext cx="21214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187A4C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18 to 30% less error</a:t>
            </a:r>
            <a:r>
              <a:rPr lang="en-US" sz="68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 than one slope for everyone</a:t>
            </a:r>
            <a:endParaRPr lang="en-US" sz="680" dirty="0"/>
          </a:p>
        </p:txBody>
      </p:sp>
      <p:sp>
        <p:nvSpPr>
          <p:cNvPr id="332" name="Shape 298"/>
          <p:cNvSpPr/>
          <p:nvPr/>
        </p:nvSpPr>
        <p:spPr>
          <a:xfrm>
            <a:off x="6428232" y="4640580"/>
            <a:ext cx="64008" cy="64008"/>
          </a:xfrm>
          <a:prstGeom prst="rect">
            <a:avLst/>
          </a:prstGeom>
          <a:solidFill>
            <a:srgbClr val="187A4C"/>
          </a:solidFill>
          <a:ln/>
        </p:spPr>
      </p:sp>
      <p:sp>
        <p:nvSpPr>
          <p:cNvPr id="333" name="Text 299"/>
          <p:cNvSpPr txBox="1"/>
          <p:nvPr/>
        </p:nvSpPr>
        <p:spPr>
          <a:xfrm>
            <a:off x="6528816" y="4594860"/>
            <a:ext cx="14264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ALERTS INSIDE THE BUDGET</a:t>
            </a:r>
            <a:endParaRPr lang="en-US" sz="800" dirty="0"/>
          </a:p>
        </p:txBody>
      </p:sp>
      <p:sp>
        <p:nvSpPr>
          <p:cNvPr id="334" name="Text 300"/>
          <p:cNvSpPr txBox="1"/>
          <p:nvPr/>
        </p:nvSpPr>
        <p:spPr>
          <a:xfrm>
            <a:off x="8001000" y="4594860"/>
            <a:ext cx="457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87A4C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SEE A4</a:t>
            </a:r>
            <a:endParaRPr lang="en-US" sz="700" dirty="0"/>
          </a:p>
        </p:txBody>
      </p:sp>
      <p:sp>
        <p:nvSpPr>
          <p:cNvPr id="335" name="Shape 301"/>
          <p:cNvSpPr/>
          <p:nvPr/>
        </p:nvSpPr>
        <p:spPr>
          <a:xfrm>
            <a:off x="6446520" y="4855464"/>
            <a:ext cx="566928" cy="566928"/>
          </a:xfrm>
          <a:prstGeom prst="blockArc">
            <a:avLst>
              <a:gd name="adj1" fmla="val 0"/>
              <a:gd name="adj2" fmla="val 21594000"/>
              <a:gd name="adj3" fmla="val 12000"/>
            </a:avLst>
          </a:prstGeom>
          <a:solidFill>
            <a:srgbClr val="E5E1D6"/>
          </a:solidFill>
          <a:ln/>
        </p:spPr>
      </p:sp>
      <p:sp>
        <p:nvSpPr>
          <p:cNvPr id="336" name="Shape 302"/>
          <p:cNvSpPr/>
          <p:nvPr/>
        </p:nvSpPr>
        <p:spPr>
          <a:xfrm>
            <a:off x="6446520" y="4855464"/>
            <a:ext cx="566928" cy="566928"/>
          </a:xfrm>
          <a:prstGeom prst="blockArc">
            <a:avLst>
              <a:gd name="adj1" fmla="val 16200000"/>
              <a:gd name="adj2" fmla="val 9720000"/>
              <a:gd name="adj3" fmla="val 12000"/>
            </a:avLst>
          </a:prstGeom>
          <a:solidFill>
            <a:srgbClr val="187A4C"/>
          </a:solidFill>
          <a:ln/>
        </p:spPr>
      </p:sp>
      <p:sp>
        <p:nvSpPr>
          <p:cNvPr id="337" name="Text 303"/>
          <p:cNvSpPr txBox="1"/>
          <p:nvPr/>
        </p:nvSpPr>
        <p:spPr>
          <a:xfrm>
            <a:off x="6446520" y="48554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7A4C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70%</a:t>
            </a:r>
            <a:endParaRPr lang="en-US" sz="1000" dirty="0"/>
          </a:p>
        </p:txBody>
      </p:sp>
      <p:sp>
        <p:nvSpPr>
          <p:cNvPr id="338" name="Text 304"/>
          <p:cNvSpPr txBox="1"/>
          <p:nvPr/>
        </p:nvSpPr>
        <p:spPr>
          <a:xfrm>
            <a:off x="6373368" y="5458968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4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episodes caught</a:t>
            </a:r>
            <a:endParaRPr lang="en-US" sz="640" dirty="0"/>
          </a:p>
        </p:txBody>
      </p:sp>
      <p:sp>
        <p:nvSpPr>
          <p:cNvPr id="339" name="Shape 305"/>
          <p:cNvSpPr/>
          <p:nvPr/>
        </p:nvSpPr>
        <p:spPr>
          <a:xfrm>
            <a:off x="7141464" y="4855464"/>
            <a:ext cx="566928" cy="566928"/>
          </a:xfrm>
          <a:prstGeom prst="blockArc">
            <a:avLst>
              <a:gd name="adj1" fmla="val 0"/>
              <a:gd name="adj2" fmla="val 21594000"/>
              <a:gd name="adj3" fmla="val 12000"/>
            </a:avLst>
          </a:prstGeom>
          <a:solidFill>
            <a:srgbClr val="E5E1D6"/>
          </a:solidFill>
          <a:ln/>
        </p:spPr>
      </p:sp>
      <p:sp>
        <p:nvSpPr>
          <p:cNvPr id="340" name="Shape 306"/>
          <p:cNvSpPr/>
          <p:nvPr/>
        </p:nvSpPr>
        <p:spPr>
          <a:xfrm>
            <a:off x="7141464" y="4855464"/>
            <a:ext cx="566928" cy="566928"/>
          </a:xfrm>
          <a:prstGeom prst="blockArc">
            <a:avLst>
              <a:gd name="adj1" fmla="val 16200000"/>
              <a:gd name="adj2" fmla="val 5400000"/>
              <a:gd name="adj3" fmla="val 12000"/>
            </a:avLst>
          </a:prstGeom>
          <a:solidFill>
            <a:srgbClr val="086A70"/>
          </a:solidFill>
          <a:ln/>
        </p:spPr>
      </p:sp>
      <p:sp>
        <p:nvSpPr>
          <p:cNvPr id="341" name="Text 307"/>
          <p:cNvSpPr txBox="1"/>
          <p:nvPr/>
        </p:nvSpPr>
        <p:spPr>
          <a:xfrm>
            <a:off x="7141464" y="48554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6A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50%</a:t>
            </a:r>
            <a:endParaRPr lang="en-US" sz="1000" dirty="0"/>
          </a:p>
        </p:txBody>
      </p:sp>
      <p:sp>
        <p:nvSpPr>
          <p:cNvPr id="342" name="Text 308"/>
          <p:cNvSpPr txBox="1"/>
          <p:nvPr/>
        </p:nvSpPr>
        <p:spPr>
          <a:xfrm>
            <a:off x="7068312" y="5458968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4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caught 48 h or more early</a:t>
            </a:r>
            <a:endParaRPr lang="en-US" sz="640" dirty="0"/>
          </a:p>
        </p:txBody>
      </p:sp>
      <p:sp>
        <p:nvSpPr>
          <p:cNvPr id="343" name="Shape 309"/>
          <p:cNvSpPr/>
          <p:nvPr/>
        </p:nvSpPr>
        <p:spPr>
          <a:xfrm>
            <a:off x="7836408" y="4855464"/>
            <a:ext cx="566928" cy="566928"/>
          </a:xfrm>
          <a:prstGeom prst="blockArc">
            <a:avLst>
              <a:gd name="adj1" fmla="val 0"/>
              <a:gd name="adj2" fmla="val 21594000"/>
              <a:gd name="adj3" fmla="val 12000"/>
            </a:avLst>
          </a:prstGeom>
          <a:solidFill>
            <a:srgbClr val="E5E1D6"/>
          </a:solidFill>
          <a:ln/>
        </p:spPr>
      </p:sp>
      <p:sp>
        <p:nvSpPr>
          <p:cNvPr id="344" name="Shape 310"/>
          <p:cNvSpPr/>
          <p:nvPr/>
        </p:nvSpPr>
        <p:spPr>
          <a:xfrm>
            <a:off x="7836408" y="4855464"/>
            <a:ext cx="566928" cy="566928"/>
          </a:xfrm>
          <a:prstGeom prst="blockArc">
            <a:avLst>
              <a:gd name="adj1" fmla="val 16200000"/>
              <a:gd name="adj2" fmla="val 14277600"/>
              <a:gd name="adj3" fmla="val 12000"/>
            </a:avLst>
          </a:prstGeom>
          <a:solidFill>
            <a:srgbClr val="A8703C"/>
          </a:solidFill>
          <a:ln/>
        </p:spPr>
      </p:sp>
      <p:sp>
        <p:nvSpPr>
          <p:cNvPr id="345" name="Text 311"/>
          <p:cNvSpPr txBox="1"/>
          <p:nvPr/>
        </p:nvSpPr>
        <p:spPr>
          <a:xfrm>
            <a:off x="7836408" y="48554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703C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91%</a:t>
            </a:r>
            <a:endParaRPr lang="en-US" sz="1000" dirty="0"/>
          </a:p>
        </p:txBody>
      </p:sp>
      <p:sp>
        <p:nvSpPr>
          <p:cNvPr id="346" name="Text 312"/>
          <p:cNvSpPr txBox="1"/>
          <p:nvPr/>
        </p:nvSpPr>
        <p:spPr>
          <a:xfrm>
            <a:off x="7763256" y="5458968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4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of the alarm budget used</a:t>
            </a:r>
            <a:endParaRPr lang="en-US" sz="640" dirty="0"/>
          </a:p>
        </p:txBody>
      </p:sp>
      <p:sp>
        <p:nvSpPr>
          <p:cNvPr id="347" name="Text 313"/>
          <p:cNvSpPr txBox="1"/>
          <p:nvPr/>
        </p:nvSpPr>
        <p:spPr>
          <a:xfrm>
            <a:off x="6400800" y="5843016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 false alert per 22 patient-days</a:t>
            </a:r>
            <a:r>
              <a:rPr lang="en-US" sz="66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; median warning 48 hours before the event</a:t>
            </a:r>
            <a:endParaRPr lang="en-US" sz="660" dirty="0"/>
          </a:p>
        </p:txBody>
      </p:sp>
      <p:sp>
        <p:nvSpPr>
          <p:cNvPr id="348" name="Shape 314"/>
          <p:cNvSpPr/>
          <p:nvPr/>
        </p:nvSpPr>
        <p:spPr>
          <a:xfrm>
            <a:off x="8641080" y="4640580"/>
            <a:ext cx="64008" cy="64008"/>
          </a:xfrm>
          <a:prstGeom prst="rect">
            <a:avLst/>
          </a:prstGeom>
          <a:solidFill>
            <a:srgbClr val="187A4C"/>
          </a:solidFill>
          <a:ln/>
        </p:spPr>
      </p:sp>
      <p:sp>
        <p:nvSpPr>
          <p:cNvPr id="349" name="Text 315"/>
          <p:cNvSpPr txBox="1"/>
          <p:nvPr/>
        </p:nvSpPr>
        <p:spPr>
          <a:xfrm>
            <a:off x="8741664" y="4594860"/>
            <a:ext cx="13167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GATED ROADMAP</a:t>
            </a:r>
            <a:endParaRPr lang="en-US" sz="800" dirty="0"/>
          </a:p>
        </p:txBody>
      </p:sp>
      <p:sp>
        <p:nvSpPr>
          <p:cNvPr id="350" name="Text 316"/>
          <p:cNvSpPr txBox="1"/>
          <p:nvPr/>
        </p:nvSpPr>
        <p:spPr>
          <a:xfrm>
            <a:off x="10104120" y="4594860"/>
            <a:ext cx="457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87A4C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SEE A6</a:t>
            </a:r>
            <a:endParaRPr lang="en-US" sz="700" dirty="0"/>
          </a:p>
        </p:txBody>
      </p:sp>
      <p:sp>
        <p:nvSpPr>
          <p:cNvPr id="351" name="Text 317"/>
          <p:cNvSpPr txBox="1"/>
          <p:nvPr/>
        </p:nvSpPr>
        <p:spPr>
          <a:xfrm>
            <a:off x="8604504" y="483717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Now</a:t>
            </a:r>
            <a:endParaRPr lang="en-US" sz="660" dirty="0"/>
          </a:p>
        </p:txBody>
      </p:sp>
      <p:sp>
        <p:nvSpPr>
          <p:cNvPr id="352" name="Shape 318"/>
          <p:cNvSpPr/>
          <p:nvPr/>
        </p:nvSpPr>
        <p:spPr>
          <a:xfrm>
            <a:off x="9079992" y="4855464"/>
            <a:ext cx="786384" cy="173736"/>
          </a:xfrm>
          <a:prstGeom prst="rect">
            <a:avLst/>
          </a:prstGeom>
          <a:solidFill>
            <a:srgbClr val="187A4C"/>
          </a:solidFill>
          <a:ln/>
        </p:spPr>
      </p:sp>
      <p:sp>
        <p:nvSpPr>
          <p:cNvPr id="353" name="Text 319"/>
          <p:cNvSpPr txBox="1"/>
          <p:nvPr/>
        </p:nvSpPr>
        <p:spPr>
          <a:xfrm>
            <a:off x="9116568" y="4855464"/>
            <a:ext cx="74980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Prototype live</a:t>
            </a:r>
            <a:endParaRPr lang="en-US" sz="630" dirty="0"/>
          </a:p>
        </p:txBody>
      </p:sp>
      <p:sp>
        <p:nvSpPr>
          <p:cNvPr id="354" name="Shape 320"/>
          <p:cNvSpPr/>
          <p:nvPr/>
        </p:nvSpPr>
        <p:spPr>
          <a:xfrm>
            <a:off x="9820656" y="5038344"/>
            <a:ext cx="91440" cy="91440"/>
          </a:xfrm>
          <a:prstGeom prst="diamond">
            <a:avLst/>
          </a:prstGeom>
          <a:solidFill>
            <a:srgbClr val="1F2A2A"/>
          </a:solidFill>
          <a:ln/>
        </p:spPr>
      </p:sp>
      <p:sp>
        <p:nvSpPr>
          <p:cNvPr id="355" name="Text 321"/>
          <p:cNvSpPr txBox="1"/>
          <p:nvPr/>
        </p:nvSpPr>
        <p:spPr>
          <a:xfrm>
            <a:off x="8604504" y="511149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M0 to 3</a:t>
            </a:r>
            <a:endParaRPr lang="en-US" sz="660" dirty="0"/>
          </a:p>
        </p:txBody>
      </p:sp>
      <p:sp>
        <p:nvSpPr>
          <p:cNvPr id="356" name="Shape 322"/>
          <p:cNvSpPr/>
          <p:nvPr/>
        </p:nvSpPr>
        <p:spPr>
          <a:xfrm>
            <a:off x="9326880" y="5129784"/>
            <a:ext cx="786384" cy="173736"/>
          </a:xfrm>
          <a:prstGeom prst="rect">
            <a:avLst/>
          </a:prstGeom>
          <a:solidFill>
            <a:srgbClr val="086A70"/>
          </a:solidFill>
          <a:ln/>
        </p:spPr>
      </p:sp>
      <p:sp>
        <p:nvSpPr>
          <p:cNvPr id="357" name="Text 323"/>
          <p:cNvSpPr txBox="1"/>
          <p:nvPr/>
        </p:nvSpPr>
        <p:spPr>
          <a:xfrm>
            <a:off x="9363456" y="5129784"/>
            <a:ext cx="74980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ABDM sandbox, app</a:t>
            </a:r>
            <a:endParaRPr lang="en-US" sz="630" dirty="0"/>
          </a:p>
        </p:txBody>
      </p:sp>
      <p:sp>
        <p:nvSpPr>
          <p:cNvPr id="358" name="Shape 324"/>
          <p:cNvSpPr/>
          <p:nvPr/>
        </p:nvSpPr>
        <p:spPr>
          <a:xfrm>
            <a:off x="10067544" y="5312664"/>
            <a:ext cx="91440" cy="91440"/>
          </a:xfrm>
          <a:prstGeom prst="diamond">
            <a:avLst/>
          </a:prstGeom>
          <a:solidFill>
            <a:srgbClr val="1F2A2A"/>
          </a:solidFill>
          <a:ln/>
        </p:spPr>
      </p:sp>
      <p:sp>
        <p:nvSpPr>
          <p:cNvPr id="359" name="Text 325"/>
          <p:cNvSpPr txBox="1"/>
          <p:nvPr/>
        </p:nvSpPr>
        <p:spPr>
          <a:xfrm>
            <a:off x="8604504" y="53858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M3 to 6</a:t>
            </a:r>
            <a:endParaRPr lang="en-US" sz="660" dirty="0"/>
          </a:p>
        </p:txBody>
      </p:sp>
      <p:sp>
        <p:nvSpPr>
          <p:cNvPr id="360" name="Shape 326"/>
          <p:cNvSpPr/>
          <p:nvPr/>
        </p:nvSpPr>
        <p:spPr>
          <a:xfrm>
            <a:off x="9573768" y="5404104"/>
            <a:ext cx="786384" cy="173736"/>
          </a:xfrm>
          <a:prstGeom prst="rect">
            <a:avLst/>
          </a:prstGeom>
          <a:solidFill>
            <a:srgbClr val="A8703C"/>
          </a:solidFill>
          <a:ln/>
        </p:spPr>
      </p:sp>
      <p:sp>
        <p:nvSpPr>
          <p:cNvPr id="361" name="Text 327"/>
          <p:cNvSpPr txBox="1"/>
          <p:nvPr/>
        </p:nvSpPr>
        <p:spPr>
          <a:xfrm>
            <a:off x="9610344" y="5404104"/>
            <a:ext cx="74980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Silent clinic pilot</a:t>
            </a:r>
            <a:endParaRPr lang="en-US" sz="630" dirty="0"/>
          </a:p>
        </p:txBody>
      </p:sp>
      <p:sp>
        <p:nvSpPr>
          <p:cNvPr id="362" name="Shape 328"/>
          <p:cNvSpPr/>
          <p:nvPr/>
        </p:nvSpPr>
        <p:spPr>
          <a:xfrm>
            <a:off x="10314432" y="5586984"/>
            <a:ext cx="91440" cy="91440"/>
          </a:xfrm>
          <a:prstGeom prst="diamond">
            <a:avLst/>
          </a:prstGeom>
          <a:solidFill>
            <a:srgbClr val="1F2A2A"/>
          </a:solidFill>
          <a:ln/>
        </p:spPr>
      </p:sp>
      <p:sp>
        <p:nvSpPr>
          <p:cNvPr id="363" name="Text 329"/>
          <p:cNvSpPr txBox="1"/>
          <p:nvPr/>
        </p:nvSpPr>
        <p:spPr>
          <a:xfrm>
            <a:off x="8604504" y="566013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M6 to 12+</a:t>
            </a:r>
            <a:endParaRPr lang="en-US" sz="660" dirty="0"/>
          </a:p>
        </p:txBody>
      </p:sp>
      <p:sp>
        <p:nvSpPr>
          <p:cNvPr id="364" name="Shape 330"/>
          <p:cNvSpPr/>
          <p:nvPr/>
        </p:nvSpPr>
        <p:spPr>
          <a:xfrm>
            <a:off x="9820656" y="5678424"/>
            <a:ext cx="786384" cy="173736"/>
          </a:xfrm>
          <a:prstGeom prst="rect">
            <a:avLst/>
          </a:prstGeom>
          <a:solidFill>
            <a:srgbClr val="B23F69"/>
          </a:solidFill>
          <a:ln/>
        </p:spPr>
      </p:sp>
      <p:sp>
        <p:nvSpPr>
          <p:cNvPr id="365" name="Text 331"/>
          <p:cNvSpPr txBox="1"/>
          <p:nvPr/>
        </p:nvSpPr>
        <p:spPr>
          <a:xfrm>
            <a:off x="9857232" y="5678424"/>
            <a:ext cx="74980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CDSCO filing</a:t>
            </a:r>
            <a:endParaRPr lang="en-US" sz="630" dirty="0"/>
          </a:p>
        </p:txBody>
      </p:sp>
      <p:sp>
        <p:nvSpPr>
          <p:cNvPr id="366" name="Text 332"/>
          <p:cNvSpPr txBox="1"/>
          <p:nvPr/>
        </p:nvSpPr>
        <p:spPr>
          <a:xfrm>
            <a:off x="8604504" y="5952744"/>
            <a:ext cx="1965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20" i="1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Diamond = gate: each phase starts only when the last gate is met</a:t>
            </a:r>
            <a:endParaRPr lang="en-US" sz="620" dirty="0"/>
          </a:p>
        </p:txBody>
      </p:sp>
      <p:sp>
        <p:nvSpPr>
          <p:cNvPr id="367" name="Shape 333"/>
          <p:cNvSpPr/>
          <p:nvPr/>
        </p:nvSpPr>
        <p:spPr>
          <a:xfrm>
            <a:off x="10744200" y="4640580"/>
            <a:ext cx="64008" cy="64008"/>
          </a:xfrm>
          <a:prstGeom prst="rect">
            <a:avLst/>
          </a:prstGeom>
          <a:solidFill>
            <a:srgbClr val="187A4C"/>
          </a:solidFill>
          <a:ln/>
        </p:spPr>
      </p:sp>
      <p:sp>
        <p:nvSpPr>
          <p:cNvPr id="368" name="Text 334"/>
          <p:cNvSpPr txBox="1"/>
          <p:nvPr/>
        </p:nvSpPr>
        <p:spPr>
          <a:xfrm>
            <a:off x="10844784" y="4594860"/>
            <a:ext cx="11155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BUILT TO BE TRUSTED</a:t>
            </a:r>
            <a:endParaRPr lang="en-US" sz="800" dirty="0"/>
          </a:p>
        </p:txBody>
      </p:sp>
      <p:sp>
        <p:nvSpPr>
          <p:cNvPr id="369" name="Shape 335"/>
          <p:cNvSpPr/>
          <p:nvPr/>
        </p:nvSpPr>
        <p:spPr>
          <a:xfrm>
            <a:off x="10707624" y="4837176"/>
            <a:ext cx="246888" cy="246888"/>
          </a:xfrm>
          <a:prstGeom prst="ellipse">
            <a:avLst/>
          </a:prstGeom>
          <a:solidFill>
            <a:srgbClr val="187A4C"/>
          </a:solidFill>
          <a:ln/>
        </p:spPr>
      </p:sp>
      <p:pic>
        <p:nvPicPr>
          <p:cNvPr id="370" name="Image 32" descr="test icon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0759470" y="4889022"/>
            <a:ext cx="143195" cy="143195"/>
          </a:xfrm>
          <a:prstGeom prst="rect">
            <a:avLst/>
          </a:prstGeom>
        </p:spPr>
      </p:pic>
      <p:sp>
        <p:nvSpPr>
          <p:cNvPr id="371" name="Text 336"/>
          <p:cNvSpPr txBox="1"/>
          <p:nvPr/>
        </p:nvSpPr>
        <p:spPr>
          <a:xfrm>
            <a:off x="11009376" y="4818888"/>
            <a:ext cx="1033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87A4C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25 tests</a:t>
            </a:r>
            <a:endParaRPr lang="en-US" sz="650" dirty="0"/>
          </a:p>
          <a:p>
            <a:pPr algn="l" indent="0" marL="0">
              <a:buNone/>
            </a:pPr>
            <a:r>
              <a:rPr lang="en-US" sz="65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 check no future data leaks</a:t>
            </a:r>
            <a:endParaRPr lang="en-US" sz="650" dirty="0"/>
          </a:p>
        </p:txBody>
      </p:sp>
      <p:sp>
        <p:nvSpPr>
          <p:cNvPr id="372" name="Shape 337"/>
          <p:cNvSpPr/>
          <p:nvPr/>
        </p:nvSpPr>
        <p:spPr>
          <a:xfrm>
            <a:off x="10707624" y="5175504"/>
            <a:ext cx="246888" cy="246888"/>
          </a:xfrm>
          <a:prstGeom prst="ellipse">
            <a:avLst/>
          </a:prstGeom>
          <a:solidFill>
            <a:srgbClr val="187A4C"/>
          </a:solidFill>
          <a:ln/>
        </p:spPr>
      </p:sp>
      <p:pic>
        <p:nvPicPr>
          <p:cNvPr id="373" name="Image 33" descr="code icon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0759470" y="5227350"/>
            <a:ext cx="143195" cy="143195"/>
          </a:xfrm>
          <a:prstGeom prst="rect">
            <a:avLst/>
          </a:prstGeom>
        </p:spPr>
      </p:pic>
      <p:sp>
        <p:nvSpPr>
          <p:cNvPr id="374" name="Text 338"/>
          <p:cNvSpPr txBox="1"/>
          <p:nvPr/>
        </p:nvSpPr>
        <p:spPr>
          <a:xfrm>
            <a:off x="11009376" y="5157216"/>
            <a:ext cx="1033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87A4C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MIT, public</a:t>
            </a:r>
            <a:endParaRPr lang="en-US" sz="650" dirty="0"/>
          </a:p>
          <a:p>
            <a:pPr algn="l" indent="0" marL="0">
              <a:buNone/>
            </a:pPr>
            <a:r>
              <a:rPr lang="en-US" sz="65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code, model card, live demo</a:t>
            </a:r>
            <a:endParaRPr lang="en-US" sz="650" dirty="0"/>
          </a:p>
        </p:txBody>
      </p:sp>
      <p:sp>
        <p:nvSpPr>
          <p:cNvPr id="375" name="Shape 339"/>
          <p:cNvSpPr/>
          <p:nvPr/>
        </p:nvSpPr>
        <p:spPr>
          <a:xfrm>
            <a:off x="10707624" y="5513832"/>
            <a:ext cx="246888" cy="246888"/>
          </a:xfrm>
          <a:prstGeom prst="ellipse">
            <a:avLst/>
          </a:prstGeom>
          <a:solidFill>
            <a:srgbClr val="187A4C"/>
          </a:solidFill>
          <a:ln/>
        </p:spPr>
      </p:sp>
      <p:pic>
        <p:nvPicPr>
          <p:cNvPr id="376" name="Image 34" descr="lock icon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0759470" y="5565678"/>
            <a:ext cx="143195" cy="143195"/>
          </a:xfrm>
          <a:prstGeom prst="rect">
            <a:avLst/>
          </a:prstGeom>
        </p:spPr>
      </p:pic>
      <p:sp>
        <p:nvSpPr>
          <p:cNvPr id="377" name="Text 340"/>
          <p:cNvSpPr txBox="1"/>
          <p:nvPr/>
        </p:nvSpPr>
        <p:spPr>
          <a:xfrm>
            <a:off x="11009376" y="5495544"/>
            <a:ext cx="1033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87A4C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 consents</a:t>
            </a:r>
            <a:endParaRPr lang="en-US" sz="650" dirty="0"/>
          </a:p>
          <a:p>
            <a:pPr algn="l" indent="0" marL="0">
              <a:buNone/>
            </a:pPr>
            <a:r>
              <a:rPr lang="en-US" sz="65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one per stream, DPDP-ready</a:t>
            </a:r>
            <a:endParaRPr lang="en-US" sz="650" dirty="0"/>
          </a:p>
        </p:txBody>
      </p:sp>
      <p:sp>
        <p:nvSpPr>
          <p:cNvPr id="378" name="Shape 341"/>
          <p:cNvSpPr/>
          <p:nvPr/>
        </p:nvSpPr>
        <p:spPr>
          <a:xfrm>
            <a:off x="10707624" y="5852160"/>
            <a:ext cx="246888" cy="246888"/>
          </a:xfrm>
          <a:prstGeom prst="ellipse">
            <a:avLst/>
          </a:prstGeom>
          <a:solidFill>
            <a:srgbClr val="187A4C"/>
          </a:solidFill>
          <a:ln/>
        </p:spPr>
      </p:sp>
      <p:pic>
        <p:nvPicPr>
          <p:cNvPr id="379" name="Image 35" descr="pill icon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0759470" y="5904006"/>
            <a:ext cx="143195" cy="143195"/>
          </a:xfrm>
          <a:prstGeom prst="rect">
            <a:avLst/>
          </a:prstGeom>
        </p:spPr>
      </p:pic>
      <p:sp>
        <p:nvSpPr>
          <p:cNvPr id="380" name="Text 342"/>
          <p:cNvSpPr txBox="1"/>
          <p:nvPr/>
        </p:nvSpPr>
        <p:spPr>
          <a:xfrm>
            <a:off x="11009376" y="5833872"/>
            <a:ext cx="1033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87A4C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 doses</a:t>
            </a:r>
            <a:endParaRPr lang="en-US" sz="650" dirty="0"/>
          </a:p>
          <a:p>
            <a:pPr algn="l" indent="0" marL="0">
              <a:buNone/>
            </a:pPr>
            <a:r>
              <a:rPr lang="en-US" sz="65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changed by the app, ever</a:t>
            </a:r>
            <a:endParaRPr lang="en-US" sz="650" dirty="0"/>
          </a:p>
        </p:txBody>
      </p:sp>
      <p:sp>
        <p:nvSpPr>
          <p:cNvPr id="381" name="Shape 343"/>
          <p:cNvSpPr/>
          <p:nvPr/>
        </p:nvSpPr>
        <p:spPr>
          <a:xfrm>
            <a:off x="109728" y="6327648"/>
            <a:ext cx="11969496" cy="256032"/>
          </a:xfrm>
          <a:prstGeom prst="rect">
            <a:avLst/>
          </a:prstGeom>
          <a:solidFill>
            <a:srgbClr val="DCEFEF"/>
          </a:solidFill>
          <a:ln/>
        </p:spPr>
      </p:sp>
      <p:sp>
        <p:nvSpPr>
          <p:cNvPr id="382" name="Shape 344"/>
          <p:cNvSpPr/>
          <p:nvPr/>
        </p:nvSpPr>
        <p:spPr>
          <a:xfrm>
            <a:off x="109728" y="6327648"/>
            <a:ext cx="960120" cy="256032"/>
          </a:xfrm>
          <a:prstGeom prst="rect">
            <a:avLst/>
          </a:prstGeom>
          <a:solidFill>
            <a:srgbClr val="086A70"/>
          </a:solidFill>
          <a:ln/>
        </p:spPr>
      </p:sp>
      <p:sp>
        <p:nvSpPr>
          <p:cNvPr id="383" name="Text 345"/>
          <p:cNvSpPr txBox="1"/>
          <p:nvPr/>
        </p:nvSpPr>
        <p:spPr>
          <a:xfrm>
            <a:off x="109728" y="632764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ANSWER</a:t>
            </a:r>
            <a:endParaRPr lang="en-US" sz="850" dirty="0"/>
          </a:p>
        </p:txBody>
      </p:sp>
      <p:sp>
        <p:nvSpPr>
          <p:cNvPr id="384" name="Text 346"/>
          <p:cNvSpPr txBox="1"/>
          <p:nvPr/>
        </p:nvSpPr>
        <p:spPr>
          <a:xfrm>
            <a:off x="1161288" y="63276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Read every night against the patient's own body, alert only on what her habits cannot explain, and let people own the emergency. </a:t>
            </a:r>
            <a:r>
              <a:rPr lang="en-US" sz="8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Decision rule for a pilot: proceed only if alerts stay inside the budget on real, consented data.</a:t>
            </a:r>
            <a:endParaRPr lang="en-US" sz="850" dirty="0"/>
          </a:p>
        </p:txBody>
      </p:sp>
      <p:sp>
        <p:nvSpPr>
          <p:cNvPr id="385" name="Text 347"/>
          <p:cNvSpPr txBox="1"/>
          <p:nvPr/>
        </p:nvSpPr>
        <p:spPr>
          <a:xfrm>
            <a:off x="109728" y="6620256"/>
            <a:ext cx="6766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86A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ASSUMPTIONS: </a:t>
            </a:r>
            <a:r>
              <a:rPr lang="en-US" sz="65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all data is synthetic (240 patients x 120 days, seed 42); personas are illustrative; results are means of three patient splits on unseen patients.</a:t>
            </a:r>
            <a:endParaRPr lang="en-US" sz="650" dirty="0"/>
          </a:p>
        </p:txBody>
      </p:sp>
      <p:sp>
        <p:nvSpPr>
          <p:cNvPr id="386" name="Text 348"/>
          <p:cNvSpPr txBox="1"/>
          <p:nvPr/>
        </p:nvSpPr>
        <p:spPr>
          <a:xfrm>
            <a:off x="6949440" y="6620256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86A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SOURCE: </a:t>
            </a:r>
            <a:r>
              <a:rPr lang="en-US" sz="65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NFHS-5 (J Health Popul Nutr, 2023); IDC India wearables, Q2 2026; arXiv 2603.09052; repository MODEL_CARD.md and ALGORITHM.md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46304"/>
            <a:ext cx="566928" cy="566928"/>
          </a:xfrm>
          <a:prstGeom prst="rect">
            <a:avLst/>
          </a:prstGeom>
          <a:solidFill>
            <a:srgbClr val="B23F6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1463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A1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54864"/>
            <a:ext cx="9098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550" b="1" dirty="0">
                <a:solidFill>
                  <a:srgbClr val="086A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About 1 in 4 Indian men and 1 in 5 women have high blood pressure, and strain builds for days on watches nobody reads; the warning has to be personal and fit inside an alarm budget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608076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Condition: hypertension with cardiovascular risk. Event: a strain episode starting within 72 hours. Personas are illustrative; Meera Iyer (P-0007) is a synthetic patient.</a:t>
            </a:r>
            <a:endParaRPr lang="en-US" sz="800" dirty="0"/>
          </a:p>
        </p:txBody>
      </p:sp>
      <p:pic>
        <p:nvPicPr>
          <p:cNvPr id="6" name="Image 0" descr="Pratibimb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0" y="109728"/>
            <a:ext cx="1536192" cy="2958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1183112" y="566928"/>
            <a:ext cx="731520" cy="182880"/>
          </a:xfrm>
          <a:prstGeom prst="roundRect">
            <a:avLst>
              <a:gd name="adj" fmla="val 50000"/>
            </a:avLst>
          </a:prstGeom>
          <a:solidFill>
            <a:srgbClr val="3F4FA8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1183112" y="5669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Use case</a:t>
            </a:r>
            <a:endParaRPr lang="en-US" sz="700" dirty="0"/>
          </a:p>
        </p:txBody>
      </p:sp>
      <p:sp>
        <p:nvSpPr>
          <p:cNvPr id="9" name="Shape 6"/>
          <p:cNvSpPr/>
          <p:nvPr/>
        </p:nvSpPr>
        <p:spPr>
          <a:xfrm>
            <a:off x="9972446" y="566928"/>
            <a:ext cx="1155802" cy="182880"/>
          </a:xfrm>
          <a:prstGeom prst="roundRect">
            <a:avLst>
              <a:gd name="adj" fmla="val 50000"/>
            </a:avLst>
          </a:prstGeom>
          <a:solidFill>
            <a:srgbClr val="B23F69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972446" y="566928"/>
            <a:ext cx="115580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Condition in India</a:t>
            </a:r>
            <a:endParaRPr lang="en-US" sz="700" dirty="0"/>
          </a:p>
        </p:txBody>
      </p:sp>
      <p:pic>
        <p:nvPicPr>
          <p:cNvPr id="11" name="Image 1" descr="Pratibimb motif stri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41248"/>
            <a:ext cx="11640312" cy="5486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74320" y="987552"/>
            <a:ext cx="4041648" cy="25786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2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47472" y="1083564"/>
            <a:ext cx="64008" cy="64008"/>
          </a:xfrm>
          <a:prstGeom prst="rect">
            <a:avLst/>
          </a:prstGeom>
          <a:solidFill>
            <a:srgbClr val="B23F69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448056" y="1037844"/>
            <a:ext cx="31455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FOUR FACTS THAT SHAPE THE DESIGN</a:t>
            </a:r>
            <a:endParaRPr lang="en-US" sz="800" dirty="0"/>
          </a:p>
        </p:txBody>
      </p:sp>
      <p:sp>
        <p:nvSpPr>
          <p:cNvPr id="15" name="Text 11"/>
          <p:cNvSpPr txBox="1"/>
          <p:nvPr/>
        </p:nvSpPr>
        <p:spPr>
          <a:xfrm>
            <a:off x="3639312" y="1037844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B23F69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SEE S1 TO S4</a:t>
            </a:r>
            <a:endParaRPr lang="en-US" sz="700" dirty="0"/>
          </a:p>
        </p:txBody>
      </p:sp>
      <p:sp>
        <p:nvSpPr>
          <p:cNvPr id="16" name="Text 12"/>
          <p:cNvSpPr txBox="1"/>
          <p:nvPr/>
        </p:nvSpPr>
        <p:spPr>
          <a:xfrm>
            <a:off x="347472" y="1243584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23F69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24% | 21%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1389888" y="122529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of Indian men | women have high BP</a:t>
            </a:r>
            <a:endParaRPr lang="en-US" sz="740" dirty="0"/>
          </a:p>
          <a:p>
            <a:pPr algn="l" indent="0" marL="0">
              <a:buNone/>
            </a:pPr>
            <a:r>
              <a:rPr lang="en-US" sz="74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NFHS-5, 2019 to 21 (S1). Quiet and chronic: strain builds over days.</a:t>
            </a:r>
            <a:endParaRPr lang="en-US" sz="740" dirty="0"/>
          </a:p>
        </p:txBody>
      </p:sp>
      <p:sp>
        <p:nvSpPr>
          <p:cNvPr id="18" name="Shape 14"/>
          <p:cNvSpPr/>
          <p:nvPr/>
        </p:nvSpPr>
        <p:spPr>
          <a:xfrm>
            <a:off x="3163824" y="1243584"/>
            <a:ext cx="1097280" cy="475488"/>
          </a:xfrm>
          <a:prstGeom prst="rect">
            <a:avLst/>
          </a:prstGeom>
          <a:solidFill>
            <a:srgbClr val="F4F1EA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3200400" y="1243584"/>
            <a:ext cx="1033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b="1" i="1" dirty="0">
                <a:solidFill>
                  <a:srgbClr val="086A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So: </a:t>
            </a:r>
            <a:r>
              <a:rPr lang="en-US" sz="720" i="1" dirty="0">
                <a:solidFill>
                  <a:srgbClr val="086A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Pick hypertension; warn days ahead</a:t>
            </a:r>
            <a:endParaRPr lang="en-US" sz="720" dirty="0"/>
          </a:p>
        </p:txBody>
      </p:sp>
      <p:sp>
        <p:nvSpPr>
          <p:cNvPr id="20" name="Shape 16"/>
          <p:cNvSpPr/>
          <p:nvPr/>
        </p:nvSpPr>
        <p:spPr>
          <a:xfrm>
            <a:off x="365760" y="1783080"/>
            <a:ext cx="3858768" cy="91"/>
          </a:xfrm>
          <a:prstGeom prst="line">
            <a:avLst/>
          </a:prstGeom>
          <a:noFill/>
          <a:ln w="6350">
            <a:solidFill>
              <a:srgbClr val="D6D0C2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347472" y="1819656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86A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91.6%</a:t>
            </a:r>
            <a:endParaRPr lang="en-US" sz="2000" dirty="0"/>
          </a:p>
        </p:txBody>
      </p:sp>
      <p:sp>
        <p:nvSpPr>
          <p:cNvPr id="22" name="Text 18"/>
          <p:cNvSpPr txBox="1"/>
          <p:nvPr/>
        </p:nvSpPr>
        <p:spPr>
          <a:xfrm>
            <a:off x="1389888" y="180136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of smartwatches sold in India cost under US$50</a:t>
            </a:r>
            <a:endParaRPr lang="en-US" sz="740" dirty="0"/>
          </a:p>
          <a:p>
            <a:pPr algn="l" indent="0" marL="0">
              <a:buNone/>
            </a:pPr>
            <a:r>
              <a:rPr lang="en-US" sz="74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IDC, Q2 2026 (S2). They log heart rate, sleep and steps nightly.</a:t>
            </a:r>
            <a:endParaRPr lang="en-US" sz="740" dirty="0"/>
          </a:p>
        </p:txBody>
      </p:sp>
      <p:sp>
        <p:nvSpPr>
          <p:cNvPr id="23" name="Shape 19"/>
          <p:cNvSpPr/>
          <p:nvPr/>
        </p:nvSpPr>
        <p:spPr>
          <a:xfrm>
            <a:off x="3163824" y="1819656"/>
            <a:ext cx="1097280" cy="475488"/>
          </a:xfrm>
          <a:prstGeom prst="rect">
            <a:avLst/>
          </a:prstGeom>
          <a:solidFill>
            <a:srgbClr val="F4F1EA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3200400" y="1819656"/>
            <a:ext cx="1033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b="1" i="1" dirty="0">
                <a:solidFill>
                  <a:srgbClr val="086A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So: </a:t>
            </a:r>
            <a:r>
              <a:rPr lang="en-US" sz="720" i="1" dirty="0">
                <a:solidFill>
                  <a:srgbClr val="086A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Build on the watch people already own</a:t>
            </a:r>
            <a:endParaRPr lang="en-US" sz="720" dirty="0"/>
          </a:p>
        </p:txBody>
      </p:sp>
      <p:sp>
        <p:nvSpPr>
          <p:cNvPr id="25" name="Shape 21"/>
          <p:cNvSpPr/>
          <p:nvPr/>
        </p:nvSpPr>
        <p:spPr>
          <a:xfrm>
            <a:off x="365760" y="2359152"/>
            <a:ext cx="3858768" cy="91"/>
          </a:xfrm>
          <a:prstGeom prst="line">
            <a:avLst/>
          </a:prstGeom>
          <a:noFill/>
          <a:ln w="6350">
            <a:solidFill>
              <a:srgbClr val="D6D0C2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347472" y="2395728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B03A2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55.8%</a:t>
            </a:r>
            <a:endParaRPr lang="en-US" sz="2000" dirty="0"/>
          </a:p>
        </p:txBody>
      </p:sp>
      <p:sp>
        <p:nvSpPr>
          <p:cNvPr id="27" name="Text 23"/>
          <p:cNvSpPr txBox="1"/>
          <p:nvPr/>
        </p:nvSpPr>
        <p:spPr>
          <a:xfrm>
            <a:off x="1389888" y="23774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of readings flagged by fixed thresholds</a:t>
            </a:r>
            <a:endParaRPr lang="en-US" sz="740" dirty="0"/>
          </a:p>
          <a:p>
            <a:pPr algn="l" indent="0" marL="0">
              <a:buNone/>
            </a:pPr>
            <a:r>
              <a:rPr lang="en-US" sz="74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One remote-monitoring study (S3). Doctors stop looking.</a:t>
            </a:r>
            <a:endParaRPr lang="en-US" sz="740" dirty="0"/>
          </a:p>
        </p:txBody>
      </p:sp>
      <p:sp>
        <p:nvSpPr>
          <p:cNvPr id="28" name="Shape 24"/>
          <p:cNvSpPr/>
          <p:nvPr/>
        </p:nvSpPr>
        <p:spPr>
          <a:xfrm>
            <a:off x="3163824" y="2395728"/>
            <a:ext cx="1097280" cy="475488"/>
          </a:xfrm>
          <a:prstGeom prst="rect">
            <a:avLst/>
          </a:prstGeom>
          <a:solidFill>
            <a:srgbClr val="F4F1EA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3200400" y="2395728"/>
            <a:ext cx="1033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b="1" i="1" dirty="0">
                <a:solidFill>
                  <a:srgbClr val="086A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So: </a:t>
            </a:r>
            <a:r>
              <a:rPr lang="en-US" sz="720" i="1" dirty="0">
                <a:solidFill>
                  <a:srgbClr val="086A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Every alert sits inside an alarm budget</a:t>
            </a:r>
            <a:endParaRPr lang="en-US" sz="720" dirty="0"/>
          </a:p>
        </p:txBody>
      </p:sp>
      <p:sp>
        <p:nvSpPr>
          <p:cNvPr id="30" name="Shape 26"/>
          <p:cNvSpPr/>
          <p:nvPr/>
        </p:nvSpPr>
        <p:spPr>
          <a:xfrm>
            <a:off x="365760" y="2935224"/>
            <a:ext cx="3858768" cy="91"/>
          </a:xfrm>
          <a:prstGeom prst="line">
            <a:avLst/>
          </a:prstGeom>
          <a:noFill/>
          <a:ln w="6350">
            <a:solidFill>
              <a:srgbClr val="D6D0C2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347472" y="2971800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8703C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0.3 to 2</a:t>
            </a:r>
            <a:endParaRPr lang="en-US" sz="1600" dirty="0"/>
          </a:p>
        </p:txBody>
      </p:sp>
      <p:sp>
        <p:nvSpPr>
          <p:cNvPr id="32" name="Text 28"/>
          <p:cNvSpPr txBox="1"/>
          <p:nvPr/>
        </p:nvSpPr>
        <p:spPr>
          <a:xfrm>
            <a:off x="1389888" y="295351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bpm change in next-night heart rate per hour of sleep lost</a:t>
            </a:r>
            <a:endParaRPr lang="en-US" sz="740" dirty="0"/>
          </a:p>
          <a:p>
            <a:pPr algn="l" indent="0" marL="0">
              <a:buNone/>
            </a:pPr>
            <a:r>
              <a:rPr lang="en-US" sz="74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Person to person, in our cohort (S4). One rule cannot fit all.</a:t>
            </a:r>
            <a:endParaRPr lang="en-US" sz="740" dirty="0"/>
          </a:p>
        </p:txBody>
      </p:sp>
      <p:sp>
        <p:nvSpPr>
          <p:cNvPr id="33" name="Shape 29"/>
          <p:cNvSpPr/>
          <p:nvPr/>
        </p:nvSpPr>
        <p:spPr>
          <a:xfrm>
            <a:off x="3163824" y="2971800"/>
            <a:ext cx="1097280" cy="475488"/>
          </a:xfrm>
          <a:prstGeom prst="rect">
            <a:avLst/>
          </a:prstGeom>
          <a:solidFill>
            <a:srgbClr val="F4F1EA"/>
          </a:solidFill>
          <a:ln/>
        </p:spPr>
      </p:sp>
      <p:sp>
        <p:nvSpPr>
          <p:cNvPr id="34" name="Text 30"/>
          <p:cNvSpPr txBox="1"/>
          <p:nvPr/>
        </p:nvSpPr>
        <p:spPr>
          <a:xfrm>
            <a:off x="3200400" y="2971800"/>
            <a:ext cx="1033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b="1" i="1" dirty="0">
                <a:solidFill>
                  <a:srgbClr val="086A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So: </a:t>
            </a:r>
            <a:r>
              <a:rPr lang="en-US" sz="720" i="1" dirty="0">
                <a:solidFill>
                  <a:srgbClr val="086A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Learn each person's own response</a:t>
            </a:r>
            <a:endParaRPr lang="en-US" sz="720" dirty="0"/>
          </a:p>
        </p:txBody>
      </p:sp>
      <p:sp>
        <p:nvSpPr>
          <p:cNvPr id="35" name="Shape 31"/>
          <p:cNvSpPr/>
          <p:nvPr/>
        </p:nvSpPr>
        <p:spPr>
          <a:xfrm>
            <a:off x="4389120" y="987552"/>
            <a:ext cx="3383280" cy="25786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2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4462272" y="1083564"/>
            <a:ext cx="64008" cy="64008"/>
          </a:xfrm>
          <a:prstGeom prst="rect">
            <a:avLst/>
          </a:prstGeom>
          <a:solidFill>
            <a:srgbClr val="B23F69"/>
          </a:solidFill>
          <a:ln/>
        </p:spPr>
      </p:sp>
      <p:sp>
        <p:nvSpPr>
          <p:cNvPr id="37" name="Text 33"/>
          <p:cNvSpPr txBox="1"/>
          <p:nvPr/>
        </p:nvSpPr>
        <p:spPr>
          <a:xfrm>
            <a:off x="4562856" y="1037844"/>
            <a:ext cx="2651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MEERA'S LAST 21 NIGHTS: RISK SCORE</a:t>
            </a:r>
            <a:endParaRPr lang="en-US" sz="800" dirty="0"/>
          </a:p>
        </p:txBody>
      </p:sp>
      <p:sp>
        <p:nvSpPr>
          <p:cNvPr id="38" name="Text 34"/>
          <p:cNvSpPr txBox="1"/>
          <p:nvPr/>
        </p:nvSpPr>
        <p:spPr>
          <a:xfrm>
            <a:off x="7260336" y="1037844"/>
            <a:ext cx="457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B23F69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SEE A5</a:t>
            </a:r>
            <a:endParaRPr lang="en-US" sz="700" dirty="0"/>
          </a:p>
        </p:txBody>
      </p:sp>
      <p:sp>
        <p:nvSpPr>
          <p:cNvPr id="39" name="Shape 35"/>
          <p:cNvSpPr/>
          <p:nvPr/>
        </p:nvSpPr>
        <p:spPr>
          <a:xfrm>
            <a:off x="4736592" y="2779776"/>
            <a:ext cx="2852928" cy="91"/>
          </a:xfrm>
          <a:prstGeom prst="line">
            <a:avLst/>
          </a:prstGeom>
          <a:noFill/>
          <a:ln w="9525">
            <a:solidFill>
              <a:srgbClr val="A9AEB0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4462272" y="2715768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5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</a:t>
            </a:r>
            <a:endParaRPr lang="en-US" sz="650" dirty="0"/>
          </a:p>
        </p:txBody>
      </p:sp>
      <p:sp>
        <p:nvSpPr>
          <p:cNvPr id="41" name="Shape 37"/>
          <p:cNvSpPr/>
          <p:nvPr/>
        </p:nvSpPr>
        <p:spPr>
          <a:xfrm>
            <a:off x="4736592" y="2286000"/>
            <a:ext cx="2852928" cy="91"/>
          </a:xfrm>
          <a:prstGeom prst="line">
            <a:avLst/>
          </a:prstGeom>
          <a:noFill/>
          <a:ln w="6350">
            <a:solidFill>
              <a:srgbClr val="D6D0C2"/>
            </a:solidFill>
            <a:prstDash val="dash"/>
          </a:ln>
        </p:spPr>
      </p:sp>
      <p:sp>
        <p:nvSpPr>
          <p:cNvPr id="42" name="Text 38"/>
          <p:cNvSpPr txBox="1"/>
          <p:nvPr/>
        </p:nvSpPr>
        <p:spPr>
          <a:xfrm>
            <a:off x="4462272" y="2221992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5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30</a:t>
            </a:r>
            <a:endParaRPr lang="en-US" sz="650" dirty="0"/>
          </a:p>
        </p:txBody>
      </p:sp>
      <p:sp>
        <p:nvSpPr>
          <p:cNvPr id="43" name="Shape 39"/>
          <p:cNvSpPr/>
          <p:nvPr/>
        </p:nvSpPr>
        <p:spPr>
          <a:xfrm>
            <a:off x="4736592" y="1792224"/>
            <a:ext cx="2852928" cy="91"/>
          </a:xfrm>
          <a:prstGeom prst="line">
            <a:avLst/>
          </a:prstGeom>
          <a:noFill/>
          <a:ln w="6350">
            <a:solidFill>
              <a:srgbClr val="D6D0C2"/>
            </a:solidFill>
            <a:prstDash val="dash"/>
          </a:ln>
        </p:spPr>
      </p:sp>
      <p:sp>
        <p:nvSpPr>
          <p:cNvPr id="44" name="Text 40"/>
          <p:cNvSpPr txBox="1"/>
          <p:nvPr/>
        </p:nvSpPr>
        <p:spPr>
          <a:xfrm>
            <a:off x="4462272" y="1728216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5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60</a:t>
            </a:r>
            <a:endParaRPr lang="en-US" sz="650" dirty="0"/>
          </a:p>
        </p:txBody>
      </p:sp>
      <p:sp>
        <p:nvSpPr>
          <p:cNvPr id="45" name="Shape 41"/>
          <p:cNvSpPr/>
          <p:nvPr/>
        </p:nvSpPr>
        <p:spPr>
          <a:xfrm>
            <a:off x="4736592" y="1298448"/>
            <a:ext cx="2852928" cy="91"/>
          </a:xfrm>
          <a:prstGeom prst="line">
            <a:avLst/>
          </a:prstGeom>
          <a:noFill/>
          <a:ln w="6350">
            <a:solidFill>
              <a:srgbClr val="D6D0C2"/>
            </a:solidFill>
            <a:prstDash val="dash"/>
          </a:ln>
        </p:spPr>
      </p:sp>
      <p:sp>
        <p:nvSpPr>
          <p:cNvPr id="46" name="Text 42"/>
          <p:cNvSpPr txBox="1"/>
          <p:nvPr/>
        </p:nvSpPr>
        <p:spPr>
          <a:xfrm>
            <a:off x="4462272" y="1234440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5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90</a:t>
            </a:r>
            <a:endParaRPr lang="en-US" sz="650" dirty="0"/>
          </a:p>
        </p:txBody>
      </p:sp>
      <p:sp>
        <p:nvSpPr>
          <p:cNvPr id="47" name="Text 43"/>
          <p:cNvSpPr txBox="1"/>
          <p:nvPr/>
        </p:nvSpPr>
        <p:spPr>
          <a:xfrm>
            <a:off x="4773168" y="1655064"/>
            <a:ext cx="548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B03A2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urgent line</a:t>
            </a:r>
            <a:endParaRPr lang="en-US" sz="620" dirty="0"/>
          </a:p>
        </p:txBody>
      </p:sp>
      <p:sp>
        <p:nvSpPr>
          <p:cNvPr id="48" name="Text 44"/>
          <p:cNvSpPr txBox="1"/>
          <p:nvPr/>
        </p:nvSpPr>
        <p:spPr>
          <a:xfrm>
            <a:off x="4773168" y="2148840"/>
            <a:ext cx="640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9461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check-in line</a:t>
            </a:r>
            <a:endParaRPr lang="en-US" sz="620" dirty="0"/>
          </a:p>
        </p:txBody>
      </p:sp>
      <p:sp>
        <p:nvSpPr>
          <p:cNvPr id="49" name="Shape 45"/>
          <p:cNvSpPr/>
          <p:nvPr/>
        </p:nvSpPr>
        <p:spPr>
          <a:xfrm>
            <a:off x="4761046" y="2763317"/>
            <a:ext cx="86946" cy="16459"/>
          </a:xfrm>
          <a:prstGeom prst="rect">
            <a:avLst/>
          </a:prstGeom>
          <a:solidFill>
            <a:srgbClr val="187A4C">
              <a:alpha val="65000"/>
            </a:srgbClr>
          </a:solidFill>
          <a:ln/>
        </p:spPr>
      </p:sp>
      <p:sp>
        <p:nvSpPr>
          <p:cNvPr id="50" name="Text 46"/>
          <p:cNvSpPr txBox="1"/>
          <p:nvPr/>
        </p:nvSpPr>
        <p:spPr>
          <a:xfrm>
            <a:off x="4645152" y="2807208"/>
            <a:ext cx="31873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4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22 Sep</a:t>
            </a:r>
            <a:endParaRPr lang="en-US" sz="640" dirty="0"/>
          </a:p>
        </p:txBody>
      </p:sp>
      <p:sp>
        <p:nvSpPr>
          <p:cNvPr id="51" name="Shape 47"/>
          <p:cNvSpPr/>
          <p:nvPr/>
        </p:nvSpPr>
        <p:spPr>
          <a:xfrm>
            <a:off x="4896899" y="2763317"/>
            <a:ext cx="86946" cy="16459"/>
          </a:xfrm>
          <a:prstGeom prst="rect">
            <a:avLst/>
          </a:prstGeom>
          <a:solidFill>
            <a:srgbClr val="187A4C"/>
          </a:solidFill>
          <a:ln/>
        </p:spPr>
      </p:sp>
      <p:sp>
        <p:nvSpPr>
          <p:cNvPr id="52" name="Shape 48"/>
          <p:cNvSpPr/>
          <p:nvPr/>
        </p:nvSpPr>
        <p:spPr>
          <a:xfrm>
            <a:off x="5032753" y="2763317"/>
            <a:ext cx="86946" cy="16459"/>
          </a:xfrm>
          <a:prstGeom prst="rect">
            <a:avLst/>
          </a:prstGeom>
          <a:solidFill>
            <a:srgbClr val="187A4C"/>
          </a:solidFill>
          <a:ln/>
        </p:spPr>
      </p:sp>
      <p:sp>
        <p:nvSpPr>
          <p:cNvPr id="53" name="Shape 49"/>
          <p:cNvSpPr/>
          <p:nvPr/>
        </p:nvSpPr>
        <p:spPr>
          <a:xfrm>
            <a:off x="5168607" y="2730398"/>
            <a:ext cx="86946" cy="49378"/>
          </a:xfrm>
          <a:prstGeom prst="rect">
            <a:avLst/>
          </a:prstGeom>
          <a:solidFill>
            <a:srgbClr val="187A4C"/>
          </a:solidFill>
          <a:ln/>
        </p:spPr>
      </p:sp>
      <p:sp>
        <p:nvSpPr>
          <p:cNvPr id="54" name="Shape 50"/>
          <p:cNvSpPr/>
          <p:nvPr/>
        </p:nvSpPr>
        <p:spPr>
          <a:xfrm>
            <a:off x="5304461" y="2763317"/>
            <a:ext cx="86946" cy="16459"/>
          </a:xfrm>
          <a:prstGeom prst="rect">
            <a:avLst/>
          </a:prstGeom>
          <a:solidFill>
            <a:srgbClr val="187A4C"/>
          </a:solidFill>
          <a:ln/>
        </p:spPr>
      </p:sp>
      <p:sp>
        <p:nvSpPr>
          <p:cNvPr id="55" name="Shape 51"/>
          <p:cNvSpPr/>
          <p:nvPr/>
        </p:nvSpPr>
        <p:spPr>
          <a:xfrm>
            <a:off x="5440314" y="2746858"/>
            <a:ext cx="86946" cy="32918"/>
          </a:xfrm>
          <a:prstGeom prst="rect">
            <a:avLst/>
          </a:prstGeom>
          <a:solidFill>
            <a:srgbClr val="187A4C"/>
          </a:solidFill>
          <a:ln/>
        </p:spPr>
      </p:sp>
      <p:sp>
        <p:nvSpPr>
          <p:cNvPr id="56" name="Text 52"/>
          <p:cNvSpPr txBox="1"/>
          <p:nvPr/>
        </p:nvSpPr>
        <p:spPr>
          <a:xfrm>
            <a:off x="5324421" y="2807208"/>
            <a:ext cx="31873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4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27</a:t>
            </a:r>
            <a:endParaRPr lang="en-US" sz="640" dirty="0"/>
          </a:p>
        </p:txBody>
      </p:sp>
      <p:sp>
        <p:nvSpPr>
          <p:cNvPr id="57" name="Shape 53"/>
          <p:cNvSpPr/>
          <p:nvPr/>
        </p:nvSpPr>
        <p:spPr>
          <a:xfrm>
            <a:off x="5576168" y="2746858"/>
            <a:ext cx="86946" cy="32918"/>
          </a:xfrm>
          <a:prstGeom prst="rect">
            <a:avLst/>
          </a:prstGeom>
          <a:solidFill>
            <a:srgbClr val="187A4C"/>
          </a:solidFill>
          <a:ln/>
        </p:spPr>
      </p:sp>
      <p:sp>
        <p:nvSpPr>
          <p:cNvPr id="58" name="Shape 54"/>
          <p:cNvSpPr/>
          <p:nvPr/>
        </p:nvSpPr>
        <p:spPr>
          <a:xfrm>
            <a:off x="5712022" y="2763317"/>
            <a:ext cx="86946" cy="16459"/>
          </a:xfrm>
          <a:prstGeom prst="rect">
            <a:avLst/>
          </a:prstGeom>
          <a:solidFill>
            <a:srgbClr val="187A4C"/>
          </a:solidFill>
          <a:ln/>
        </p:spPr>
      </p:sp>
      <p:sp>
        <p:nvSpPr>
          <p:cNvPr id="59" name="Shape 55"/>
          <p:cNvSpPr/>
          <p:nvPr/>
        </p:nvSpPr>
        <p:spPr>
          <a:xfrm>
            <a:off x="5847875" y="2763317"/>
            <a:ext cx="86946" cy="16459"/>
          </a:xfrm>
          <a:prstGeom prst="rect">
            <a:avLst/>
          </a:prstGeom>
          <a:solidFill>
            <a:srgbClr val="187A4C"/>
          </a:solidFill>
          <a:ln/>
        </p:spPr>
      </p:sp>
      <p:sp>
        <p:nvSpPr>
          <p:cNvPr id="60" name="Shape 56"/>
          <p:cNvSpPr/>
          <p:nvPr/>
        </p:nvSpPr>
        <p:spPr>
          <a:xfrm>
            <a:off x="5983729" y="2763317"/>
            <a:ext cx="86946" cy="16459"/>
          </a:xfrm>
          <a:prstGeom prst="rect">
            <a:avLst/>
          </a:prstGeom>
          <a:solidFill>
            <a:srgbClr val="187A4C"/>
          </a:solidFill>
          <a:ln/>
        </p:spPr>
      </p:sp>
      <p:sp>
        <p:nvSpPr>
          <p:cNvPr id="61" name="Shape 57"/>
          <p:cNvSpPr/>
          <p:nvPr/>
        </p:nvSpPr>
        <p:spPr>
          <a:xfrm>
            <a:off x="6119583" y="2746858"/>
            <a:ext cx="86946" cy="32918"/>
          </a:xfrm>
          <a:prstGeom prst="rect">
            <a:avLst/>
          </a:prstGeom>
          <a:solidFill>
            <a:srgbClr val="187A4C"/>
          </a:solidFill>
          <a:ln/>
        </p:spPr>
      </p:sp>
      <p:sp>
        <p:nvSpPr>
          <p:cNvPr id="62" name="Text 58"/>
          <p:cNvSpPr txBox="1"/>
          <p:nvPr/>
        </p:nvSpPr>
        <p:spPr>
          <a:xfrm>
            <a:off x="6003689" y="2807208"/>
            <a:ext cx="31873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4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</a:t>
            </a:r>
            <a:endParaRPr lang="en-US" sz="640" dirty="0"/>
          </a:p>
        </p:txBody>
      </p:sp>
      <p:sp>
        <p:nvSpPr>
          <p:cNvPr id="63" name="Shape 59"/>
          <p:cNvSpPr/>
          <p:nvPr/>
        </p:nvSpPr>
        <p:spPr>
          <a:xfrm>
            <a:off x="6255437" y="2763317"/>
            <a:ext cx="86946" cy="16459"/>
          </a:xfrm>
          <a:prstGeom prst="rect">
            <a:avLst/>
          </a:prstGeom>
          <a:solidFill>
            <a:srgbClr val="187A4C"/>
          </a:solidFill>
          <a:ln/>
        </p:spPr>
      </p:sp>
      <p:sp>
        <p:nvSpPr>
          <p:cNvPr id="64" name="Shape 60"/>
          <p:cNvSpPr/>
          <p:nvPr/>
        </p:nvSpPr>
        <p:spPr>
          <a:xfrm>
            <a:off x="6391290" y="2730398"/>
            <a:ext cx="86946" cy="49378"/>
          </a:xfrm>
          <a:prstGeom prst="rect">
            <a:avLst/>
          </a:prstGeom>
          <a:solidFill>
            <a:srgbClr val="187A4C"/>
          </a:solidFill>
          <a:ln/>
        </p:spPr>
      </p:sp>
      <p:sp>
        <p:nvSpPr>
          <p:cNvPr id="65" name="Shape 61"/>
          <p:cNvSpPr/>
          <p:nvPr/>
        </p:nvSpPr>
        <p:spPr>
          <a:xfrm>
            <a:off x="6527144" y="2104949"/>
            <a:ext cx="86946" cy="674827"/>
          </a:xfrm>
          <a:prstGeom prst="rect">
            <a:avLst/>
          </a:prstGeom>
          <a:solidFill>
            <a:srgbClr val="C98A0B"/>
          </a:solidFill>
          <a:ln/>
        </p:spPr>
      </p:sp>
      <p:sp>
        <p:nvSpPr>
          <p:cNvPr id="66" name="Shape 62"/>
          <p:cNvSpPr/>
          <p:nvPr/>
        </p:nvSpPr>
        <p:spPr>
          <a:xfrm>
            <a:off x="6662998" y="1841602"/>
            <a:ext cx="86946" cy="938174"/>
          </a:xfrm>
          <a:prstGeom prst="rect">
            <a:avLst/>
          </a:prstGeom>
          <a:solidFill>
            <a:srgbClr val="C98A0B"/>
          </a:solidFill>
          <a:ln/>
        </p:spPr>
      </p:sp>
      <p:sp>
        <p:nvSpPr>
          <p:cNvPr id="67" name="Shape 63"/>
          <p:cNvSpPr/>
          <p:nvPr/>
        </p:nvSpPr>
        <p:spPr>
          <a:xfrm>
            <a:off x="6798851" y="2253082"/>
            <a:ext cx="86946" cy="526694"/>
          </a:xfrm>
          <a:prstGeom prst="rect">
            <a:avLst/>
          </a:prstGeom>
          <a:solidFill>
            <a:srgbClr val="C98A0B"/>
          </a:solidFill>
          <a:ln/>
        </p:spPr>
      </p:sp>
      <p:sp>
        <p:nvSpPr>
          <p:cNvPr id="68" name="Text 64"/>
          <p:cNvSpPr txBox="1"/>
          <p:nvPr/>
        </p:nvSpPr>
        <p:spPr>
          <a:xfrm>
            <a:off x="6682958" y="2807208"/>
            <a:ext cx="31873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4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7</a:t>
            </a:r>
            <a:endParaRPr lang="en-US" sz="640" dirty="0"/>
          </a:p>
        </p:txBody>
      </p:sp>
      <p:sp>
        <p:nvSpPr>
          <p:cNvPr id="69" name="Shape 65"/>
          <p:cNvSpPr/>
          <p:nvPr/>
        </p:nvSpPr>
        <p:spPr>
          <a:xfrm>
            <a:off x="6934705" y="2220163"/>
            <a:ext cx="86946" cy="559613"/>
          </a:xfrm>
          <a:prstGeom prst="rect">
            <a:avLst/>
          </a:prstGeom>
          <a:solidFill>
            <a:srgbClr val="C98A0B"/>
          </a:solidFill>
          <a:ln/>
        </p:spPr>
      </p:sp>
      <p:sp>
        <p:nvSpPr>
          <p:cNvPr id="70" name="Shape 66"/>
          <p:cNvSpPr/>
          <p:nvPr/>
        </p:nvSpPr>
        <p:spPr>
          <a:xfrm>
            <a:off x="7070559" y="2006194"/>
            <a:ext cx="86946" cy="773582"/>
          </a:xfrm>
          <a:prstGeom prst="rect">
            <a:avLst/>
          </a:prstGeom>
          <a:solidFill>
            <a:srgbClr val="C98A0B">
              <a:alpha val="65000"/>
            </a:srgbClr>
          </a:solidFill>
          <a:ln/>
        </p:spPr>
      </p:sp>
      <p:sp>
        <p:nvSpPr>
          <p:cNvPr id="71" name="Shape 67"/>
          <p:cNvSpPr/>
          <p:nvPr/>
        </p:nvSpPr>
        <p:spPr>
          <a:xfrm>
            <a:off x="7206413" y="2384755"/>
            <a:ext cx="86946" cy="395021"/>
          </a:xfrm>
          <a:prstGeom prst="rect">
            <a:avLst/>
          </a:prstGeom>
          <a:solidFill>
            <a:srgbClr val="187A4C">
              <a:alpha val="65000"/>
            </a:srgbClr>
          </a:solidFill>
          <a:ln/>
        </p:spPr>
      </p:sp>
      <p:sp>
        <p:nvSpPr>
          <p:cNvPr id="72" name="Shape 68"/>
          <p:cNvSpPr/>
          <p:nvPr/>
        </p:nvSpPr>
        <p:spPr>
          <a:xfrm>
            <a:off x="7342266" y="1907438"/>
            <a:ext cx="86946" cy="872338"/>
          </a:xfrm>
          <a:prstGeom prst="rect">
            <a:avLst/>
          </a:prstGeom>
          <a:solidFill>
            <a:srgbClr val="C98A0B"/>
          </a:solidFill>
          <a:ln/>
        </p:spPr>
      </p:sp>
      <p:sp>
        <p:nvSpPr>
          <p:cNvPr id="73" name="Shape 69"/>
          <p:cNvSpPr/>
          <p:nvPr/>
        </p:nvSpPr>
        <p:spPr>
          <a:xfrm>
            <a:off x="7478120" y="1742846"/>
            <a:ext cx="86946" cy="1036930"/>
          </a:xfrm>
          <a:prstGeom prst="rect">
            <a:avLst/>
          </a:prstGeom>
          <a:solidFill>
            <a:srgbClr val="B03A23"/>
          </a:solidFill>
          <a:ln/>
        </p:spPr>
      </p:sp>
      <p:sp>
        <p:nvSpPr>
          <p:cNvPr id="74" name="Text 70"/>
          <p:cNvSpPr txBox="1"/>
          <p:nvPr/>
        </p:nvSpPr>
        <p:spPr>
          <a:xfrm>
            <a:off x="7362226" y="2807208"/>
            <a:ext cx="31873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4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12 Oct</a:t>
            </a:r>
            <a:endParaRPr lang="en-US" sz="640" dirty="0"/>
          </a:p>
        </p:txBody>
      </p:sp>
      <p:sp>
        <p:nvSpPr>
          <p:cNvPr id="75" name="Shape 71"/>
          <p:cNvSpPr/>
          <p:nvPr/>
        </p:nvSpPr>
        <p:spPr>
          <a:xfrm>
            <a:off x="7046105" y="1316736"/>
            <a:ext cx="271707" cy="1463040"/>
          </a:xfrm>
          <a:prstGeom prst="rect">
            <a:avLst/>
          </a:prstGeom>
          <a:ln w="9525">
            <a:solidFill>
              <a:srgbClr val="5D6766"/>
            </a:solidFill>
            <a:prstDash val="dash"/>
          </a:ln>
        </p:spPr>
      </p:sp>
      <p:sp>
        <p:nvSpPr>
          <p:cNvPr id="76" name="Text 72"/>
          <p:cNvSpPr txBox="1"/>
          <p:nvPr/>
        </p:nvSpPr>
        <p:spPr>
          <a:xfrm>
            <a:off x="5839097" y="1325880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20" i="1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watch off 9 and 10 Oct;</a:t>
            </a:r>
            <a:endParaRPr lang="en-US" sz="620" dirty="0"/>
          </a:p>
          <a:p>
            <a:pPr algn="r" indent="0" marL="0">
              <a:buNone/>
            </a:pPr>
            <a:r>
              <a:rPr lang="en-US" sz="620" i="1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cuff kept reporting</a:t>
            </a:r>
            <a:endParaRPr lang="en-US" sz="620" dirty="0"/>
          </a:p>
        </p:txBody>
      </p:sp>
      <p:sp>
        <p:nvSpPr>
          <p:cNvPr id="77" name="Text 73"/>
          <p:cNvSpPr txBox="1"/>
          <p:nvPr/>
        </p:nvSpPr>
        <p:spPr>
          <a:xfrm>
            <a:off x="7407946" y="1578254"/>
            <a:ext cx="22729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03A2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63</a:t>
            </a:r>
            <a:endParaRPr lang="en-US" sz="800" dirty="0"/>
          </a:p>
        </p:txBody>
      </p:sp>
      <p:sp>
        <p:nvSpPr>
          <p:cNvPr id="78" name="Shape 74"/>
          <p:cNvSpPr/>
          <p:nvPr/>
        </p:nvSpPr>
        <p:spPr>
          <a:xfrm>
            <a:off x="4572000" y="3072384"/>
            <a:ext cx="109728" cy="91440"/>
          </a:xfrm>
          <a:prstGeom prst="rect">
            <a:avLst/>
          </a:prstGeom>
          <a:solidFill>
            <a:srgbClr val="187A4C"/>
          </a:solidFill>
          <a:ln/>
        </p:spPr>
      </p:sp>
      <p:sp>
        <p:nvSpPr>
          <p:cNvPr id="79" name="Text 75"/>
          <p:cNvSpPr txBox="1"/>
          <p:nvPr/>
        </p:nvSpPr>
        <p:spPr>
          <a:xfrm>
            <a:off x="4709160" y="3035808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Steady</a:t>
            </a:r>
            <a:endParaRPr lang="en-US" sz="660" dirty="0"/>
          </a:p>
        </p:txBody>
      </p:sp>
      <p:sp>
        <p:nvSpPr>
          <p:cNvPr id="80" name="Shape 76"/>
          <p:cNvSpPr/>
          <p:nvPr/>
        </p:nvSpPr>
        <p:spPr>
          <a:xfrm>
            <a:off x="5303520" y="3072384"/>
            <a:ext cx="109728" cy="91440"/>
          </a:xfrm>
          <a:prstGeom prst="rect">
            <a:avLst/>
          </a:prstGeom>
          <a:solidFill>
            <a:srgbClr val="C98A0B"/>
          </a:solidFill>
          <a:ln/>
        </p:spPr>
      </p:sp>
      <p:sp>
        <p:nvSpPr>
          <p:cNvPr id="81" name="Text 77"/>
          <p:cNvSpPr txBox="1"/>
          <p:nvPr/>
        </p:nvSpPr>
        <p:spPr>
          <a:xfrm>
            <a:off x="5440680" y="3035808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Check in</a:t>
            </a:r>
            <a:endParaRPr lang="en-US" sz="660" dirty="0"/>
          </a:p>
        </p:txBody>
      </p:sp>
      <p:sp>
        <p:nvSpPr>
          <p:cNvPr id="82" name="Shape 78"/>
          <p:cNvSpPr/>
          <p:nvPr/>
        </p:nvSpPr>
        <p:spPr>
          <a:xfrm>
            <a:off x="6035040" y="3072384"/>
            <a:ext cx="109728" cy="91440"/>
          </a:xfrm>
          <a:prstGeom prst="rect">
            <a:avLst/>
          </a:prstGeom>
          <a:solidFill>
            <a:srgbClr val="B03A23"/>
          </a:solidFill>
          <a:ln/>
        </p:spPr>
      </p:sp>
      <p:sp>
        <p:nvSpPr>
          <p:cNvPr id="83" name="Text 79"/>
          <p:cNvSpPr txBox="1"/>
          <p:nvPr/>
        </p:nvSpPr>
        <p:spPr>
          <a:xfrm>
            <a:off x="6172200" y="3035808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Urgent</a:t>
            </a:r>
            <a:endParaRPr lang="en-US" sz="660" dirty="0"/>
          </a:p>
        </p:txBody>
      </p:sp>
      <p:sp>
        <p:nvSpPr>
          <p:cNvPr id="84" name="Text 80"/>
          <p:cNvSpPr txBox="1"/>
          <p:nvPr/>
        </p:nvSpPr>
        <p:spPr>
          <a:xfrm>
            <a:off x="4498848" y="320040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80" i="1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Score 0 to 100 from the trained model. The twin kept scoring while the watch was off, using the home BP cuff.</a:t>
            </a:r>
            <a:endParaRPr lang="en-US" sz="680" dirty="0"/>
          </a:p>
        </p:txBody>
      </p:sp>
      <p:sp>
        <p:nvSpPr>
          <p:cNvPr id="85" name="Shape 81"/>
          <p:cNvSpPr/>
          <p:nvPr/>
        </p:nvSpPr>
        <p:spPr>
          <a:xfrm>
            <a:off x="7845552" y="987552"/>
            <a:ext cx="4069080" cy="25786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2"/>
            </a:solidFill>
            <a:prstDash val="solid"/>
          </a:ln>
        </p:spPr>
      </p:sp>
      <p:sp>
        <p:nvSpPr>
          <p:cNvPr id="86" name="Shape 82"/>
          <p:cNvSpPr/>
          <p:nvPr/>
        </p:nvSpPr>
        <p:spPr>
          <a:xfrm>
            <a:off x="7918704" y="1083564"/>
            <a:ext cx="64008" cy="64008"/>
          </a:xfrm>
          <a:prstGeom prst="rect">
            <a:avLst/>
          </a:prstGeom>
          <a:solidFill>
            <a:srgbClr val="B23F69"/>
          </a:solidFill>
          <a:ln/>
        </p:spPr>
      </p:sp>
      <p:sp>
        <p:nvSpPr>
          <p:cNvPr id="87" name="Text 83"/>
          <p:cNvSpPr txBox="1"/>
          <p:nvPr/>
        </p:nvSpPr>
        <p:spPr>
          <a:xfrm>
            <a:off x="8019288" y="1037844"/>
            <a:ext cx="3337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WHO WE DESIGN FOR</a:t>
            </a:r>
            <a:endParaRPr lang="en-US" sz="800" dirty="0"/>
          </a:p>
        </p:txBody>
      </p:sp>
      <p:sp>
        <p:nvSpPr>
          <p:cNvPr id="88" name="Text 84"/>
          <p:cNvSpPr txBox="1"/>
          <p:nvPr/>
        </p:nvSpPr>
        <p:spPr>
          <a:xfrm>
            <a:off x="11402568" y="1037844"/>
            <a:ext cx="457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B23F69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SEE A5</a:t>
            </a:r>
            <a:endParaRPr lang="en-US" sz="700" dirty="0"/>
          </a:p>
        </p:txBody>
      </p:sp>
      <p:pic>
        <p:nvPicPr>
          <p:cNvPr id="89" name="Image 2" descr="Meera Iyer, 58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8704" y="1225296"/>
            <a:ext cx="603504" cy="603504"/>
          </a:xfrm>
          <a:prstGeom prst="rect">
            <a:avLst/>
          </a:prstGeom>
        </p:spPr>
      </p:pic>
      <p:sp>
        <p:nvSpPr>
          <p:cNvPr id="90" name="Shape 85"/>
          <p:cNvSpPr/>
          <p:nvPr/>
        </p:nvSpPr>
        <p:spPr>
          <a:xfrm>
            <a:off x="8595360" y="1225296"/>
            <a:ext cx="2377440" cy="173736"/>
          </a:xfrm>
          <a:prstGeom prst="rect">
            <a:avLst/>
          </a:prstGeom>
          <a:solidFill>
            <a:srgbClr val="B23F69"/>
          </a:solidFill>
          <a:ln/>
        </p:spPr>
      </p:sp>
      <p:sp>
        <p:nvSpPr>
          <p:cNvPr id="91" name="Text 86"/>
          <p:cNvSpPr txBox="1"/>
          <p:nvPr/>
        </p:nvSpPr>
        <p:spPr>
          <a:xfrm>
            <a:off x="8631936" y="1225296"/>
            <a:ext cx="23408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Meera Iyer, 58</a:t>
            </a:r>
            <a:r>
              <a:rPr lang="en-US" sz="66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  |  Patient, Bengaluru; hypertension, past heart attack</a:t>
            </a:r>
            <a:endParaRPr lang="en-US" sz="760" dirty="0"/>
          </a:p>
        </p:txBody>
      </p:sp>
      <p:pic>
        <p:nvPicPr>
          <p:cNvPr id="92" name="Image 3" descr="g_want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3648" y="1453896"/>
            <a:ext cx="91440" cy="91440"/>
          </a:xfrm>
          <a:prstGeom prst="rect">
            <a:avLst/>
          </a:prstGeom>
        </p:spPr>
      </p:pic>
      <p:sp>
        <p:nvSpPr>
          <p:cNvPr id="93" name="Text 87"/>
          <p:cNvSpPr txBox="1"/>
          <p:nvPr/>
        </p:nvSpPr>
        <p:spPr>
          <a:xfrm>
            <a:off x="8732520" y="1426464"/>
            <a:ext cx="2240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86A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Wants: </a:t>
            </a:r>
            <a:r>
              <a:rPr lang="en-US" sz="7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to stay well and out of hospital</a:t>
            </a:r>
            <a:endParaRPr lang="en-US" sz="700" dirty="0"/>
          </a:p>
        </p:txBody>
      </p:sp>
      <p:pic>
        <p:nvPicPr>
          <p:cNvPr id="94" name="Image 4" descr="g_pain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3648" y="1591056"/>
            <a:ext cx="91440" cy="91440"/>
          </a:xfrm>
          <a:prstGeom prst="rect">
            <a:avLst/>
          </a:prstGeom>
        </p:spPr>
      </p:pic>
      <p:sp>
        <p:nvSpPr>
          <p:cNvPr id="95" name="Text 88"/>
          <p:cNvSpPr txBox="1"/>
          <p:nvPr/>
        </p:nvSpPr>
        <p:spPr>
          <a:xfrm>
            <a:off x="8732520" y="1563624"/>
            <a:ext cx="2240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B03A2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Pain: </a:t>
            </a:r>
            <a:r>
              <a:rPr lang="en-US" sz="7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feels fine until the day she does not</a:t>
            </a:r>
            <a:endParaRPr lang="en-US" sz="700" dirty="0"/>
          </a:p>
        </p:txBody>
      </p:sp>
      <p:pic>
        <p:nvPicPr>
          <p:cNvPr id="96" name="Image 5" descr="g_gets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13648" y="1728216"/>
            <a:ext cx="91440" cy="91440"/>
          </a:xfrm>
          <a:prstGeom prst="rect">
            <a:avLst/>
          </a:prstGeom>
        </p:spPr>
      </p:pic>
      <p:sp>
        <p:nvSpPr>
          <p:cNvPr id="97" name="Text 89"/>
          <p:cNvSpPr txBox="1"/>
          <p:nvPr/>
        </p:nvSpPr>
        <p:spPr>
          <a:xfrm>
            <a:off x="8732520" y="1700784"/>
            <a:ext cx="2240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87A4C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Gets: </a:t>
            </a:r>
            <a:r>
              <a:rPr lang="en-US" sz="7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one sentence in Hindi or English, her best habit, SOS</a:t>
            </a:r>
            <a:endParaRPr lang="en-US" sz="700" dirty="0"/>
          </a:p>
        </p:txBody>
      </p:sp>
      <p:pic>
        <p:nvPicPr>
          <p:cNvPr id="98" name="Image 6" descr="What Meera Iyer, 58 sees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80389" y="1225296"/>
            <a:ext cx="735798" cy="585216"/>
          </a:xfrm>
          <a:prstGeom prst="rect">
            <a:avLst/>
          </a:prstGeom>
        </p:spPr>
      </p:pic>
      <p:sp>
        <p:nvSpPr>
          <p:cNvPr id="99" name="Shape 90"/>
          <p:cNvSpPr/>
          <p:nvPr/>
        </p:nvSpPr>
        <p:spPr>
          <a:xfrm>
            <a:off x="11080389" y="1225296"/>
            <a:ext cx="735798" cy="585216"/>
          </a:xfrm>
          <a:prstGeom prst="rect">
            <a:avLst/>
          </a:prstGeom>
          <a:ln w="9525">
            <a:solidFill>
              <a:srgbClr val="D6D0C2"/>
            </a:solidFill>
            <a:prstDash val="solid"/>
          </a:ln>
        </p:spPr>
      </p:sp>
      <p:sp>
        <p:nvSpPr>
          <p:cNvPr id="100" name="Text 91"/>
          <p:cNvSpPr txBox="1"/>
          <p:nvPr/>
        </p:nvSpPr>
        <p:spPr>
          <a:xfrm>
            <a:off x="11018520" y="1828800"/>
            <a:ext cx="868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B23F69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WHAT THEY SEE</a:t>
            </a:r>
            <a:endParaRPr lang="en-US" sz="580" dirty="0"/>
          </a:p>
        </p:txBody>
      </p:sp>
      <p:pic>
        <p:nvPicPr>
          <p:cNvPr id="101" name="Image 7" descr="Dr Kavya Rao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18704" y="1993392"/>
            <a:ext cx="603504" cy="603504"/>
          </a:xfrm>
          <a:prstGeom prst="rect">
            <a:avLst/>
          </a:prstGeom>
        </p:spPr>
      </p:pic>
      <p:sp>
        <p:nvSpPr>
          <p:cNvPr id="102" name="Shape 92"/>
          <p:cNvSpPr/>
          <p:nvPr/>
        </p:nvSpPr>
        <p:spPr>
          <a:xfrm>
            <a:off x="8595360" y="1993392"/>
            <a:ext cx="2377440" cy="173736"/>
          </a:xfrm>
          <a:prstGeom prst="rect">
            <a:avLst/>
          </a:prstGeom>
          <a:solidFill>
            <a:srgbClr val="086A70"/>
          </a:solidFill>
          <a:ln/>
        </p:spPr>
      </p:sp>
      <p:sp>
        <p:nvSpPr>
          <p:cNvPr id="103" name="Text 93"/>
          <p:cNvSpPr txBox="1"/>
          <p:nvPr/>
        </p:nvSpPr>
        <p:spPr>
          <a:xfrm>
            <a:off x="8631936" y="1993392"/>
            <a:ext cx="23408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Dr Kavya Rao</a:t>
            </a:r>
            <a:r>
              <a:rPr lang="en-US" sz="66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  |  Physician; 240 patients on remote watch</a:t>
            </a:r>
            <a:endParaRPr lang="en-US" sz="760" dirty="0"/>
          </a:p>
        </p:txBody>
      </p:sp>
      <p:pic>
        <p:nvPicPr>
          <p:cNvPr id="104" name="Image 8" descr="g_want ico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13648" y="2221992"/>
            <a:ext cx="91440" cy="91440"/>
          </a:xfrm>
          <a:prstGeom prst="rect">
            <a:avLst/>
          </a:prstGeom>
        </p:spPr>
      </p:pic>
      <p:sp>
        <p:nvSpPr>
          <p:cNvPr id="105" name="Text 94"/>
          <p:cNvSpPr txBox="1"/>
          <p:nvPr/>
        </p:nvSpPr>
        <p:spPr>
          <a:xfrm>
            <a:off x="8732520" y="2194560"/>
            <a:ext cx="2240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86A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Wants: </a:t>
            </a:r>
            <a:r>
              <a:rPr lang="en-US" sz="7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to know whom to call today, and why</a:t>
            </a:r>
            <a:endParaRPr lang="en-US" sz="700" dirty="0"/>
          </a:p>
        </p:txBody>
      </p:sp>
      <p:pic>
        <p:nvPicPr>
          <p:cNvPr id="106" name="Image 9" descr="g_pain icon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13648" y="2359152"/>
            <a:ext cx="91440" cy="91440"/>
          </a:xfrm>
          <a:prstGeom prst="rect">
            <a:avLst/>
          </a:prstGeom>
        </p:spPr>
      </p:pic>
      <p:sp>
        <p:nvSpPr>
          <p:cNvPr id="107" name="Text 95"/>
          <p:cNvSpPr txBox="1"/>
          <p:nvPr/>
        </p:nvSpPr>
        <p:spPr>
          <a:xfrm>
            <a:off x="8732520" y="2331720"/>
            <a:ext cx="2240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B03A2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Pain: </a:t>
            </a:r>
            <a:r>
              <a:rPr lang="en-US" sz="7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threshold alarms on half of all readings</a:t>
            </a:r>
            <a:endParaRPr lang="en-US" sz="700" dirty="0"/>
          </a:p>
        </p:txBody>
      </p:sp>
      <p:pic>
        <p:nvPicPr>
          <p:cNvPr id="108" name="Image 10" descr="g_gets icon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13648" y="2496312"/>
            <a:ext cx="91440" cy="91440"/>
          </a:xfrm>
          <a:prstGeom prst="rect">
            <a:avLst/>
          </a:prstGeom>
        </p:spPr>
      </p:pic>
      <p:sp>
        <p:nvSpPr>
          <p:cNvPr id="109" name="Text 96"/>
          <p:cNvSpPr txBox="1"/>
          <p:nvPr/>
        </p:nvSpPr>
        <p:spPr>
          <a:xfrm>
            <a:off x="8732520" y="2468880"/>
            <a:ext cx="2240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87A4C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Gets: </a:t>
            </a:r>
            <a:r>
              <a:rPr lang="en-US" sz="7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 risk-sorted list inside an alarm budget</a:t>
            </a:r>
            <a:endParaRPr lang="en-US" sz="700" dirty="0"/>
          </a:p>
        </p:txBody>
      </p:sp>
      <p:pic>
        <p:nvPicPr>
          <p:cNvPr id="110" name="Image 11" descr="What Dr Kavya Rao sees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027664" y="1993392"/>
            <a:ext cx="841248" cy="585216"/>
          </a:xfrm>
          <a:prstGeom prst="rect">
            <a:avLst/>
          </a:prstGeom>
        </p:spPr>
      </p:pic>
      <p:sp>
        <p:nvSpPr>
          <p:cNvPr id="111" name="Shape 97"/>
          <p:cNvSpPr/>
          <p:nvPr/>
        </p:nvSpPr>
        <p:spPr>
          <a:xfrm>
            <a:off x="11027664" y="1993392"/>
            <a:ext cx="841248" cy="585216"/>
          </a:xfrm>
          <a:prstGeom prst="rect">
            <a:avLst/>
          </a:prstGeom>
          <a:ln w="9525">
            <a:solidFill>
              <a:srgbClr val="D6D0C2"/>
            </a:solidFill>
            <a:prstDash val="solid"/>
          </a:ln>
        </p:spPr>
      </p:sp>
      <p:sp>
        <p:nvSpPr>
          <p:cNvPr id="112" name="Text 98"/>
          <p:cNvSpPr txBox="1"/>
          <p:nvPr/>
        </p:nvSpPr>
        <p:spPr>
          <a:xfrm>
            <a:off x="11018520" y="2596896"/>
            <a:ext cx="868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086A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WHAT THEY SEE</a:t>
            </a:r>
            <a:endParaRPr lang="en-US" sz="580" dirty="0"/>
          </a:p>
        </p:txBody>
      </p:sp>
      <p:pic>
        <p:nvPicPr>
          <p:cNvPr id="113" name="Image 12" descr="Anita Iyer, 34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18704" y="2761488"/>
            <a:ext cx="603504" cy="603504"/>
          </a:xfrm>
          <a:prstGeom prst="rect">
            <a:avLst/>
          </a:prstGeom>
        </p:spPr>
      </p:pic>
      <p:sp>
        <p:nvSpPr>
          <p:cNvPr id="114" name="Shape 99"/>
          <p:cNvSpPr/>
          <p:nvPr/>
        </p:nvSpPr>
        <p:spPr>
          <a:xfrm>
            <a:off x="8595360" y="2761488"/>
            <a:ext cx="2377440" cy="173736"/>
          </a:xfrm>
          <a:prstGeom prst="rect">
            <a:avLst/>
          </a:prstGeom>
          <a:solidFill>
            <a:srgbClr val="8A5A2B"/>
          </a:solidFill>
          <a:ln/>
        </p:spPr>
      </p:sp>
      <p:sp>
        <p:nvSpPr>
          <p:cNvPr id="115" name="Text 100"/>
          <p:cNvSpPr txBox="1"/>
          <p:nvPr/>
        </p:nvSpPr>
        <p:spPr>
          <a:xfrm>
            <a:off x="8631936" y="2761488"/>
            <a:ext cx="23408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Anita Iyer, 34</a:t>
            </a:r>
            <a:r>
              <a:rPr lang="en-US" sz="66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  |  Meera's daughter-in-law; first contact</a:t>
            </a:r>
            <a:endParaRPr lang="en-US" sz="760" dirty="0"/>
          </a:p>
        </p:txBody>
      </p:sp>
      <p:pic>
        <p:nvPicPr>
          <p:cNvPr id="116" name="Image 13" descr="g_want icon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613648" y="2990088"/>
            <a:ext cx="91440" cy="91440"/>
          </a:xfrm>
          <a:prstGeom prst="rect">
            <a:avLst/>
          </a:prstGeom>
        </p:spPr>
      </p:pic>
      <p:sp>
        <p:nvSpPr>
          <p:cNvPr id="117" name="Text 101"/>
          <p:cNvSpPr txBox="1"/>
          <p:nvPr/>
        </p:nvSpPr>
        <p:spPr>
          <a:xfrm>
            <a:off x="8732520" y="2962656"/>
            <a:ext cx="2240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86A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Wants: </a:t>
            </a:r>
            <a:r>
              <a:rPr lang="en-US" sz="7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to know when to step in</a:t>
            </a:r>
            <a:endParaRPr lang="en-US" sz="700" dirty="0"/>
          </a:p>
        </p:txBody>
      </p:sp>
      <p:pic>
        <p:nvPicPr>
          <p:cNvPr id="118" name="Image 14" descr="g_pain icon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613648" y="3127248"/>
            <a:ext cx="91440" cy="91440"/>
          </a:xfrm>
          <a:prstGeom prst="rect">
            <a:avLst/>
          </a:prstGeom>
        </p:spPr>
      </p:pic>
      <p:sp>
        <p:nvSpPr>
          <p:cNvPr id="119" name="Text 102"/>
          <p:cNvSpPr txBox="1"/>
          <p:nvPr/>
        </p:nvSpPr>
        <p:spPr>
          <a:xfrm>
            <a:off x="8732520" y="3099816"/>
            <a:ext cx="2240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B03A2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Pain: </a:t>
            </a:r>
            <a:r>
              <a:rPr lang="en-US" sz="7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hears only once it is an emergency</a:t>
            </a:r>
            <a:endParaRPr lang="en-US" sz="700" dirty="0"/>
          </a:p>
        </p:txBody>
      </p:sp>
      <p:pic>
        <p:nvPicPr>
          <p:cNvPr id="120" name="Image 15" descr="g_gets icon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613648" y="3264408"/>
            <a:ext cx="91440" cy="91440"/>
          </a:xfrm>
          <a:prstGeom prst="rect">
            <a:avLst/>
          </a:prstGeom>
        </p:spPr>
      </p:pic>
      <p:sp>
        <p:nvSpPr>
          <p:cNvPr id="121" name="Text 103"/>
          <p:cNvSpPr txBox="1"/>
          <p:nvPr/>
        </p:nvSpPr>
        <p:spPr>
          <a:xfrm>
            <a:off x="8732520" y="3236976"/>
            <a:ext cx="2240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87A4C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Gets: </a:t>
            </a:r>
            <a:r>
              <a:rPr lang="en-US" sz="7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 consented SOS ladder with one tap to 112</a:t>
            </a:r>
            <a:endParaRPr lang="en-US" sz="700" dirty="0"/>
          </a:p>
        </p:txBody>
      </p:sp>
      <p:pic>
        <p:nvPicPr>
          <p:cNvPr id="122" name="Image 16" descr="What Anita Iyer, 34 sees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098784" y="2761488"/>
            <a:ext cx="699008" cy="585216"/>
          </a:xfrm>
          <a:prstGeom prst="rect">
            <a:avLst/>
          </a:prstGeom>
        </p:spPr>
      </p:pic>
      <p:sp>
        <p:nvSpPr>
          <p:cNvPr id="123" name="Shape 104"/>
          <p:cNvSpPr/>
          <p:nvPr/>
        </p:nvSpPr>
        <p:spPr>
          <a:xfrm>
            <a:off x="11098784" y="2761488"/>
            <a:ext cx="699008" cy="585216"/>
          </a:xfrm>
          <a:prstGeom prst="rect">
            <a:avLst/>
          </a:prstGeom>
          <a:ln w="9525">
            <a:solidFill>
              <a:srgbClr val="D6D0C2"/>
            </a:solidFill>
            <a:prstDash val="solid"/>
          </a:ln>
        </p:spPr>
      </p:sp>
      <p:sp>
        <p:nvSpPr>
          <p:cNvPr id="124" name="Text 105"/>
          <p:cNvSpPr txBox="1"/>
          <p:nvPr/>
        </p:nvSpPr>
        <p:spPr>
          <a:xfrm>
            <a:off x="11018520" y="3364992"/>
            <a:ext cx="868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8A5A2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WHAT THEY SEE</a:t>
            </a:r>
            <a:endParaRPr lang="en-US" sz="580" dirty="0"/>
          </a:p>
        </p:txBody>
      </p:sp>
      <p:sp>
        <p:nvSpPr>
          <p:cNvPr id="125" name="Shape 106"/>
          <p:cNvSpPr/>
          <p:nvPr/>
        </p:nvSpPr>
        <p:spPr>
          <a:xfrm>
            <a:off x="274320" y="3657600"/>
            <a:ext cx="5669280" cy="2267712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2"/>
            </a:solidFill>
            <a:prstDash val="solid"/>
          </a:ln>
        </p:spPr>
      </p:sp>
      <p:sp>
        <p:nvSpPr>
          <p:cNvPr id="126" name="Shape 107"/>
          <p:cNvSpPr/>
          <p:nvPr/>
        </p:nvSpPr>
        <p:spPr>
          <a:xfrm>
            <a:off x="347472" y="3753612"/>
            <a:ext cx="64008" cy="64008"/>
          </a:xfrm>
          <a:prstGeom prst="rect">
            <a:avLst/>
          </a:prstGeom>
          <a:solidFill>
            <a:srgbClr val="B23F69"/>
          </a:solidFill>
          <a:ln/>
        </p:spPr>
      </p:sp>
      <p:sp>
        <p:nvSpPr>
          <p:cNvPr id="127" name="Text 108"/>
          <p:cNvSpPr txBox="1"/>
          <p:nvPr/>
        </p:nvSpPr>
        <p:spPr>
          <a:xfrm>
            <a:off x="448056" y="3707892"/>
            <a:ext cx="4937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EVENT, DEFINED AGAINST HER OWN NORMAL</a:t>
            </a:r>
            <a:endParaRPr lang="en-US" sz="800" dirty="0"/>
          </a:p>
        </p:txBody>
      </p:sp>
      <p:sp>
        <p:nvSpPr>
          <p:cNvPr id="128" name="Text 109"/>
          <p:cNvSpPr txBox="1"/>
          <p:nvPr/>
        </p:nvSpPr>
        <p:spPr>
          <a:xfrm>
            <a:off x="5431536" y="3707892"/>
            <a:ext cx="457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B23F69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SEE A3</a:t>
            </a:r>
            <a:endParaRPr lang="en-US" sz="7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" y="3950208"/>
          <a:ext cx="5522976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874520"/>
                <a:gridCol w="1682496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b="1" dirty="0">
                          <a:solidFill>
                            <a:srgbClr val="FFFFFF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Signal</a:t>
                      </a:r>
                      <a:endParaRPr lang="en-US" sz="74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b="1" dirty="0">
                          <a:solidFill>
                            <a:srgbClr val="FFFFFF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Rule (against her own baseline)</a:t>
                      </a:r>
                      <a:endParaRPr lang="en-US" sz="74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b="1" dirty="0">
                          <a:solidFill>
                            <a:srgbClr val="FFFFFF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Meera on 12 Oct</a:t>
                      </a:r>
                      <a:endParaRPr lang="en-US" sz="74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b="1" dirty="0">
                          <a:solidFill>
                            <a:srgbClr val="FFFFFF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Sign</a:t>
                      </a:r>
                      <a:endParaRPr lang="en-US" sz="74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2A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1F2A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Overnight resting heart rate</a:t>
                      </a:r>
                      <a:endParaRPr lang="en-US" sz="74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1F2A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above her 28-night usual range</a:t>
                      </a:r>
                      <a:endParaRPr lang="en-US" sz="74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1F2A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70.3 bpm vs 53.5 to 59.5</a:t>
                      </a:r>
                      <a:endParaRPr lang="en-US" sz="74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b="1" dirty="0">
                          <a:solidFill>
                            <a:srgbClr val="B03A23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Up</a:t>
                      </a:r>
                      <a:endParaRPr lang="en-US" sz="74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1F2A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HRV, 7-night mean</a:t>
                      </a:r>
                      <a:endParaRPr lang="en-US" sz="74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1F2A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below her smallest worthwhile change</a:t>
                      </a:r>
                      <a:endParaRPr lang="en-US" sz="74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1F2A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3.56 vs 3.67 to 3.80 lnRMSSD</a:t>
                      </a:r>
                      <a:endParaRPr lang="en-US" sz="74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b="1" dirty="0">
                          <a:solidFill>
                            <a:srgbClr val="B03A23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Down</a:t>
                      </a:r>
                      <a:endParaRPr lang="en-US" sz="74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1F2A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Home systolic BP</a:t>
                      </a:r>
                      <a:endParaRPr lang="en-US" sz="74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1F2A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7-day trend climbing</a:t>
                      </a:r>
                      <a:endParaRPr lang="en-US" sz="74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1F2A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159 mmHg, +2.1 mmHg a day</a:t>
                      </a:r>
                      <a:endParaRPr lang="en-US" sz="74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b="1" dirty="0">
                          <a:solidFill>
                            <a:srgbClr val="B03A23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Up</a:t>
                      </a:r>
                      <a:endParaRPr lang="en-US" sz="74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1F2A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Sleep and steps</a:t>
                      </a:r>
                      <a:endParaRPr lang="en-US" sz="74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1F2A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falling below her usual week</a:t>
                      </a:r>
                      <a:endParaRPr lang="en-US" sz="74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1F2A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6 h 17 m; 2,655 steps (31% under)</a:t>
                      </a:r>
                      <a:endParaRPr lang="en-US" sz="74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b="1" dirty="0">
                          <a:solidFill>
                            <a:srgbClr val="B03A23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Down</a:t>
                      </a:r>
                      <a:endParaRPr lang="en-US" sz="74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1F2A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Event day</a:t>
                      </a:r>
                      <a:endParaRPr lang="en-US" sz="74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1F2A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BP surge, or an unplanned clinic or ER visit</a:t>
                      </a:r>
                      <a:endParaRPr lang="en-US" sz="74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1F2A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episode under way</a:t>
                      </a:r>
                      <a:endParaRPr lang="en-US" sz="74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b="1" dirty="0">
                          <a:solidFill>
                            <a:srgbClr val="5D6766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Event</a:t>
                      </a:r>
                      <a:endParaRPr lang="en-US" sz="74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0" name="Text 110"/>
          <p:cNvSpPr txBox="1"/>
          <p:nvPr/>
        </p:nvSpPr>
        <p:spPr>
          <a:xfrm>
            <a:off x="347472" y="5340096"/>
            <a:ext cx="5522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B23F69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Horizon: </a:t>
            </a:r>
            <a:r>
              <a:rPr lang="en-US" sz="74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onset within 72 hours, scored every night from whatever the watch synced. </a:t>
            </a:r>
            <a:r>
              <a:rPr lang="en-US" sz="74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model owns the amber tier; </a:t>
            </a:r>
            <a:r>
              <a:rPr lang="en-US" sz="74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SOS, family contacts and 112 own the red tier. We never claim heart-attack detection.</a:t>
            </a:r>
            <a:endParaRPr lang="en-US" sz="740" dirty="0"/>
          </a:p>
        </p:txBody>
      </p:sp>
      <p:sp>
        <p:nvSpPr>
          <p:cNvPr id="131" name="Shape 111"/>
          <p:cNvSpPr/>
          <p:nvPr/>
        </p:nvSpPr>
        <p:spPr>
          <a:xfrm>
            <a:off x="6016752" y="3657600"/>
            <a:ext cx="5897880" cy="2267712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2"/>
            </a:solidFill>
            <a:prstDash val="solid"/>
          </a:ln>
        </p:spPr>
      </p:sp>
      <p:sp>
        <p:nvSpPr>
          <p:cNvPr id="132" name="Shape 112"/>
          <p:cNvSpPr/>
          <p:nvPr/>
        </p:nvSpPr>
        <p:spPr>
          <a:xfrm>
            <a:off x="6089904" y="3753612"/>
            <a:ext cx="64008" cy="64008"/>
          </a:xfrm>
          <a:prstGeom prst="rect">
            <a:avLst/>
          </a:prstGeom>
          <a:solidFill>
            <a:srgbClr val="B23F69"/>
          </a:solidFill>
          <a:ln/>
        </p:spPr>
      </p:sp>
      <p:sp>
        <p:nvSpPr>
          <p:cNvPr id="133" name="Text 113"/>
          <p:cNvSpPr txBox="1"/>
          <p:nvPr/>
        </p:nvSpPr>
        <p:spPr>
          <a:xfrm>
            <a:off x="6190488" y="3707892"/>
            <a:ext cx="50017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WHAT BLOCKS EARLY WARNING, AND THE ANSWER TO EACH</a:t>
            </a:r>
            <a:endParaRPr lang="en-US" sz="800" dirty="0"/>
          </a:p>
        </p:txBody>
      </p:sp>
      <p:sp>
        <p:nvSpPr>
          <p:cNvPr id="134" name="Text 114"/>
          <p:cNvSpPr txBox="1"/>
          <p:nvPr/>
        </p:nvSpPr>
        <p:spPr>
          <a:xfrm>
            <a:off x="11237976" y="3707892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B23F69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SEE A3 TO A6</a:t>
            </a:r>
            <a:endParaRPr lang="en-US" sz="700" dirty="0"/>
          </a:p>
        </p:txBody>
      </p:sp>
      <p:sp>
        <p:nvSpPr>
          <p:cNvPr id="135" name="Shape 115"/>
          <p:cNvSpPr/>
          <p:nvPr/>
        </p:nvSpPr>
        <p:spPr>
          <a:xfrm>
            <a:off x="6089904" y="3950208"/>
            <a:ext cx="2148840" cy="274320"/>
          </a:xfrm>
          <a:prstGeom prst="rect">
            <a:avLst/>
          </a:prstGeom>
          <a:solidFill>
            <a:srgbClr val="FBE6EE"/>
          </a:solidFill>
          <a:ln/>
        </p:spPr>
      </p:sp>
      <p:sp>
        <p:nvSpPr>
          <p:cNvPr id="136" name="Text 116"/>
          <p:cNvSpPr txBox="1"/>
          <p:nvPr/>
        </p:nvSpPr>
        <p:spPr>
          <a:xfrm>
            <a:off x="6144768" y="3950208"/>
            <a:ext cx="207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B23F69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One rule for everyone</a:t>
            </a:r>
            <a:endParaRPr lang="en-US" sz="720" dirty="0"/>
          </a:p>
          <a:p>
            <a:pPr algn="l" indent="0" marL="0">
              <a:buNone/>
            </a:pPr>
            <a:r>
              <a:rPr lang="en-US" sz="64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bodies differ 0.3 to 2 bpm</a:t>
            </a:r>
            <a:endParaRPr lang="en-US" sz="720" dirty="0"/>
          </a:p>
        </p:txBody>
      </p:sp>
      <p:pic>
        <p:nvPicPr>
          <p:cNvPr id="137" name="Image 17" descr="g_arrow icon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284464" y="4023360"/>
            <a:ext cx="128016" cy="128016"/>
          </a:xfrm>
          <a:prstGeom prst="rect">
            <a:avLst/>
          </a:prstGeom>
        </p:spPr>
      </p:pic>
      <p:sp>
        <p:nvSpPr>
          <p:cNvPr id="138" name="Shape 117"/>
          <p:cNvSpPr/>
          <p:nvPr/>
        </p:nvSpPr>
        <p:spPr>
          <a:xfrm>
            <a:off x="8467344" y="3950208"/>
            <a:ext cx="3374136" cy="274320"/>
          </a:xfrm>
          <a:prstGeom prst="rect">
            <a:avLst/>
          </a:prstGeom>
          <a:solidFill>
            <a:srgbClr val="086A70"/>
          </a:solidFill>
          <a:ln/>
        </p:spPr>
      </p:sp>
      <p:sp>
        <p:nvSpPr>
          <p:cNvPr id="139" name="Text 118"/>
          <p:cNvSpPr txBox="1"/>
          <p:nvPr/>
        </p:nvSpPr>
        <p:spPr>
          <a:xfrm>
            <a:off x="8522208" y="395020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Her own baseline and response slopes</a:t>
            </a:r>
            <a:endParaRPr lang="en-US" sz="740" dirty="0"/>
          </a:p>
        </p:txBody>
      </p:sp>
      <p:sp>
        <p:nvSpPr>
          <p:cNvPr id="140" name="Text 119"/>
          <p:cNvSpPr txBox="1"/>
          <p:nvPr/>
        </p:nvSpPr>
        <p:spPr>
          <a:xfrm>
            <a:off x="11201400" y="395020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SEE A3</a:t>
            </a:r>
            <a:endParaRPr lang="en-US" sz="700" dirty="0"/>
          </a:p>
        </p:txBody>
      </p:sp>
      <p:sp>
        <p:nvSpPr>
          <p:cNvPr id="141" name="Shape 120"/>
          <p:cNvSpPr/>
          <p:nvPr/>
        </p:nvSpPr>
        <p:spPr>
          <a:xfrm>
            <a:off x="6089904" y="4274820"/>
            <a:ext cx="2148840" cy="274320"/>
          </a:xfrm>
          <a:prstGeom prst="rect">
            <a:avLst/>
          </a:prstGeom>
          <a:solidFill>
            <a:srgbClr val="FBE6EE"/>
          </a:solidFill>
          <a:ln/>
        </p:spPr>
      </p:sp>
      <p:sp>
        <p:nvSpPr>
          <p:cNvPr id="142" name="Text 121"/>
          <p:cNvSpPr txBox="1"/>
          <p:nvPr/>
        </p:nvSpPr>
        <p:spPr>
          <a:xfrm>
            <a:off x="6144768" y="4274820"/>
            <a:ext cx="207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B23F69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Alarms on half of readings</a:t>
            </a:r>
            <a:endParaRPr lang="en-US" sz="720" dirty="0"/>
          </a:p>
          <a:p>
            <a:pPr algn="l" indent="0" marL="0">
              <a:buNone/>
            </a:pPr>
            <a:r>
              <a:rPr lang="en-US" sz="64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doctors stop looking</a:t>
            </a:r>
            <a:endParaRPr lang="en-US" sz="720" dirty="0"/>
          </a:p>
        </p:txBody>
      </p:sp>
      <p:pic>
        <p:nvPicPr>
          <p:cNvPr id="143" name="Image 18" descr="g_arrow icon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284464" y="4347972"/>
            <a:ext cx="128016" cy="128016"/>
          </a:xfrm>
          <a:prstGeom prst="rect">
            <a:avLst/>
          </a:prstGeom>
        </p:spPr>
      </p:pic>
      <p:sp>
        <p:nvSpPr>
          <p:cNvPr id="144" name="Shape 122"/>
          <p:cNvSpPr/>
          <p:nvPr/>
        </p:nvSpPr>
        <p:spPr>
          <a:xfrm>
            <a:off x="8467344" y="4274820"/>
            <a:ext cx="3374136" cy="274320"/>
          </a:xfrm>
          <a:prstGeom prst="rect">
            <a:avLst/>
          </a:prstGeom>
          <a:solidFill>
            <a:srgbClr val="187A4C"/>
          </a:solidFill>
          <a:ln/>
        </p:spPr>
      </p:sp>
      <p:sp>
        <p:nvSpPr>
          <p:cNvPr id="145" name="Text 123"/>
          <p:cNvSpPr txBox="1"/>
          <p:nvPr/>
        </p:nvSpPr>
        <p:spPr>
          <a:xfrm>
            <a:off x="8522208" y="42748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Calibrated score inside an alarm budget</a:t>
            </a:r>
            <a:endParaRPr lang="en-US" sz="740" dirty="0"/>
          </a:p>
        </p:txBody>
      </p:sp>
      <p:sp>
        <p:nvSpPr>
          <p:cNvPr id="146" name="Text 124"/>
          <p:cNvSpPr txBox="1"/>
          <p:nvPr/>
        </p:nvSpPr>
        <p:spPr>
          <a:xfrm>
            <a:off x="11201400" y="427482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SEE A4</a:t>
            </a:r>
            <a:endParaRPr lang="en-US" sz="700" dirty="0"/>
          </a:p>
        </p:txBody>
      </p:sp>
      <p:sp>
        <p:nvSpPr>
          <p:cNvPr id="147" name="Shape 125"/>
          <p:cNvSpPr/>
          <p:nvPr/>
        </p:nvSpPr>
        <p:spPr>
          <a:xfrm>
            <a:off x="6089904" y="4599432"/>
            <a:ext cx="2148840" cy="274320"/>
          </a:xfrm>
          <a:prstGeom prst="rect">
            <a:avLst/>
          </a:prstGeom>
          <a:solidFill>
            <a:srgbClr val="FBE6EE"/>
          </a:solidFill>
          <a:ln/>
        </p:spPr>
      </p:sp>
      <p:sp>
        <p:nvSpPr>
          <p:cNvPr id="148" name="Text 126"/>
          <p:cNvSpPr txBox="1"/>
          <p:nvPr/>
        </p:nvSpPr>
        <p:spPr>
          <a:xfrm>
            <a:off x="6144768" y="4599432"/>
            <a:ext cx="207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B23F69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Colds and late nights</a:t>
            </a:r>
            <a:endParaRPr lang="en-US" sz="720" dirty="0"/>
          </a:p>
          <a:p>
            <a:pPr algn="l" indent="0" marL="0">
              <a:buNone/>
            </a:pPr>
            <a:r>
              <a:rPr lang="en-US" sz="64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look like strain on the wrist</a:t>
            </a:r>
            <a:endParaRPr lang="en-US" sz="720" dirty="0"/>
          </a:p>
        </p:txBody>
      </p:sp>
      <p:pic>
        <p:nvPicPr>
          <p:cNvPr id="149" name="Image 19" descr="g_arrow icon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284464" y="4672584"/>
            <a:ext cx="128016" cy="128016"/>
          </a:xfrm>
          <a:prstGeom prst="rect">
            <a:avLst/>
          </a:prstGeom>
        </p:spPr>
      </p:pic>
      <p:sp>
        <p:nvSpPr>
          <p:cNvPr id="150" name="Shape 127"/>
          <p:cNvSpPr/>
          <p:nvPr/>
        </p:nvSpPr>
        <p:spPr>
          <a:xfrm>
            <a:off x="8467344" y="4599432"/>
            <a:ext cx="3374136" cy="274320"/>
          </a:xfrm>
          <a:prstGeom prst="rect">
            <a:avLst/>
          </a:prstGeom>
          <a:solidFill>
            <a:srgbClr val="086A70"/>
          </a:solidFill>
          <a:ln/>
        </p:spPr>
      </p:sp>
      <p:sp>
        <p:nvSpPr>
          <p:cNvPr id="151" name="Text 128"/>
          <p:cNvSpPr txBox="1"/>
          <p:nvPr/>
        </p:nvSpPr>
        <p:spPr>
          <a:xfrm>
            <a:off x="8522208" y="45994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Home BP cuff plus the twin-adjusted signal</a:t>
            </a:r>
            <a:endParaRPr lang="en-US" sz="740" dirty="0"/>
          </a:p>
        </p:txBody>
      </p:sp>
      <p:sp>
        <p:nvSpPr>
          <p:cNvPr id="152" name="Text 129"/>
          <p:cNvSpPr txBox="1"/>
          <p:nvPr/>
        </p:nvSpPr>
        <p:spPr>
          <a:xfrm>
            <a:off x="11201400" y="459943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SEE A3</a:t>
            </a:r>
            <a:endParaRPr lang="en-US" sz="700" dirty="0"/>
          </a:p>
        </p:txBody>
      </p:sp>
      <p:sp>
        <p:nvSpPr>
          <p:cNvPr id="153" name="Shape 130"/>
          <p:cNvSpPr/>
          <p:nvPr/>
        </p:nvSpPr>
        <p:spPr>
          <a:xfrm>
            <a:off x="6089904" y="4924044"/>
            <a:ext cx="2148840" cy="274320"/>
          </a:xfrm>
          <a:prstGeom prst="rect">
            <a:avLst/>
          </a:prstGeom>
          <a:solidFill>
            <a:srgbClr val="FBE6EE"/>
          </a:solidFill>
          <a:ln/>
        </p:spPr>
      </p:sp>
      <p:sp>
        <p:nvSpPr>
          <p:cNvPr id="154" name="Text 131"/>
          <p:cNvSpPr txBox="1"/>
          <p:nvPr/>
        </p:nvSpPr>
        <p:spPr>
          <a:xfrm>
            <a:off x="6144768" y="4924044"/>
            <a:ext cx="207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B23F69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Watches sync once a day</a:t>
            </a:r>
            <a:endParaRPr lang="en-US" sz="720" dirty="0"/>
          </a:p>
          <a:p>
            <a:pPr algn="l" indent="0" marL="0">
              <a:buNone/>
            </a:pPr>
            <a:r>
              <a:rPr lang="en-US" sz="64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no minute-level stream</a:t>
            </a:r>
            <a:endParaRPr lang="en-US" sz="720" dirty="0"/>
          </a:p>
        </p:txBody>
      </p:sp>
      <p:pic>
        <p:nvPicPr>
          <p:cNvPr id="155" name="Image 20" descr="g_arrow icon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284464" y="4997196"/>
            <a:ext cx="128016" cy="128016"/>
          </a:xfrm>
          <a:prstGeom prst="rect">
            <a:avLst/>
          </a:prstGeom>
        </p:spPr>
      </p:pic>
      <p:sp>
        <p:nvSpPr>
          <p:cNvPr id="156" name="Shape 132"/>
          <p:cNvSpPr/>
          <p:nvPr/>
        </p:nvSpPr>
        <p:spPr>
          <a:xfrm>
            <a:off x="8467344" y="4924044"/>
            <a:ext cx="3374136" cy="274320"/>
          </a:xfrm>
          <a:prstGeom prst="rect">
            <a:avLst/>
          </a:prstGeom>
          <a:solidFill>
            <a:srgbClr val="3F4FA8"/>
          </a:solidFill>
          <a:ln/>
        </p:spPr>
      </p:sp>
      <p:sp>
        <p:nvSpPr>
          <p:cNvPr id="157" name="Text 133"/>
          <p:cNvSpPr txBox="1"/>
          <p:nvPr/>
        </p:nvSpPr>
        <p:spPr>
          <a:xfrm>
            <a:off x="8522208" y="492404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Nightly scoring; freshness on every row</a:t>
            </a:r>
            <a:endParaRPr lang="en-US" sz="740" dirty="0"/>
          </a:p>
        </p:txBody>
      </p:sp>
      <p:sp>
        <p:nvSpPr>
          <p:cNvPr id="158" name="Text 134"/>
          <p:cNvSpPr txBox="1"/>
          <p:nvPr/>
        </p:nvSpPr>
        <p:spPr>
          <a:xfrm>
            <a:off x="11201400" y="4924044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SEE A5</a:t>
            </a:r>
            <a:endParaRPr lang="en-US" sz="700" dirty="0"/>
          </a:p>
        </p:txBody>
      </p:sp>
      <p:sp>
        <p:nvSpPr>
          <p:cNvPr id="159" name="Shape 135"/>
          <p:cNvSpPr/>
          <p:nvPr/>
        </p:nvSpPr>
        <p:spPr>
          <a:xfrm>
            <a:off x="6089904" y="5248656"/>
            <a:ext cx="2148840" cy="274320"/>
          </a:xfrm>
          <a:prstGeom prst="rect">
            <a:avLst/>
          </a:prstGeom>
          <a:solidFill>
            <a:srgbClr val="FBE6EE"/>
          </a:solidFill>
          <a:ln/>
        </p:spPr>
      </p:sp>
      <p:sp>
        <p:nvSpPr>
          <p:cNvPr id="160" name="Text 136"/>
          <p:cNvSpPr txBox="1"/>
          <p:nvPr/>
        </p:nvSpPr>
        <p:spPr>
          <a:xfrm>
            <a:off x="6144768" y="5248656"/>
            <a:ext cx="207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B23F69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Emergencies need people</a:t>
            </a:r>
            <a:endParaRPr lang="en-US" sz="720" dirty="0"/>
          </a:p>
          <a:p>
            <a:pPr algn="l" indent="0" marL="0">
              <a:buNone/>
            </a:pPr>
            <a:r>
              <a:rPr lang="en-US" sz="64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no watch detects heart attacks</a:t>
            </a:r>
            <a:endParaRPr lang="en-US" sz="720" dirty="0"/>
          </a:p>
        </p:txBody>
      </p:sp>
      <p:pic>
        <p:nvPicPr>
          <p:cNvPr id="161" name="Image 21" descr="g_arrow icon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284464" y="5321808"/>
            <a:ext cx="128016" cy="128016"/>
          </a:xfrm>
          <a:prstGeom prst="rect">
            <a:avLst/>
          </a:prstGeom>
        </p:spPr>
      </p:pic>
      <p:sp>
        <p:nvSpPr>
          <p:cNvPr id="162" name="Shape 137"/>
          <p:cNvSpPr/>
          <p:nvPr/>
        </p:nvSpPr>
        <p:spPr>
          <a:xfrm>
            <a:off x="8467344" y="5248656"/>
            <a:ext cx="3374136" cy="274320"/>
          </a:xfrm>
          <a:prstGeom prst="rect">
            <a:avLst/>
          </a:prstGeom>
          <a:solidFill>
            <a:srgbClr val="3F4FA8"/>
          </a:solidFill>
          <a:ln/>
        </p:spPr>
      </p:sp>
      <p:sp>
        <p:nvSpPr>
          <p:cNvPr id="163" name="Text 138"/>
          <p:cNvSpPr txBox="1"/>
          <p:nvPr/>
        </p:nvSpPr>
        <p:spPr>
          <a:xfrm>
            <a:off x="8522208" y="52486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Consented SOS ladder, one tap to 112</a:t>
            </a:r>
            <a:endParaRPr lang="en-US" sz="740" dirty="0"/>
          </a:p>
        </p:txBody>
      </p:sp>
      <p:sp>
        <p:nvSpPr>
          <p:cNvPr id="164" name="Text 139"/>
          <p:cNvSpPr txBox="1"/>
          <p:nvPr/>
        </p:nvSpPr>
        <p:spPr>
          <a:xfrm>
            <a:off x="11201400" y="5248656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SEE A5</a:t>
            </a:r>
            <a:endParaRPr lang="en-US" sz="700" dirty="0"/>
          </a:p>
        </p:txBody>
      </p:sp>
      <p:sp>
        <p:nvSpPr>
          <p:cNvPr id="165" name="Shape 140"/>
          <p:cNvSpPr/>
          <p:nvPr/>
        </p:nvSpPr>
        <p:spPr>
          <a:xfrm>
            <a:off x="6089904" y="5573268"/>
            <a:ext cx="2148840" cy="274320"/>
          </a:xfrm>
          <a:prstGeom prst="rect">
            <a:avLst/>
          </a:prstGeom>
          <a:solidFill>
            <a:srgbClr val="FBE6EE"/>
          </a:solidFill>
          <a:ln/>
        </p:spPr>
      </p:sp>
      <p:sp>
        <p:nvSpPr>
          <p:cNvPr id="166" name="Text 141"/>
          <p:cNvSpPr txBox="1"/>
          <p:nvPr/>
        </p:nvSpPr>
        <p:spPr>
          <a:xfrm>
            <a:off x="6144768" y="5573268"/>
            <a:ext cx="207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B23F69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Privacy and trust</a:t>
            </a:r>
            <a:endParaRPr lang="en-US" sz="720" dirty="0"/>
          </a:p>
          <a:p>
            <a:pPr algn="l" indent="0" marL="0">
              <a:buNone/>
            </a:pPr>
            <a:r>
              <a:rPr lang="en-US" sz="64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health data, family contacts</a:t>
            </a:r>
            <a:endParaRPr lang="en-US" sz="720" dirty="0"/>
          </a:p>
        </p:txBody>
      </p:sp>
      <p:pic>
        <p:nvPicPr>
          <p:cNvPr id="167" name="Image 22" descr="g_arrow icon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284464" y="5646420"/>
            <a:ext cx="128016" cy="128016"/>
          </a:xfrm>
          <a:prstGeom prst="rect">
            <a:avLst/>
          </a:prstGeom>
        </p:spPr>
      </p:pic>
      <p:sp>
        <p:nvSpPr>
          <p:cNvPr id="168" name="Shape 142"/>
          <p:cNvSpPr/>
          <p:nvPr/>
        </p:nvSpPr>
        <p:spPr>
          <a:xfrm>
            <a:off x="8467344" y="5573268"/>
            <a:ext cx="3374136" cy="274320"/>
          </a:xfrm>
          <a:prstGeom prst="rect">
            <a:avLst/>
          </a:prstGeom>
          <a:solidFill>
            <a:srgbClr val="10302F"/>
          </a:solidFill>
          <a:ln/>
        </p:spPr>
      </p:sp>
      <p:sp>
        <p:nvSpPr>
          <p:cNvPr id="169" name="Text 143"/>
          <p:cNvSpPr txBox="1"/>
          <p:nvPr/>
        </p:nvSpPr>
        <p:spPr>
          <a:xfrm>
            <a:off x="8522208" y="55732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Consent per stream; opt out of AI</a:t>
            </a:r>
            <a:endParaRPr lang="en-US" sz="740" dirty="0"/>
          </a:p>
        </p:txBody>
      </p:sp>
      <p:sp>
        <p:nvSpPr>
          <p:cNvPr id="170" name="Text 144"/>
          <p:cNvSpPr txBox="1"/>
          <p:nvPr/>
        </p:nvSpPr>
        <p:spPr>
          <a:xfrm>
            <a:off x="11201400" y="55732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SEE A6</a:t>
            </a:r>
            <a:endParaRPr lang="en-US" sz="700" dirty="0"/>
          </a:p>
        </p:txBody>
      </p:sp>
      <p:sp>
        <p:nvSpPr>
          <p:cNvPr id="171" name="Shape 145"/>
          <p:cNvSpPr/>
          <p:nvPr/>
        </p:nvSpPr>
        <p:spPr>
          <a:xfrm>
            <a:off x="274320" y="6016752"/>
            <a:ext cx="11640312" cy="310896"/>
          </a:xfrm>
          <a:prstGeom prst="rect">
            <a:avLst/>
          </a:prstGeom>
          <a:solidFill>
            <a:srgbClr val="FBE6EE"/>
          </a:solidFill>
          <a:ln/>
        </p:spPr>
      </p:sp>
      <p:sp>
        <p:nvSpPr>
          <p:cNvPr id="172" name="Shape 146"/>
          <p:cNvSpPr/>
          <p:nvPr/>
        </p:nvSpPr>
        <p:spPr>
          <a:xfrm>
            <a:off x="274320" y="6016752"/>
            <a:ext cx="960120" cy="310896"/>
          </a:xfrm>
          <a:prstGeom prst="rect">
            <a:avLst/>
          </a:prstGeom>
          <a:solidFill>
            <a:srgbClr val="B23F69"/>
          </a:solidFill>
          <a:ln/>
        </p:spPr>
      </p:sp>
      <p:sp>
        <p:nvSpPr>
          <p:cNvPr id="173" name="Text 147"/>
          <p:cNvSpPr txBox="1"/>
          <p:nvPr/>
        </p:nvSpPr>
        <p:spPr>
          <a:xfrm>
            <a:off x="274320" y="601675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SO WHAT</a:t>
            </a:r>
            <a:endParaRPr lang="en-US" sz="850" dirty="0"/>
          </a:p>
        </p:txBody>
      </p:sp>
      <p:sp>
        <p:nvSpPr>
          <p:cNvPr id="174" name="Text 148"/>
          <p:cNvSpPr txBox="1"/>
          <p:nvPr/>
        </p:nvSpPr>
        <p:spPr>
          <a:xfrm>
            <a:off x="1325880" y="6016752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data already arrives every night; what is missing is reading it against each person's own normal, </a:t>
            </a:r>
            <a:r>
              <a:rPr lang="en-US" sz="8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inside an alarm budget a doctor can live with.</a:t>
            </a:r>
            <a:endParaRPr lang="en-US" sz="850" dirty="0"/>
          </a:p>
        </p:txBody>
      </p:sp>
      <p:sp>
        <p:nvSpPr>
          <p:cNvPr id="175" name="Text 149"/>
          <p:cNvSpPr txBox="1"/>
          <p:nvPr/>
        </p:nvSpPr>
        <p:spPr>
          <a:xfrm>
            <a:off x="274320" y="6400800"/>
            <a:ext cx="6903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B23F69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ANNEXURE A1</a:t>
            </a:r>
            <a:r>
              <a:rPr lang="en-US" sz="70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  |  personas are illustrative composites; Meera, Kavya and Anita are synthetic; scores from the hosted demo</a:t>
            </a:r>
            <a:endParaRPr lang="en-US" sz="700" dirty="0"/>
          </a:p>
        </p:txBody>
      </p:sp>
      <p:sp>
        <p:nvSpPr>
          <p:cNvPr id="176" name="Text 150"/>
          <p:cNvSpPr txBox="1"/>
          <p:nvPr/>
        </p:nvSpPr>
        <p:spPr>
          <a:xfrm>
            <a:off x="7315200" y="6400800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B23F69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SOURCE: </a:t>
            </a:r>
            <a:r>
              <a:rPr lang="en-US" sz="70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S1 NFHS-5 via J Health Popul Nutr 2023; S2 IDC India wearables Q2 2026; S3 arXiv 2603.09052; S4 cohort slopes, docs/MODEL_CARD.md</a:t>
            </a:r>
            <a:endParaRPr lang="en-US" sz="700" dirty="0"/>
          </a:p>
        </p:txBody>
      </p:sp>
      <p:sp>
        <p:nvSpPr>
          <p:cNvPr id="177" name="Shape 151"/>
          <p:cNvSpPr/>
          <p:nvPr/>
        </p:nvSpPr>
        <p:spPr>
          <a:xfrm>
            <a:off x="11658600" y="6419088"/>
            <a:ext cx="256032" cy="256032"/>
          </a:xfrm>
          <a:prstGeom prst="rect">
            <a:avLst/>
          </a:prstGeom>
          <a:solidFill>
            <a:srgbClr val="1F2A2A"/>
          </a:solidFill>
          <a:ln/>
        </p:spPr>
      </p:sp>
      <p:sp>
        <p:nvSpPr>
          <p:cNvPr id="178" name="Text 152"/>
          <p:cNvSpPr txBox="1"/>
          <p:nvPr/>
        </p:nvSpPr>
        <p:spPr>
          <a:xfrm>
            <a:off x="11658600" y="64190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46304"/>
            <a:ext cx="566928" cy="566928"/>
          </a:xfrm>
          <a:prstGeom prst="rect">
            <a:avLst/>
          </a:prstGeom>
          <a:solidFill>
            <a:srgbClr val="8A5A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1463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A2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54864"/>
            <a:ext cx="9098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550" b="1" dirty="0">
                <a:solidFill>
                  <a:srgbClr val="086A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Two synthetic streams fused into one person: a FHIR health record and a nightly watch-and-cuff stream for 240 patients, read by a twin engine behind one API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608076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No real patient data anywhere: the generator is seeded (42) and hides each person's true responses so the twin can be checked; every field below is in the FHIR export.</a:t>
            </a:r>
            <a:endParaRPr lang="en-US" sz="800" dirty="0"/>
          </a:p>
        </p:txBody>
      </p:sp>
      <p:pic>
        <p:nvPicPr>
          <p:cNvPr id="6" name="Image 0" descr="Pratibimb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0" y="109728"/>
            <a:ext cx="1536192" cy="2958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970971" y="566928"/>
            <a:ext cx="943661" cy="182880"/>
          </a:xfrm>
          <a:prstGeom prst="roundRect">
            <a:avLst>
              <a:gd name="adj" fmla="val 50000"/>
            </a:avLst>
          </a:prstGeom>
          <a:solidFill>
            <a:srgbClr val="187A4C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0970971" y="566928"/>
            <a:ext cx="94366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Synthetic data</a:t>
            </a:r>
            <a:endParaRPr lang="en-US" sz="700" dirty="0"/>
          </a:p>
        </p:txBody>
      </p:sp>
      <p:sp>
        <p:nvSpPr>
          <p:cNvPr id="9" name="Shape 6"/>
          <p:cNvSpPr/>
          <p:nvPr/>
        </p:nvSpPr>
        <p:spPr>
          <a:xfrm>
            <a:off x="10131552" y="566928"/>
            <a:ext cx="784555" cy="182880"/>
          </a:xfrm>
          <a:prstGeom prst="roundRect">
            <a:avLst>
              <a:gd name="adj" fmla="val 50000"/>
            </a:avLst>
          </a:prstGeom>
          <a:solidFill>
            <a:srgbClr val="A8703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0131552" y="566928"/>
            <a:ext cx="7845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Data fusion</a:t>
            </a:r>
            <a:endParaRPr lang="en-US" sz="700" dirty="0"/>
          </a:p>
        </p:txBody>
      </p:sp>
      <p:pic>
        <p:nvPicPr>
          <p:cNvPr id="11" name="Image 1" descr="Pratibimb motif stri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41248"/>
            <a:ext cx="11640312" cy="5486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74320" y="987552"/>
            <a:ext cx="3840480" cy="2816352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2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47472" y="1083564"/>
            <a:ext cx="64008" cy="64008"/>
          </a:xfrm>
          <a:prstGeom prst="rect">
            <a:avLst/>
          </a:prstGeom>
          <a:solidFill>
            <a:srgbClr val="A8703C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448056" y="1037844"/>
            <a:ext cx="27614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STATIC RECORD (EHR)</a:t>
            </a:r>
            <a:endParaRPr lang="en-US" sz="800" dirty="0"/>
          </a:p>
        </p:txBody>
      </p:sp>
      <p:sp>
        <p:nvSpPr>
          <p:cNvPr id="15" name="Text 11"/>
          <p:cNvSpPr txBox="1"/>
          <p:nvPr/>
        </p:nvSpPr>
        <p:spPr>
          <a:xfrm>
            <a:off x="3255264" y="1037844"/>
            <a:ext cx="8046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A8703C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MEERA, SYNTHETIC</a:t>
            </a:r>
            <a:endParaRPr lang="en-US" sz="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" y="1243584"/>
          <a:ext cx="3694176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987552"/>
                <a:gridCol w="1792224"/>
              </a:tblGrid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Field</a:t>
                      </a:r>
                      <a:endParaRPr lang="en-US" sz="75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5A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Standard</a:t>
                      </a:r>
                      <a:endParaRPr lang="en-US" sz="75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5A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Meera Iyer</a:t>
                      </a:r>
                      <a:endParaRPr lang="en-US" sz="75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5A2B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F2A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Demographics</a:t>
                      </a:r>
                      <a:endParaRPr lang="en-US" sz="73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F2A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FHIR Patient</a:t>
                      </a:r>
                      <a:endParaRPr lang="en-US" sz="73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F2A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58, female, Bengaluru; ABHA masked</a:t>
                      </a:r>
                      <a:endParaRPr lang="en-US" sz="73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F2A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Past diagnoses</a:t>
                      </a:r>
                      <a:endParaRPr lang="en-US" sz="73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F2A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SNOMED CT</a:t>
                      </a:r>
                      <a:endParaRPr lang="en-US" sz="73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F2A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Essential hypertension; IHD; MI (history)</a:t>
                      </a:r>
                      <a:endParaRPr lang="en-US" sz="73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F2A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Lab results</a:t>
                      </a:r>
                      <a:endParaRPr lang="en-US" sz="73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F2A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LOINC</a:t>
                      </a:r>
                      <a:endParaRPr lang="en-US" sz="73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F2A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HbA1c 5.8%; LDL 130; eGFR 83</a:t>
                      </a:r>
                      <a:endParaRPr lang="en-US" sz="73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F2A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Medicines</a:t>
                      </a:r>
                      <a:endParaRPr lang="en-US" sz="73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F2A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MedicationStatement</a:t>
                      </a:r>
                      <a:endParaRPr lang="en-US" sz="73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F2A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Amlodipine 5 mg; atorvastatin; aspirin</a:t>
                      </a:r>
                      <a:endParaRPr lang="en-US" sz="73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F2A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Adherence</a:t>
                      </a:r>
                      <a:endParaRPr lang="en-US" sz="73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F2A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dose log</a:t>
                      </a:r>
                      <a:endParaRPr lang="en-US" sz="73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F2A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missed amlodipine on 3 Oct</a:t>
                      </a:r>
                      <a:endParaRPr lang="en-US" sz="73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F2A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Genetic marker</a:t>
                      </a:r>
                      <a:endParaRPr lang="en-US" sz="73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F2A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polygenic risk tier</a:t>
                      </a:r>
                      <a:endParaRPr lang="en-US" sz="73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F2A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medium (simulated)</a:t>
                      </a:r>
                      <a:endParaRPr lang="en-US" sz="73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F2A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Family history</a:t>
                      </a:r>
                      <a:endParaRPr lang="en-US" sz="73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F2A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FamilyMemberHistory</a:t>
                      </a:r>
                      <a:endParaRPr lang="en-US" sz="73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F2A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father: heart attack at 61</a:t>
                      </a:r>
                      <a:endParaRPr lang="en-US" sz="73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F2A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Static risk</a:t>
                      </a:r>
                      <a:endParaRPr lang="en-US" sz="73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F2A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Framingham 2008</a:t>
                      </a:r>
                      <a:endParaRPr lang="en-US" sz="73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F2A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12.1% over 10 years (intermediate)</a:t>
                      </a:r>
                      <a:endParaRPr lang="en-US" sz="73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</a:tr>
            </a:tbl>
          </a:graphicData>
        </a:graphic>
      </p:graphicFrame>
      <p:sp>
        <p:nvSpPr>
          <p:cNvPr id="17" name="Shape 12"/>
          <p:cNvSpPr/>
          <p:nvPr/>
        </p:nvSpPr>
        <p:spPr>
          <a:xfrm>
            <a:off x="4187952" y="987552"/>
            <a:ext cx="3840480" cy="2816352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2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4261104" y="1083564"/>
            <a:ext cx="64008" cy="64008"/>
          </a:xfrm>
          <a:prstGeom prst="rect">
            <a:avLst/>
          </a:prstGeom>
          <a:solidFill>
            <a:srgbClr val="086A70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4361688" y="1037844"/>
            <a:ext cx="28986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NIGHTLY STREAM (WATCH AND CUFF)</a:t>
            </a:r>
            <a:endParaRPr lang="en-US" sz="800" dirty="0"/>
          </a:p>
        </p:txBody>
      </p:sp>
      <p:sp>
        <p:nvSpPr>
          <p:cNvPr id="20" name="Text 15"/>
          <p:cNvSpPr txBox="1"/>
          <p:nvPr/>
        </p:nvSpPr>
        <p:spPr>
          <a:xfrm>
            <a:off x="7306056" y="1037844"/>
            <a:ext cx="6675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86A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MEERA, 12 OCT</a:t>
            </a:r>
            <a:endParaRPr lang="en-US" sz="7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61104" y="1243584"/>
          <a:ext cx="3694176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1298448"/>
                <a:gridCol w="1435608"/>
              </a:tblGrid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Signal</a:t>
                      </a:r>
                      <a:endParaRPr lang="en-US" sz="75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6A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Source</a:t>
                      </a:r>
                      <a:endParaRPr lang="en-US" sz="75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6A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Meera on 12 Oct</a:t>
                      </a:r>
                      <a:endParaRPr lang="en-US" sz="75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6A70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F2A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Resting heart rate</a:t>
                      </a:r>
                      <a:endParaRPr lang="en-US" sz="73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F2A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watch, 5-minute samples</a:t>
                      </a:r>
                      <a:endParaRPr lang="en-US" sz="73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F2A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70.3 bpm overnight</a:t>
                      </a:r>
                      <a:endParaRPr lang="en-US" sz="73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F2A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HRV (RMSSD)</a:t>
                      </a:r>
                      <a:endParaRPr lang="en-US" sz="73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F2A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watch, overnight</a:t>
                      </a:r>
                      <a:endParaRPr lang="en-US" sz="73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F2A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28.6 ms (ln 3.35)</a:t>
                      </a:r>
                      <a:endParaRPr lang="en-US" sz="73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F2A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Sleep and stages</a:t>
                      </a:r>
                      <a:endParaRPr lang="en-US" sz="73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F2A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watch: deep, REM, efficiency</a:t>
                      </a:r>
                      <a:endParaRPr lang="en-US" sz="73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F2A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6 h 17 m; 81% efficiency</a:t>
                      </a:r>
                      <a:endParaRPr lang="en-US" sz="73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F2A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Step count</a:t>
                      </a:r>
                      <a:endParaRPr lang="en-US" sz="73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F2A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watch</a:t>
                      </a:r>
                      <a:endParaRPr lang="en-US" sz="73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F2A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2,655 (usual about 4,000)</a:t>
                      </a:r>
                      <a:endParaRPr lang="en-US" sz="73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F2A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SpO2, breathing</a:t>
                      </a:r>
                      <a:endParaRPr lang="en-US" sz="73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F2A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watch</a:t>
                      </a:r>
                      <a:endParaRPr lang="en-US" sz="73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F2A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97%; 14.1 breaths a minute</a:t>
                      </a:r>
                      <a:endParaRPr lang="en-US" sz="73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F2A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Home BP</a:t>
                      </a:r>
                      <a:endParaRPr lang="en-US" sz="73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F2A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cuff, mornings</a:t>
                      </a:r>
                      <a:endParaRPr lang="en-US" sz="73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F2A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159/108 mmHg</a:t>
                      </a:r>
                      <a:endParaRPr lang="en-US" sz="73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F2A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Sync</a:t>
                      </a:r>
                      <a:endParaRPr lang="en-US" sz="73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F2A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Health Connect, HealthKit</a:t>
                      </a:r>
                      <a:endParaRPr lang="en-US" sz="73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F2A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hourly to daily; 23 min ago</a:t>
                      </a:r>
                      <a:endParaRPr lang="en-US" sz="73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F2A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CGM</a:t>
                      </a:r>
                      <a:endParaRPr lang="en-US" sz="73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F2A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not needed for BP</a:t>
                      </a:r>
                      <a:endParaRPr lang="en-US" sz="73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F2A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diabetes read from HbA1c</a:t>
                      </a:r>
                      <a:endParaRPr lang="en-US" sz="73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</a:tr>
            </a:tbl>
          </a:graphicData>
        </a:graphic>
      </p:graphicFrame>
      <p:sp>
        <p:nvSpPr>
          <p:cNvPr id="22" name="Shape 16"/>
          <p:cNvSpPr/>
          <p:nvPr/>
        </p:nvSpPr>
        <p:spPr>
          <a:xfrm>
            <a:off x="8101584" y="987552"/>
            <a:ext cx="3813048" cy="2816352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2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8174736" y="1083564"/>
            <a:ext cx="64008" cy="64008"/>
          </a:xfrm>
          <a:prstGeom prst="rect">
            <a:avLst/>
          </a:prstGeom>
          <a:solidFill>
            <a:srgbClr val="A8703C"/>
          </a:solidFill>
          <a:ln/>
        </p:spPr>
      </p:sp>
      <p:sp>
        <p:nvSpPr>
          <p:cNvPr id="24" name="Text 18"/>
          <p:cNvSpPr txBox="1"/>
          <p:nvPr/>
        </p:nvSpPr>
        <p:spPr>
          <a:xfrm>
            <a:off x="8275320" y="1037844"/>
            <a:ext cx="27340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SYNTHETIC COHORT</a:t>
            </a:r>
            <a:endParaRPr lang="en-US" sz="800" dirty="0"/>
          </a:p>
        </p:txBody>
      </p:sp>
      <p:sp>
        <p:nvSpPr>
          <p:cNvPr id="25" name="Text 19"/>
          <p:cNvSpPr txBox="1"/>
          <p:nvPr/>
        </p:nvSpPr>
        <p:spPr>
          <a:xfrm>
            <a:off x="11055096" y="1037844"/>
            <a:ext cx="8046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A8703C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SEE DATA_SOURCES</a:t>
            </a:r>
            <a:endParaRPr lang="en-US" sz="700" dirty="0"/>
          </a:p>
        </p:txBody>
      </p:sp>
      <p:sp>
        <p:nvSpPr>
          <p:cNvPr id="26" name="Shape 20"/>
          <p:cNvSpPr/>
          <p:nvPr/>
        </p:nvSpPr>
        <p:spPr>
          <a:xfrm>
            <a:off x="8193024" y="1243584"/>
            <a:ext cx="1755648" cy="438912"/>
          </a:xfrm>
          <a:prstGeom prst="rect">
            <a:avLst/>
          </a:prstGeom>
          <a:solidFill>
            <a:srgbClr val="F4F1EA"/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8266176" y="1243584"/>
            <a:ext cx="868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A5A2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240</a:t>
            </a:r>
            <a:endParaRPr lang="en-US" sz="1800" dirty="0"/>
          </a:p>
        </p:txBody>
      </p:sp>
      <p:sp>
        <p:nvSpPr>
          <p:cNvPr id="28" name="Text 22"/>
          <p:cNvSpPr txBox="1"/>
          <p:nvPr/>
        </p:nvSpPr>
        <p:spPr>
          <a:xfrm>
            <a:off x="9107424" y="1243584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patients</a:t>
            </a:r>
            <a:endParaRPr lang="en-US" sz="750" dirty="0"/>
          </a:p>
        </p:txBody>
      </p:sp>
      <p:sp>
        <p:nvSpPr>
          <p:cNvPr id="29" name="Shape 23"/>
          <p:cNvSpPr/>
          <p:nvPr/>
        </p:nvSpPr>
        <p:spPr>
          <a:xfrm>
            <a:off x="10021824" y="1243584"/>
            <a:ext cx="1755648" cy="438912"/>
          </a:xfrm>
          <a:prstGeom prst="rect">
            <a:avLst/>
          </a:prstGeom>
          <a:solidFill>
            <a:srgbClr val="F4F1EA"/>
          </a:solidFill>
          <a:ln/>
        </p:spPr>
      </p:sp>
      <p:sp>
        <p:nvSpPr>
          <p:cNvPr id="30" name="Text 24"/>
          <p:cNvSpPr txBox="1"/>
          <p:nvPr/>
        </p:nvSpPr>
        <p:spPr>
          <a:xfrm>
            <a:off x="10094976" y="1243584"/>
            <a:ext cx="868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A5A2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120</a:t>
            </a:r>
            <a:endParaRPr lang="en-US" sz="1800" dirty="0"/>
          </a:p>
        </p:txBody>
      </p:sp>
      <p:sp>
        <p:nvSpPr>
          <p:cNvPr id="31" name="Text 25"/>
          <p:cNvSpPr txBox="1"/>
          <p:nvPr/>
        </p:nvSpPr>
        <p:spPr>
          <a:xfrm>
            <a:off x="10936224" y="1243584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days each</a:t>
            </a:r>
            <a:endParaRPr lang="en-US" sz="750" dirty="0"/>
          </a:p>
        </p:txBody>
      </p:sp>
      <p:sp>
        <p:nvSpPr>
          <p:cNvPr id="32" name="Shape 26"/>
          <p:cNvSpPr/>
          <p:nvPr/>
        </p:nvSpPr>
        <p:spPr>
          <a:xfrm>
            <a:off x="8193024" y="1746504"/>
            <a:ext cx="1755648" cy="438912"/>
          </a:xfrm>
          <a:prstGeom prst="rect">
            <a:avLst/>
          </a:prstGeom>
          <a:solidFill>
            <a:srgbClr val="F4F1EA"/>
          </a:solidFill>
          <a:ln/>
        </p:spPr>
      </p:sp>
      <p:sp>
        <p:nvSpPr>
          <p:cNvPr id="33" name="Text 27"/>
          <p:cNvSpPr txBox="1"/>
          <p:nvPr/>
        </p:nvSpPr>
        <p:spPr>
          <a:xfrm>
            <a:off x="8266176" y="1746504"/>
            <a:ext cx="868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A5A2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28,685</a:t>
            </a:r>
            <a:endParaRPr lang="en-US" sz="1800" dirty="0"/>
          </a:p>
        </p:txBody>
      </p:sp>
      <p:sp>
        <p:nvSpPr>
          <p:cNvPr id="34" name="Text 28"/>
          <p:cNvSpPr txBox="1"/>
          <p:nvPr/>
        </p:nvSpPr>
        <p:spPr>
          <a:xfrm>
            <a:off x="9107424" y="1746504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patient-days</a:t>
            </a:r>
            <a:endParaRPr lang="en-US" sz="750" dirty="0"/>
          </a:p>
        </p:txBody>
      </p:sp>
      <p:sp>
        <p:nvSpPr>
          <p:cNvPr id="35" name="Shape 29"/>
          <p:cNvSpPr/>
          <p:nvPr/>
        </p:nvSpPr>
        <p:spPr>
          <a:xfrm>
            <a:off x="10021824" y="1746504"/>
            <a:ext cx="1755648" cy="438912"/>
          </a:xfrm>
          <a:prstGeom prst="rect">
            <a:avLst/>
          </a:prstGeom>
          <a:solidFill>
            <a:srgbClr val="F4F1EA"/>
          </a:solidFill>
          <a:ln/>
        </p:spPr>
      </p:sp>
      <p:sp>
        <p:nvSpPr>
          <p:cNvPr id="36" name="Text 30"/>
          <p:cNvSpPr txBox="1"/>
          <p:nvPr/>
        </p:nvSpPr>
        <p:spPr>
          <a:xfrm>
            <a:off x="10094976" y="1746504"/>
            <a:ext cx="868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A5A2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342</a:t>
            </a:r>
            <a:endParaRPr lang="en-US" sz="1800" dirty="0"/>
          </a:p>
        </p:txBody>
      </p:sp>
      <p:sp>
        <p:nvSpPr>
          <p:cNvPr id="37" name="Text 31"/>
          <p:cNvSpPr txBox="1"/>
          <p:nvPr/>
        </p:nvSpPr>
        <p:spPr>
          <a:xfrm>
            <a:off x="10936224" y="1746504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strain episodes</a:t>
            </a:r>
            <a:endParaRPr lang="en-US" sz="750" dirty="0"/>
          </a:p>
        </p:txBody>
      </p:sp>
      <p:sp>
        <p:nvSpPr>
          <p:cNvPr id="38" name="Text 32"/>
          <p:cNvSpPr txBox="1"/>
          <p:nvPr/>
        </p:nvSpPr>
        <p:spPr>
          <a:xfrm>
            <a:off x="8193024" y="2286000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LOOKS LIKE TROUBLE, BUT IS NOT (PLANTED SO THE MODEL MUST TELL THEM APART)</a:t>
            </a:r>
            <a:endParaRPr lang="en-US" sz="660" dirty="0"/>
          </a:p>
        </p:txBody>
      </p:sp>
      <p:sp>
        <p:nvSpPr>
          <p:cNvPr id="39" name="Text 33"/>
          <p:cNvSpPr txBox="1"/>
          <p:nvPr/>
        </p:nvSpPr>
        <p:spPr>
          <a:xfrm>
            <a:off x="8193024" y="246888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Missed doses</a:t>
            </a:r>
            <a:endParaRPr lang="en-US" sz="720" dirty="0"/>
          </a:p>
        </p:txBody>
      </p:sp>
      <p:sp>
        <p:nvSpPr>
          <p:cNvPr id="40" name="Shape 34"/>
          <p:cNvSpPr/>
          <p:nvPr/>
        </p:nvSpPr>
        <p:spPr>
          <a:xfrm>
            <a:off x="8979408" y="2505456"/>
            <a:ext cx="2367039" cy="118872"/>
          </a:xfrm>
          <a:prstGeom prst="rect">
            <a:avLst/>
          </a:prstGeom>
          <a:solidFill>
            <a:srgbClr val="A8703C"/>
          </a:solidFill>
          <a:ln/>
        </p:spPr>
      </p:sp>
      <p:sp>
        <p:nvSpPr>
          <p:cNvPr id="41" name="Text 35"/>
          <p:cNvSpPr txBox="1"/>
          <p:nvPr/>
        </p:nvSpPr>
        <p:spPr>
          <a:xfrm>
            <a:off x="11383023" y="24688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767</a:t>
            </a:r>
            <a:endParaRPr lang="en-US" sz="720" dirty="0"/>
          </a:p>
        </p:txBody>
      </p:sp>
      <p:sp>
        <p:nvSpPr>
          <p:cNvPr id="42" name="Text 36"/>
          <p:cNvSpPr txBox="1"/>
          <p:nvPr/>
        </p:nvSpPr>
        <p:spPr>
          <a:xfrm>
            <a:off x="8193024" y="269748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Late nights</a:t>
            </a:r>
            <a:endParaRPr lang="en-US" sz="720" dirty="0"/>
          </a:p>
        </p:txBody>
      </p:sp>
      <p:sp>
        <p:nvSpPr>
          <p:cNvPr id="43" name="Shape 37"/>
          <p:cNvSpPr/>
          <p:nvPr/>
        </p:nvSpPr>
        <p:spPr>
          <a:xfrm>
            <a:off x="8979408" y="2734056"/>
            <a:ext cx="2333092" cy="118872"/>
          </a:xfrm>
          <a:prstGeom prst="rect">
            <a:avLst/>
          </a:prstGeom>
          <a:solidFill>
            <a:srgbClr val="A8703C"/>
          </a:solidFill>
          <a:ln/>
        </p:spPr>
      </p:sp>
      <p:sp>
        <p:nvSpPr>
          <p:cNvPr id="44" name="Text 38"/>
          <p:cNvSpPr txBox="1"/>
          <p:nvPr/>
        </p:nvSpPr>
        <p:spPr>
          <a:xfrm>
            <a:off x="11349076" y="26974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756</a:t>
            </a:r>
            <a:endParaRPr lang="en-US" sz="720" dirty="0"/>
          </a:p>
        </p:txBody>
      </p:sp>
      <p:sp>
        <p:nvSpPr>
          <p:cNvPr id="45" name="Text 39"/>
          <p:cNvSpPr txBox="1"/>
          <p:nvPr/>
        </p:nvSpPr>
        <p:spPr>
          <a:xfrm>
            <a:off x="8193024" y="292608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Travel days</a:t>
            </a:r>
            <a:endParaRPr lang="en-US" sz="720" dirty="0"/>
          </a:p>
        </p:txBody>
      </p:sp>
      <p:sp>
        <p:nvSpPr>
          <p:cNvPr id="46" name="Shape 40"/>
          <p:cNvSpPr/>
          <p:nvPr/>
        </p:nvSpPr>
        <p:spPr>
          <a:xfrm>
            <a:off x="8979408" y="2962656"/>
            <a:ext cx="894969" cy="118872"/>
          </a:xfrm>
          <a:prstGeom prst="rect">
            <a:avLst/>
          </a:prstGeom>
          <a:solidFill>
            <a:srgbClr val="A8703C"/>
          </a:solidFill>
          <a:ln/>
        </p:spPr>
      </p:sp>
      <p:sp>
        <p:nvSpPr>
          <p:cNvPr id="47" name="Text 41"/>
          <p:cNvSpPr txBox="1"/>
          <p:nvPr/>
        </p:nvSpPr>
        <p:spPr>
          <a:xfrm>
            <a:off x="9910953" y="29260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290</a:t>
            </a:r>
            <a:endParaRPr lang="en-US" sz="720" dirty="0"/>
          </a:p>
        </p:txBody>
      </p:sp>
      <p:sp>
        <p:nvSpPr>
          <p:cNvPr id="48" name="Text 42"/>
          <p:cNvSpPr txBox="1"/>
          <p:nvPr/>
        </p:nvSpPr>
        <p:spPr>
          <a:xfrm>
            <a:off x="8193024" y="315468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Colds</a:t>
            </a:r>
            <a:endParaRPr lang="en-US" sz="720" dirty="0"/>
          </a:p>
        </p:txBody>
      </p:sp>
      <p:sp>
        <p:nvSpPr>
          <p:cNvPr id="49" name="Shape 43"/>
          <p:cNvSpPr/>
          <p:nvPr/>
        </p:nvSpPr>
        <p:spPr>
          <a:xfrm>
            <a:off x="8979408" y="3191256"/>
            <a:ext cx="746836" cy="118872"/>
          </a:xfrm>
          <a:prstGeom prst="rect">
            <a:avLst/>
          </a:prstGeom>
          <a:solidFill>
            <a:srgbClr val="A8703C"/>
          </a:solidFill>
          <a:ln/>
        </p:spPr>
      </p:sp>
      <p:sp>
        <p:nvSpPr>
          <p:cNvPr id="50" name="Text 44"/>
          <p:cNvSpPr txBox="1"/>
          <p:nvPr/>
        </p:nvSpPr>
        <p:spPr>
          <a:xfrm>
            <a:off x="9762820" y="31546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242</a:t>
            </a:r>
            <a:endParaRPr lang="en-US" sz="720" dirty="0"/>
          </a:p>
        </p:txBody>
      </p:sp>
      <p:sp>
        <p:nvSpPr>
          <p:cNvPr id="51" name="Text 45"/>
          <p:cNvSpPr txBox="1"/>
          <p:nvPr/>
        </p:nvSpPr>
        <p:spPr>
          <a:xfrm>
            <a:off x="8193024" y="341071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" i="1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Each person also carries hidden true responses to sleep and walking, so A4 can test whether the twin finds them.</a:t>
            </a:r>
            <a:endParaRPr lang="en-US" sz="690" dirty="0"/>
          </a:p>
        </p:txBody>
      </p:sp>
      <p:sp>
        <p:nvSpPr>
          <p:cNvPr id="52" name="Shape 46"/>
          <p:cNvSpPr/>
          <p:nvPr/>
        </p:nvSpPr>
        <p:spPr>
          <a:xfrm>
            <a:off x="274320" y="3877056"/>
            <a:ext cx="7754112" cy="2048256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2"/>
            </a:solidFill>
            <a:prstDash val="solid"/>
          </a:ln>
        </p:spPr>
      </p:sp>
      <p:sp>
        <p:nvSpPr>
          <p:cNvPr id="53" name="Shape 47"/>
          <p:cNvSpPr/>
          <p:nvPr/>
        </p:nvSpPr>
        <p:spPr>
          <a:xfrm>
            <a:off x="347472" y="3973068"/>
            <a:ext cx="64008" cy="64008"/>
          </a:xfrm>
          <a:prstGeom prst="rect">
            <a:avLst/>
          </a:prstGeom>
          <a:solidFill>
            <a:srgbClr val="A8703C"/>
          </a:solidFill>
          <a:ln/>
        </p:spPr>
      </p:sp>
      <p:sp>
        <p:nvSpPr>
          <p:cNvPr id="54" name="Text 48"/>
          <p:cNvSpPr txBox="1"/>
          <p:nvPr/>
        </p:nvSpPr>
        <p:spPr>
          <a:xfrm>
            <a:off x="448056" y="3927348"/>
            <a:ext cx="6492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ARCHITECTURE: TWO STREAMS IN, A WARNING AND A LADDER OUT</a:t>
            </a:r>
            <a:endParaRPr lang="en-US" sz="800" dirty="0"/>
          </a:p>
        </p:txBody>
      </p:sp>
      <p:sp>
        <p:nvSpPr>
          <p:cNvPr id="55" name="Text 49"/>
          <p:cNvSpPr txBox="1"/>
          <p:nvPr/>
        </p:nvSpPr>
        <p:spPr>
          <a:xfrm>
            <a:off x="6986016" y="3927348"/>
            <a:ext cx="9875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A8703C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SEE ARCHITECTURE.PDF</a:t>
            </a:r>
            <a:endParaRPr lang="en-US" sz="700" dirty="0"/>
          </a:p>
        </p:txBody>
      </p:sp>
      <p:sp>
        <p:nvSpPr>
          <p:cNvPr id="56" name="Shape 50"/>
          <p:cNvSpPr/>
          <p:nvPr/>
        </p:nvSpPr>
        <p:spPr>
          <a:xfrm>
            <a:off x="365760" y="4160520"/>
            <a:ext cx="13716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A8703C"/>
            </a:solidFill>
            <a:prstDash val="solid"/>
          </a:ln>
        </p:spPr>
      </p:sp>
      <p:sp>
        <p:nvSpPr>
          <p:cNvPr id="57" name="Shape 51"/>
          <p:cNvSpPr/>
          <p:nvPr/>
        </p:nvSpPr>
        <p:spPr>
          <a:xfrm>
            <a:off x="365760" y="4160520"/>
            <a:ext cx="1371600" cy="182880"/>
          </a:xfrm>
          <a:prstGeom prst="rect">
            <a:avLst/>
          </a:prstGeom>
          <a:solidFill>
            <a:srgbClr val="A8703C"/>
          </a:solidFill>
          <a:ln/>
        </p:spPr>
      </p:sp>
      <p:sp>
        <p:nvSpPr>
          <p:cNvPr id="58" name="Text 52"/>
          <p:cNvSpPr txBox="1"/>
          <p:nvPr/>
        </p:nvSpPr>
        <p:spPr>
          <a:xfrm>
            <a:off x="411480" y="416052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HEALTH RECORD</a:t>
            </a:r>
            <a:endParaRPr lang="en-US" sz="720" dirty="0"/>
          </a:p>
        </p:txBody>
      </p:sp>
      <p:sp>
        <p:nvSpPr>
          <p:cNvPr id="59" name="Text 53"/>
          <p:cNvSpPr txBox="1"/>
          <p:nvPr/>
        </p:nvSpPr>
        <p:spPr>
          <a:xfrm>
            <a:off x="420624" y="4379976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1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FHIR R4 bundles</a:t>
            </a:r>
            <a:endParaRPr lang="en-US" sz="71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71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SNOMED CT, LOINC</a:t>
            </a:r>
            <a:endParaRPr lang="en-US" sz="71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71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masked ABHA</a:t>
            </a:r>
            <a:endParaRPr lang="en-US" sz="710" dirty="0"/>
          </a:p>
        </p:txBody>
      </p:sp>
      <p:sp>
        <p:nvSpPr>
          <p:cNvPr id="60" name="Shape 54"/>
          <p:cNvSpPr/>
          <p:nvPr/>
        </p:nvSpPr>
        <p:spPr>
          <a:xfrm>
            <a:off x="365760" y="5010912"/>
            <a:ext cx="1371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86A70"/>
            </a:solidFill>
            <a:prstDash val="solid"/>
          </a:ln>
        </p:spPr>
      </p:sp>
      <p:sp>
        <p:nvSpPr>
          <p:cNvPr id="61" name="Shape 55"/>
          <p:cNvSpPr/>
          <p:nvPr/>
        </p:nvSpPr>
        <p:spPr>
          <a:xfrm>
            <a:off x="365760" y="5010912"/>
            <a:ext cx="1371600" cy="182880"/>
          </a:xfrm>
          <a:prstGeom prst="rect">
            <a:avLst/>
          </a:prstGeom>
          <a:solidFill>
            <a:srgbClr val="086A70"/>
          </a:solidFill>
          <a:ln/>
        </p:spPr>
      </p:sp>
      <p:sp>
        <p:nvSpPr>
          <p:cNvPr id="62" name="Text 56"/>
          <p:cNvSpPr txBox="1"/>
          <p:nvPr/>
        </p:nvSpPr>
        <p:spPr>
          <a:xfrm>
            <a:off x="411480" y="501091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WATCH AND CUFF</a:t>
            </a:r>
            <a:endParaRPr lang="en-US" sz="720" dirty="0"/>
          </a:p>
        </p:txBody>
      </p:sp>
      <p:sp>
        <p:nvSpPr>
          <p:cNvPr id="63" name="Text 57"/>
          <p:cNvSpPr txBox="1"/>
          <p:nvPr/>
        </p:nvSpPr>
        <p:spPr>
          <a:xfrm>
            <a:off x="420624" y="5230368"/>
            <a:ext cx="1280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1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companion app reads</a:t>
            </a:r>
            <a:endParaRPr lang="en-US" sz="71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71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Health Connect, HealthKit</a:t>
            </a:r>
            <a:endParaRPr lang="en-US" sz="71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71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POST /api/ingest</a:t>
            </a:r>
            <a:endParaRPr lang="en-US" sz="710" dirty="0"/>
          </a:p>
        </p:txBody>
      </p:sp>
      <p:sp>
        <p:nvSpPr>
          <p:cNvPr id="64" name="Shape 58"/>
          <p:cNvSpPr/>
          <p:nvPr/>
        </p:nvSpPr>
        <p:spPr>
          <a:xfrm>
            <a:off x="1938528" y="4160520"/>
            <a:ext cx="1417320" cy="1673352"/>
          </a:xfrm>
          <a:prstGeom prst="rect">
            <a:avLst/>
          </a:prstGeom>
          <a:solidFill>
            <a:srgbClr val="FFFFFF"/>
          </a:solidFill>
          <a:ln w="12700">
            <a:solidFill>
              <a:srgbClr val="10302F"/>
            </a:solidFill>
            <a:prstDash val="solid"/>
          </a:ln>
        </p:spPr>
      </p:sp>
      <p:sp>
        <p:nvSpPr>
          <p:cNvPr id="65" name="Shape 59"/>
          <p:cNvSpPr/>
          <p:nvPr/>
        </p:nvSpPr>
        <p:spPr>
          <a:xfrm>
            <a:off x="1938528" y="4160520"/>
            <a:ext cx="1417320" cy="182880"/>
          </a:xfrm>
          <a:prstGeom prst="rect">
            <a:avLst/>
          </a:prstGeom>
          <a:solidFill>
            <a:srgbClr val="10302F"/>
          </a:solidFill>
          <a:ln/>
        </p:spPr>
      </p:sp>
      <p:sp>
        <p:nvSpPr>
          <p:cNvPr id="66" name="Text 60"/>
          <p:cNvSpPr txBox="1"/>
          <p:nvPr/>
        </p:nvSpPr>
        <p:spPr>
          <a:xfrm>
            <a:off x="1984248" y="416052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PHYSIOLOGY ENGINE</a:t>
            </a:r>
            <a:endParaRPr lang="en-US" sz="720" dirty="0"/>
          </a:p>
        </p:txBody>
      </p:sp>
      <p:sp>
        <p:nvSpPr>
          <p:cNvPr id="67" name="Text 61"/>
          <p:cNvSpPr txBox="1"/>
          <p:nvPr/>
        </p:nvSpPr>
        <p:spPr>
          <a:xfrm>
            <a:off x="1993392" y="4379976"/>
            <a:ext cx="1325880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1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 baseline: 28 and 60 nights</a:t>
            </a:r>
            <a:endParaRPr lang="en-US" sz="71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71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 slopes on calm days</a:t>
            </a:r>
            <a:endParaRPr lang="en-US" sz="71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71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 empirical Bayes pooling</a:t>
            </a:r>
            <a:endParaRPr lang="en-US" sz="71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71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 twin-adjusted signals</a:t>
            </a:r>
            <a:endParaRPr lang="en-US" sz="710" dirty="0"/>
          </a:p>
          <a:p>
            <a:pPr algn="l" indent="0" marL="0">
              <a:lnSpc>
                <a:spcPct val="108000"/>
              </a:lnSpc>
              <a:buNone/>
            </a:pPr>
            <a:endParaRPr lang="en-US" sz="71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71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twin: how this</a:t>
            </a:r>
            <a:endParaRPr lang="en-US" sz="71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71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one body responds</a:t>
            </a:r>
            <a:endParaRPr lang="en-US" sz="710" dirty="0"/>
          </a:p>
        </p:txBody>
      </p:sp>
      <p:sp>
        <p:nvSpPr>
          <p:cNvPr id="68" name="Shape 62"/>
          <p:cNvSpPr/>
          <p:nvPr/>
        </p:nvSpPr>
        <p:spPr>
          <a:xfrm>
            <a:off x="3557016" y="4160520"/>
            <a:ext cx="1417320" cy="1673352"/>
          </a:xfrm>
          <a:prstGeom prst="rect">
            <a:avLst/>
          </a:prstGeom>
          <a:solidFill>
            <a:srgbClr val="FFFFFF"/>
          </a:solidFill>
          <a:ln w="12700">
            <a:solidFill>
              <a:srgbClr val="086A70"/>
            </a:solidFill>
            <a:prstDash val="solid"/>
          </a:ln>
        </p:spPr>
      </p:sp>
      <p:sp>
        <p:nvSpPr>
          <p:cNvPr id="69" name="Shape 63"/>
          <p:cNvSpPr/>
          <p:nvPr/>
        </p:nvSpPr>
        <p:spPr>
          <a:xfrm>
            <a:off x="3557016" y="4160520"/>
            <a:ext cx="1417320" cy="182880"/>
          </a:xfrm>
          <a:prstGeom prst="rect">
            <a:avLst/>
          </a:prstGeom>
          <a:solidFill>
            <a:srgbClr val="086A70"/>
          </a:solidFill>
          <a:ln/>
        </p:spPr>
      </p:sp>
      <p:sp>
        <p:nvSpPr>
          <p:cNvPr id="70" name="Text 64"/>
          <p:cNvSpPr txBox="1"/>
          <p:nvPr/>
        </p:nvSpPr>
        <p:spPr>
          <a:xfrm>
            <a:off x="3602736" y="416052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PREDICTION</a:t>
            </a:r>
            <a:endParaRPr lang="en-US" sz="720" dirty="0"/>
          </a:p>
        </p:txBody>
      </p:sp>
      <p:sp>
        <p:nvSpPr>
          <p:cNvPr id="71" name="Text 65"/>
          <p:cNvSpPr txBox="1"/>
          <p:nvPr/>
        </p:nvSpPr>
        <p:spPr>
          <a:xfrm>
            <a:off x="3611880" y="4379976"/>
            <a:ext cx="1325880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1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LightGBM fusion</a:t>
            </a:r>
            <a:endParaRPr lang="en-US" sz="71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71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+ 8 facts from the record</a:t>
            </a:r>
            <a:endParaRPr lang="en-US" sz="71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71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monotone constraints</a:t>
            </a:r>
            <a:endParaRPr lang="en-US" sz="71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71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Platt calibration</a:t>
            </a:r>
            <a:endParaRPr lang="en-US" sz="71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71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thresholds from a budget</a:t>
            </a:r>
            <a:endParaRPr lang="en-US" sz="71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71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18 quantile forecasts</a:t>
            </a:r>
            <a:endParaRPr lang="en-US" sz="71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71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SHAP reasons</a:t>
            </a:r>
            <a:endParaRPr lang="en-US" sz="710" dirty="0"/>
          </a:p>
        </p:txBody>
      </p:sp>
      <p:sp>
        <p:nvSpPr>
          <p:cNvPr id="72" name="Shape 66"/>
          <p:cNvSpPr/>
          <p:nvPr/>
        </p:nvSpPr>
        <p:spPr>
          <a:xfrm>
            <a:off x="5175504" y="4160520"/>
            <a:ext cx="1463040" cy="1673352"/>
          </a:xfrm>
          <a:prstGeom prst="rect">
            <a:avLst/>
          </a:prstGeom>
          <a:solidFill>
            <a:srgbClr val="FFFFFF"/>
          </a:solidFill>
          <a:ln w="12700">
            <a:solidFill>
              <a:srgbClr val="3F4FA8"/>
            </a:solidFill>
            <a:prstDash val="solid"/>
          </a:ln>
        </p:spPr>
      </p:sp>
      <p:sp>
        <p:nvSpPr>
          <p:cNvPr id="73" name="Shape 67"/>
          <p:cNvSpPr/>
          <p:nvPr/>
        </p:nvSpPr>
        <p:spPr>
          <a:xfrm>
            <a:off x="5175504" y="4160520"/>
            <a:ext cx="1463040" cy="182880"/>
          </a:xfrm>
          <a:prstGeom prst="rect">
            <a:avLst/>
          </a:prstGeom>
          <a:solidFill>
            <a:srgbClr val="3F4FA8"/>
          </a:solidFill>
          <a:ln/>
        </p:spPr>
      </p:sp>
      <p:sp>
        <p:nvSpPr>
          <p:cNvPr id="74" name="Text 68"/>
          <p:cNvSpPr txBox="1"/>
          <p:nvPr/>
        </p:nvSpPr>
        <p:spPr>
          <a:xfrm>
            <a:off x="5221224" y="41605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ACTION LAYER</a:t>
            </a:r>
            <a:endParaRPr lang="en-US" sz="720" dirty="0"/>
          </a:p>
        </p:txBody>
      </p:sp>
      <p:sp>
        <p:nvSpPr>
          <p:cNvPr id="75" name="Text 69"/>
          <p:cNvSpPr txBox="1"/>
          <p:nvPr/>
        </p:nvSpPr>
        <p:spPr>
          <a:xfrm>
            <a:off x="5230368" y="4379976"/>
            <a:ext cx="1371600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1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FastAPI, SQLite, live stream</a:t>
            </a:r>
            <a:endParaRPr lang="en-US" sz="71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71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alerts and budget meter</a:t>
            </a:r>
            <a:endParaRPr lang="en-US" sz="71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71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what-if simulator</a:t>
            </a:r>
            <a:endParaRPr lang="en-US" sz="71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71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SOS ladder, consent</a:t>
            </a:r>
            <a:endParaRPr lang="en-US" sz="71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71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append-only audit</a:t>
            </a:r>
            <a:endParaRPr lang="en-US" sz="71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71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FHIR, ABDM export</a:t>
            </a:r>
            <a:endParaRPr lang="en-US" sz="710" dirty="0"/>
          </a:p>
        </p:txBody>
      </p:sp>
      <p:sp>
        <p:nvSpPr>
          <p:cNvPr id="76" name="Shape 70"/>
          <p:cNvSpPr/>
          <p:nvPr/>
        </p:nvSpPr>
        <p:spPr>
          <a:xfrm>
            <a:off x="6839712" y="4160520"/>
            <a:ext cx="1115568" cy="1673352"/>
          </a:xfrm>
          <a:prstGeom prst="rect">
            <a:avLst/>
          </a:prstGeom>
          <a:solidFill>
            <a:srgbClr val="FFFFFF"/>
          </a:solidFill>
          <a:ln w="12700">
            <a:solidFill>
              <a:srgbClr val="B23F69"/>
            </a:solidFill>
            <a:prstDash val="solid"/>
          </a:ln>
        </p:spPr>
      </p:sp>
      <p:sp>
        <p:nvSpPr>
          <p:cNvPr id="77" name="Shape 71"/>
          <p:cNvSpPr/>
          <p:nvPr/>
        </p:nvSpPr>
        <p:spPr>
          <a:xfrm>
            <a:off x="6839712" y="4160520"/>
            <a:ext cx="1115568" cy="182880"/>
          </a:xfrm>
          <a:prstGeom prst="rect">
            <a:avLst/>
          </a:prstGeom>
          <a:solidFill>
            <a:srgbClr val="B23F69"/>
          </a:solidFill>
          <a:ln/>
        </p:spPr>
      </p:sp>
      <p:sp>
        <p:nvSpPr>
          <p:cNvPr id="78" name="Text 72"/>
          <p:cNvSpPr txBox="1"/>
          <p:nvPr/>
        </p:nvSpPr>
        <p:spPr>
          <a:xfrm>
            <a:off x="6885432" y="4160520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PEOPLE</a:t>
            </a:r>
            <a:endParaRPr lang="en-US" sz="720" dirty="0"/>
          </a:p>
        </p:txBody>
      </p:sp>
      <p:sp>
        <p:nvSpPr>
          <p:cNvPr id="79" name="Text 73"/>
          <p:cNvSpPr txBox="1"/>
          <p:nvPr/>
        </p:nvSpPr>
        <p:spPr>
          <a:xfrm>
            <a:off x="6894576" y="4379976"/>
            <a:ext cx="1024128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1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doctor console</a:t>
            </a:r>
            <a:endParaRPr lang="en-US" sz="71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71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patient app</a:t>
            </a:r>
            <a:endParaRPr lang="en-US" sz="71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71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(English, Hindi)</a:t>
            </a:r>
            <a:endParaRPr lang="en-US" sz="71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71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family contacts</a:t>
            </a:r>
            <a:endParaRPr lang="en-US" sz="710" dirty="0"/>
          </a:p>
          <a:p>
            <a:pPr algn="l" indent="0" marL="0">
              <a:lnSpc>
                <a:spcPct val="108000"/>
              </a:lnSpc>
              <a:buNone/>
            </a:pPr>
            <a:endParaRPr lang="en-US" sz="71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71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112: always a</a:t>
            </a:r>
            <a:endParaRPr lang="en-US" sz="71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71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human tap</a:t>
            </a:r>
            <a:endParaRPr lang="en-US" sz="710" dirty="0"/>
          </a:p>
        </p:txBody>
      </p:sp>
      <p:sp>
        <p:nvSpPr>
          <p:cNvPr id="80" name="Shape 74"/>
          <p:cNvSpPr/>
          <p:nvPr/>
        </p:nvSpPr>
        <p:spPr>
          <a:xfrm>
            <a:off x="1737360" y="4535424"/>
            <a:ext cx="201168" cy="219456"/>
          </a:xfrm>
          <a:prstGeom prst="line">
            <a:avLst/>
          </a:prstGeom>
          <a:noFill/>
          <a:ln w="15875">
            <a:solidFill>
              <a:srgbClr val="A8703C"/>
            </a:solidFill>
            <a:prstDash val="solid"/>
            <a:tailEnd type="triangle"/>
          </a:ln>
        </p:spPr>
      </p:sp>
      <p:sp>
        <p:nvSpPr>
          <p:cNvPr id="81" name="Shape 75"/>
          <p:cNvSpPr/>
          <p:nvPr/>
        </p:nvSpPr>
        <p:spPr>
          <a:xfrm flipV="1">
            <a:off x="1737360" y="5212080"/>
            <a:ext cx="201168" cy="210312"/>
          </a:xfrm>
          <a:prstGeom prst="line">
            <a:avLst/>
          </a:prstGeom>
          <a:noFill/>
          <a:ln w="15875">
            <a:solidFill>
              <a:srgbClr val="086A70"/>
            </a:solidFill>
            <a:prstDash val="solid"/>
            <a:tailEnd type="triangle"/>
          </a:ln>
        </p:spPr>
      </p:sp>
      <p:sp>
        <p:nvSpPr>
          <p:cNvPr id="82" name="Shape 76"/>
          <p:cNvSpPr/>
          <p:nvPr/>
        </p:nvSpPr>
        <p:spPr>
          <a:xfrm>
            <a:off x="3355848" y="4992624"/>
            <a:ext cx="201168" cy="91"/>
          </a:xfrm>
          <a:prstGeom prst="line">
            <a:avLst/>
          </a:prstGeom>
          <a:noFill/>
          <a:ln w="15875">
            <a:solidFill>
              <a:srgbClr val="10302F"/>
            </a:solidFill>
            <a:prstDash val="solid"/>
            <a:tailEnd type="triangle"/>
          </a:ln>
        </p:spPr>
      </p:sp>
      <p:sp>
        <p:nvSpPr>
          <p:cNvPr id="83" name="Shape 77"/>
          <p:cNvSpPr/>
          <p:nvPr/>
        </p:nvSpPr>
        <p:spPr>
          <a:xfrm>
            <a:off x="4974336" y="4992624"/>
            <a:ext cx="201168" cy="91"/>
          </a:xfrm>
          <a:prstGeom prst="line">
            <a:avLst/>
          </a:prstGeom>
          <a:noFill/>
          <a:ln w="15875">
            <a:solidFill>
              <a:srgbClr val="086A70"/>
            </a:solidFill>
            <a:prstDash val="solid"/>
            <a:tailEnd type="triangle"/>
          </a:ln>
        </p:spPr>
      </p:sp>
      <p:sp>
        <p:nvSpPr>
          <p:cNvPr id="84" name="Shape 78"/>
          <p:cNvSpPr/>
          <p:nvPr/>
        </p:nvSpPr>
        <p:spPr>
          <a:xfrm>
            <a:off x="6638544" y="4992624"/>
            <a:ext cx="201168" cy="91"/>
          </a:xfrm>
          <a:prstGeom prst="line">
            <a:avLst/>
          </a:prstGeom>
          <a:noFill/>
          <a:ln w="15875">
            <a:solidFill>
              <a:srgbClr val="3F4FA8"/>
            </a:solidFill>
            <a:prstDash val="solid"/>
            <a:tailEnd type="triangle"/>
          </a:ln>
        </p:spPr>
      </p:sp>
      <p:sp>
        <p:nvSpPr>
          <p:cNvPr id="85" name="Shape 79"/>
          <p:cNvSpPr/>
          <p:nvPr/>
        </p:nvSpPr>
        <p:spPr>
          <a:xfrm>
            <a:off x="8101584" y="3877056"/>
            <a:ext cx="3813048" cy="2048256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2"/>
            </a:solidFill>
            <a:prstDash val="solid"/>
          </a:ln>
        </p:spPr>
      </p:sp>
      <p:sp>
        <p:nvSpPr>
          <p:cNvPr id="86" name="Shape 80"/>
          <p:cNvSpPr/>
          <p:nvPr/>
        </p:nvSpPr>
        <p:spPr>
          <a:xfrm>
            <a:off x="8174736" y="3973068"/>
            <a:ext cx="64008" cy="64008"/>
          </a:xfrm>
          <a:prstGeom prst="rect">
            <a:avLst/>
          </a:prstGeom>
          <a:solidFill>
            <a:srgbClr val="A8703C"/>
          </a:solidFill>
          <a:ln/>
        </p:spPr>
      </p:sp>
      <p:sp>
        <p:nvSpPr>
          <p:cNvPr id="87" name="Text 81"/>
          <p:cNvSpPr txBox="1"/>
          <p:nvPr/>
        </p:nvSpPr>
        <p:spPr>
          <a:xfrm>
            <a:off x="8275320" y="3927348"/>
            <a:ext cx="30083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TECHNICAL STACK</a:t>
            </a:r>
            <a:endParaRPr lang="en-US" sz="800" dirty="0"/>
          </a:p>
        </p:txBody>
      </p:sp>
      <p:sp>
        <p:nvSpPr>
          <p:cNvPr id="88" name="Text 82"/>
          <p:cNvSpPr txBox="1"/>
          <p:nvPr/>
        </p:nvSpPr>
        <p:spPr>
          <a:xfrm>
            <a:off x="11329416" y="3927348"/>
            <a:ext cx="530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A8703C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SEE README</a:t>
            </a:r>
            <a:endParaRPr lang="en-US" sz="70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74736" y="4133088"/>
          <a:ext cx="3666744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2889504"/>
              </a:tblGrid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Layer</a:t>
                      </a:r>
                      <a:endParaRPr lang="en-US" sz="75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5A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Choice</a:t>
                      </a:r>
                      <a:endParaRPr lang="en-US" sz="75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5A2B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1F2A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Data</a:t>
                      </a:r>
                      <a:endParaRPr lang="en-US" sz="72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1F2A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Python, NumPy, pandas; FHIR R4; seed 42</a:t>
                      </a:r>
                      <a:endParaRPr lang="en-US" sz="72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1F2A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Twin engine</a:t>
                      </a:r>
                      <a:endParaRPr lang="en-US" sz="72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1F2A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per-person regression, AR(1) errors, DerSimonian and Laird</a:t>
                      </a:r>
                      <a:endParaRPr lang="en-US" sz="72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1F2A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Model</a:t>
                      </a:r>
                      <a:endParaRPr lang="en-US" sz="72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1F2A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LightGBM, Platt scaling, SHAP, quantile forecasts</a:t>
                      </a:r>
                      <a:endParaRPr lang="en-US" sz="72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1F2A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API</a:t>
                      </a:r>
                      <a:endParaRPr lang="en-US" sz="72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1F2A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FastAPI, Pydantic v2, SQLite, server-sent events</a:t>
                      </a:r>
                      <a:endParaRPr lang="en-US" sz="72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1F2A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Front end</a:t>
                      </a:r>
                      <a:endParaRPr lang="en-US" sz="72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1F2A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React 18, TypeScript, Vite, Tailwind, Recharts</a:t>
                      </a:r>
                      <a:endParaRPr lang="en-US" sz="72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1F2A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Standards</a:t>
                      </a:r>
                      <a:endParaRPr lang="en-US" sz="72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1F2A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FHIR R4, ABDM WellnessRecord, SNOMED CT, LOINC</a:t>
                      </a:r>
                      <a:endParaRPr lang="en-US" sz="72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1F2A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Quality</a:t>
                      </a:r>
                      <a:endParaRPr lang="en-US" sz="72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1F2A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25 pytest tests, Docker, MIT licence</a:t>
                      </a:r>
                      <a:endParaRPr lang="en-US" sz="72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0" name="Shape 83"/>
          <p:cNvSpPr/>
          <p:nvPr/>
        </p:nvSpPr>
        <p:spPr>
          <a:xfrm>
            <a:off x="274320" y="6016752"/>
            <a:ext cx="11640312" cy="310896"/>
          </a:xfrm>
          <a:prstGeom prst="rect">
            <a:avLst/>
          </a:prstGeom>
          <a:solidFill>
            <a:srgbClr val="F5EADF"/>
          </a:solidFill>
          <a:ln/>
        </p:spPr>
      </p:sp>
      <p:sp>
        <p:nvSpPr>
          <p:cNvPr id="91" name="Shape 84"/>
          <p:cNvSpPr/>
          <p:nvPr/>
        </p:nvSpPr>
        <p:spPr>
          <a:xfrm>
            <a:off x="274320" y="6016752"/>
            <a:ext cx="960120" cy="310896"/>
          </a:xfrm>
          <a:prstGeom prst="rect">
            <a:avLst/>
          </a:prstGeom>
          <a:solidFill>
            <a:srgbClr val="8A5A2B"/>
          </a:solidFill>
          <a:ln/>
        </p:spPr>
      </p:sp>
      <p:sp>
        <p:nvSpPr>
          <p:cNvPr id="92" name="Text 85"/>
          <p:cNvSpPr txBox="1"/>
          <p:nvPr/>
        </p:nvSpPr>
        <p:spPr>
          <a:xfrm>
            <a:off x="274320" y="601675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FUSION</a:t>
            </a:r>
            <a:endParaRPr lang="en-US" sz="850" dirty="0"/>
          </a:p>
        </p:txBody>
      </p:sp>
      <p:sp>
        <p:nvSpPr>
          <p:cNvPr id="93" name="Text 86"/>
          <p:cNvSpPr txBox="1"/>
          <p:nvPr/>
        </p:nvSpPr>
        <p:spPr>
          <a:xfrm>
            <a:off x="1325880" y="6016752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record does not just add columns: it tells the twin how to read the watch, </a:t>
            </a:r>
            <a:r>
              <a:rPr lang="en-US" sz="8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so a beta blocker or diabetes changes what a rise in heart rate means.</a:t>
            </a:r>
            <a:endParaRPr lang="en-US" sz="850" dirty="0"/>
          </a:p>
        </p:txBody>
      </p:sp>
      <p:sp>
        <p:nvSpPr>
          <p:cNvPr id="94" name="Text 87"/>
          <p:cNvSpPr txBox="1"/>
          <p:nvPr/>
        </p:nvSpPr>
        <p:spPr>
          <a:xfrm>
            <a:off x="274320" y="6400800"/>
            <a:ext cx="6903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5A2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ANNEXURE A2</a:t>
            </a:r>
            <a:r>
              <a:rPr lang="en-US" sz="70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  |  all data synthetic; Meera's values are from the hosted demo on 12 Oct 2026</a:t>
            </a:r>
            <a:endParaRPr lang="en-US" sz="700" dirty="0"/>
          </a:p>
        </p:txBody>
      </p:sp>
      <p:sp>
        <p:nvSpPr>
          <p:cNvPr id="95" name="Text 88"/>
          <p:cNvSpPr txBox="1"/>
          <p:nvPr/>
        </p:nvSpPr>
        <p:spPr>
          <a:xfrm>
            <a:off x="7315200" y="6400800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5A2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SOURCE: </a:t>
            </a:r>
            <a:r>
              <a:rPr lang="en-US" sz="70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backend/twin/data (generator); docs/DATA_SOURCES.md; docs/DEVICE_SYNC.md; docs/architecture.pdf</a:t>
            </a:r>
            <a:endParaRPr lang="en-US" sz="700" dirty="0"/>
          </a:p>
        </p:txBody>
      </p:sp>
      <p:sp>
        <p:nvSpPr>
          <p:cNvPr id="96" name="Shape 89"/>
          <p:cNvSpPr/>
          <p:nvPr/>
        </p:nvSpPr>
        <p:spPr>
          <a:xfrm>
            <a:off x="11658600" y="6419088"/>
            <a:ext cx="256032" cy="256032"/>
          </a:xfrm>
          <a:prstGeom prst="rect">
            <a:avLst/>
          </a:prstGeom>
          <a:solidFill>
            <a:srgbClr val="1F2A2A"/>
          </a:solidFill>
          <a:ln/>
        </p:spPr>
      </p:sp>
      <p:sp>
        <p:nvSpPr>
          <p:cNvPr id="97" name="Text 90"/>
          <p:cNvSpPr txBox="1"/>
          <p:nvPr/>
        </p:nvSpPr>
        <p:spPr>
          <a:xfrm>
            <a:off x="11658600" y="64190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46304"/>
            <a:ext cx="566928" cy="566928"/>
          </a:xfrm>
          <a:prstGeom prst="rect">
            <a:avLst/>
          </a:prstGeom>
          <a:solidFill>
            <a:srgbClr val="086A7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1463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A3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54864"/>
            <a:ext cx="9098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550" b="1" dirty="0">
                <a:solidFill>
                  <a:srgbClr val="086A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twin compares tonight with Meera's own body: 13.8 bpm above her usual, only 1.3 explained by her habits, so 12.6 bpm becomes a calibrated 24% warning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608076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Five steps, each with the trained model's real output for Meera Iyer on 12 October 2026. Every slope and baseline uses only earlier days (three automated leakage tests).</a:t>
            </a:r>
            <a:endParaRPr lang="en-US" sz="800" dirty="0"/>
          </a:p>
        </p:txBody>
      </p:sp>
      <p:pic>
        <p:nvPicPr>
          <p:cNvPr id="6" name="Image 0" descr="Pratibimb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0" y="109728"/>
            <a:ext cx="1536192" cy="2958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917936" y="566928"/>
            <a:ext cx="996696" cy="182880"/>
          </a:xfrm>
          <a:prstGeom prst="roundRect">
            <a:avLst>
              <a:gd name="adj" fmla="val 50000"/>
            </a:avLst>
          </a:prstGeom>
          <a:solidFill>
            <a:srgbClr val="B23F69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0917936" y="566928"/>
            <a:ext cx="996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Personalisation</a:t>
            </a:r>
            <a:endParaRPr lang="en-US" sz="700" dirty="0"/>
          </a:p>
        </p:txBody>
      </p:sp>
      <p:sp>
        <p:nvSpPr>
          <p:cNvPr id="9" name="Shape 6"/>
          <p:cNvSpPr/>
          <p:nvPr/>
        </p:nvSpPr>
        <p:spPr>
          <a:xfrm>
            <a:off x="9813341" y="566928"/>
            <a:ext cx="1049731" cy="182880"/>
          </a:xfrm>
          <a:prstGeom prst="roundRect">
            <a:avLst>
              <a:gd name="adj" fmla="val 50000"/>
            </a:avLst>
          </a:prstGeom>
          <a:solidFill>
            <a:srgbClr val="086A7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813341" y="566928"/>
            <a:ext cx="104973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Predictive model</a:t>
            </a:r>
            <a:endParaRPr lang="en-US" sz="700" dirty="0"/>
          </a:p>
        </p:txBody>
      </p:sp>
      <p:pic>
        <p:nvPicPr>
          <p:cNvPr id="11" name="Image 1" descr="Pratibimb motif stri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41248"/>
            <a:ext cx="11640312" cy="5486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74320" y="987552"/>
            <a:ext cx="11640312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2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47472" y="1083564"/>
            <a:ext cx="64008" cy="64008"/>
          </a:xfrm>
          <a:prstGeom prst="rect">
            <a:avLst/>
          </a:prstGeom>
          <a:solidFill>
            <a:srgbClr val="086A70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448056" y="1037844"/>
            <a:ext cx="10561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FIVE STEPS, WORKED ON MEERA</a:t>
            </a:r>
            <a:endParaRPr lang="en-US" sz="800" dirty="0"/>
          </a:p>
        </p:txBody>
      </p:sp>
      <p:sp>
        <p:nvSpPr>
          <p:cNvPr id="15" name="Text 11"/>
          <p:cNvSpPr txBox="1"/>
          <p:nvPr/>
        </p:nvSpPr>
        <p:spPr>
          <a:xfrm>
            <a:off x="11055096" y="1037844"/>
            <a:ext cx="8046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86A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SEE ALGORITHM.MD</a:t>
            </a:r>
            <a:endParaRPr lang="en-US" sz="700" dirty="0"/>
          </a:p>
        </p:txBody>
      </p:sp>
      <p:sp>
        <p:nvSpPr>
          <p:cNvPr id="16" name="Shape 12"/>
          <p:cNvSpPr/>
          <p:nvPr/>
        </p:nvSpPr>
        <p:spPr>
          <a:xfrm>
            <a:off x="365760" y="1243584"/>
            <a:ext cx="2212848" cy="1737360"/>
          </a:xfrm>
          <a:prstGeom prst="rect">
            <a:avLst/>
          </a:prstGeom>
          <a:solidFill>
            <a:srgbClr val="F4F1EA"/>
          </a:solidFill>
          <a:ln/>
        </p:spPr>
      </p:sp>
      <p:sp>
        <p:nvSpPr>
          <p:cNvPr id="17" name="Shape 13"/>
          <p:cNvSpPr/>
          <p:nvPr/>
        </p:nvSpPr>
        <p:spPr>
          <a:xfrm>
            <a:off x="438912" y="1307592"/>
            <a:ext cx="274320" cy="274320"/>
          </a:xfrm>
          <a:prstGeom prst="ellipse">
            <a:avLst/>
          </a:prstGeom>
          <a:solidFill>
            <a:srgbClr val="086A70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438912" y="13075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777240" y="1307592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86A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HER USUAL</a:t>
            </a:r>
            <a:endParaRPr lang="en-US" sz="900" dirty="0"/>
          </a:p>
        </p:txBody>
      </p:sp>
      <p:sp>
        <p:nvSpPr>
          <p:cNvPr id="20" name="Text 16"/>
          <p:cNvSpPr txBox="1"/>
          <p:nvPr/>
        </p:nvSpPr>
        <p:spPr>
          <a:xfrm>
            <a:off x="457200" y="1627632"/>
            <a:ext cx="2029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Compares tonight with her own last 28 nights (heart rate, BP) and 60 nights (HRV), never with other people</a:t>
            </a:r>
            <a:endParaRPr lang="en-US" sz="730" dirty="0"/>
          </a:p>
        </p:txBody>
      </p:sp>
      <p:sp>
        <p:nvSpPr>
          <p:cNvPr id="21" name="Text 17"/>
          <p:cNvSpPr txBox="1"/>
          <p:nvPr/>
        </p:nvSpPr>
        <p:spPr>
          <a:xfrm>
            <a:off x="457200" y="2103120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86A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+13.8 bpm</a:t>
            </a:r>
            <a:endParaRPr lang="en-US" sz="2000" dirty="0"/>
          </a:p>
        </p:txBody>
      </p:sp>
      <p:sp>
        <p:nvSpPr>
          <p:cNvPr id="22" name="Text 18"/>
          <p:cNvSpPr txBox="1"/>
          <p:nvPr/>
        </p:nvSpPr>
        <p:spPr>
          <a:xfrm>
            <a:off x="457200" y="2487168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1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usual 56.5, tonight 70.3</a:t>
            </a:r>
            <a:endParaRPr lang="en-US" sz="710" dirty="0"/>
          </a:p>
        </p:txBody>
      </p:sp>
      <p:sp>
        <p:nvSpPr>
          <p:cNvPr id="23" name="Text 19"/>
          <p:cNvSpPr txBox="1"/>
          <p:nvPr/>
        </p:nvSpPr>
        <p:spPr>
          <a:xfrm>
            <a:off x="457200" y="2788920"/>
            <a:ext cx="20299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" i="1" dirty="0">
                <a:solidFill>
                  <a:srgbClr val="A9AEB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features/build.py</a:t>
            </a:r>
            <a:endParaRPr lang="en-US" sz="640" dirty="0"/>
          </a:p>
        </p:txBody>
      </p:sp>
      <p:sp>
        <p:nvSpPr>
          <p:cNvPr id="24" name="Shape 20"/>
          <p:cNvSpPr/>
          <p:nvPr/>
        </p:nvSpPr>
        <p:spPr>
          <a:xfrm>
            <a:off x="2587752" y="2011680"/>
            <a:ext cx="91440" cy="182880"/>
          </a:xfrm>
          <a:prstGeom prst="chevron">
            <a:avLst/>
          </a:prstGeom>
          <a:solidFill>
            <a:srgbClr val="A9AEB0"/>
          </a:solidFill>
          <a:ln/>
        </p:spPr>
      </p:sp>
      <p:sp>
        <p:nvSpPr>
          <p:cNvPr id="25" name="Shape 21"/>
          <p:cNvSpPr/>
          <p:nvPr/>
        </p:nvSpPr>
        <p:spPr>
          <a:xfrm>
            <a:off x="2688336" y="1243584"/>
            <a:ext cx="2212848" cy="1737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2"/>
          <p:cNvSpPr/>
          <p:nvPr/>
        </p:nvSpPr>
        <p:spPr>
          <a:xfrm>
            <a:off x="2761488" y="1307592"/>
            <a:ext cx="274320" cy="274320"/>
          </a:xfrm>
          <a:prstGeom prst="ellipse">
            <a:avLst/>
          </a:prstGeom>
          <a:solidFill>
            <a:srgbClr val="086A70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2761488" y="13075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</a:t>
            </a:r>
            <a:endParaRPr lang="en-US" sz="1000" dirty="0"/>
          </a:p>
        </p:txBody>
      </p:sp>
      <p:sp>
        <p:nvSpPr>
          <p:cNvPr id="28" name="Text 24"/>
          <p:cNvSpPr txBox="1"/>
          <p:nvPr/>
        </p:nvSpPr>
        <p:spPr>
          <a:xfrm>
            <a:off x="3099816" y="1307592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86A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HOW HER BODY RESPONDS</a:t>
            </a:r>
            <a:endParaRPr lang="en-US" sz="900" dirty="0"/>
          </a:p>
        </p:txBody>
      </p:sp>
      <p:sp>
        <p:nvSpPr>
          <p:cNvPr id="29" name="Text 25"/>
          <p:cNvSpPr txBox="1"/>
          <p:nvPr/>
        </p:nvSpPr>
        <p:spPr>
          <a:xfrm>
            <a:off x="2779776" y="1627632"/>
            <a:ext cx="2029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On calm days only, learns how tomorrow's heart rate, HRV and BP move with today's sleep and steps</a:t>
            </a:r>
            <a:endParaRPr lang="en-US" sz="730" dirty="0"/>
          </a:p>
        </p:txBody>
      </p:sp>
      <p:sp>
        <p:nvSpPr>
          <p:cNvPr id="30" name="Text 26"/>
          <p:cNvSpPr txBox="1"/>
          <p:nvPr/>
        </p:nvSpPr>
        <p:spPr>
          <a:xfrm>
            <a:off x="2779776" y="2103120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86A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 slopes</a:t>
            </a:r>
            <a:endParaRPr lang="en-US" sz="2000" dirty="0"/>
          </a:p>
        </p:txBody>
      </p:sp>
      <p:sp>
        <p:nvSpPr>
          <p:cNvPr id="31" name="Text 27"/>
          <p:cNvSpPr txBox="1"/>
          <p:nvPr/>
        </p:nvSpPr>
        <p:spPr>
          <a:xfrm>
            <a:off x="2779776" y="2487168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1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from 109 calm days; errors widened for day-to-day drift</a:t>
            </a:r>
            <a:endParaRPr lang="en-US" sz="710" dirty="0"/>
          </a:p>
        </p:txBody>
      </p:sp>
      <p:sp>
        <p:nvSpPr>
          <p:cNvPr id="32" name="Text 28"/>
          <p:cNvSpPr txBox="1"/>
          <p:nvPr/>
        </p:nvSpPr>
        <p:spPr>
          <a:xfrm>
            <a:off x="2779776" y="2788920"/>
            <a:ext cx="20299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" i="1" dirty="0">
                <a:solidFill>
                  <a:srgbClr val="A9AEB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models/physiology.py</a:t>
            </a:r>
            <a:endParaRPr lang="en-US" sz="640" dirty="0"/>
          </a:p>
        </p:txBody>
      </p:sp>
      <p:sp>
        <p:nvSpPr>
          <p:cNvPr id="33" name="Shape 29"/>
          <p:cNvSpPr/>
          <p:nvPr/>
        </p:nvSpPr>
        <p:spPr>
          <a:xfrm>
            <a:off x="4910328" y="2011680"/>
            <a:ext cx="91440" cy="182880"/>
          </a:xfrm>
          <a:prstGeom prst="chevron">
            <a:avLst/>
          </a:prstGeom>
          <a:solidFill>
            <a:srgbClr val="A9AEB0"/>
          </a:solidFill>
          <a:ln/>
        </p:spPr>
      </p:sp>
      <p:sp>
        <p:nvSpPr>
          <p:cNvPr id="34" name="Shape 30"/>
          <p:cNvSpPr/>
          <p:nvPr/>
        </p:nvSpPr>
        <p:spPr>
          <a:xfrm>
            <a:off x="5010912" y="1243584"/>
            <a:ext cx="2212848" cy="1737360"/>
          </a:xfrm>
          <a:prstGeom prst="rect">
            <a:avLst/>
          </a:prstGeom>
          <a:solidFill>
            <a:srgbClr val="F4F1EA"/>
          </a:solidFill>
          <a:ln/>
        </p:spPr>
      </p:sp>
      <p:sp>
        <p:nvSpPr>
          <p:cNvPr id="35" name="Shape 31"/>
          <p:cNvSpPr/>
          <p:nvPr/>
        </p:nvSpPr>
        <p:spPr>
          <a:xfrm>
            <a:off x="5084064" y="1307592"/>
            <a:ext cx="274320" cy="274320"/>
          </a:xfrm>
          <a:prstGeom prst="ellipse">
            <a:avLst/>
          </a:prstGeom>
          <a:solidFill>
            <a:srgbClr val="086A70"/>
          </a:solidFill>
          <a:ln/>
        </p:spPr>
      </p:sp>
      <p:sp>
        <p:nvSpPr>
          <p:cNvPr id="36" name="Text 32"/>
          <p:cNvSpPr txBox="1"/>
          <p:nvPr/>
        </p:nvSpPr>
        <p:spPr>
          <a:xfrm>
            <a:off x="5084064" y="13075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</a:t>
            </a:r>
            <a:endParaRPr lang="en-US" sz="1000" dirty="0"/>
          </a:p>
        </p:txBody>
      </p:sp>
      <p:sp>
        <p:nvSpPr>
          <p:cNvPr id="37" name="Text 33"/>
          <p:cNvSpPr txBox="1"/>
          <p:nvPr/>
        </p:nvSpPr>
        <p:spPr>
          <a:xfrm>
            <a:off x="5422392" y="1307592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86A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BORROW FROM THE GROUP</a:t>
            </a:r>
            <a:endParaRPr lang="en-US" sz="900" dirty="0"/>
          </a:p>
        </p:txBody>
      </p:sp>
      <p:sp>
        <p:nvSpPr>
          <p:cNvPr id="38" name="Text 34"/>
          <p:cNvSpPr txBox="1"/>
          <p:nvPr/>
        </p:nvSpPr>
        <p:spPr>
          <a:xfrm>
            <a:off x="5102352" y="1627632"/>
            <a:ext cx="2029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Pulls her slope toward the group by exactly how unsure it is (DerSimonian and Laird)</a:t>
            </a:r>
            <a:endParaRPr lang="en-US" sz="730" dirty="0"/>
          </a:p>
        </p:txBody>
      </p:sp>
      <p:sp>
        <p:nvSpPr>
          <p:cNvPr id="39" name="Text 35"/>
          <p:cNvSpPr txBox="1"/>
          <p:nvPr/>
        </p:nvSpPr>
        <p:spPr>
          <a:xfrm>
            <a:off x="5102352" y="2103120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86A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57%</a:t>
            </a:r>
            <a:endParaRPr lang="en-US" sz="2000" dirty="0"/>
          </a:p>
        </p:txBody>
      </p:sp>
      <p:sp>
        <p:nvSpPr>
          <p:cNvPr id="40" name="Text 36"/>
          <p:cNvSpPr txBox="1"/>
          <p:nvPr/>
        </p:nvSpPr>
        <p:spPr>
          <a:xfrm>
            <a:off x="5102352" y="2487168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1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weight on her own data; slope -1.41 vs group -1.03</a:t>
            </a:r>
            <a:endParaRPr lang="en-US" sz="710" dirty="0"/>
          </a:p>
        </p:txBody>
      </p:sp>
      <p:sp>
        <p:nvSpPr>
          <p:cNvPr id="41" name="Text 37"/>
          <p:cNvSpPr txBox="1"/>
          <p:nvPr/>
        </p:nvSpPr>
        <p:spPr>
          <a:xfrm>
            <a:off x="5102352" y="2788920"/>
            <a:ext cx="20299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" i="1" dirty="0">
                <a:solidFill>
                  <a:srgbClr val="A9AEB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models/physiology.py</a:t>
            </a:r>
            <a:endParaRPr lang="en-US" sz="640" dirty="0"/>
          </a:p>
        </p:txBody>
      </p:sp>
      <p:sp>
        <p:nvSpPr>
          <p:cNvPr id="42" name="Shape 38"/>
          <p:cNvSpPr/>
          <p:nvPr/>
        </p:nvSpPr>
        <p:spPr>
          <a:xfrm>
            <a:off x="7232904" y="2011680"/>
            <a:ext cx="91440" cy="182880"/>
          </a:xfrm>
          <a:prstGeom prst="chevron">
            <a:avLst/>
          </a:prstGeom>
          <a:solidFill>
            <a:srgbClr val="A9AEB0"/>
          </a:solidFill>
          <a:ln/>
        </p:spPr>
      </p:sp>
      <p:sp>
        <p:nvSpPr>
          <p:cNvPr id="43" name="Shape 39"/>
          <p:cNvSpPr/>
          <p:nvPr/>
        </p:nvSpPr>
        <p:spPr>
          <a:xfrm>
            <a:off x="7333488" y="1243584"/>
            <a:ext cx="2212848" cy="1737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Shape 40"/>
          <p:cNvSpPr/>
          <p:nvPr/>
        </p:nvSpPr>
        <p:spPr>
          <a:xfrm>
            <a:off x="7406640" y="1307592"/>
            <a:ext cx="274320" cy="274320"/>
          </a:xfrm>
          <a:prstGeom prst="ellipse">
            <a:avLst/>
          </a:prstGeom>
          <a:solidFill>
            <a:srgbClr val="B23F69"/>
          </a:solidFill>
          <a:ln/>
        </p:spPr>
      </p:sp>
      <p:sp>
        <p:nvSpPr>
          <p:cNvPr id="45" name="Text 41"/>
          <p:cNvSpPr txBox="1"/>
          <p:nvPr/>
        </p:nvSpPr>
        <p:spPr>
          <a:xfrm>
            <a:off x="7406640" y="13075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</a:t>
            </a:r>
            <a:endParaRPr lang="en-US" sz="1000" dirty="0"/>
          </a:p>
        </p:txBody>
      </p:sp>
      <p:sp>
        <p:nvSpPr>
          <p:cNvPr id="46" name="Text 42"/>
          <p:cNvSpPr txBox="1"/>
          <p:nvPr/>
        </p:nvSpPr>
        <p:spPr>
          <a:xfrm>
            <a:off x="7744968" y="1307592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23F69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EXPLAINED OR NOT</a:t>
            </a:r>
            <a:endParaRPr lang="en-US" sz="900" dirty="0"/>
          </a:p>
        </p:txBody>
      </p:sp>
      <p:sp>
        <p:nvSpPr>
          <p:cNvPr id="47" name="Text 43"/>
          <p:cNvSpPr txBox="1"/>
          <p:nvPr/>
        </p:nvSpPr>
        <p:spPr>
          <a:xfrm>
            <a:off x="7424928" y="1627632"/>
            <a:ext cx="2029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Subtracts what her own sleep and steps explain; recomputed daily from earlier days only</a:t>
            </a:r>
            <a:endParaRPr lang="en-US" sz="730" dirty="0"/>
          </a:p>
        </p:txBody>
      </p:sp>
      <p:sp>
        <p:nvSpPr>
          <p:cNvPr id="48" name="Text 44"/>
          <p:cNvSpPr txBox="1"/>
          <p:nvPr/>
        </p:nvSpPr>
        <p:spPr>
          <a:xfrm>
            <a:off x="7424928" y="2103120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B23F69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+12.6 bpm</a:t>
            </a:r>
            <a:endParaRPr lang="en-US" sz="2000" dirty="0"/>
          </a:p>
        </p:txBody>
      </p:sp>
      <p:sp>
        <p:nvSpPr>
          <p:cNvPr id="49" name="Text 45"/>
          <p:cNvSpPr txBox="1"/>
          <p:nvPr/>
        </p:nvSpPr>
        <p:spPr>
          <a:xfrm>
            <a:off x="7424928" y="2487168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1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unexplained; BP +16 mmHg her activity cannot explain</a:t>
            </a:r>
            <a:endParaRPr lang="en-US" sz="710" dirty="0"/>
          </a:p>
        </p:txBody>
      </p:sp>
      <p:sp>
        <p:nvSpPr>
          <p:cNvPr id="50" name="Text 46"/>
          <p:cNvSpPr txBox="1"/>
          <p:nvPr/>
        </p:nvSpPr>
        <p:spPr>
          <a:xfrm>
            <a:off x="7424928" y="2788920"/>
            <a:ext cx="20299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" i="1" dirty="0">
                <a:solidFill>
                  <a:srgbClr val="A9AEB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models/physiology.py</a:t>
            </a:r>
            <a:endParaRPr lang="en-US" sz="640" dirty="0"/>
          </a:p>
        </p:txBody>
      </p:sp>
      <p:sp>
        <p:nvSpPr>
          <p:cNvPr id="51" name="Shape 47"/>
          <p:cNvSpPr/>
          <p:nvPr/>
        </p:nvSpPr>
        <p:spPr>
          <a:xfrm>
            <a:off x="9555480" y="2011680"/>
            <a:ext cx="91440" cy="182880"/>
          </a:xfrm>
          <a:prstGeom prst="chevron">
            <a:avLst/>
          </a:prstGeom>
          <a:solidFill>
            <a:srgbClr val="A9AEB0"/>
          </a:solidFill>
          <a:ln/>
        </p:spPr>
      </p:sp>
      <p:sp>
        <p:nvSpPr>
          <p:cNvPr id="52" name="Shape 48"/>
          <p:cNvSpPr/>
          <p:nvPr/>
        </p:nvSpPr>
        <p:spPr>
          <a:xfrm>
            <a:off x="9656064" y="1243584"/>
            <a:ext cx="2212848" cy="1737360"/>
          </a:xfrm>
          <a:prstGeom prst="rect">
            <a:avLst/>
          </a:prstGeom>
          <a:solidFill>
            <a:srgbClr val="F4F1EA"/>
          </a:solidFill>
          <a:ln/>
        </p:spPr>
      </p:sp>
      <p:sp>
        <p:nvSpPr>
          <p:cNvPr id="53" name="Shape 49"/>
          <p:cNvSpPr/>
          <p:nvPr/>
        </p:nvSpPr>
        <p:spPr>
          <a:xfrm>
            <a:off x="9729216" y="1307592"/>
            <a:ext cx="274320" cy="274320"/>
          </a:xfrm>
          <a:prstGeom prst="ellipse">
            <a:avLst/>
          </a:prstGeom>
          <a:solidFill>
            <a:srgbClr val="B03A23"/>
          </a:solidFill>
          <a:ln/>
        </p:spPr>
      </p:sp>
      <p:sp>
        <p:nvSpPr>
          <p:cNvPr id="54" name="Text 50"/>
          <p:cNvSpPr txBox="1"/>
          <p:nvPr/>
        </p:nvSpPr>
        <p:spPr>
          <a:xfrm>
            <a:off x="9729216" y="13075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5</a:t>
            </a:r>
            <a:endParaRPr lang="en-US" sz="1000" dirty="0"/>
          </a:p>
        </p:txBody>
      </p:sp>
      <p:sp>
        <p:nvSpPr>
          <p:cNvPr id="55" name="Text 51"/>
          <p:cNvSpPr txBox="1"/>
          <p:nvPr/>
        </p:nvSpPr>
        <p:spPr>
          <a:xfrm>
            <a:off x="10067544" y="1307592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03A2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FUSE AND DECIDE</a:t>
            </a:r>
            <a:endParaRPr lang="en-US" sz="900" dirty="0"/>
          </a:p>
        </p:txBody>
      </p:sp>
      <p:sp>
        <p:nvSpPr>
          <p:cNvPr id="56" name="Text 52"/>
          <p:cNvSpPr txBox="1"/>
          <p:nvPr/>
        </p:nvSpPr>
        <p:spPr>
          <a:xfrm>
            <a:off x="9747504" y="1627632"/>
            <a:ext cx="2029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LightGBM on twin signals, BP trend and 8 record facts; calibrated; thresholds from the budget</a:t>
            </a:r>
            <a:endParaRPr lang="en-US" sz="730" dirty="0"/>
          </a:p>
        </p:txBody>
      </p:sp>
      <p:sp>
        <p:nvSpPr>
          <p:cNvPr id="57" name="Text 53"/>
          <p:cNvSpPr txBox="1"/>
          <p:nvPr/>
        </p:nvSpPr>
        <p:spPr>
          <a:xfrm>
            <a:off x="9747504" y="2103120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B03A2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24%</a:t>
            </a:r>
            <a:endParaRPr lang="en-US" sz="2000" dirty="0"/>
          </a:p>
        </p:txBody>
      </p:sp>
      <p:sp>
        <p:nvSpPr>
          <p:cNvPr id="58" name="Text 54"/>
          <p:cNvSpPr txBox="1"/>
          <p:nvPr/>
        </p:nvSpPr>
        <p:spPr>
          <a:xfrm>
            <a:off x="9747504" y="2487168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1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in 72 h (likely 17 to 28%); usual 0.7%; score 63, urgent</a:t>
            </a:r>
            <a:endParaRPr lang="en-US" sz="710" dirty="0"/>
          </a:p>
        </p:txBody>
      </p:sp>
      <p:sp>
        <p:nvSpPr>
          <p:cNvPr id="59" name="Text 55"/>
          <p:cNvSpPr txBox="1"/>
          <p:nvPr/>
        </p:nvSpPr>
        <p:spPr>
          <a:xfrm>
            <a:off x="9747504" y="2788920"/>
            <a:ext cx="20299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" i="1" dirty="0">
                <a:solidFill>
                  <a:srgbClr val="A9AEB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models/fusion.py</a:t>
            </a:r>
            <a:endParaRPr lang="en-US" sz="640" dirty="0"/>
          </a:p>
        </p:txBody>
      </p:sp>
      <p:sp>
        <p:nvSpPr>
          <p:cNvPr id="60" name="Shape 56"/>
          <p:cNvSpPr/>
          <p:nvPr/>
        </p:nvSpPr>
        <p:spPr>
          <a:xfrm>
            <a:off x="274320" y="3118104"/>
            <a:ext cx="3794760" cy="28072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2"/>
            </a:solidFill>
            <a:prstDash val="solid"/>
          </a:ln>
        </p:spPr>
      </p:sp>
      <p:sp>
        <p:nvSpPr>
          <p:cNvPr id="61" name="Shape 57"/>
          <p:cNvSpPr/>
          <p:nvPr/>
        </p:nvSpPr>
        <p:spPr>
          <a:xfrm>
            <a:off x="347472" y="3214116"/>
            <a:ext cx="64008" cy="64008"/>
          </a:xfrm>
          <a:prstGeom prst="rect">
            <a:avLst/>
          </a:prstGeom>
          <a:solidFill>
            <a:srgbClr val="B23F69"/>
          </a:solidFill>
          <a:ln/>
        </p:spPr>
      </p:sp>
      <p:sp>
        <p:nvSpPr>
          <p:cNvPr id="62" name="Text 58"/>
          <p:cNvSpPr txBox="1"/>
          <p:nvPr/>
        </p:nvSpPr>
        <p:spPr>
          <a:xfrm>
            <a:off x="448056" y="3168396"/>
            <a:ext cx="3063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STEP 4: WHERE TONIGHT'S +13.8 BPM COMES FROM</a:t>
            </a:r>
            <a:endParaRPr lang="en-US" sz="800" dirty="0"/>
          </a:p>
        </p:txBody>
      </p:sp>
      <p:sp>
        <p:nvSpPr>
          <p:cNvPr id="63" name="Text 59"/>
          <p:cNvSpPr txBox="1"/>
          <p:nvPr/>
        </p:nvSpPr>
        <p:spPr>
          <a:xfrm>
            <a:off x="3557016" y="3168396"/>
            <a:ext cx="457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B23F69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BPM</a:t>
            </a:r>
            <a:endParaRPr lang="en-US" sz="700" dirty="0"/>
          </a:p>
        </p:txBody>
      </p:sp>
      <p:sp>
        <p:nvSpPr>
          <p:cNvPr id="64" name="Shape 60"/>
          <p:cNvSpPr/>
          <p:nvPr/>
        </p:nvSpPr>
        <p:spPr>
          <a:xfrm>
            <a:off x="640080" y="5175504"/>
            <a:ext cx="3246120" cy="91"/>
          </a:xfrm>
          <a:prstGeom prst="line">
            <a:avLst/>
          </a:prstGeom>
          <a:noFill/>
          <a:ln w="6350">
            <a:solidFill>
              <a:srgbClr val="A9AEB0"/>
            </a:solidFill>
            <a:prstDash val="solid"/>
          </a:ln>
        </p:spPr>
      </p:sp>
      <p:sp>
        <p:nvSpPr>
          <p:cNvPr id="65" name="Text 61"/>
          <p:cNvSpPr txBox="1"/>
          <p:nvPr/>
        </p:nvSpPr>
        <p:spPr>
          <a:xfrm>
            <a:off x="356616" y="5111496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5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</a:t>
            </a:r>
            <a:endParaRPr lang="en-US" sz="650" dirty="0"/>
          </a:p>
        </p:txBody>
      </p:sp>
      <p:sp>
        <p:nvSpPr>
          <p:cNvPr id="66" name="Shape 62"/>
          <p:cNvSpPr/>
          <p:nvPr/>
        </p:nvSpPr>
        <p:spPr>
          <a:xfrm>
            <a:off x="640080" y="4594207"/>
            <a:ext cx="3246120" cy="91"/>
          </a:xfrm>
          <a:prstGeom prst="line">
            <a:avLst/>
          </a:prstGeom>
          <a:noFill/>
          <a:ln w="6350">
            <a:solidFill>
              <a:srgbClr val="D6D0C2"/>
            </a:solidFill>
            <a:prstDash val="dash"/>
          </a:ln>
        </p:spPr>
      </p:sp>
      <p:sp>
        <p:nvSpPr>
          <p:cNvPr id="67" name="Text 63"/>
          <p:cNvSpPr txBox="1"/>
          <p:nvPr/>
        </p:nvSpPr>
        <p:spPr>
          <a:xfrm>
            <a:off x="356616" y="4530199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5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5</a:t>
            </a:r>
            <a:endParaRPr lang="en-US" sz="650" dirty="0"/>
          </a:p>
        </p:txBody>
      </p:sp>
      <p:sp>
        <p:nvSpPr>
          <p:cNvPr id="68" name="Shape 64"/>
          <p:cNvSpPr/>
          <p:nvPr/>
        </p:nvSpPr>
        <p:spPr>
          <a:xfrm>
            <a:off x="640080" y="4012910"/>
            <a:ext cx="3246120" cy="91"/>
          </a:xfrm>
          <a:prstGeom prst="line">
            <a:avLst/>
          </a:prstGeom>
          <a:noFill/>
          <a:ln w="6350">
            <a:solidFill>
              <a:srgbClr val="D6D0C2"/>
            </a:solidFill>
            <a:prstDash val="dash"/>
          </a:ln>
        </p:spPr>
      </p:sp>
      <p:sp>
        <p:nvSpPr>
          <p:cNvPr id="69" name="Text 65"/>
          <p:cNvSpPr txBox="1"/>
          <p:nvPr/>
        </p:nvSpPr>
        <p:spPr>
          <a:xfrm>
            <a:off x="356616" y="3948902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5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10</a:t>
            </a:r>
            <a:endParaRPr lang="en-US" sz="650" dirty="0"/>
          </a:p>
        </p:txBody>
      </p:sp>
      <p:sp>
        <p:nvSpPr>
          <p:cNvPr id="70" name="Shape 66"/>
          <p:cNvSpPr/>
          <p:nvPr/>
        </p:nvSpPr>
        <p:spPr>
          <a:xfrm>
            <a:off x="777240" y="4954611"/>
            <a:ext cx="457200" cy="220893"/>
          </a:xfrm>
          <a:prstGeom prst="rect">
            <a:avLst/>
          </a:prstGeom>
          <a:solidFill>
            <a:srgbClr val="8FC9CB"/>
          </a:solidFill>
          <a:ln/>
        </p:spPr>
      </p:sp>
      <p:sp>
        <p:nvSpPr>
          <p:cNvPr id="71" name="Text 67"/>
          <p:cNvSpPr txBox="1"/>
          <p:nvPr/>
        </p:nvSpPr>
        <p:spPr>
          <a:xfrm>
            <a:off x="685800" y="4799163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6A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+1.9</a:t>
            </a:r>
            <a:endParaRPr lang="en-US" sz="800" dirty="0"/>
          </a:p>
        </p:txBody>
      </p:sp>
      <p:sp>
        <p:nvSpPr>
          <p:cNvPr id="72" name="Text 68"/>
          <p:cNvSpPr txBox="1"/>
          <p:nvPr/>
        </p:nvSpPr>
        <p:spPr>
          <a:xfrm>
            <a:off x="576072" y="5212080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4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Shorter sleep</a:t>
            </a:r>
            <a:endParaRPr lang="en-US" sz="640" dirty="0"/>
          </a:p>
          <a:p>
            <a:pPr algn="ctr" indent="0" marL="0">
              <a:buNone/>
            </a:pPr>
            <a:r>
              <a:rPr lang="en-US" sz="64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(11 Oct, 1.4 h less)</a:t>
            </a:r>
            <a:endParaRPr lang="en-US" sz="640" dirty="0"/>
          </a:p>
        </p:txBody>
      </p:sp>
      <p:sp>
        <p:nvSpPr>
          <p:cNvPr id="73" name="Shape 69"/>
          <p:cNvSpPr/>
          <p:nvPr/>
        </p:nvSpPr>
        <p:spPr>
          <a:xfrm>
            <a:off x="1234440" y="4954611"/>
            <a:ext cx="182880" cy="91"/>
          </a:xfrm>
          <a:prstGeom prst="line">
            <a:avLst/>
          </a:prstGeom>
          <a:noFill/>
          <a:ln w="6350">
            <a:solidFill>
              <a:srgbClr val="A9AEB0"/>
            </a:solidFill>
            <a:prstDash val="dash"/>
          </a:ln>
        </p:spPr>
      </p:sp>
      <p:sp>
        <p:nvSpPr>
          <p:cNvPr id="74" name="Shape 70"/>
          <p:cNvSpPr/>
          <p:nvPr/>
        </p:nvSpPr>
        <p:spPr>
          <a:xfrm>
            <a:off x="1417320" y="4954611"/>
            <a:ext cx="457200" cy="75569"/>
          </a:xfrm>
          <a:prstGeom prst="rect">
            <a:avLst/>
          </a:prstGeom>
          <a:solidFill>
            <a:srgbClr val="187A4C"/>
          </a:solidFill>
          <a:ln/>
        </p:spPr>
      </p:sp>
      <p:sp>
        <p:nvSpPr>
          <p:cNvPr id="75" name="Text 71"/>
          <p:cNvSpPr txBox="1"/>
          <p:nvPr/>
        </p:nvSpPr>
        <p:spPr>
          <a:xfrm>
            <a:off x="1325880" y="4799163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87A4C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-0.6</a:t>
            </a:r>
            <a:endParaRPr lang="en-US" sz="800" dirty="0"/>
          </a:p>
        </p:txBody>
      </p:sp>
      <p:sp>
        <p:nvSpPr>
          <p:cNvPr id="76" name="Text 72"/>
          <p:cNvSpPr txBox="1"/>
          <p:nvPr/>
        </p:nvSpPr>
        <p:spPr>
          <a:xfrm>
            <a:off x="1216152" y="5212080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4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More steps</a:t>
            </a:r>
            <a:endParaRPr lang="en-US" sz="640" dirty="0"/>
          </a:p>
          <a:p>
            <a:pPr algn="ctr" indent="0" marL="0">
              <a:buNone/>
            </a:pPr>
            <a:r>
              <a:rPr lang="en-US" sz="64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(about 1,500)</a:t>
            </a:r>
            <a:endParaRPr lang="en-US" sz="640" dirty="0"/>
          </a:p>
        </p:txBody>
      </p:sp>
      <p:sp>
        <p:nvSpPr>
          <p:cNvPr id="77" name="Shape 73"/>
          <p:cNvSpPr/>
          <p:nvPr/>
        </p:nvSpPr>
        <p:spPr>
          <a:xfrm>
            <a:off x="1874520" y="5030180"/>
            <a:ext cx="182880" cy="91"/>
          </a:xfrm>
          <a:prstGeom prst="line">
            <a:avLst/>
          </a:prstGeom>
          <a:noFill/>
          <a:ln w="6350">
            <a:solidFill>
              <a:srgbClr val="A9AEB0"/>
            </a:solidFill>
            <a:prstDash val="dash"/>
          </a:ln>
        </p:spPr>
      </p:sp>
      <p:sp>
        <p:nvSpPr>
          <p:cNvPr id="78" name="Shape 74"/>
          <p:cNvSpPr/>
          <p:nvPr/>
        </p:nvSpPr>
        <p:spPr>
          <a:xfrm>
            <a:off x="2057400" y="5030180"/>
            <a:ext cx="457200" cy="145324"/>
          </a:xfrm>
          <a:prstGeom prst="rect">
            <a:avLst/>
          </a:prstGeom>
          <a:solidFill>
            <a:srgbClr val="086A70"/>
          </a:solidFill>
          <a:ln/>
        </p:spPr>
      </p:sp>
      <p:sp>
        <p:nvSpPr>
          <p:cNvPr id="79" name="Text 75"/>
          <p:cNvSpPr txBox="1"/>
          <p:nvPr/>
        </p:nvSpPr>
        <p:spPr>
          <a:xfrm>
            <a:off x="1965960" y="4874732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6A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+1.3</a:t>
            </a:r>
            <a:endParaRPr lang="en-US" sz="800" dirty="0"/>
          </a:p>
        </p:txBody>
      </p:sp>
      <p:sp>
        <p:nvSpPr>
          <p:cNvPr id="80" name="Text 76"/>
          <p:cNvSpPr txBox="1"/>
          <p:nvPr/>
        </p:nvSpPr>
        <p:spPr>
          <a:xfrm>
            <a:off x="1856232" y="5212080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4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Explained by</a:t>
            </a:r>
            <a:endParaRPr lang="en-US" sz="640" dirty="0"/>
          </a:p>
          <a:p>
            <a:pPr algn="ctr" indent="0" marL="0">
              <a:buNone/>
            </a:pPr>
            <a:r>
              <a:rPr lang="en-US" sz="64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her habits</a:t>
            </a:r>
            <a:endParaRPr lang="en-US" sz="640" dirty="0"/>
          </a:p>
        </p:txBody>
      </p:sp>
      <p:sp>
        <p:nvSpPr>
          <p:cNvPr id="81" name="Shape 77"/>
          <p:cNvSpPr/>
          <p:nvPr/>
        </p:nvSpPr>
        <p:spPr>
          <a:xfrm>
            <a:off x="2514600" y="5030180"/>
            <a:ext cx="182880" cy="91"/>
          </a:xfrm>
          <a:prstGeom prst="line">
            <a:avLst/>
          </a:prstGeom>
          <a:noFill/>
          <a:ln w="6350">
            <a:solidFill>
              <a:srgbClr val="A9AEB0"/>
            </a:solidFill>
            <a:prstDash val="dash"/>
          </a:ln>
        </p:spPr>
      </p:sp>
      <p:sp>
        <p:nvSpPr>
          <p:cNvPr id="82" name="Shape 78"/>
          <p:cNvSpPr/>
          <p:nvPr/>
        </p:nvSpPr>
        <p:spPr>
          <a:xfrm>
            <a:off x="2697480" y="3571124"/>
            <a:ext cx="457200" cy="1459056"/>
          </a:xfrm>
          <a:prstGeom prst="rect">
            <a:avLst/>
          </a:prstGeom>
          <a:solidFill>
            <a:srgbClr val="B23F69"/>
          </a:solidFill>
          <a:ln/>
        </p:spPr>
      </p:sp>
      <p:sp>
        <p:nvSpPr>
          <p:cNvPr id="83" name="Text 79"/>
          <p:cNvSpPr txBox="1"/>
          <p:nvPr/>
        </p:nvSpPr>
        <p:spPr>
          <a:xfrm>
            <a:off x="2606040" y="3415676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23F69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+12.6</a:t>
            </a:r>
            <a:endParaRPr lang="en-US" sz="800" dirty="0"/>
          </a:p>
        </p:txBody>
      </p:sp>
      <p:sp>
        <p:nvSpPr>
          <p:cNvPr id="84" name="Text 80"/>
          <p:cNvSpPr txBox="1"/>
          <p:nvPr/>
        </p:nvSpPr>
        <p:spPr>
          <a:xfrm>
            <a:off x="2496312" y="5212080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4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Unexplained:</a:t>
            </a:r>
            <a:endParaRPr lang="en-US" sz="640" dirty="0"/>
          </a:p>
          <a:p>
            <a:pPr algn="ctr" indent="0" marL="0">
              <a:buNone/>
            </a:pPr>
            <a:r>
              <a:rPr lang="en-US" sz="64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warning</a:t>
            </a:r>
            <a:endParaRPr lang="en-US" sz="640" dirty="0"/>
          </a:p>
        </p:txBody>
      </p:sp>
      <p:sp>
        <p:nvSpPr>
          <p:cNvPr id="85" name="Shape 81"/>
          <p:cNvSpPr/>
          <p:nvPr/>
        </p:nvSpPr>
        <p:spPr>
          <a:xfrm>
            <a:off x="3154680" y="3571124"/>
            <a:ext cx="182880" cy="91"/>
          </a:xfrm>
          <a:prstGeom prst="line">
            <a:avLst/>
          </a:prstGeom>
          <a:noFill/>
          <a:ln w="6350">
            <a:solidFill>
              <a:srgbClr val="A9AEB0"/>
            </a:solidFill>
            <a:prstDash val="dash"/>
          </a:ln>
        </p:spPr>
      </p:sp>
      <p:sp>
        <p:nvSpPr>
          <p:cNvPr id="86" name="Shape 82"/>
          <p:cNvSpPr/>
          <p:nvPr/>
        </p:nvSpPr>
        <p:spPr>
          <a:xfrm>
            <a:off x="3337560" y="3571124"/>
            <a:ext cx="457200" cy="1604380"/>
          </a:xfrm>
          <a:prstGeom prst="rect">
            <a:avLst/>
          </a:prstGeom>
          <a:solidFill>
            <a:srgbClr val="1F2A2A"/>
          </a:solidFill>
          <a:ln/>
        </p:spPr>
      </p:sp>
      <p:sp>
        <p:nvSpPr>
          <p:cNvPr id="87" name="Text 83"/>
          <p:cNvSpPr txBox="1"/>
          <p:nvPr/>
        </p:nvSpPr>
        <p:spPr>
          <a:xfrm>
            <a:off x="3246120" y="3415676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+13.8</a:t>
            </a:r>
            <a:endParaRPr lang="en-US" sz="800" dirty="0"/>
          </a:p>
        </p:txBody>
      </p:sp>
      <p:sp>
        <p:nvSpPr>
          <p:cNvPr id="88" name="Text 84"/>
          <p:cNvSpPr txBox="1"/>
          <p:nvPr/>
        </p:nvSpPr>
        <p:spPr>
          <a:xfrm>
            <a:off x="3136392" y="5212080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4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Tonight vs</a:t>
            </a:r>
            <a:endParaRPr lang="en-US" sz="640" dirty="0"/>
          </a:p>
          <a:p>
            <a:pPr algn="ctr" indent="0" marL="0">
              <a:buNone/>
            </a:pPr>
            <a:r>
              <a:rPr lang="en-US" sz="64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her usual</a:t>
            </a:r>
            <a:endParaRPr lang="en-US" sz="640" dirty="0"/>
          </a:p>
        </p:txBody>
      </p:sp>
      <p:sp>
        <p:nvSpPr>
          <p:cNvPr id="89" name="Text 85"/>
          <p:cNvSpPr txBox="1"/>
          <p:nvPr/>
        </p:nvSpPr>
        <p:spPr>
          <a:xfrm>
            <a:off x="365760" y="5532120"/>
            <a:ext cx="3639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Explained = her slopes (fitted on earlier days only) x her habits: </a:t>
            </a:r>
            <a:r>
              <a:rPr lang="en-US" sz="69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(-1.38) x (-1.38 h) + (-0.43) x (+1.50 thousand steps) = +1.3 bpm. </a:t>
            </a:r>
            <a:r>
              <a:rPr lang="en-US" sz="690" b="1" dirty="0">
                <a:solidFill>
                  <a:srgbClr val="B23F69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Home BP: </a:t>
            </a:r>
            <a:r>
              <a:rPr lang="en-US" sz="69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+16 mmHg above what her activity explains.</a:t>
            </a:r>
            <a:endParaRPr lang="en-US" sz="690" dirty="0"/>
          </a:p>
        </p:txBody>
      </p:sp>
      <p:sp>
        <p:nvSpPr>
          <p:cNvPr id="90" name="Shape 86"/>
          <p:cNvSpPr/>
          <p:nvPr/>
        </p:nvSpPr>
        <p:spPr>
          <a:xfrm>
            <a:off x="4142232" y="3118104"/>
            <a:ext cx="3794760" cy="28072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2"/>
            </a:solidFill>
            <a:prstDash val="solid"/>
          </a:ln>
        </p:spPr>
      </p:sp>
      <p:sp>
        <p:nvSpPr>
          <p:cNvPr id="91" name="Shape 87"/>
          <p:cNvSpPr/>
          <p:nvPr/>
        </p:nvSpPr>
        <p:spPr>
          <a:xfrm>
            <a:off x="4215384" y="3214116"/>
            <a:ext cx="64008" cy="64008"/>
          </a:xfrm>
          <a:prstGeom prst="rect">
            <a:avLst/>
          </a:prstGeom>
          <a:solidFill>
            <a:srgbClr val="086A70"/>
          </a:solidFill>
          <a:ln/>
        </p:spPr>
      </p:sp>
      <p:sp>
        <p:nvSpPr>
          <p:cNvPr id="92" name="Text 88"/>
          <p:cNvSpPr txBox="1"/>
          <p:nvPr/>
        </p:nvSpPr>
        <p:spPr>
          <a:xfrm>
            <a:off x="4315968" y="3168396"/>
            <a:ext cx="29443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STEP 3: HOW MUCH TO TRUST HER OWN DATA</a:t>
            </a:r>
            <a:endParaRPr lang="en-US" sz="800" dirty="0"/>
          </a:p>
        </p:txBody>
      </p:sp>
      <p:sp>
        <p:nvSpPr>
          <p:cNvPr id="93" name="Text 89"/>
          <p:cNvSpPr txBox="1"/>
          <p:nvPr/>
        </p:nvSpPr>
        <p:spPr>
          <a:xfrm>
            <a:off x="7306056" y="3168396"/>
            <a:ext cx="5760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86A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SLEEP TO HR</a:t>
            </a:r>
            <a:endParaRPr lang="en-US" sz="700" dirty="0"/>
          </a:p>
        </p:txBody>
      </p:sp>
      <p:sp>
        <p:nvSpPr>
          <p:cNvPr id="94" name="Shape 90"/>
          <p:cNvSpPr/>
          <p:nvPr/>
        </p:nvSpPr>
        <p:spPr>
          <a:xfrm>
            <a:off x="4434840" y="3886200"/>
            <a:ext cx="3200400" cy="91"/>
          </a:xfrm>
          <a:prstGeom prst="line">
            <a:avLst/>
          </a:prstGeom>
          <a:noFill/>
          <a:ln w="12700">
            <a:solidFill>
              <a:srgbClr val="A9AEB0"/>
            </a:solidFill>
            <a:prstDash val="solid"/>
          </a:ln>
        </p:spPr>
      </p:sp>
      <p:sp>
        <p:nvSpPr>
          <p:cNvPr id="95" name="Shape 91"/>
          <p:cNvSpPr/>
          <p:nvPr/>
        </p:nvSpPr>
        <p:spPr>
          <a:xfrm>
            <a:off x="4892040" y="3849624"/>
            <a:ext cx="91" cy="73152"/>
          </a:xfrm>
          <a:prstGeom prst="line">
            <a:avLst/>
          </a:prstGeom>
          <a:noFill/>
          <a:ln w="9525">
            <a:solidFill>
              <a:srgbClr val="A9AEB0"/>
            </a:solidFill>
            <a:prstDash val="solid"/>
          </a:ln>
        </p:spPr>
      </p:sp>
      <p:sp>
        <p:nvSpPr>
          <p:cNvPr id="96" name="Text 92"/>
          <p:cNvSpPr txBox="1"/>
          <p:nvPr/>
        </p:nvSpPr>
        <p:spPr>
          <a:xfrm>
            <a:off x="4709160" y="3950208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4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-2.0</a:t>
            </a:r>
            <a:endParaRPr lang="en-US" sz="640" dirty="0"/>
          </a:p>
        </p:txBody>
      </p:sp>
      <p:sp>
        <p:nvSpPr>
          <p:cNvPr id="97" name="Shape 93"/>
          <p:cNvSpPr/>
          <p:nvPr/>
        </p:nvSpPr>
        <p:spPr>
          <a:xfrm>
            <a:off x="6035040" y="3849624"/>
            <a:ext cx="91" cy="73152"/>
          </a:xfrm>
          <a:prstGeom prst="line">
            <a:avLst/>
          </a:prstGeom>
          <a:noFill/>
          <a:ln w="9525">
            <a:solidFill>
              <a:srgbClr val="A9AEB0"/>
            </a:solidFill>
            <a:prstDash val="solid"/>
          </a:ln>
        </p:spPr>
      </p:sp>
      <p:sp>
        <p:nvSpPr>
          <p:cNvPr id="98" name="Text 94"/>
          <p:cNvSpPr txBox="1"/>
          <p:nvPr/>
        </p:nvSpPr>
        <p:spPr>
          <a:xfrm>
            <a:off x="5852160" y="3950208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4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-1.5</a:t>
            </a:r>
            <a:endParaRPr lang="en-US" sz="640" dirty="0"/>
          </a:p>
        </p:txBody>
      </p:sp>
      <p:sp>
        <p:nvSpPr>
          <p:cNvPr id="99" name="Shape 95"/>
          <p:cNvSpPr/>
          <p:nvPr/>
        </p:nvSpPr>
        <p:spPr>
          <a:xfrm>
            <a:off x="7178040" y="3849624"/>
            <a:ext cx="91" cy="73152"/>
          </a:xfrm>
          <a:prstGeom prst="line">
            <a:avLst/>
          </a:prstGeom>
          <a:noFill/>
          <a:ln w="9525">
            <a:solidFill>
              <a:srgbClr val="A9AEB0"/>
            </a:solidFill>
            <a:prstDash val="solid"/>
          </a:ln>
        </p:spPr>
      </p:sp>
      <p:sp>
        <p:nvSpPr>
          <p:cNvPr id="100" name="Text 96"/>
          <p:cNvSpPr txBox="1"/>
          <p:nvPr/>
        </p:nvSpPr>
        <p:spPr>
          <a:xfrm>
            <a:off x="6995160" y="3950208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4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-1.0</a:t>
            </a:r>
            <a:endParaRPr lang="en-US" sz="640" dirty="0"/>
          </a:p>
        </p:txBody>
      </p:sp>
      <p:sp>
        <p:nvSpPr>
          <p:cNvPr id="101" name="Shape 97"/>
          <p:cNvSpPr/>
          <p:nvPr/>
        </p:nvSpPr>
        <p:spPr>
          <a:xfrm>
            <a:off x="4754880" y="3630168"/>
            <a:ext cx="1691640" cy="91"/>
          </a:xfrm>
          <a:prstGeom prst="line">
            <a:avLst/>
          </a:prstGeom>
          <a:noFill/>
          <a:ln w="15875">
            <a:solidFill>
              <a:srgbClr val="1F2A2A"/>
            </a:solidFill>
            <a:prstDash val="solid"/>
          </a:ln>
        </p:spPr>
      </p:sp>
      <p:sp>
        <p:nvSpPr>
          <p:cNvPr id="102" name="Shape 98"/>
          <p:cNvSpPr/>
          <p:nvPr/>
        </p:nvSpPr>
        <p:spPr>
          <a:xfrm>
            <a:off x="5545836" y="3575304"/>
            <a:ext cx="109728" cy="1097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F2A2A"/>
            </a:solidFill>
            <a:prstDash val="solid"/>
          </a:ln>
        </p:spPr>
      </p:sp>
      <p:sp>
        <p:nvSpPr>
          <p:cNvPr id="103" name="Text 99"/>
          <p:cNvSpPr txBox="1"/>
          <p:nvPr/>
        </p:nvSpPr>
        <p:spPr>
          <a:xfrm>
            <a:off x="4869180" y="3410712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6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her data -1.69 (noise 0.37)</a:t>
            </a:r>
            <a:endParaRPr lang="en-US" sz="660" dirty="0"/>
          </a:p>
        </p:txBody>
      </p:sp>
      <p:sp>
        <p:nvSpPr>
          <p:cNvPr id="104" name="Shape 100"/>
          <p:cNvSpPr/>
          <p:nvPr/>
        </p:nvSpPr>
        <p:spPr>
          <a:xfrm>
            <a:off x="7109460" y="3721608"/>
            <a:ext cx="91" cy="164592"/>
          </a:xfrm>
          <a:prstGeom prst="line">
            <a:avLst/>
          </a:prstGeom>
          <a:noFill/>
          <a:ln w="25400">
            <a:solidFill>
              <a:srgbClr val="A8703C"/>
            </a:solidFill>
            <a:prstDash val="solid"/>
          </a:ln>
        </p:spPr>
      </p:sp>
      <p:sp>
        <p:nvSpPr>
          <p:cNvPr id="105" name="Text 101"/>
          <p:cNvSpPr txBox="1"/>
          <p:nvPr/>
        </p:nvSpPr>
        <p:spPr>
          <a:xfrm>
            <a:off x="6743700" y="3584448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8A5A2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group -1.03</a:t>
            </a:r>
            <a:endParaRPr lang="en-US" sz="660" dirty="0"/>
          </a:p>
        </p:txBody>
      </p:sp>
      <p:sp>
        <p:nvSpPr>
          <p:cNvPr id="106" name="Shape 102"/>
          <p:cNvSpPr/>
          <p:nvPr/>
        </p:nvSpPr>
        <p:spPr>
          <a:xfrm>
            <a:off x="6176772" y="3822192"/>
            <a:ext cx="128016" cy="128016"/>
          </a:xfrm>
          <a:prstGeom prst="ellipse">
            <a:avLst/>
          </a:prstGeom>
          <a:solidFill>
            <a:srgbClr val="B23F69"/>
          </a:solidFill>
          <a:ln/>
        </p:spPr>
      </p:sp>
      <p:sp>
        <p:nvSpPr>
          <p:cNvPr id="107" name="Text 103"/>
          <p:cNvSpPr txBox="1"/>
          <p:nvPr/>
        </p:nvSpPr>
        <p:spPr>
          <a:xfrm>
            <a:off x="5875020" y="4041648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B23F69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twin -1.41</a:t>
            </a:r>
            <a:endParaRPr lang="en-US" sz="680" dirty="0"/>
          </a:p>
        </p:txBody>
      </p:sp>
      <p:sp>
        <p:nvSpPr>
          <p:cNvPr id="108" name="Text 104"/>
          <p:cNvSpPr txBox="1"/>
          <p:nvPr/>
        </p:nvSpPr>
        <p:spPr>
          <a:xfrm>
            <a:off x="4434840" y="4078224"/>
            <a:ext cx="1371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20" i="1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bpm per extra hour of sleep</a:t>
            </a:r>
            <a:endParaRPr lang="en-US" sz="620" dirty="0"/>
          </a:p>
        </p:txBody>
      </p:sp>
      <p:sp>
        <p:nvSpPr>
          <p:cNvPr id="109" name="Shape 105"/>
          <p:cNvSpPr/>
          <p:nvPr/>
        </p:nvSpPr>
        <p:spPr>
          <a:xfrm>
            <a:off x="4224528" y="4224528"/>
            <a:ext cx="3639312" cy="384048"/>
          </a:xfrm>
          <a:prstGeom prst="rect">
            <a:avLst/>
          </a:prstGeom>
          <a:solidFill>
            <a:srgbClr val="DCEFEF"/>
          </a:solidFill>
          <a:ln/>
        </p:spPr>
      </p:sp>
      <p:sp>
        <p:nvSpPr>
          <p:cNvPr id="110" name="Text 106"/>
          <p:cNvSpPr txBox="1"/>
          <p:nvPr/>
        </p:nvSpPr>
        <p:spPr>
          <a:xfrm>
            <a:off x="4279392" y="422452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Weight on her own data = spread² / (spread² + noise²) = 0.43² / (0.43² + 0.37²) = 57%</a:t>
            </a:r>
            <a:endParaRPr lang="en-US" sz="700" dirty="0"/>
          </a:p>
          <a:p>
            <a:pPr algn="l" indent="0" marL="0">
              <a:buNone/>
            </a:pPr>
            <a:r>
              <a:rPr lang="en-US" sz="700" b="1" dirty="0">
                <a:solidFill>
                  <a:srgbClr val="B23F69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Twin slope = 57% x (-1.69) + 43% x (-1.03) = -1.41</a:t>
            </a:r>
            <a:endParaRPr lang="en-US" sz="700" dirty="0"/>
          </a:p>
        </p:txBody>
      </p:sp>
      <p:sp>
        <p:nvSpPr>
          <p:cNvPr id="111" name="Shape 107"/>
          <p:cNvSpPr/>
          <p:nvPr/>
        </p:nvSpPr>
        <p:spPr>
          <a:xfrm>
            <a:off x="4526280" y="5486400"/>
            <a:ext cx="3108960" cy="91"/>
          </a:xfrm>
          <a:prstGeom prst="line">
            <a:avLst/>
          </a:prstGeom>
          <a:noFill/>
          <a:ln w="9525">
            <a:solidFill>
              <a:srgbClr val="A9AEB0"/>
            </a:solidFill>
            <a:prstDash val="solid"/>
          </a:ln>
        </p:spPr>
      </p:sp>
      <p:sp>
        <p:nvSpPr>
          <p:cNvPr id="112" name="Shape 108"/>
          <p:cNvSpPr/>
          <p:nvPr/>
        </p:nvSpPr>
        <p:spPr>
          <a:xfrm>
            <a:off x="4526280" y="4754880"/>
            <a:ext cx="91" cy="731520"/>
          </a:xfrm>
          <a:prstGeom prst="line">
            <a:avLst/>
          </a:prstGeom>
          <a:noFill/>
          <a:ln w="9525">
            <a:solidFill>
              <a:srgbClr val="A9AEB0"/>
            </a:solidFill>
            <a:prstDash val="solid"/>
          </a:ln>
        </p:spPr>
      </p:sp>
      <p:sp>
        <p:nvSpPr>
          <p:cNvPr id="113" name="Shape 109"/>
          <p:cNvSpPr/>
          <p:nvPr/>
        </p:nvSpPr>
        <p:spPr>
          <a:xfrm flipV="1">
            <a:off x="4604004" y="5435778"/>
            <a:ext cx="77724" cy="24404"/>
          </a:xfrm>
          <a:prstGeom prst="line">
            <a:avLst/>
          </a:prstGeom>
          <a:noFill/>
          <a:ln w="22225">
            <a:solidFill>
              <a:srgbClr val="086A70"/>
            </a:solidFill>
            <a:prstDash val="solid"/>
          </a:ln>
        </p:spPr>
      </p:sp>
      <p:sp>
        <p:nvSpPr>
          <p:cNvPr id="114" name="Shape 110"/>
          <p:cNvSpPr/>
          <p:nvPr/>
        </p:nvSpPr>
        <p:spPr>
          <a:xfrm flipV="1">
            <a:off x="4681728" y="5413006"/>
            <a:ext cx="77724" cy="22772"/>
          </a:xfrm>
          <a:prstGeom prst="line">
            <a:avLst/>
          </a:prstGeom>
          <a:noFill/>
          <a:ln w="22225">
            <a:solidFill>
              <a:srgbClr val="086A70"/>
            </a:solidFill>
            <a:prstDash val="solid"/>
          </a:ln>
        </p:spPr>
      </p:sp>
      <p:sp>
        <p:nvSpPr>
          <p:cNvPr id="115" name="Shape 111"/>
          <p:cNvSpPr/>
          <p:nvPr/>
        </p:nvSpPr>
        <p:spPr>
          <a:xfrm flipV="1">
            <a:off x="4759452" y="5391709"/>
            <a:ext cx="77724" cy="21298"/>
          </a:xfrm>
          <a:prstGeom prst="line">
            <a:avLst/>
          </a:prstGeom>
          <a:noFill/>
          <a:ln w="22225">
            <a:solidFill>
              <a:srgbClr val="086A70"/>
            </a:solidFill>
            <a:prstDash val="solid"/>
          </a:ln>
        </p:spPr>
      </p:sp>
      <p:sp>
        <p:nvSpPr>
          <p:cNvPr id="116" name="Shape 112"/>
          <p:cNvSpPr/>
          <p:nvPr/>
        </p:nvSpPr>
        <p:spPr>
          <a:xfrm flipV="1">
            <a:off x="4837176" y="5371746"/>
            <a:ext cx="77724" cy="19963"/>
          </a:xfrm>
          <a:prstGeom prst="line">
            <a:avLst/>
          </a:prstGeom>
          <a:noFill/>
          <a:ln w="22225">
            <a:solidFill>
              <a:srgbClr val="086A70"/>
            </a:solidFill>
            <a:prstDash val="solid"/>
          </a:ln>
        </p:spPr>
      </p:sp>
      <p:sp>
        <p:nvSpPr>
          <p:cNvPr id="117" name="Shape 113"/>
          <p:cNvSpPr/>
          <p:nvPr/>
        </p:nvSpPr>
        <p:spPr>
          <a:xfrm flipV="1">
            <a:off x="4914900" y="5352997"/>
            <a:ext cx="77724" cy="18749"/>
          </a:xfrm>
          <a:prstGeom prst="line">
            <a:avLst/>
          </a:prstGeom>
          <a:noFill/>
          <a:ln w="22225">
            <a:solidFill>
              <a:srgbClr val="086A70"/>
            </a:solidFill>
            <a:prstDash val="solid"/>
          </a:ln>
        </p:spPr>
      </p:sp>
      <p:sp>
        <p:nvSpPr>
          <p:cNvPr id="118" name="Shape 114"/>
          <p:cNvSpPr/>
          <p:nvPr/>
        </p:nvSpPr>
        <p:spPr>
          <a:xfrm flipV="1">
            <a:off x="4992624" y="5335354"/>
            <a:ext cx="77724" cy="17643"/>
          </a:xfrm>
          <a:prstGeom prst="line">
            <a:avLst/>
          </a:prstGeom>
          <a:noFill/>
          <a:ln w="22225">
            <a:solidFill>
              <a:srgbClr val="086A70"/>
            </a:solidFill>
            <a:prstDash val="solid"/>
          </a:ln>
        </p:spPr>
      </p:sp>
      <p:sp>
        <p:nvSpPr>
          <p:cNvPr id="119" name="Shape 115"/>
          <p:cNvSpPr/>
          <p:nvPr/>
        </p:nvSpPr>
        <p:spPr>
          <a:xfrm flipV="1">
            <a:off x="5070348" y="5318722"/>
            <a:ext cx="77724" cy="16632"/>
          </a:xfrm>
          <a:prstGeom prst="line">
            <a:avLst/>
          </a:prstGeom>
          <a:noFill/>
          <a:ln w="22225">
            <a:solidFill>
              <a:srgbClr val="086A70"/>
            </a:solidFill>
            <a:prstDash val="solid"/>
          </a:ln>
        </p:spPr>
      </p:sp>
      <p:sp>
        <p:nvSpPr>
          <p:cNvPr id="120" name="Shape 116"/>
          <p:cNvSpPr/>
          <p:nvPr/>
        </p:nvSpPr>
        <p:spPr>
          <a:xfrm flipV="1">
            <a:off x="5148072" y="5303017"/>
            <a:ext cx="77724" cy="15705"/>
          </a:xfrm>
          <a:prstGeom prst="line">
            <a:avLst/>
          </a:prstGeom>
          <a:noFill/>
          <a:ln w="22225">
            <a:solidFill>
              <a:srgbClr val="086A70"/>
            </a:solidFill>
            <a:prstDash val="solid"/>
          </a:ln>
        </p:spPr>
      </p:sp>
      <p:sp>
        <p:nvSpPr>
          <p:cNvPr id="121" name="Shape 117"/>
          <p:cNvSpPr/>
          <p:nvPr/>
        </p:nvSpPr>
        <p:spPr>
          <a:xfrm flipV="1">
            <a:off x="5225796" y="5288163"/>
            <a:ext cx="77724" cy="14854"/>
          </a:xfrm>
          <a:prstGeom prst="line">
            <a:avLst/>
          </a:prstGeom>
          <a:noFill/>
          <a:ln w="22225">
            <a:solidFill>
              <a:srgbClr val="086A70"/>
            </a:solidFill>
            <a:prstDash val="solid"/>
          </a:ln>
        </p:spPr>
      </p:sp>
      <p:sp>
        <p:nvSpPr>
          <p:cNvPr id="122" name="Shape 118"/>
          <p:cNvSpPr/>
          <p:nvPr/>
        </p:nvSpPr>
        <p:spPr>
          <a:xfrm flipV="1">
            <a:off x="5303520" y="5274092"/>
            <a:ext cx="77724" cy="14070"/>
          </a:xfrm>
          <a:prstGeom prst="line">
            <a:avLst/>
          </a:prstGeom>
          <a:noFill/>
          <a:ln w="22225">
            <a:solidFill>
              <a:srgbClr val="086A70"/>
            </a:solidFill>
            <a:prstDash val="solid"/>
          </a:ln>
        </p:spPr>
      </p:sp>
      <p:sp>
        <p:nvSpPr>
          <p:cNvPr id="123" name="Shape 119"/>
          <p:cNvSpPr/>
          <p:nvPr/>
        </p:nvSpPr>
        <p:spPr>
          <a:xfrm flipV="1">
            <a:off x="5381244" y="5260745"/>
            <a:ext cx="77724" cy="13347"/>
          </a:xfrm>
          <a:prstGeom prst="line">
            <a:avLst/>
          </a:prstGeom>
          <a:noFill/>
          <a:ln w="22225">
            <a:solidFill>
              <a:srgbClr val="086A70"/>
            </a:solidFill>
            <a:prstDash val="solid"/>
          </a:ln>
        </p:spPr>
      </p:sp>
      <p:sp>
        <p:nvSpPr>
          <p:cNvPr id="124" name="Shape 120"/>
          <p:cNvSpPr/>
          <p:nvPr/>
        </p:nvSpPr>
        <p:spPr>
          <a:xfrm flipV="1">
            <a:off x="5458968" y="5248067"/>
            <a:ext cx="77724" cy="12678"/>
          </a:xfrm>
          <a:prstGeom prst="line">
            <a:avLst/>
          </a:prstGeom>
          <a:noFill/>
          <a:ln w="22225">
            <a:solidFill>
              <a:srgbClr val="086A70"/>
            </a:solidFill>
            <a:prstDash val="solid"/>
          </a:ln>
        </p:spPr>
      </p:sp>
      <p:sp>
        <p:nvSpPr>
          <p:cNvPr id="125" name="Shape 121"/>
          <p:cNvSpPr/>
          <p:nvPr/>
        </p:nvSpPr>
        <p:spPr>
          <a:xfrm flipV="1">
            <a:off x="5536692" y="5236009"/>
            <a:ext cx="77724" cy="12058"/>
          </a:xfrm>
          <a:prstGeom prst="line">
            <a:avLst/>
          </a:prstGeom>
          <a:noFill/>
          <a:ln w="22225">
            <a:solidFill>
              <a:srgbClr val="086A70"/>
            </a:solidFill>
            <a:prstDash val="solid"/>
          </a:ln>
        </p:spPr>
      </p:sp>
      <p:sp>
        <p:nvSpPr>
          <p:cNvPr id="126" name="Shape 122"/>
          <p:cNvSpPr/>
          <p:nvPr/>
        </p:nvSpPr>
        <p:spPr>
          <a:xfrm flipV="1">
            <a:off x="5614416" y="5224527"/>
            <a:ext cx="77724" cy="11482"/>
          </a:xfrm>
          <a:prstGeom prst="line">
            <a:avLst/>
          </a:prstGeom>
          <a:noFill/>
          <a:ln w="22225">
            <a:solidFill>
              <a:srgbClr val="086A70"/>
            </a:solidFill>
            <a:prstDash val="solid"/>
          </a:ln>
        </p:spPr>
      </p:sp>
      <p:sp>
        <p:nvSpPr>
          <p:cNvPr id="127" name="Shape 123"/>
          <p:cNvSpPr/>
          <p:nvPr/>
        </p:nvSpPr>
        <p:spPr>
          <a:xfrm flipV="1">
            <a:off x="5692140" y="5213580"/>
            <a:ext cx="77724" cy="10947"/>
          </a:xfrm>
          <a:prstGeom prst="line">
            <a:avLst/>
          </a:prstGeom>
          <a:noFill/>
          <a:ln w="22225">
            <a:solidFill>
              <a:srgbClr val="086A70"/>
            </a:solidFill>
            <a:prstDash val="solid"/>
          </a:ln>
        </p:spPr>
      </p:sp>
      <p:sp>
        <p:nvSpPr>
          <p:cNvPr id="128" name="Shape 124"/>
          <p:cNvSpPr/>
          <p:nvPr/>
        </p:nvSpPr>
        <p:spPr>
          <a:xfrm flipV="1">
            <a:off x="5769864" y="5203131"/>
            <a:ext cx="77724" cy="10448"/>
          </a:xfrm>
          <a:prstGeom prst="line">
            <a:avLst/>
          </a:prstGeom>
          <a:noFill/>
          <a:ln w="22225">
            <a:solidFill>
              <a:srgbClr val="086A70"/>
            </a:solidFill>
            <a:prstDash val="solid"/>
          </a:ln>
        </p:spPr>
      </p:sp>
      <p:sp>
        <p:nvSpPr>
          <p:cNvPr id="129" name="Shape 125"/>
          <p:cNvSpPr/>
          <p:nvPr/>
        </p:nvSpPr>
        <p:spPr>
          <a:xfrm flipV="1">
            <a:off x="5847588" y="5193148"/>
            <a:ext cx="77724" cy="9983"/>
          </a:xfrm>
          <a:prstGeom prst="line">
            <a:avLst/>
          </a:prstGeom>
          <a:noFill/>
          <a:ln w="22225">
            <a:solidFill>
              <a:srgbClr val="086A70"/>
            </a:solidFill>
            <a:prstDash val="solid"/>
          </a:ln>
        </p:spPr>
      </p:sp>
      <p:sp>
        <p:nvSpPr>
          <p:cNvPr id="130" name="Shape 126"/>
          <p:cNvSpPr/>
          <p:nvPr/>
        </p:nvSpPr>
        <p:spPr>
          <a:xfrm flipV="1">
            <a:off x="5925312" y="5183600"/>
            <a:ext cx="77724" cy="9548"/>
          </a:xfrm>
          <a:prstGeom prst="line">
            <a:avLst/>
          </a:prstGeom>
          <a:noFill/>
          <a:ln w="22225">
            <a:solidFill>
              <a:srgbClr val="086A70"/>
            </a:solidFill>
            <a:prstDash val="solid"/>
          </a:ln>
        </p:spPr>
      </p:sp>
      <p:sp>
        <p:nvSpPr>
          <p:cNvPr id="131" name="Shape 127"/>
          <p:cNvSpPr/>
          <p:nvPr/>
        </p:nvSpPr>
        <p:spPr>
          <a:xfrm flipV="1">
            <a:off x="6003036" y="5174459"/>
            <a:ext cx="77724" cy="9141"/>
          </a:xfrm>
          <a:prstGeom prst="line">
            <a:avLst/>
          </a:prstGeom>
          <a:noFill/>
          <a:ln w="22225">
            <a:solidFill>
              <a:srgbClr val="086A70"/>
            </a:solidFill>
            <a:prstDash val="solid"/>
          </a:ln>
        </p:spPr>
      </p:sp>
      <p:sp>
        <p:nvSpPr>
          <p:cNvPr id="132" name="Shape 128"/>
          <p:cNvSpPr/>
          <p:nvPr/>
        </p:nvSpPr>
        <p:spPr>
          <a:xfrm flipV="1">
            <a:off x="6080760" y="5165700"/>
            <a:ext cx="77724" cy="8759"/>
          </a:xfrm>
          <a:prstGeom prst="line">
            <a:avLst/>
          </a:prstGeom>
          <a:noFill/>
          <a:ln w="22225">
            <a:solidFill>
              <a:srgbClr val="086A70"/>
            </a:solidFill>
            <a:prstDash val="solid"/>
          </a:ln>
        </p:spPr>
      </p:sp>
      <p:sp>
        <p:nvSpPr>
          <p:cNvPr id="133" name="Shape 129"/>
          <p:cNvSpPr/>
          <p:nvPr/>
        </p:nvSpPr>
        <p:spPr>
          <a:xfrm flipV="1">
            <a:off x="6158484" y="5157299"/>
            <a:ext cx="77724" cy="8401"/>
          </a:xfrm>
          <a:prstGeom prst="line">
            <a:avLst/>
          </a:prstGeom>
          <a:noFill/>
          <a:ln w="22225">
            <a:solidFill>
              <a:srgbClr val="086A70"/>
            </a:solidFill>
            <a:prstDash val="solid"/>
          </a:ln>
        </p:spPr>
      </p:sp>
      <p:sp>
        <p:nvSpPr>
          <p:cNvPr id="134" name="Shape 130"/>
          <p:cNvSpPr/>
          <p:nvPr/>
        </p:nvSpPr>
        <p:spPr>
          <a:xfrm flipV="1">
            <a:off x="6236208" y="5149235"/>
            <a:ext cx="77724" cy="8064"/>
          </a:xfrm>
          <a:prstGeom prst="line">
            <a:avLst/>
          </a:prstGeom>
          <a:noFill/>
          <a:ln w="22225">
            <a:solidFill>
              <a:srgbClr val="086A70"/>
            </a:solidFill>
            <a:prstDash val="solid"/>
          </a:ln>
        </p:spPr>
      </p:sp>
      <p:sp>
        <p:nvSpPr>
          <p:cNvPr id="135" name="Shape 131"/>
          <p:cNvSpPr/>
          <p:nvPr/>
        </p:nvSpPr>
        <p:spPr>
          <a:xfrm flipV="1">
            <a:off x="6313932" y="5141487"/>
            <a:ext cx="77724" cy="7747"/>
          </a:xfrm>
          <a:prstGeom prst="line">
            <a:avLst/>
          </a:prstGeom>
          <a:noFill/>
          <a:ln w="22225">
            <a:solidFill>
              <a:srgbClr val="086A70"/>
            </a:solidFill>
            <a:prstDash val="solid"/>
          </a:ln>
        </p:spPr>
      </p:sp>
      <p:sp>
        <p:nvSpPr>
          <p:cNvPr id="136" name="Shape 132"/>
          <p:cNvSpPr/>
          <p:nvPr/>
        </p:nvSpPr>
        <p:spPr>
          <a:xfrm flipV="1">
            <a:off x="6391656" y="5134038"/>
            <a:ext cx="77724" cy="7449"/>
          </a:xfrm>
          <a:prstGeom prst="line">
            <a:avLst/>
          </a:prstGeom>
          <a:noFill/>
          <a:ln w="22225">
            <a:solidFill>
              <a:srgbClr val="086A70"/>
            </a:solidFill>
            <a:prstDash val="solid"/>
          </a:ln>
        </p:spPr>
      </p:sp>
      <p:sp>
        <p:nvSpPr>
          <p:cNvPr id="137" name="Shape 133"/>
          <p:cNvSpPr/>
          <p:nvPr/>
        </p:nvSpPr>
        <p:spPr>
          <a:xfrm flipV="1">
            <a:off x="6469380" y="5126871"/>
            <a:ext cx="77724" cy="7167"/>
          </a:xfrm>
          <a:prstGeom prst="line">
            <a:avLst/>
          </a:prstGeom>
          <a:noFill/>
          <a:ln w="22225">
            <a:solidFill>
              <a:srgbClr val="086A70"/>
            </a:solidFill>
            <a:prstDash val="solid"/>
          </a:ln>
        </p:spPr>
      </p:sp>
      <p:sp>
        <p:nvSpPr>
          <p:cNvPr id="138" name="Shape 134"/>
          <p:cNvSpPr/>
          <p:nvPr/>
        </p:nvSpPr>
        <p:spPr>
          <a:xfrm flipV="1">
            <a:off x="6547104" y="5119970"/>
            <a:ext cx="77724" cy="6901"/>
          </a:xfrm>
          <a:prstGeom prst="line">
            <a:avLst/>
          </a:prstGeom>
          <a:noFill/>
          <a:ln w="22225">
            <a:solidFill>
              <a:srgbClr val="086A70"/>
            </a:solidFill>
            <a:prstDash val="solid"/>
          </a:ln>
        </p:spPr>
      </p:sp>
      <p:sp>
        <p:nvSpPr>
          <p:cNvPr id="139" name="Shape 135"/>
          <p:cNvSpPr/>
          <p:nvPr/>
        </p:nvSpPr>
        <p:spPr>
          <a:xfrm flipV="1">
            <a:off x="6624828" y="5113320"/>
            <a:ext cx="77724" cy="6650"/>
          </a:xfrm>
          <a:prstGeom prst="line">
            <a:avLst/>
          </a:prstGeom>
          <a:noFill/>
          <a:ln w="22225">
            <a:solidFill>
              <a:srgbClr val="086A70"/>
            </a:solidFill>
            <a:prstDash val="solid"/>
          </a:ln>
        </p:spPr>
      </p:sp>
      <p:sp>
        <p:nvSpPr>
          <p:cNvPr id="140" name="Shape 136"/>
          <p:cNvSpPr/>
          <p:nvPr/>
        </p:nvSpPr>
        <p:spPr>
          <a:xfrm flipV="1">
            <a:off x="6702552" y="5106908"/>
            <a:ext cx="77724" cy="6412"/>
          </a:xfrm>
          <a:prstGeom prst="line">
            <a:avLst/>
          </a:prstGeom>
          <a:noFill/>
          <a:ln w="22225">
            <a:solidFill>
              <a:srgbClr val="086A70"/>
            </a:solidFill>
            <a:prstDash val="solid"/>
          </a:ln>
        </p:spPr>
      </p:sp>
      <p:sp>
        <p:nvSpPr>
          <p:cNvPr id="141" name="Shape 137"/>
          <p:cNvSpPr/>
          <p:nvPr/>
        </p:nvSpPr>
        <p:spPr>
          <a:xfrm flipV="1">
            <a:off x="6780276" y="5100721"/>
            <a:ext cx="77724" cy="6187"/>
          </a:xfrm>
          <a:prstGeom prst="line">
            <a:avLst/>
          </a:prstGeom>
          <a:noFill/>
          <a:ln w="22225">
            <a:solidFill>
              <a:srgbClr val="086A70"/>
            </a:solidFill>
            <a:prstDash val="solid"/>
          </a:ln>
        </p:spPr>
      </p:sp>
      <p:sp>
        <p:nvSpPr>
          <p:cNvPr id="142" name="Shape 138"/>
          <p:cNvSpPr/>
          <p:nvPr/>
        </p:nvSpPr>
        <p:spPr>
          <a:xfrm flipV="1">
            <a:off x="6858000" y="5094748"/>
            <a:ext cx="77724" cy="5973"/>
          </a:xfrm>
          <a:prstGeom prst="line">
            <a:avLst/>
          </a:prstGeom>
          <a:noFill/>
          <a:ln w="22225">
            <a:solidFill>
              <a:srgbClr val="086A70"/>
            </a:solidFill>
            <a:prstDash val="solid"/>
          </a:ln>
        </p:spPr>
      </p:sp>
      <p:sp>
        <p:nvSpPr>
          <p:cNvPr id="143" name="Shape 139"/>
          <p:cNvSpPr/>
          <p:nvPr/>
        </p:nvSpPr>
        <p:spPr>
          <a:xfrm flipV="1">
            <a:off x="6935724" y="5088978"/>
            <a:ext cx="77724" cy="5770"/>
          </a:xfrm>
          <a:prstGeom prst="line">
            <a:avLst/>
          </a:prstGeom>
          <a:noFill/>
          <a:ln w="22225">
            <a:solidFill>
              <a:srgbClr val="086A70"/>
            </a:solidFill>
            <a:prstDash val="solid"/>
          </a:ln>
        </p:spPr>
      </p:sp>
      <p:sp>
        <p:nvSpPr>
          <p:cNvPr id="144" name="Shape 140"/>
          <p:cNvSpPr/>
          <p:nvPr/>
        </p:nvSpPr>
        <p:spPr>
          <a:xfrm flipV="1">
            <a:off x="7013448" y="5083400"/>
            <a:ext cx="77724" cy="5577"/>
          </a:xfrm>
          <a:prstGeom prst="line">
            <a:avLst/>
          </a:prstGeom>
          <a:noFill/>
          <a:ln w="22225">
            <a:solidFill>
              <a:srgbClr val="086A70"/>
            </a:solidFill>
            <a:prstDash val="solid"/>
          </a:ln>
        </p:spPr>
      </p:sp>
      <p:sp>
        <p:nvSpPr>
          <p:cNvPr id="145" name="Shape 141"/>
          <p:cNvSpPr/>
          <p:nvPr/>
        </p:nvSpPr>
        <p:spPr>
          <a:xfrm flipV="1">
            <a:off x="7091172" y="5078006"/>
            <a:ext cx="77724" cy="5394"/>
          </a:xfrm>
          <a:prstGeom prst="line">
            <a:avLst/>
          </a:prstGeom>
          <a:noFill/>
          <a:ln w="22225">
            <a:solidFill>
              <a:srgbClr val="086A70"/>
            </a:solidFill>
            <a:prstDash val="solid"/>
          </a:ln>
        </p:spPr>
      </p:sp>
      <p:sp>
        <p:nvSpPr>
          <p:cNvPr id="146" name="Shape 142"/>
          <p:cNvSpPr/>
          <p:nvPr/>
        </p:nvSpPr>
        <p:spPr>
          <a:xfrm flipV="1">
            <a:off x="7168896" y="5072786"/>
            <a:ext cx="77724" cy="5220"/>
          </a:xfrm>
          <a:prstGeom prst="line">
            <a:avLst/>
          </a:prstGeom>
          <a:noFill/>
          <a:ln w="22225">
            <a:solidFill>
              <a:srgbClr val="086A70"/>
            </a:solidFill>
            <a:prstDash val="solid"/>
          </a:ln>
        </p:spPr>
      </p:sp>
      <p:sp>
        <p:nvSpPr>
          <p:cNvPr id="147" name="Shape 143"/>
          <p:cNvSpPr/>
          <p:nvPr/>
        </p:nvSpPr>
        <p:spPr>
          <a:xfrm flipV="1">
            <a:off x="7246620" y="5067732"/>
            <a:ext cx="77724" cy="5054"/>
          </a:xfrm>
          <a:prstGeom prst="line">
            <a:avLst/>
          </a:prstGeom>
          <a:noFill/>
          <a:ln w="22225">
            <a:solidFill>
              <a:srgbClr val="086A70"/>
            </a:solidFill>
            <a:prstDash val="solid"/>
          </a:ln>
        </p:spPr>
      </p:sp>
      <p:sp>
        <p:nvSpPr>
          <p:cNvPr id="148" name="Shape 144"/>
          <p:cNvSpPr/>
          <p:nvPr/>
        </p:nvSpPr>
        <p:spPr>
          <a:xfrm flipV="1">
            <a:off x="7324344" y="5062836"/>
            <a:ext cx="77724" cy="4896"/>
          </a:xfrm>
          <a:prstGeom prst="line">
            <a:avLst/>
          </a:prstGeom>
          <a:noFill/>
          <a:ln w="22225">
            <a:solidFill>
              <a:srgbClr val="086A70"/>
            </a:solidFill>
            <a:prstDash val="solid"/>
          </a:ln>
        </p:spPr>
      </p:sp>
      <p:sp>
        <p:nvSpPr>
          <p:cNvPr id="149" name="Shape 145"/>
          <p:cNvSpPr/>
          <p:nvPr/>
        </p:nvSpPr>
        <p:spPr>
          <a:xfrm flipV="1">
            <a:off x="7402068" y="5058091"/>
            <a:ext cx="77724" cy="4745"/>
          </a:xfrm>
          <a:prstGeom prst="line">
            <a:avLst/>
          </a:prstGeom>
          <a:noFill/>
          <a:ln w="22225">
            <a:solidFill>
              <a:srgbClr val="086A70"/>
            </a:solidFill>
            <a:prstDash val="solid"/>
          </a:ln>
        </p:spPr>
      </p:sp>
      <p:sp>
        <p:nvSpPr>
          <p:cNvPr id="150" name="Shape 146"/>
          <p:cNvSpPr/>
          <p:nvPr/>
        </p:nvSpPr>
        <p:spPr>
          <a:xfrm flipV="1">
            <a:off x="7479792" y="5053490"/>
            <a:ext cx="77724" cy="4601"/>
          </a:xfrm>
          <a:prstGeom prst="line">
            <a:avLst/>
          </a:prstGeom>
          <a:noFill/>
          <a:ln w="22225">
            <a:solidFill>
              <a:srgbClr val="086A70"/>
            </a:solidFill>
            <a:prstDash val="solid"/>
          </a:ln>
        </p:spPr>
      </p:sp>
      <p:sp>
        <p:nvSpPr>
          <p:cNvPr id="151" name="Shape 147"/>
          <p:cNvSpPr/>
          <p:nvPr/>
        </p:nvSpPr>
        <p:spPr>
          <a:xfrm flipV="1">
            <a:off x="7557516" y="5049027"/>
            <a:ext cx="77724" cy="4463"/>
          </a:xfrm>
          <a:prstGeom prst="line">
            <a:avLst/>
          </a:prstGeom>
          <a:noFill/>
          <a:ln w="22225">
            <a:solidFill>
              <a:srgbClr val="086A70"/>
            </a:solidFill>
            <a:prstDash val="solid"/>
          </a:ln>
        </p:spPr>
      </p:sp>
      <p:sp>
        <p:nvSpPr>
          <p:cNvPr id="152" name="Shape 148"/>
          <p:cNvSpPr/>
          <p:nvPr/>
        </p:nvSpPr>
        <p:spPr>
          <a:xfrm>
            <a:off x="7304532" y="5020363"/>
            <a:ext cx="91440" cy="91440"/>
          </a:xfrm>
          <a:prstGeom prst="ellipse">
            <a:avLst/>
          </a:prstGeom>
          <a:solidFill>
            <a:srgbClr val="B23F69"/>
          </a:solidFill>
          <a:ln/>
        </p:spPr>
      </p:sp>
      <p:sp>
        <p:nvSpPr>
          <p:cNvPr id="153" name="Text 149"/>
          <p:cNvSpPr txBox="1"/>
          <p:nvPr/>
        </p:nvSpPr>
        <p:spPr>
          <a:xfrm>
            <a:off x="5887212" y="4919779"/>
            <a:ext cx="1417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B23F69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Meera: 109 calm days, 57%</a:t>
            </a:r>
            <a:endParaRPr lang="en-US" sz="650" dirty="0"/>
          </a:p>
        </p:txBody>
      </p:sp>
      <p:sp>
        <p:nvSpPr>
          <p:cNvPr id="154" name="Text 150"/>
          <p:cNvSpPr txBox="1"/>
          <p:nvPr/>
        </p:nvSpPr>
        <p:spPr>
          <a:xfrm>
            <a:off x="4233672" y="4709160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100%</a:t>
            </a:r>
            <a:endParaRPr lang="en-US" sz="600" dirty="0"/>
          </a:p>
        </p:txBody>
      </p:sp>
      <p:sp>
        <p:nvSpPr>
          <p:cNvPr id="155" name="Text 151"/>
          <p:cNvSpPr txBox="1"/>
          <p:nvPr/>
        </p:nvSpPr>
        <p:spPr>
          <a:xfrm>
            <a:off x="4233672" y="5422392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</a:t>
            </a:r>
            <a:endParaRPr lang="en-US" sz="600" dirty="0"/>
          </a:p>
        </p:txBody>
      </p:sp>
      <p:sp>
        <p:nvSpPr>
          <p:cNvPr id="156" name="Text 152"/>
          <p:cNvSpPr txBox="1"/>
          <p:nvPr/>
        </p:nvSpPr>
        <p:spPr>
          <a:xfrm>
            <a:off x="4526280" y="5504688"/>
            <a:ext cx="3108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calm days logged: 0 to 120</a:t>
            </a:r>
            <a:endParaRPr lang="en-US" sz="600" dirty="0"/>
          </a:p>
        </p:txBody>
      </p:sp>
      <p:sp>
        <p:nvSpPr>
          <p:cNvPr id="157" name="Text 153"/>
          <p:cNvSpPr txBox="1"/>
          <p:nvPr/>
        </p:nvSpPr>
        <p:spPr>
          <a:xfrm>
            <a:off x="4224528" y="5641848"/>
            <a:ext cx="3639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80" i="1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New users start at the group; the slope becomes theirs as calm days add up</a:t>
            </a:r>
            <a:endParaRPr lang="en-US" sz="680" dirty="0"/>
          </a:p>
        </p:txBody>
      </p:sp>
      <p:sp>
        <p:nvSpPr>
          <p:cNvPr id="158" name="Shape 154"/>
          <p:cNvSpPr/>
          <p:nvPr/>
        </p:nvSpPr>
        <p:spPr>
          <a:xfrm>
            <a:off x="8010144" y="3118104"/>
            <a:ext cx="3904488" cy="28072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2"/>
            </a:solidFill>
            <a:prstDash val="solid"/>
          </a:ln>
        </p:spPr>
      </p:sp>
      <p:sp>
        <p:nvSpPr>
          <p:cNvPr id="159" name="Shape 155"/>
          <p:cNvSpPr/>
          <p:nvPr/>
        </p:nvSpPr>
        <p:spPr>
          <a:xfrm>
            <a:off x="8083296" y="3214116"/>
            <a:ext cx="64008" cy="64008"/>
          </a:xfrm>
          <a:prstGeom prst="rect">
            <a:avLst/>
          </a:prstGeom>
          <a:solidFill>
            <a:srgbClr val="B03A23"/>
          </a:solidFill>
          <a:ln/>
        </p:spPr>
      </p:sp>
      <p:sp>
        <p:nvSpPr>
          <p:cNvPr id="160" name="Text 156"/>
          <p:cNvSpPr txBox="1"/>
          <p:nvPr/>
        </p:nvSpPr>
        <p:spPr>
          <a:xfrm>
            <a:off x="8183880" y="3168396"/>
            <a:ext cx="31455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STEP 5: FROM SIGNAL TO DECISION</a:t>
            </a:r>
            <a:endParaRPr lang="en-US" sz="800" dirty="0"/>
          </a:p>
        </p:txBody>
      </p:sp>
      <p:sp>
        <p:nvSpPr>
          <p:cNvPr id="161" name="Text 157"/>
          <p:cNvSpPr txBox="1"/>
          <p:nvPr/>
        </p:nvSpPr>
        <p:spPr>
          <a:xfrm>
            <a:off x="11375136" y="3168396"/>
            <a:ext cx="4846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B03A2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FUSION.PY</a:t>
            </a:r>
            <a:endParaRPr lang="en-US" sz="700" dirty="0"/>
          </a:p>
        </p:txBody>
      </p:sp>
      <p:sp>
        <p:nvSpPr>
          <p:cNvPr id="162" name="Shape 158"/>
          <p:cNvSpPr/>
          <p:nvPr/>
        </p:nvSpPr>
        <p:spPr>
          <a:xfrm>
            <a:off x="8138160" y="3493008"/>
            <a:ext cx="1097280" cy="146304"/>
          </a:xfrm>
          <a:prstGeom prst="rect">
            <a:avLst/>
          </a:prstGeom>
          <a:solidFill>
            <a:srgbClr val="E3F4EB"/>
          </a:solidFill>
          <a:ln/>
        </p:spPr>
      </p:sp>
      <p:sp>
        <p:nvSpPr>
          <p:cNvPr id="163" name="Shape 159"/>
          <p:cNvSpPr/>
          <p:nvPr/>
        </p:nvSpPr>
        <p:spPr>
          <a:xfrm>
            <a:off x="9235440" y="3493008"/>
            <a:ext cx="1097280" cy="146304"/>
          </a:xfrm>
          <a:prstGeom prst="rect">
            <a:avLst/>
          </a:prstGeom>
          <a:solidFill>
            <a:srgbClr val="FDF1D6"/>
          </a:solidFill>
          <a:ln/>
        </p:spPr>
      </p:sp>
      <p:sp>
        <p:nvSpPr>
          <p:cNvPr id="164" name="Shape 160"/>
          <p:cNvSpPr/>
          <p:nvPr/>
        </p:nvSpPr>
        <p:spPr>
          <a:xfrm>
            <a:off x="10332720" y="3493008"/>
            <a:ext cx="1463040" cy="146304"/>
          </a:xfrm>
          <a:prstGeom prst="rect">
            <a:avLst/>
          </a:prstGeom>
          <a:solidFill>
            <a:srgbClr val="FCE6E1"/>
          </a:solidFill>
          <a:ln/>
        </p:spPr>
      </p:sp>
      <p:sp>
        <p:nvSpPr>
          <p:cNvPr id="165" name="Text 161"/>
          <p:cNvSpPr txBox="1"/>
          <p:nvPr/>
        </p:nvSpPr>
        <p:spPr>
          <a:xfrm>
            <a:off x="8138160" y="3493008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187A4C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steady</a:t>
            </a:r>
            <a:endParaRPr lang="en-US" sz="640" dirty="0"/>
          </a:p>
        </p:txBody>
      </p:sp>
      <p:sp>
        <p:nvSpPr>
          <p:cNvPr id="166" name="Text 162"/>
          <p:cNvSpPr txBox="1"/>
          <p:nvPr/>
        </p:nvSpPr>
        <p:spPr>
          <a:xfrm>
            <a:off x="9235440" y="3493008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9461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check in (30)</a:t>
            </a:r>
            <a:endParaRPr lang="en-US" sz="640" dirty="0"/>
          </a:p>
        </p:txBody>
      </p:sp>
      <p:sp>
        <p:nvSpPr>
          <p:cNvPr id="167" name="Text 163"/>
          <p:cNvSpPr txBox="1"/>
          <p:nvPr/>
        </p:nvSpPr>
        <p:spPr>
          <a:xfrm>
            <a:off x="10332720" y="3493008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B03A2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urgent (60)</a:t>
            </a:r>
            <a:endParaRPr lang="en-US" sz="640" dirty="0"/>
          </a:p>
        </p:txBody>
      </p:sp>
      <p:sp>
        <p:nvSpPr>
          <p:cNvPr id="168" name="Shape 164"/>
          <p:cNvSpPr/>
          <p:nvPr/>
        </p:nvSpPr>
        <p:spPr>
          <a:xfrm>
            <a:off x="10428732" y="3429000"/>
            <a:ext cx="27432" cy="274320"/>
          </a:xfrm>
          <a:prstGeom prst="rect">
            <a:avLst/>
          </a:prstGeom>
          <a:solidFill>
            <a:srgbClr val="1F2A2A"/>
          </a:solidFill>
          <a:ln/>
        </p:spPr>
      </p:sp>
      <p:sp>
        <p:nvSpPr>
          <p:cNvPr id="169" name="Text 165"/>
          <p:cNvSpPr txBox="1"/>
          <p:nvPr/>
        </p:nvSpPr>
        <p:spPr>
          <a:xfrm>
            <a:off x="10076688" y="3675888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B03A2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Meera 63</a:t>
            </a:r>
            <a:endParaRPr lang="en-US" sz="700" dirty="0"/>
          </a:p>
        </p:txBody>
      </p:sp>
      <p:sp>
        <p:nvSpPr>
          <p:cNvPr id="170" name="Text 166"/>
          <p:cNvSpPr txBox="1"/>
          <p:nvPr/>
        </p:nvSpPr>
        <p:spPr>
          <a:xfrm>
            <a:off x="8101584" y="3986784"/>
            <a:ext cx="3767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03A2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24%</a:t>
            </a:r>
            <a:r>
              <a:rPr lang="en-US" sz="74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  chance of a strain episode in 72 hours (likely 17 to 28%); her usual 0.7%</a:t>
            </a:r>
            <a:endParaRPr lang="en-US" sz="74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83296" y="4370832"/>
          <a:ext cx="3758184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1883664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What goes in</a:t>
                      </a:r>
                      <a:endParaRPr lang="en-US" sz="75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3A2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Guardrail</a:t>
                      </a:r>
                      <a:endParaRPr lang="en-US" sz="75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3A2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70" dirty="0">
                          <a:solidFill>
                            <a:srgbClr val="1F2A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Twin-adjusted heart rate, HRV, BP</a:t>
                      </a:r>
                      <a:endParaRPr lang="en-US" sz="67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70" dirty="0">
                          <a:solidFill>
                            <a:srgbClr val="1F2A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monotone: more sleep or walking never raises risk</a:t>
                      </a:r>
                      <a:endParaRPr lang="en-US" sz="67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70" dirty="0">
                          <a:solidFill>
                            <a:srgbClr val="1F2A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7-day home BP trend; sleep debt; activity</a:t>
                      </a:r>
                      <a:endParaRPr lang="en-US" sz="67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70" dirty="0">
                          <a:solidFill>
                            <a:srgbClr val="1F2A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Platt calibration: 20% means about 20%</a:t>
                      </a:r>
                      <a:endParaRPr lang="en-US" sz="67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70" dirty="0">
                          <a:solidFill>
                            <a:srgbClr val="1F2A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8 record facts: Framingham, genetic tier, adherence, diabetes, prior MI, CKD, family history, beta blocker</a:t>
                      </a:r>
                      <a:endParaRPr lang="en-US" sz="67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70" dirty="0">
                          <a:solidFill>
                            <a:srgbClr val="1F2A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urgent line = most sensitive cut within 0.045 false alerts a patient-day</a:t>
                      </a:r>
                      <a:endParaRPr lang="en-US" sz="67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2" name="Text 167"/>
          <p:cNvSpPr txBox="1"/>
          <p:nvPr/>
        </p:nvSpPr>
        <p:spPr>
          <a:xfrm>
            <a:off x="8083296" y="5559552"/>
            <a:ext cx="3767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" b="1" dirty="0">
                <a:solidFill>
                  <a:srgbClr val="B03A2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Top reasons for Meera: </a:t>
            </a:r>
            <a:r>
              <a:rPr lang="en-US" sz="69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home BP rising 2.1 mmHg a day; BP +16 mmHg unexplained; heart rate +13 bpm unexplained.</a:t>
            </a:r>
            <a:endParaRPr lang="en-US" sz="690" dirty="0"/>
          </a:p>
        </p:txBody>
      </p:sp>
      <p:sp>
        <p:nvSpPr>
          <p:cNvPr id="173" name="Shape 168"/>
          <p:cNvSpPr/>
          <p:nvPr/>
        </p:nvSpPr>
        <p:spPr>
          <a:xfrm>
            <a:off x="274320" y="6016752"/>
            <a:ext cx="11640312" cy="310896"/>
          </a:xfrm>
          <a:prstGeom prst="rect">
            <a:avLst/>
          </a:prstGeom>
          <a:solidFill>
            <a:srgbClr val="DCEFEF"/>
          </a:solidFill>
          <a:ln/>
        </p:spPr>
      </p:sp>
      <p:sp>
        <p:nvSpPr>
          <p:cNvPr id="174" name="Shape 169"/>
          <p:cNvSpPr/>
          <p:nvPr/>
        </p:nvSpPr>
        <p:spPr>
          <a:xfrm>
            <a:off x="274320" y="6016752"/>
            <a:ext cx="960120" cy="310896"/>
          </a:xfrm>
          <a:prstGeom prst="rect">
            <a:avLst/>
          </a:prstGeom>
          <a:solidFill>
            <a:srgbClr val="086A70"/>
          </a:solidFill>
          <a:ln/>
        </p:spPr>
      </p:sp>
      <p:sp>
        <p:nvSpPr>
          <p:cNvPr id="175" name="Text 170"/>
          <p:cNvSpPr txBox="1"/>
          <p:nvPr/>
        </p:nvSpPr>
        <p:spPr>
          <a:xfrm>
            <a:off x="274320" y="601675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TWIN</a:t>
            </a:r>
            <a:endParaRPr lang="en-US" sz="850" dirty="0"/>
          </a:p>
        </p:txBody>
      </p:sp>
      <p:sp>
        <p:nvSpPr>
          <p:cNvPr id="176" name="Text 171"/>
          <p:cNvSpPr txBox="1"/>
          <p:nvPr/>
        </p:nvSpPr>
        <p:spPr>
          <a:xfrm>
            <a:off x="1325880" y="6016752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 late night is explained by her own slope and stays quiet; </a:t>
            </a:r>
            <a:r>
              <a:rPr lang="en-US" sz="8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strain that her habits cannot explain becomes the warning.</a:t>
            </a:r>
            <a:endParaRPr lang="en-US" sz="850" dirty="0"/>
          </a:p>
        </p:txBody>
      </p:sp>
      <p:sp>
        <p:nvSpPr>
          <p:cNvPr id="177" name="Text 172"/>
          <p:cNvSpPr txBox="1"/>
          <p:nvPr/>
        </p:nvSpPr>
        <p:spPr>
          <a:xfrm>
            <a:off x="274320" y="6400800"/>
            <a:ext cx="6903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86A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ANNEXURE A3</a:t>
            </a:r>
            <a:r>
              <a:rPr lang="en-US" sz="70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  |  slopes are per extra hour of sleep or 1,000 steps; every value is computed by the trained model</a:t>
            </a:r>
            <a:endParaRPr lang="en-US" sz="700" dirty="0"/>
          </a:p>
        </p:txBody>
      </p:sp>
      <p:sp>
        <p:nvSpPr>
          <p:cNvPr id="178" name="Text 173"/>
          <p:cNvSpPr txBox="1"/>
          <p:nvPr/>
        </p:nvSpPr>
        <p:spPr>
          <a:xfrm>
            <a:off x="7315200" y="6400800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86A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SOURCE: </a:t>
            </a:r>
            <a:r>
              <a:rPr lang="en-US" sz="70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docs/ALGORITHM.md; backend/twin/models/physiology.py and fusion.py; tests/test_leakage.py</a:t>
            </a:r>
            <a:endParaRPr lang="en-US" sz="700" dirty="0"/>
          </a:p>
        </p:txBody>
      </p:sp>
      <p:sp>
        <p:nvSpPr>
          <p:cNvPr id="179" name="Shape 174"/>
          <p:cNvSpPr/>
          <p:nvPr/>
        </p:nvSpPr>
        <p:spPr>
          <a:xfrm>
            <a:off x="11658600" y="6419088"/>
            <a:ext cx="256032" cy="256032"/>
          </a:xfrm>
          <a:prstGeom prst="rect">
            <a:avLst/>
          </a:prstGeom>
          <a:solidFill>
            <a:srgbClr val="1F2A2A"/>
          </a:solidFill>
          <a:ln/>
        </p:spPr>
      </p:sp>
      <p:sp>
        <p:nvSpPr>
          <p:cNvPr id="180" name="Text 175"/>
          <p:cNvSpPr txBox="1"/>
          <p:nvPr/>
        </p:nvSpPr>
        <p:spPr>
          <a:xfrm>
            <a:off x="11658600" y="64190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46304"/>
            <a:ext cx="566928" cy="566928"/>
          </a:xfrm>
          <a:prstGeom prst="rect">
            <a:avLst/>
          </a:prstGeom>
          <a:solidFill>
            <a:srgbClr val="187A4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1463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A4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54864"/>
            <a:ext cx="9098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550" b="1" dirty="0">
                <a:solidFill>
                  <a:srgbClr val="086A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On patients the model never saw, the twin lifts AUROC from 0.851 to 0.876 and catches 70% of strain episodes a median 48 hours early, at 1 false alert per 22 patient-days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608076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Patient-level 5-fold cross-validation, repeated on three patient splits (seeds 42, 43, 44); every number is the mean of the three. Synthetic cohort: real-world results will be lower.</a:t>
            </a:r>
            <a:endParaRPr lang="en-US" sz="800" dirty="0"/>
          </a:p>
        </p:txBody>
      </p:sp>
      <p:pic>
        <p:nvPicPr>
          <p:cNvPr id="6" name="Image 0" descr="Pratibimb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0" y="109728"/>
            <a:ext cx="1536192" cy="2958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811866" y="566928"/>
            <a:ext cx="1102766" cy="182880"/>
          </a:xfrm>
          <a:prstGeom prst="roundRect">
            <a:avLst>
              <a:gd name="adj" fmla="val 50000"/>
            </a:avLst>
          </a:prstGeom>
          <a:solidFill>
            <a:srgbClr val="187A4C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0811866" y="566928"/>
            <a:ext cx="110276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Honest evaluation</a:t>
            </a:r>
            <a:endParaRPr lang="en-US" sz="700" dirty="0"/>
          </a:p>
        </p:txBody>
      </p:sp>
      <p:sp>
        <p:nvSpPr>
          <p:cNvPr id="9" name="Shape 6"/>
          <p:cNvSpPr/>
          <p:nvPr/>
        </p:nvSpPr>
        <p:spPr>
          <a:xfrm>
            <a:off x="9707270" y="566928"/>
            <a:ext cx="1049731" cy="182880"/>
          </a:xfrm>
          <a:prstGeom prst="roundRect">
            <a:avLst>
              <a:gd name="adj" fmla="val 50000"/>
            </a:avLst>
          </a:prstGeom>
          <a:solidFill>
            <a:srgbClr val="086A7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707270" y="566928"/>
            <a:ext cx="104973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Predictive model</a:t>
            </a:r>
            <a:endParaRPr lang="en-US" sz="700" dirty="0"/>
          </a:p>
        </p:txBody>
      </p:sp>
      <p:pic>
        <p:nvPicPr>
          <p:cNvPr id="11" name="Image 1" descr="Pratibimb motif stri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41248"/>
            <a:ext cx="11640312" cy="5486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74320" y="987552"/>
            <a:ext cx="5760720" cy="2615184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2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47472" y="1083564"/>
            <a:ext cx="64008" cy="64008"/>
          </a:xfrm>
          <a:prstGeom prst="rect">
            <a:avLst/>
          </a:prstGeom>
          <a:solidFill>
            <a:srgbClr val="187A4C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448056" y="1037844"/>
            <a:ext cx="47731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ABLATION: WHAT EACH STREAM ADDS</a:t>
            </a:r>
            <a:endParaRPr lang="en-US" sz="800" dirty="0"/>
          </a:p>
        </p:txBody>
      </p:sp>
      <p:sp>
        <p:nvSpPr>
          <p:cNvPr id="15" name="Text 11"/>
          <p:cNvSpPr txBox="1"/>
          <p:nvPr/>
        </p:nvSpPr>
        <p:spPr>
          <a:xfrm>
            <a:off x="5266944" y="1037844"/>
            <a:ext cx="7132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87A4C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SEE MODEL_CARD</a:t>
            </a:r>
            <a:endParaRPr lang="en-US" sz="700" dirty="0"/>
          </a:p>
        </p:txBody>
      </p:sp>
      <p:sp>
        <p:nvSpPr>
          <p:cNvPr id="16" name="Text 12"/>
          <p:cNvSpPr txBox="1"/>
          <p:nvPr/>
        </p:nvSpPr>
        <p:spPr>
          <a:xfrm>
            <a:off x="365760" y="1225296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Model</a:t>
            </a:r>
            <a:endParaRPr lang="en-US" sz="680" dirty="0"/>
          </a:p>
        </p:txBody>
      </p:sp>
      <p:sp>
        <p:nvSpPr>
          <p:cNvPr id="17" name="Text 13"/>
          <p:cNvSpPr txBox="1"/>
          <p:nvPr/>
        </p:nvSpPr>
        <p:spPr>
          <a:xfrm>
            <a:off x="1874520" y="1225296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Record</a:t>
            </a:r>
            <a:endParaRPr lang="en-US" sz="680" dirty="0"/>
          </a:p>
        </p:txBody>
      </p:sp>
      <p:sp>
        <p:nvSpPr>
          <p:cNvPr id="18" name="Text 14"/>
          <p:cNvSpPr txBox="1"/>
          <p:nvPr/>
        </p:nvSpPr>
        <p:spPr>
          <a:xfrm>
            <a:off x="2167128" y="1225296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Watch</a:t>
            </a:r>
            <a:endParaRPr lang="en-US" sz="680" dirty="0"/>
          </a:p>
        </p:txBody>
      </p:sp>
      <p:sp>
        <p:nvSpPr>
          <p:cNvPr id="19" name="Text 15"/>
          <p:cNvSpPr txBox="1"/>
          <p:nvPr/>
        </p:nvSpPr>
        <p:spPr>
          <a:xfrm>
            <a:off x="2459736" y="1225296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Cuff</a:t>
            </a:r>
            <a:endParaRPr lang="en-US" sz="680" dirty="0"/>
          </a:p>
        </p:txBody>
      </p:sp>
      <p:sp>
        <p:nvSpPr>
          <p:cNvPr id="20" name="Text 16"/>
          <p:cNvSpPr txBox="1"/>
          <p:nvPr/>
        </p:nvSpPr>
        <p:spPr>
          <a:xfrm>
            <a:off x="2752344" y="1225296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Twin</a:t>
            </a:r>
            <a:endParaRPr lang="en-US" sz="680" dirty="0"/>
          </a:p>
        </p:txBody>
      </p:sp>
      <p:sp>
        <p:nvSpPr>
          <p:cNvPr id="21" name="Text 17"/>
          <p:cNvSpPr txBox="1"/>
          <p:nvPr/>
        </p:nvSpPr>
        <p:spPr>
          <a:xfrm>
            <a:off x="3090672" y="1225296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AUROC</a:t>
            </a:r>
            <a:endParaRPr lang="en-US" sz="680" dirty="0"/>
          </a:p>
        </p:txBody>
      </p:sp>
      <p:sp>
        <p:nvSpPr>
          <p:cNvPr id="22" name="Text 18"/>
          <p:cNvSpPr txBox="1"/>
          <p:nvPr/>
        </p:nvSpPr>
        <p:spPr>
          <a:xfrm>
            <a:off x="4224528" y="1225296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AUPRC</a:t>
            </a:r>
            <a:endParaRPr lang="en-US" sz="680" dirty="0"/>
          </a:p>
        </p:txBody>
      </p:sp>
      <p:sp>
        <p:nvSpPr>
          <p:cNvPr id="23" name="Text 19"/>
          <p:cNvSpPr txBox="1"/>
          <p:nvPr/>
        </p:nvSpPr>
        <p:spPr>
          <a:xfrm>
            <a:off x="4681728" y="1225296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Caught at budget</a:t>
            </a:r>
            <a:endParaRPr lang="en-US" sz="680" dirty="0"/>
          </a:p>
        </p:txBody>
      </p:sp>
      <p:sp>
        <p:nvSpPr>
          <p:cNvPr id="24" name="Text 20"/>
          <p:cNvSpPr txBox="1"/>
          <p:nvPr/>
        </p:nvSpPr>
        <p:spPr>
          <a:xfrm>
            <a:off x="5596128" y="1225296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48 h+</a:t>
            </a:r>
            <a:endParaRPr lang="en-US" sz="680" dirty="0"/>
          </a:p>
        </p:txBody>
      </p:sp>
      <p:sp>
        <p:nvSpPr>
          <p:cNvPr id="25" name="Shape 21"/>
          <p:cNvSpPr/>
          <p:nvPr/>
        </p:nvSpPr>
        <p:spPr>
          <a:xfrm>
            <a:off x="329184" y="1389888"/>
            <a:ext cx="5650992" cy="301752"/>
          </a:xfrm>
          <a:prstGeom prst="rect">
            <a:avLst/>
          </a:prstGeom>
          <a:solidFill>
            <a:srgbClr val="FBE6EE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365760" y="1417320"/>
            <a:ext cx="14813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B23F69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Pratibimb: all streams + twin</a:t>
            </a:r>
            <a:endParaRPr lang="en-US" sz="730" dirty="0"/>
          </a:p>
        </p:txBody>
      </p:sp>
      <p:sp>
        <p:nvSpPr>
          <p:cNvPr id="27" name="Shape 23"/>
          <p:cNvSpPr/>
          <p:nvPr/>
        </p:nvSpPr>
        <p:spPr>
          <a:xfrm>
            <a:off x="1938528" y="1490472"/>
            <a:ext cx="109728" cy="109728"/>
          </a:xfrm>
          <a:prstGeom prst="ellipse">
            <a:avLst/>
          </a:prstGeom>
          <a:solidFill>
            <a:srgbClr val="A8703C"/>
          </a:solidFill>
          <a:ln/>
        </p:spPr>
      </p:sp>
      <p:sp>
        <p:nvSpPr>
          <p:cNvPr id="28" name="Shape 24"/>
          <p:cNvSpPr/>
          <p:nvPr/>
        </p:nvSpPr>
        <p:spPr>
          <a:xfrm>
            <a:off x="2231136" y="1490472"/>
            <a:ext cx="109728" cy="109728"/>
          </a:xfrm>
          <a:prstGeom prst="ellipse">
            <a:avLst/>
          </a:prstGeom>
          <a:solidFill>
            <a:srgbClr val="086A70"/>
          </a:solidFill>
          <a:ln/>
        </p:spPr>
      </p:sp>
      <p:sp>
        <p:nvSpPr>
          <p:cNvPr id="29" name="Shape 25"/>
          <p:cNvSpPr/>
          <p:nvPr/>
        </p:nvSpPr>
        <p:spPr>
          <a:xfrm>
            <a:off x="2523744" y="1490472"/>
            <a:ext cx="109728" cy="109728"/>
          </a:xfrm>
          <a:prstGeom prst="ellipse">
            <a:avLst/>
          </a:prstGeom>
          <a:solidFill>
            <a:srgbClr val="086A70"/>
          </a:solidFill>
          <a:ln/>
        </p:spPr>
      </p:sp>
      <p:sp>
        <p:nvSpPr>
          <p:cNvPr id="30" name="Shape 26"/>
          <p:cNvSpPr/>
          <p:nvPr/>
        </p:nvSpPr>
        <p:spPr>
          <a:xfrm>
            <a:off x="2816352" y="1490472"/>
            <a:ext cx="109728" cy="109728"/>
          </a:xfrm>
          <a:prstGeom prst="ellipse">
            <a:avLst/>
          </a:prstGeom>
          <a:solidFill>
            <a:srgbClr val="B23F69"/>
          </a:solidFill>
          <a:ln/>
        </p:spPr>
      </p:sp>
      <p:sp>
        <p:nvSpPr>
          <p:cNvPr id="31" name="Shape 27"/>
          <p:cNvSpPr/>
          <p:nvPr/>
        </p:nvSpPr>
        <p:spPr>
          <a:xfrm>
            <a:off x="3090672" y="1481328"/>
            <a:ext cx="790773" cy="118872"/>
          </a:xfrm>
          <a:prstGeom prst="rect">
            <a:avLst/>
          </a:prstGeom>
          <a:solidFill>
            <a:srgbClr val="086A70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3918021" y="1417320"/>
            <a:ext cx="365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0.876</a:t>
            </a:r>
            <a:endParaRPr lang="en-US" sz="720" dirty="0"/>
          </a:p>
        </p:txBody>
      </p:sp>
      <p:sp>
        <p:nvSpPr>
          <p:cNvPr id="33" name="Text 29"/>
          <p:cNvSpPr txBox="1"/>
          <p:nvPr/>
        </p:nvSpPr>
        <p:spPr>
          <a:xfrm>
            <a:off x="4224528" y="1417320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0.218</a:t>
            </a:r>
            <a:endParaRPr lang="en-US" sz="720" dirty="0"/>
          </a:p>
        </p:txBody>
      </p:sp>
      <p:sp>
        <p:nvSpPr>
          <p:cNvPr id="34" name="Shape 30"/>
          <p:cNvSpPr/>
          <p:nvPr/>
        </p:nvSpPr>
        <p:spPr>
          <a:xfrm>
            <a:off x="4681728" y="1481328"/>
            <a:ext cx="480060" cy="118872"/>
          </a:xfrm>
          <a:prstGeom prst="rect">
            <a:avLst/>
          </a:prstGeom>
          <a:solidFill>
            <a:srgbClr val="187A4C"/>
          </a:solidFill>
          <a:ln/>
        </p:spPr>
      </p:sp>
      <p:sp>
        <p:nvSpPr>
          <p:cNvPr id="35" name="Text 31"/>
          <p:cNvSpPr txBox="1"/>
          <p:nvPr/>
        </p:nvSpPr>
        <p:spPr>
          <a:xfrm>
            <a:off x="5198364" y="1417320"/>
            <a:ext cx="2926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70%</a:t>
            </a:r>
            <a:endParaRPr lang="en-US" sz="720" dirty="0"/>
          </a:p>
        </p:txBody>
      </p:sp>
      <p:sp>
        <p:nvSpPr>
          <p:cNvPr id="36" name="Text 32"/>
          <p:cNvSpPr txBox="1"/>
          <p:nvPr/>
        </p:nvSpPr>
        <p:spPr>
          <a:xfrm>
            <a:off x="5596128" y="1417320"/>
            <a:ext cx="365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50%</a:t>
            </a:r>
            <a:endParaRPr lang="en-US" sz="720" dirty="0"/>
          </a:p>
        </p:txBody>
      </p:sp>
      <p:sp>
        <p:nvSpPr>
          <p:cNvPr id="37" name="Shape 33"/>
          <p:cNvSpPr/>
          <p:nvPr/>
        </p:nvSpPr>
        <p:spPr>
          <a:xfrm>
            <a:off x="329184" y="1719072"/>
            <a:ext cx="5650992" cy="301752"/>
          </a:xfrm>
          <a:prstGeom prst="rect">
            <a:avLst/>
          </a:prstGeom>
          <a:solidFill>
            <a:srgbClr val="F4F1EA"/>
          </a:solidFill>
          <a:ln/>
        </p:spPr>
      </p:sp>
      <p:sp>
        <p:nvSpPr>
          <p:cNvPr id="38" name="Text 34"/>
          <p:cNvSpPr txBox="1"/>
          <p:nvPr/>
        </p:nvSpPr>
        <p:spPr>
          <a:xfrm>
            <a:off x="365760" y="1746504"/>
            <a:ext cx="14813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Watch + cuff + twin</a:t>
            </a:r>
            <a:endParaRPr lang="en-US" sz="730" dirty="0"/>
          </a:p>
        </p:txBody>
      </p:sp>
      <p:sp>
        <p:nvSpPr>
          <p:cNvPr id="39" name="Shape 35"/>
          <p:cNvSpPr/>
          <p:nvPr/>
        </p:nvSpPr>
        <p:spPr>
          <a:xfrm>
            <a:off x="1938528" y="1819656"/>
            <a:ext cx="109728" cy="109728"/>
          </a:xfrm>
          <a:prstGeom prst="ellipse">
            <a:avLst/>
          </a:prstGeom>
          <a:solidFill>
            <a:srgbClr val="ECE8DF"/>
          </a:solidFill>
          <a:ln/>
        </p:spPr>
      </p:sp>
      <p:sp>
        <p:nvSpPr>
          <p:cNvPr id="40" name="Shape 36"/>
          <p:cNvSpPr/>
          <p:nvPr/>
        </p:nvSpPr>
        <p:spPr>
          <a:xfrm>
            <a:off x="2231136" y="1819656"/>
            <a:ext cx="109728" cy="109728"/>
          </a:xfrm>
          <a:prstGeom prst="ellipse">
            <a:avLst/>
          </a:prstGeom>
          <a:solidFill>
            <a:srgbClr val="086A70"/>
          </a:solidFill>
          <a:ln/>
        </p:spPr>
      </p:sp>
      <p:sp>
        <p:nvSpPr>
          <p:cNvPr id="41" name="Shape 37"/>
          <p:cNvSpPr/>
          <p:nvPr/>
        </p:nvSpPr>
        <p:spPr>
          <a:xfrm>
            <a:off x="2523744" y="1819656"/>
            <a:ext cx="109728" cy="109728"/>
          </a:xfrm>
          <a:prstGeom prst="ellipse">
            <a:avLst/>
          </a:prstGeom>
          <a:solidFill>
            <a:srgbClr val="086A70"/>
          </a:solidFill>
          <a:ln/>
        </p:spPr>
      </p:sp>
      <p:sp>
        <p:nvSpPr>
          <p:cNvPr id="42" name="Shape 38"/>
          <p:cNvSpPr/>
          <p:nvPr/>
        </p:nvSpPr>
        <p:spPr>
          <a:xfrm>
            <a:off x="2816352" y="1819656"/>
            <a:ext cx="109728" cy="109728"/>
          </a:xfrm>
          <a:prstGeom prst="ellipse">
            <a:avLst/>
          </a:prstGeom>
          <a:solidFill>
            <a:srgbClr val="B23F69"/>
          </a:solidFill>
          <a:ln/>
        </p:spPr>
      </p:sp>
      <p:sp>
        <p:nvSpPr>
          <p:cNvPr id="43" name="Shape 39"/>
          <p:cNvSpPr/>
          <p:nvPr/>
        </p:nvSpPr>
        <p:spPr>
          <a:xfrm>
            <a:off x="3090672" y="1810512"/>
            <a:ext cx="778154" cy="118872"/>
          </a:xfrm>
          <a:prstGeom prst="rect">
            <a:avLst/>
          </a:prstGeom>
          <a:solidFill>
            <a:srgbClr val="A9AEB0"/>
          </a:solidFill>
          <a:ln/>
        </p:spPr>
      </p:sp>
      <p:sp>
        <p:nvSpPr>
          <p:cNvPr id="44" name="Text 40"/>
          <p:cNvSpPr txBox="1"/>
          <p:nvPr/>
        </p:nvSpPr>
        <p:spPr>
          <a:xfrm>
            <a:off x="3905402" y="1746504"/>
            <a:ext cx="365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0.870</a:t>
            </a:r>
            <a:endParaRPr lang="en-US" sz="720" dirty="0"/>
          </a:p>
        </p:txBody>
      </p:sp>
      <p:sp>
        <p:nvSpPr>
          <p:cNvPr id="45" name="Text 41"/>
          <p:cNvSpPr txBox="1"/>
          <p:nvPr/>
        </p:nvSpPr>
        <p:spPr>
          <a:xfrm>
            <a:off x="4224528" y="1746504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0.214</a:t>
            </a:r>
            <a:endParaRPr lang="en-US" sz="720" dirty="0"/>
          </a:p>
        </p:txBody>
      </p:sp>
      <p:sp>
        <p:nvSpPr>
          <p:cNvPr id="46" name="Shape 42"/>
          <p:cNvSpPr/>
          <p:nvPr/>
        </p:nvSpPr>
        <p:spPr>
          <a:xfrm>
            <a:off x="4681728" y="1810512"/>
            <a:ext cx="493776" cy="118872"/>
          </a:xfrm>
          <a:prstGeom prst="rect">
            <a:avLst/>
          </a:prstGeom>
          <a:solidFill>
            <a:srgbClr val="A9AEB0"/>
          </a:solidFill>
          <a:ln/>
        </p:spPr>
      </p:sp>
      <p:sp>
        <p:nvSpPr>
          <p:cNvPr id="47" name="Text 43"/>
          <p:cNvSpPr txBox="1"/>
          <p:nvPr/>
        </p:nvSpPr>
        <p:spPr>
          <a:xfrm>
            <a:off x="5212080" y="1746504"/>
            <a:ext cx="2926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72%</a:t>
            </a:r>
            <a:endParaRPr lang="en-US" sz="720" dirty="0"/>
          </a:p>
        </p:txBody>
      </p:sp>
      <p:sp>
        <p:nvSpPr>
          <p:cNvPr id="48" name="Text 44"/>
          <p:cNvSpPr txBox="1"/>
          <p:nvPr/>
        </p:nvSpPr>
        <p:spPr>
          <a:xfrm>
            <a:off x="5596128" y="1746504"/>
            <a:ext cx="365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51%</a:t>
            </a:r>
            <a:endParaRPr lang="en-US" sz="720" dirty="0"/>
          </a:p>
        </p:txBody>
      </p:sp>
      <p:sp>
        <p:nvSpPr>
          <p:cNvPr id="49" name="Text 45"/>
          <p:cNvSpPr txBox="1"/>
          <p:nvPr/>
        </p:nvSpPr>
        <p:spPr>
          <a:xfrm>
            <a:off x="365760" y="2075688"/>
            <a:ext cx="14813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All streams, no twin</a:t>
            </a:r>
            <a:endParaRPr lang="en-US" sz="730" dirty="0"/>
          </a:p>
        </p:txBody>
      </p:sp>
      <p:sp>
        <p:nvSpPr>
          <p:cNvPr id="50" name="Shape 46"/>
          <p:cNvSpPr/>
          <p:nvPr/>
        </p:nvSpPr>
        <p:spPr>
          <a:xfrm>
            <a:off x="1938528" y="2148840"/>
            <a:ext cx="109728" cy="109728"/>
          </a:xfrm>
          <a:prstGeom prst="ellipse">
            <a:avLst/>
          </a:prstGeom>
          <a:solidFill>
            <a:srgbClr val="A8703C"/>
          </a:solidFill>
          <a:ln/>
        </p:spPr>
      </p:sp>
      <p:sp>
        <p:nvSpPr>
          <p:cNvPr id="51" name="Shape 47"/>
          <p:cNvSpPr/>
          <p:nvPr/>
        </p:nvSpPr>
        <p:spPr>
          <a:xfrm>
            <a:off x="2231136" y="2148840"/>
            <a:ext cx="109728" cy="109728"/>
          </a:xfrm>
          <a:prstGeom prst="ellipse">
            <a:avLst/>
          </a:prstGeom>
          <a:solidFill>
            <a:srgbClr val="086A70"/>
          </a:solidFill>
          <a:ln/>
        </p:spPr>
      </p:sp>
      <p:sp>
        <p:nvSpPr>
          <p:cNvPr id="52" name="Shape 48"/>
          <p:cNvSpPr/>
          <p:nvPr/>
        </p:nvSpPr>
        <p:spPr>
          <a:xfrm>
            <a:off x="2523744" y="2148840"/>
            <a:ext cx="109728" cy="109728"/>
          </a:xfrm>
          <a:prstGeom prst="ellipse">
            <a:avLst/>
          </a:prstGeom>
          <a:solidFill>
            <a:srgbClr val="086A70"/>
          </a:solidFill>
          <a:ln/>
        </p:spPr>
      </p:sp>
      <p:sp>
        <p:nvSpPr>
          <p:cNvPr id="53" name="Shape 49"/>
          <p:cNvSpPr/>
          <p:nvPr/>
        </p:nvSpPr>
        <p:spPr>
          <a:xfrm>
            <a:off x="2816352" y="2148840"/>
            <a:ext cx="109728" cy="109728"/>
          </a:xfrm>
          <a:prstGeom prst="ellipse">
            <a:avLst/>
          </a:prstGeom>
          <a:solidFill>
            <a:srgbClr val="ECE8DF"/>
          </a:solidFill>
          <a:ln/>
        </p:spPr>
      </p:sp>
      <p:sp>
        <p:nvSpPr>
          <p:cNvPr id="54" name="Shape 50"/>
          <p:cNvSpPr/>
          <p:nvPr/>
        </p:nvSpPr>
        <p:spPr>
          <a:xfrm>
            <a:off x="3090672" y="2139696"/>
            <a:ext cx="738195" cy="118872"/>
          </a:xfrm>
          <a:prstGeom prst="rect">
            <a:avLst/>
          </a:prstGeom>
          <a:solidFill>
            <a:srgbClr val="A9AEB0"/>
          </a:solidFill>
          <a:ln/>
        </p:spPr>
      </p:sp>
      <p:sp>
        <p:nvSpPr>
          <p:cNvPr id="55" name="Text 51"/>
          <p:cNvSpPr txBox="1"/>
          <p:nvPr/>
        </p:nvSpPr>
        <p:spPr>
          <a:xfrm>
            <a:off x="3865443" y="2075688"/>
            <a:ext cx="365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0.851</a:t>
            </a:r>
            <a:endParaRPr lang="en-US" sz="720" dirty="0"/>
          </a:p>
        </p:txBody>
      </p:sp>
      <p:sp>
        <p:nvSpPr>
          <p:cNvPr id="56" name="Text 52"/>
          <p:cNvSpPr txBox="1"/>
          <p:nvPr/>
        </p:nvSpPr>
        <p:spPr>
          <a:xfrm>
            <a:off x="4224528" y="2075688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0.189</a:t>
            </a:r>
            <a:endParaRPr lang="en-US" sz="720" dirty="0"/>
          </a:p>
        </p:txBody>
      </p:sp>
      <p:sp>
        <p:nvSpPr>
          <p:cNvPr id="57" name="Shape 53"/>
          <p:cNvSpPr/>
          <p:nvPr/>
        </p:nvSpPr>
        <p:spPr>
          <a:xfrm>
            <a:off x="4681728" y="2139696"/>
            <a:ext cx="438912" cy="118872"/>
          </a:xfrm>
          <a:prstGeom prst="rect">
            <a:avLst/>
          </a:prstGeom>
          <a:solidFill>
            <a:srgbClr val="A9AEB0"/>
          </a:solidFill>
          <a:ln/>
        </p:spPr>
      </p:sp>
      <p:sp>
        <p:nvSpPr>
          <p:cNvPr id="58" name="Text 54"/>
          <p:cNvSpPr txBox="1"/>
          <p:nvPr/>
        </p:nvSpPr>
        <p:spPr>
          <a:xfrm>
            <a:off x="5157216" y="2075688"/>
            <a:ext cx="2926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64%</a:t>
            </a:r>
            <a:endParaRPr lang="en-US" sz="720" dirty="0"/>
          </a:p>
        </p:txBody>
      </p:sp>
      <p:sp>
        <p:nvSpPr>
          <p:cNvPr id="59" name="Text 55"/>
          <p:cNvSpPr txBox="1"/>
          <p:nvPr/>
        </p:nvSpPr>
        <p:spPr>
          <a:xfrm>
            <a:off x="5596128" y="2075688"/>
            <a:ext cx="365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45%</a:t>
            </a:r>
            <a:endParaRPr lang="en-US" sz="720" dirty="0"/>
          </a:p>
        </p:txBody>
      </p:sp>
      <p:sp>
        <p:nvSpPr>
          <p:cNvPr id="60" name="Shape 56"/>
          <p:cNvSpPr/>
          <p:nvPr/>
        </p:nvSpPr>
        <p:spPr>
          <a:xfrm>
            <a:off x="329184" y="2377440"/>
            <a:ext cx="5650992" cy="301752"/>
          </a:xfrm>
          <a:prstGeom prst="rect">
            <a:avLst/>
          </a:prstGeom>
          <a:solidFill>
            <a:srgbClr val="F4F1EA"/>
          </a:solidFill>
          <a:ln/>
        </p:spPr>
      </p:sp>
      <p:sp>
        <p:nvSpPr>
          <p:cNvPr id="61" name="Text 57"/>
          <p:cNvSpPr txBox="1"/>
          <p:nvPr/>
        </p:nvSpPr>
        <p:spPr>
          <a:xfrm>
            <a:off x="365760" y="2404872"/>
            <a:ext cx="14813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Watch only + twin</a:t>
            </a:r>
            <a:endParaRPr lang="en-US" sz="730" dirty="0"/>
          </a:p>
        </p:txBody>
      </p:sp>
      <p:sp>
        <p:nvSpPr>
          <p:cNvPr id="62" name="Shape 58"/>
          <p:cNvSpPr/>
          <p:nvPr/>
        </p:nvSpPr>
        <p:spPr>
          <a:xfrm>
            <a:off x="1938528" y="2478024"/>
            <a:ext cx="109728" cy="109728"/>
          </a:xfrm>
          <a:prstGeom prst="ellipse">
            <a:avLst/>
          </a:prstGeom>
          <a:solidFill>
            <a:srgbClr val="ECE8DF"/>
          </a:solidFill>
          <a:ln/>
        </p:spPr>
      </p:sp>
      <p:sp>
        <p:nvSpPr>
          <p:cNvPr id="63" name="Shape 59"/>
          <p:cNvSpPr/>
          <p:nvPr/>
        </p:nvSpPr>
        <p:spPr>
          <a:xfrm>
            <a:off x="2231136" y="2478024"/>
            <a:ext cx="109728" cy="109728"/>
          </a:xfrm>
          <a:prstGeom prst="ellipse">
            <a:avLst/>
          </a:prstGeom>
          <a:solidFill>
            <a:srgbClr val="086A70"/>
          </a:solidFill>
          <a:ln/>
        </p:spPr>
      </p:sp>
      <p:sp>
        <p:nvSpPr>
          <p:cNvPr id="64" name="Shape 60"/>
          <p:cNvSpPr/>
          <p:nvPr/>
        </p:nvSpPr>
        <p:spPr>
          <a:xfrm>
            <a:off x="2523744" y="2478024"/>
            <a:ext cx="109728" cy="109728"/>
          </a:xfrm>
          <a:prstGeom prst="ellipse">
            <a:avLst/>
          </a:prstGeom>
          <a:solidFill>
            <a:srgbClr val="ECE8DF"/>
          </a:solidFill>
          <a:ln/>
        </p:spPr>
      </p:sp>
      <p:sp>
        <p:nvSpPr>
          <p:cNvPr id="65" name="Shape 61"/>
          <p:cNvSpPr/>
          <p:nvPr/>
        </p:nvSpPr>
        <p:spPr>
          <a:xfrm>
            <a:off x="2816352" y="2478024"/>
            <a:ext cx="109728" cy="109728"/>
          </a:xfrm>
          <a:prstGeom prst="ellipse">
            <a:avLst/>
          </a:prstGeom>
          <a:solidFill>
            <a:srgbClr val="B23F69"/>
          </a:solidFill>
          <a:ln/>
        </p:spPr>
      </p:sp>
      <p:sp>
        <p:nvSpPr>
          <p:cNvPr id="66" name="Shape 62"/>
          <p:cNvSpPr/>
          <p:nvPr/>
        </p:nvSpPr>
        <p:spPr>
          <a:xfrm>
            <a:off x="3090672" y="2468880"/>
            <a:ext cx="639348" cy="118872"/>
          </a:xfrm>
          <a:prstGeom prst="rect">
            <a:avLst/>
          </a:prstGeom>
          <a:solidFill>
            <a:srgbClr val="A9AEB0"/>
          </a:solidFill>
          <a:ln/>
        </p:spPr>
      </p:sp>
      <p:sp>
        <p:nvSpPr>
          <p:cNvPr id="67" name="Text 63"/>
          <p:cNvSpPr txBox="1"/>
          <p:nvPr/>
        </p:nvSpPr>
        <p:spPr>
          <a:xfrm>
            <a:off x="3766596" y="2404872"/>
            <a:ext cx="365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0.804</a:t>
            </a:r>
            <a:endParaRPr lang="en-US" sz="720" dirty="0"/>
          </a:p>
        </p:txBody>
      </p:sp>
      <p:sp>
        <p:nvSpPr>
          <p:cNvPr id="68" name="Text 64"/>
          <p:cNvSpPr txBox="1"/>
          <p:nvPr/>
        </p:nvSpPr>
        <p:spPr>
          <a:xfrm>
            <a:off x="4224528" y="2404872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0.136</a:t>
            </a:r>
            <a:endParaRPr lang="en-US" sz="720" dirty="0"/>
          </a:p>
        </p:txBody>
      </p:sp>
      <p:sp>
        <p:nvSpPr>
          <p:cNvPr id="69" name="Shape 65"/>
          <p:cNvSpPr/>
          <p:nvPr/>
        </p:nvSpPr>
        <p:spPr>
          <a:xfrm>
            <a:off x="4681728" y="2468880"/>
            <a:ext cx="377190" cy="118872"/>
          </a:xfrm>
          <a:prstGeom prst="rect">
            <a:avLst/>
          </a:prstGeom>
          <a:solidFill>
            <a:srgbClr val="A9AEB0"/>
          </a:solidFill>
          <a:ln/>
        </p:spPr>
      </p:sp>
      <p:sp>
        <p:nvSpPr>
          <p:cNvPr id="70" name="Text 66"/>
          <p:cNvSpPr txBox="1"/>
          <p:nvPr/>
        </p:nvSpPr>
        <p:spPr>
          <a:xfrm>
            <a:off x="5095494" y="2404872"/>
            <a:ext cx="2926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55%</a:t>
            </a:r>
            <a:endParaRPr lang="en-US" sz="720" dirty="0"/>
          </a:p>
        </p:txBody>
      </p:sp>
      <p:sp>
        <p:nvSpPr>
          <p:cNvPr id="71" name="Text 67"/>
          <p:cNvSpPr txBox="1"/>
          <p:nvPr/>
        </p:nvSpPr>
        <p:spPr>
          <a:xfrm>
            <a:off x="5596128" y="2404872"/>
            <a:ext cx="365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37%</a:t>
            </a:r>
            <a:endParaRPr lang="en-US" sz="720" dirty="0"/>
          </a:p>
        </p:txBody>
      </p:sp>
      <p:sp>
        <p:nvSpPr>
          <p:cNvPr id="72" name="Text 68"/>
          <p:cNvSpPr txBox="1"/>
          <p:nvPr/>
        </p:nvSpPr>
        <p:spPr>
          <a:xfrm>
            <a:off x="365760" y="2734056"/>
            <a:ext cx="14813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Overnight HR rule (NightSignal-style)</a:t>
            </a:r>
            <a:endParaRPr lang="en-US" sz="730" dirty="0"/>
          </a:p>
        </p:txBody>
      </p:sp>
      <p:sp>
        <p:nvSpPr>
          <p:cNvPr id="73" name="Shape 69"/>
          <p:cNvSpPr/>
          <p:nvPr/>
        </p:nvSpPr>
        <p:spPr>
          <a:xfrm>
            <a:off x="1938528" y="2807208"/>
            <a:ext cx="109728" cy="109728"/>
          </a:xfrm>
          <a:prstGeom prst="ellipse">
            <a:avLst/>
          </a:prstGeom>
          <a:solidFill>
            <a:srgbClr val="ECE8DF"/>
          </a:solidFill>
          <a:ln/>
        </p:spPr>
      </p:sp>
      <p:sp>
        <p:nvSpPr>
          <p:cNvPr id="74" name="Shape 70"/>
          <p:cNvSpPr/>
          <p:nvPr/>
        </p:nvSpPr>
        <p:spPr>
          <a:xfrm>
            <a:off x="2231136" y="2807208"/>
            <a:ext cx="109728" cy="109728"/>
          </a:xfrm>
          <a:prstGeom prst="ellipse">
            <a:avLst/>
          </a:prstGeom>
          <a:solidFill>
            <a:srgbClr val="086A70"/>
          </a:solidFill>
          <a:ln/>
        </p:spPr>
      </p:sp>
      <p:sp>
        <p:nvSpPr>
          <p:cNvPr id="75" name="Shape 71"/>
          <p:cNvSpPr/>
          <p:nvPr/>
        </p:nvSpPr>
        <p:spPr>
          <a:xfrm>
            <a:off x="2523744" y="2807208"/>
            <a:ext cx="109728" cy="109728"/>
          </a:xfrm>
          <a:prstGeom prst="ellipse">
            <a:avLst/>
          </a:prstGeom>
          <a:solidFill>
            <a:srgbClr val="ECE8DF"/>
          </a:solidFill>
          <a:ln/>
        </p:spPr>
      </p:sp>
      <p:sp>
        <p:nvSpPr>
          <p:cNvPr id="76" name="Shape 72"/>
          <p:cNvSpPr/>
          <p:nvPr/>
        </p:nvSpPr>
        <p:spPr>
          <a:xfrm>
            <a:off x="2816352" y="2807208"/>
            <a:ext cx="109728" cy="109728"/>
          </a:xfrm>
          <a:prstGeom prst="ellipse">
            <a:avLst/>
          </a:prstGeom>
          <a:solidFill>
            <a:srgbClr val="ECE8DF"/>
          </a:solidFill>
          <a:ln/>
        </p:spPr>
      </p:sp>
      <p:sp>
        <p:nvSpPr>
          <p:cNvPr id="77" name="Shape 73"/>
          <p:cNvSpPr/>
          <p:nvPr/>
        </p:nvSpPr>
        <p:spPr>
          <a:xfrm>
            <a:off x="3090672" y="2798064"/>
            <a:ext cx="437449" cy="118872"/>
          </a:xfrm>
          <a:prstGeom prst="rect">
            <a:avLst/>
          </a:prstGeom>
          <a:solidFill>
            <a:srgbClr val="A9AEB0"/>
          </a:solidFill>
          <a:ln/>
        </p:spPr>
      </p:sp>
      <p:sp>
        <p:nvSpPr>
          <p:cNvPr id="78" name="Text 74"/>
          <p:cNvSpPr txBox="1"/>
          <p:nvPr/>
        </p:nvSpPr>
        <p:spPr>
          <a:xfrm>
            <a:off x="3564697" y="2734056"/>
            <a:ext cx="365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0.708</a:t>
            </a:r>
            <a:endParaRPr lang="en-US" sz="720" dirty="0"/>
          </a:p>
        </p:txBody>
      </p:sp>
      <p:sp>
        <p:nvSpPr>
          <p:cNvPr id="79" name="Text 75"/>
          <p:cNvSpPr txBox="1"/>
          <p:nvPr/>
        </p:nvSpPr>
        <p:spPr>
          <a:xfrm>
            <a:off x="4224528" y="2734056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0.091</a:t>
            </a:r>
            <a:endParaRPr lang="en-US" sz="720" dirty="0"/>
          </a:p>
        </p:txBody>
      </p:sp>
      <p:sp>
        <p:nvSpPr>
          <p:cNvPr id="80" name="Shape 76"/>
          <p:cNvSpPr/>
          <p:nvPr/>
        </p:nvSpPr>
        <p:spPr>
          <a:xfrm>
            <a:off x="4681728" y="2798064"/>
            <a:ext cx="288036" cy="118872"/>
          </a:xfrm>
          <a:prstGeom prst="rect">
            <a:avLst/>
          </a:prstGeom>
          <a:solidFill>
            <a:srgbClr val="A9AEB0"/>
          </a:solidFill>
          <a:ln/>
        </p:spPr>
      </p:sp>
      <p:sp>
        <p:nvSpPr>
          <p:cNvPr id="81" name="Text 77"/>
          <p:cNvSpPr txBox="1"/>
          <p:nvPr/>
        </p:nvSpPr>
        <p:spPr>
          <a:xfrm>
            <a:off x="5006340" y="2734056"/>
            <a:ext cx="2926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42%</a:t>
            </a:r>
            <a:endParaRPr lang="en-US" sz="720" dirty="0"/>
          </a:p>
        </p:txBody>
      </p:sp>
      <p:sp>
        <p:nvSpPr>
          <p:cNvPr id="82" name="Text 78"/>
          <p:cNvSpPr txBox="1"/>
          <p:nvPr/>
        </p:nvSpPr>
        <p:spPr>
          <a:xfrm>
            <a:off x="5596128" y="2734056"/>
            <a:ext cx="365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19%</a:t>
            </a:r>
            <a:endParaRPr lang="en-US" sz="720" dirty="0"/>
          </a:p>
        </p:txBody>
      </p:sp>
      <p:sp>
        <p:nvSpPr>
          <p:cNvPr id="83" name="Shape 79"/>
          <p:cNvSpPr/>
          <p:nvPr/>
        </p:nvSpPr>
        <p:spPr>
          <a:xfrm>
            <a:off x="329184" y="3035808"/>
            <a:ext cx="5650992" cy="301752"/>
          </a:xfrm>
          <a:prstGeom prst="rect">
            <a:avLst/>
          </a:prstGeom>
          <a:solidFill>
            <a:srgbClr val="F4F1EA"/>
          </a:solidFill>
          <a:ln/>
        </p:spPr>
      </p:sp>
      <p:sp>
        <p:nvSpPr>
          <p:cNvPr id="84" name="Text 80"/>
          <p:cNvSpPr txBox="1"/>
          <p:nvPr/>
        </p:nvSpPr>
        <p:spPr>
          <a:xfrm>
            <a:off x="365760" y="3063240"/>
            <a:ext cx="14813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Health record only</a:t>
            </a:r>
            <a:endParaRPr lang="en-US" sz="730" dirty="0"/>
          </a:p>
        </p:txBody>
      </p:sp>
      <p:sp>
        <p:nvSpPr>
          <p:cNvPr id="85" name="Shape 81"/>
          <p:cNvSpPr/>
          <p:nvPr/>
        </p:nvSpPr>
        <p:spPr>
          <a:xfrm>
            <a:off x="1938528" y="3136392"/>
            <a:ext cx="109728" cy="109728"/>
          </a:xfrm>
          <a:prstGeom prst="ellipse">
            <a:avLst/>
          </a:prstGeom>
          <a:solidFill>
            <a:srgbClr val="A8703C"/>
          </a:solidFill>
          <a:ln/>
        </p:spPr>
      </p:sp>
      <p:sp>
        <p:nvSpPr>
          <p:cNvPr id="86" name="Shape 82"/>
          <p:cNvSpPr/>
          <p:nvPr/>
        </p:nvSpPr>
        <p:spPr>
          <a:xfrm>
            <a:off x="2231136" y="3136392"/>
            <a:ext cx="109728" cy="109728"/>
          </a:xfrm>
          <a:prstGeom prst="ellipse">
            <a:avLst/>
          </a:prstGeom>
          <a:solidFill>
            <a:srgbClr val="ECE8DF"/>
          </a:solidFill>
          <a:ln/>
        </p:spPr>
      </p:sp>
      <p:sp>
        <p:nvSpPr>
          <p:cNvPr id="87" name="Shape 83"/>
          <p:cNvSpPr/>
          <p:nvPr/>
        </p:nvSpPr>
        <p:spPr>
          <a:xfrm>
            <a:off x="2523744" y="3136392"/>
            <a:ext cx="109728" cy="109728"/>
          </a:xfrm>
          <a:prstGeom prst="ellipse">
            <a:avLst/>
          </a:prstGeom>
          <a:solidFill>
            <a:srgbClr val="ECE8DF"/>
          </a:solidFill>
          <a:ln/>
        </p:spPr>
      </p:sp>
      <p:sp>
        <p:nvSpPr>
          <p:cNvPr id="88" name="Shape 84"/>
          <p:cNvSpPr/>
          <p:nvPr/>
        </p:nvSpPr>
        <p:spPr>
          <a:xfrm>
            <a:off x="2816352" y="3136392"/>
            <a:ext cx="109728" cy="109728"/>
          </a:xfrm>
          <a:prstGeom prst="ellipse">
            <a:avLst/>
          </a:prstGeom>
          <a:solidFill>
            <a:srgbClr val="ECE8DF"/>
          </a:solidFill>
          <a:ln/>
        </p:spPr>
      </p:sp>
      <p:sp>
        <p:nvSpPr>
          <p:cNvPr id="89" name="Shape 85"/>
          <p:cNvSpPr/>
          <p:nvPr/>
        </p:nvSpPr>
        <p:spPr>
          <a:xfrm>
            <a:off x="3090672" y="3127248"/>
            <a:ext cx="164043" cy="118872"/>
          </a:xfrm>
          <a:prstGeom prst="rect">
            <a:avLst/>
          </a:prstGeom>
          <a:solidFill>
            <a:srgbClr val="A9AEB0"/>
          </a:solidFill>
          <a:ln/>
        </p:spPr>
      </p:sp>
      <p:sp>
        <p:nvSpPr>
          <p:cNvPr id="90" name="Text 86"/>
          <p:cNvSpPr txBox="1"/>
          <p:nvPr/>
        </p:nvSpPr>
        <p:spPr>
          <a:xfrm>
            <a:off x="3291291" y="3063240"/>
            <a:ext cx="365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0.578</a:t>
            </a:r>
            <a:endParaRPr lang="en-US" sz="720" dirty="0"/>
          </a:p>
        </p:txBody>
      </p:sp>
      <p:sp>
        <p:nvSpPr>
          <p:cNvPr id="91" name="Text 87"/>
          <p:cNvSpPr txBox="1"/>
          <p:nvPr/>
        </p:nvSpPr>
        <p:spPr>
          <a:xfrm>
            <a:off x="4224528" y="3063240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0.042</a:t>
            </a:r>
            <a:endParaRPr lang="en-US" sz="720" dirty="0"/>
          </a:p>
        </p:txBody>
      </p:sp>
      <p:sp>
        <p:nvSpPr>
          <p:cNvPr id="92" name="Shape 88"/>
          <p:cNvSpPr/>
          <p:nvPr/>
        </p:nvSpPr>
        <p:spPr>
          <a:xfrm>
            <a:off x="4681728" y="3127248"/>
            <a:ext cx="102870" cy="118872"/>
          </a:xfrm>
          <a:prstGeom prst="rect">
            <a:avLst/>
          </a:prstGeom>
          <a:solidFill>
            <a:srgbClr val="A9AEB0"/>
          </a:solidFill>
          <a:ln/>
        </p:spPr>
      </p:sp>
      <p:sp>
        <p:nvSpPr>
          <p:cNvPr id="93" name="Text 89"/>
          <p:cNvSpPr txBox="1"/>
          <p:nvPr/>
        </p:nvSpPr>
        <p:spPr>
          <a:xfrm>
            <a:off x="4821174" y="3063240"/>
            <a:ext cx="2926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15%</a:t>
            </a:r>
            <a:endParaRPr lang="en-US" sz="720" dirty="0"/>
          </a:p>
        </p:txBody>
      </p:sp>
      <p:sp>
        <p:nvSpPr>
          <p:cNvPr id="94" name="Text 90"/>
          <p:cNvSpPr txBox="1"/>
          <p:nvPr/>
        </p:nvSpPr>
        <p:spPr>
          <a:xfrm>
            <a:off x="5596128" y="3063240"/>
            <a:ext cx="365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15%</a:t>
            </a:r>
            <a:endParaRPr lang="en-US" sz="720" dirty="0"/>
          </a:p>
        </p:txBody>
      </p:sp>
      <p:sp>
        <p:nvSpPr>
          <p:cNvPr id="95" name="Text 91"/>
          <p:cNvSpPr txBox="1"/>
          <p:nvPr/>
        </p:nvSpPr>
        <p:spPr>
          <a:xfrm>
            <a:off x="365760" y="3383280"/>
            <a:ext cx="5577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" i="1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AUROC bar starts at 0.5 (guessing). The record raises ranking more than timing; its real job is reading the watch right.</a:t>
            </a:r>
            <a:endParaRPr lang="en-US" sz="660" dirty="0"/>
          </a:p>
        </p:txBody>
      </p:sp>
      <p:sp>
        <p:nvSpPr>
          <p:cNvPr id="96" name="Shape 92"/>
          <p:cNvSpPr/>
          <p:nvPr/>
        </p:nvSpPr>
        <p:spPr>
          <a:xfrm>
            <a:off x="6108192" y="987552"/>
            <a:ext cx="2834640" cy="2615184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2"/>
            </a:solidFill>
            <a:prstDash val="solid"/>
          </a:ln>
        </p:spPr>
      </p:sp>
      <p:sp>
        <p:nvSpPr>
          <p:cNvPr id="97" name="Shape 93"/>
          <p:cNvSpPr/>
          <p:nvPr/>
        </p:nvSpPr>
        <p:spPr>
          <a:xfrm>
            <a:off x="6181344" y="1083564"/>
            <a:ext cx="64008" cy="64008"/>
          </a:xfrm>
          <a:prstGeom prst="rect">
            <a:avLst/>
          </a:prstGeom>
          <a:solidFill>
            <a:srgbClr val="187A4C"/>
          </a:solidFill>
          <a:ln/>
        </p:spPr>
      </p:sp>
      <p:sp>
        <p:nvSpPr>
          <p:cNvPr id="98" name="Text 94"/>
          <p:cNvSpPr txBox="1"/>
          <p:nvPr/>
        </p:nvSpPr>
        <p:spPr>
          <a:xfrm>
            <a:off x="6281928" y="1037844"/>
            <a:ext cx="18470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TWIN LIFT HOLDS ON EVERY SPLIT</a:t>
            </a:r>
            <a:endParaRPr lang="en-US" sz="800" dirty="0"/>
          </a:p>
        </p:txBody>
      </p:sp>
      <p:sp>
        <p:nvSpPr>
          <p:cNvPr id="99" name="Text 95"/>
          <p:cNvSpPr txBox="1"/>
          <p:nvPr/>
        </p:nvSpPr>
        <p:spPr>
          <a:xfrm>
            <a:off x="8174736" y="1037844"/>
            <a:ext cx="7132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87A4C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MIN, MEAN, MAX</a:t>
            </a:r>
            <a:endParaRPr lang="en-US" sz="700" dirty="0"/>
          </a:p>
        </p:txBody>
      </p:sp>
      <p:sp>
        <p:nvSpPr>
          <p:cNvPr id="100" name="Text 96"/>
          <p:cNvSpPr txBox="1"/>
          <p:nvPr/>
        </p:nvSpPr>
        <p:spPr>
          <a:xfrm>
            <a:off x="6199632" y="1243584"/>
            <a:ext cx="2651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AUROC</a:t>
            </a:r>
            <a:endParaRPr lang="en-US" sz="680" dirty="0"/>
          </a:p>
        </p:txBody>
      </p:sp>
      <p:sp>
        <p:nvSpPr>
          <p:cNvPr id="101" name="Text 97"/>
          <p:cNvSpPr txBox="1"/>
          <p:nvPr/>
        </p:nvSpPr>
        <p:spPr>
          <a:xfrm>
            <a:off x="6199632" y="1444752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With twin</a:t>
            </a:r>
            <a:endParaRPr lang="en-US" sz="690" dirty="0"/>
          </a:p>
        </p:txBody>
      </p:sp>
      <p:sp>
        <p:nvSpPr>
          <p:cNvPr id="102" name="Shape 98"/>
          <p:cNvSpPr/>
          <p:nvPr/>
        </p:nvSpPr>
        <p:spPr>
          <a:xfrm>
            <a:off x="8115300" y="1536192"/>
            <a:ext cx="288036" cy="91"/>
          </a:xfrm>
          <a:prstGeom prst="line">
            <a:avLst/>
          </a:prstGeom>
          <a:noFill/>
          <a:ln w="38100">
            <a:solidFill>
              <a:srgbClr val="086A70"/>
            </a:solidFill>
            <a:prstDash val="solid"/>
          </a:ln>
        </p:spPr>
      </p:sp>
      <p:sp>
        <p:nvSpPr>
          <p:cNvPr id="103" name="Shape 99"/>
          <p:cNvSpPr/>
          <p:nvPr/>
        </p:nvSpPr>
        <p:spPr>
          <a:xfrm>
            <a:off x="8183880" y="1481328"/>
            <a:ext cx="109728" cy="1097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86A70"/>
            </a:solidFill>
            <a:prstDash val="solid"/>
          </a:ln>
        </p:spPr>
      </p:sp>
      <p:sp>
        <p:nvSpPr>
          <p:cNvPr id="104" name="Text 100"/>
          <p:cNvSpPr txBox="1"/>
          <p:nvPr/>
        </p:nvSpPr>
        <p:spPr>
          <a:xfrm>
            <a:off x="8449056" y="14447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086A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0.876</a:t>
            </a:r>
            <a:endParaRPr lang="en-US" sz="680" dirty="0"/>
          </a:p>
        </p:txBody>
      </p:sp>
      <p:sp>
        <p:nvSpPr>
          <p:cNvPr id="105" name="Text 101"/>
          <p:cNvSpPr txBox="1"/>
          <p:nvPr/>
        </p:nvSpPr>
        <p:spPr>
          <a:xfrm>
            <a:off x="6199632" y="169164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No twin</a:t>
            </a:r>
            <a:endParaRPr lang="en-US" sz="690" dirty="0"/>
          </a:p>
        </p:txBody>
      </p:sp>
      <p:sp>
        <p:nvSpPr>
          <p:cNvPr id="106" name="Shape 102"/>
          <p:cNvSpPr/>
          <p:nvPr/>
        </p:nvSpPr>
        <p:spPr>
          <a:xfrm>
            <a:off x="7333488" y="1783080"/>
            <a:ext cx="617220" cy="91"/>
          </a:xfrm>
          <a:prstGeom prst="line">
            <a:avLst/>
          </a:prstGeom>
          <a:noFill/>
          <a:ln w="38100">
            <a:solidFill>
              <a:srgbClr val="5D6766"/>
            </a:solidFill>
            <a:prstDash val="solid"/>
          </a:ln>
        </p:spPr>
      </p:sp>
      <p:sp>
        <p:nvSpPr>
          <p:cNvPr id="107" name="Shape 103"/>
          <p:cNvSpPr/>
          <p:nvPr/>
        </p:nvSpPr>
        <p:spPr>
          <a:xfrm>
            <a:off x="7669530" y="1728216"/>
            <a:ext cx="109728" cy="1097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D6766"/>
            </a:solidFill>
            <a:prstDash val="solid"/>
          </a:ln>
        </p:spPr>
      </p:sp>
      <p:sp>
        <p:nvSpPr>
          <p:cNvPr id="108" name="Text 104"/>
          <p:cNvSpPr txBox="1"/>
          <p:nvPr/>
        </p:nvSpPr>
        <p:spPr>
          <a:xfrm>
            <a:off x="7996428" y="16916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0.851</a:t>
            </a:r>
            <a:endParaRPr lang="en-US" sz="680" dirty="0"/>
          </a:p>
        </p:txBody>
      </p:sp>
      <p:sp>
        <p:nvSpPr>
          <p:cNvPr id="109" name="Text 105"/>
          <p:cNvSpPr txBox="1"/>
          <p:nvPr/>
        </p:nvSpPr>
        <p:spPr>
          <a:xfrm>
            <a:off x="6199632" y="2011680"/>
            <a:ext cx="2651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Episodes caught at the budget</a:t>
            </a:r>
            <a:endParaRPr lang="en-US" sz="680" dirty="0"/>
          </a:p>
        </p:txBody>
      </p:sp>
      <p:sp>
        <p:nvSpPr>
          <p:cNvPr id="110" name="Text 106"/>
          <p:cNvSpPr txBox="1"/>
          <p:nvPr/>
        </p:nvSpPr>
        <p:spPr>
          <a:xfrm>
            <a:off x="6199632" y="221284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With twin</a:t>
            </a:r>
            <a:endParaRPr lang="en-US" sz="690" dirty="0"/>
          </a:p>
        </p:txBody>
      </p:sp>
      <p:sp>
        <p:nvSpPr>
          <p:cNvPr id="111" name="Shape 107"/>
          <p:cNvSpPr/>
          <p:nvPr/>
        </p:nvSpPr>
        <p:spPr>
          <a:xfrm>
            <a:off x="7536485" y="2304288"/>
            <a:ext cx="1042416" cy="91"/>
          </a:xfrm>
          <a:prstGeom prst="line">
            <a:avLst/>
          </a:prstGeom>
          <a:noFill/>
          <a:ln w="38100">
            <a:solidFill>
              <a:srgbClr val="187A4C"/>
            </a:solidFill>
            <a:prstDash val="solid"/>
          </a:ln>
        </p:spPr>
      </p:sp>
      <p:sp>
        <p:nvSpPr>
          <p:cNvPr id="112" name="Shape 108"/>
          <p:cNvSpPr/>
          <p:nvPr/>
        </p:nvSpPr>
        <p:spPr>
          <a:xfrm>
            <a:off x="8154802" y="2249424"/>
            <a:ext cx="109728" cy="1097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87A4C"/>
            </a:solidFill>
            <a:prstDash val="solid"/>
          </a:ln>
        </p:spPr>
      </p:sp>
      <p:sp>
        <p:nvSpPr>
          <p:cNvPr id="113" name="Text 109"/>
          <p:cNvSpPr txBox="1"/>
          <p:nvPr/>
        </p:nvSpPr>
        <p:spPr>
          <a:xfrm>
            <a:off x="8624621" y="221284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187A4C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70%</a:t>
            </a:r>
            <a:endParaRPr lang="en-US" sz="680" dirty="0"/>
          </a:p>
        </p:txBody>
      </p:sp>
      <p:sp>
        <p:nvSpPr>
          <p:cNvPr id="114" name="Text 110"/>
          <p:cNvSpPr txBox="1"/>
          <p:nvPr/>
        </p:nvSpPr>
        <p:spPr>
          <a:xfrm>
            <a:off x="6199632" y="2459736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No twin</a:t>
            </a:r>
            <a:endParaRPr lang="en-US" sz="690" dirty="0"/>
          </a:p>
        </p:txBody>
      </p:sp>
      <p:sp>
        <p:nvSpPr>
          <p:cNvPr id="115" name="Shape 111"/>
          <p:cNvSpPr/>
          <p:nvPr/>
        </p:nvSpPr>
        <p:spPr>
          <a:xfrm>
            <a:off x="7552944" y="2551176"/>
            <a:ext cx="466344" cy="91"/>
          </a:xfrm>
          <a:prstGeom prst="line">
            <a:avLst/>
          </a:prstGeom>
          <a:noFill/>
          <a:ln w="38100">
            <a:solidFill>
              <a:srgbClr val="5D6766"/>
            </a:solidFill>
            <a:prstDash val="solid"/>
          </a:ln>
        </p:spPr>
      </p:sp>
      <p:sp>
        <p:nvSpPr>
          <p:cNvPr id="116" name="Shape 112"/>
          <p:cNvSpPr/>
          <p:nvPr/>
        </p:nvSpPr>
        <p:spPr>
          <a:xfrm>
            <a:off x="7799832" y="2496312"/>
            <a:ext cx="109728" cy="1097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D6766"/>
            </a:solidFill>
            <a:prstDash val="solid"/>
          </a:ln>
        </p:spPr>
      </p:sp>
      <p:sp>
        <p:nvSpPr>
          <p:cNvPr id="117" name="Text 113"/>
          <p:cNvSpPr txBox="1"/>
          <p:nvPr/>
        </p:nvSpPr>
        <p:spPr>
          <a:xfrm>
            <a:off x="8065008" y="245973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64%</a:t>
            </a:r>
            <a:endParaRPr lang="en-US" sz="680" dirty="0"/>
          </a:p>
        </p:txBody>
      </p:sp>
      <p:sp>
        <p:nvSpPr>
          <p:cNvPr id="118" name="Text 114"/>
          <p:cNvSpPr txBox="1"/>
          <p:nvPr/>
        </p:nvSpPr>
        <p:spPr>
          <a:xfrm>
            <a:off x="6199632" y="2852928"/>
            <a:ext cx="2670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187A4C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Better AUROC on 3 of 3 splits. </a:t>
            </a:r>
            <a:r>
              <a:rPr lang="en-US" sz="68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Catch rate moves up to 19 points between splits of 240 people, so every headline is a three-split mean.</a:t>
            </a:r>
            <a:endParaRPr lang="en-US" sz="680" dirty="0"/>
          </a:p>
        </p:txBody>
      </p:sp>
      <p:sp>
        <p:nvSpPr>
          <p:cNvPr id="119" name="Shape 115"/>
          <p:cNvSpPr/>
          <p:nvPr/>
        </p:nvSpPr>
        <p:spPr>
          <a:xfrm>
            <a:off x="9015984" y="987552"/>
            <a:ext cx="2898648" cy="2615184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2"/>
            </a:solidFill>
            <a:prstDash val="solid"/>
          </a:ln>
        </p:spPr>
      </p:sp>
      <p:sp>
        <p:nvSpPr>
          <p:cNvPr id="120" name="Shape 116"/>
          <p:cNvSpPr/>
          <p:nvPr/>
        </p:nvSpPr>
        <p:spPr>
          <a:xfrm>
            <a:off x="9089136" y="1083564"/>
            <a:ext cx="64008" cy="64008"/>
          </a:xfrm>
          <a:prstGeom prst="rect">
            <a:avLst/>
          </a:prstGeom>
          <a:solidFill>
            <a:srgbClr val="187A4C"/>
          </a:solidFill>
          <a:ln/>
        </p:spPr>
      </p:sp>
      <p:sp>
        <p:nvSpPr>
          <p:cNvPr id="121" name="Text 117"/>
          <p:cNvSpPr txBox="1"/>
          <p:nvPr/>
        </p:nvSpPr>
        <p:spPr>
          <a:xfrm>
            <a:off x="9189720" y="1037844"/>
            <a:ext cx="26243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CUFF KEEPS COLDS FROM BECOMING ALARMS</a:t>
            </a:r>
            <a:endParaRPr lang="en-US" sz="800" dirty="0"/>
          </a:p>
        </p:txBody>
      </p:sp>
      <p:sp>
        <p:nvSpPr>
          <p:cNvPr id="122" name="Shape 118"/>
          <p:cNvSpPr/>
          <p:nvPr/>
        </p:nvSpPr>
        <p:spPr>
          <a:xfrm>
            <a:off x="9253728" y="1631222"/>
            <a:ext cx="548640" cy="1276570"/>
          </a:xfrm>
          <a:prstGeom prst="rect">
            <a:avLst/>
          </a:prstGeom>
          <a:solidFill>
            <a:srgbClr val="A9AEB0"/>
          </a:solidFill>
          <a:ln/>
        </p:spPr>
      </p:sp>
      <p:sp>
        <p:nvSpPr>
          <p:cNvPr id="123" name="Text 119"/>
          <p:cNvSpPr txBox="1"/>
          <p:nvPr/>
        </p:nvSpPr>
        <p:spPr>
          <a:xfrm>
            <a:off x="9253728" y="1667798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233</a:t>
            </a:r>
            <a:endParaRPr lang="en-US" sz="900" dirty="0"/>
          </a:p>
        </p:txBody>
      </p:sp>
      <p:sp>
        <p:nvSpPr>
          <p:cNvPr id="124" name="Text 120"/>
          <p:cNvSpPr txBox="1"/>
          <p:nvPr/>
        </p:nvSpPr>
        <p:spPr>
          <a:xfrm>
            <a:off x="9116568" y="2935224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Watch only</a:t>
            </a:r>
            <a:endParaRPr lang="en-US" sz="680" dirty="0"/>
          </a:p>
        </p:txBody>
      </p:sp>
      <p:sp>
        <p:nvSpPr>
          <p:cNvPr id="125" name="Shape 121"/>
          <p:cNvSpPr/>
          <p:nvPr/>
        </p:nvSpPr>
        <p:spPr>
          <a:xfrm>
            <a:off x="10122408" y="2009262"/>
            <a:ext cx="548640" cy="898530"/>
          </a:xfrm>
          <a:prstGeom prst="rect">
            <a:avLst/>
          </a:prstGeom>
          <a:solidFill>
            <a:srgbClr val="086A70"/>
          </a:solidFill>
          <a:ln/>
        </p:spPr>
      </p:sp>
      <p:sp>
        <p:nvSpPr>
          <p:cNvPr id="126" name="Text 122"/>
          <p:cNvSpPr txBox="1"/>
          <p:nvPr/>
        </p:nvSpPr>
        <p:spPr>
          <a:xfrm>
            <a:off x="10122408" y="2045838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164</a:t>
            </a:r>
            <a:endParaRPr lang="en-US" sz="900" dirty="0"/>
          </a:p>
        </p:txBody>
      </p:sp>
      <p:sp>
        <p:nvSpPr>
          <p:cNvPr id="127" name="Text 123"/>
          <p:cNvSpPr txBox="1"/>
          <p:nvPr/>
        </p:nvSpPr>
        <p:spPr>
          <a:xfrm>
            <a:off x="9985248" y="2935224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Watch + cuff</a:t>
            </a:r>
            <a:endParaRPr lang="en-US" sz="680" dirty="0"/>
          </a:p>
        </p:txBody>
      </p:sp>
      <p:sp>
        <p:nvSpPr>
          <p:cNvPr id="128" name="Shape 124"/>
          <p:cNvSpPr/>
          <p:nvPr/>
        </p:nvSpPr>
        <p:spPr>
          <a:xfrm>
            <a:off x="10991088" y="1959952"/>
            <a:ext cx="548640" cy="947840"/>
          </a:xfrm>
          <a:prstGeom prst="rect">
            <a:avLst/>
          </a:prstGeom>
          <a:solidFill>
            <a:srgbClr val="187A4C"/>
          </a:solidFill>
          <a:ln/>
        </p:spPr>
      </p:sp>
      <p:sp>
        <p:nvSpPr>
          <p:cNvPr id="129" name="Text 125"/>
          <p:cNvSpPr txBox="1"/>
          <p:nvPr/>
        </p:nvSpPr>
        <p:spPr>
          <a:xfrm>
            <a:off x="10991088" y="1996528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173</a:t>
            </a:r>
            <a:endParaRPr lang="en-US" sz="900" dirty="0"/>
          </a:p>
        </p:txBody>
      </p:sp>
      <p:sp>
        <p:nvSpPr>
          <p:cNvPr id="130" name="Text 126"/>
          <p:cNvSpPr txBox="1"/>
          <p:nvPr/>
        </p:nvSpPr>
        <p:spPr>
          <a:xfrm>
            <a:off x="10853928" y="2935224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All streams</a:t>
            </a:r>
            <a:endParaRPr lang="en-US" sz="680" dirty="0"/>
          </a:p>
        </p:txBody>
      </p:sp>
      <p:sp>
        <p:nvSpPr>
          <p:cNvPr id="131" name="Shape 127"/>
          <p:cNvSpPr/>
          <p:nvPr/>
        </p:nvSpPr>
        <p:spPr>
          <a:xfrm>
            <a:off x="9144000" y="1581912"/>
            <a:ext cx="2697480" cy="91"/>
          </a:xfrm>
          <a:prstGeom prst="line">
            <a:avLst/>
          </a:prstGeom>
          <a:noFill/>
          <a:ln w="6350">
            <a:solidFill>
              <a:srgbClr val="A9AEB0"/>
            </a:solidFill>
            <a:prstDash val="dash"/>
          </a:ln>
        </p:spPr>
      </p:sp>
      <p:sp>
        <p:nvSpPr>
          <p:cNvPr id="132" name="Text 128"/>
          <p:cNvSpPr txBox="1"/>
          <p:nvPr/>
        </p:nvSpPr>
        <p:spPr>
          <a:xfrm>
            <a:off x="10789920" y="1444752"/>
            <a:ext cx="1051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242 cold-like windows</a:t>
            </a:r>
            <a:endParaRPr lang="en-US" sz="630" dirty="0"/>
          </a:p>
        </p:txBody>
      </p:sp>
      <p:sp>
        <p:nvSpPr>
          <p:cNvPr id="133" name="Text 129"/>
          <p:cNvSpPr txBox="1"/>
          <p:nvPr/>
        </p:nvSpPr>
        <p:spPr>
          <a:xfrm>
            <a:off x="9107424" y="3127248"/>
            <a:ext cx="2724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80" i="1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Cold-like windows that raised an alarm, at 90% episode sensitivity. A cold raises heart rate; it rarely raises BP for a week.</a:t>
            </a:r>
            <a:endParaRPr lang="en-US" sz="680" dirty="0"/>
          </a:p>
        </p:txBody>
      </p:sp>
      <p:sp>
        <p:nvSpPr>
          <p:cNvPr id="134" name="Shape 130"/>
          <p:cNvSpPr/>
          <p:nvPr/>
        </p:nvSpPr>
        <p:spPr>
          <a:xfrm>
            <a:off x="274320" y="3675888"/>
            <a:ext cx="5760720" cy="2249424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2"/>
            </a:solidFill>
            <a:prstDash val="solid"/>
          </a:ln>
        </p:spPr>
      </p:sp>
      <p:sp>
        <p:nvSpPr>
          <p:cNvPr id="135" name="Shape 131"/>
          <p:cNvSpPr/>
          <p:nvPr/>
        </p:nvSpPr>
        <p:spPr>
          <a:xfrm>
            <a:off x="347472" y="3771900"/>
            <a:ext cx="64008" cy="64008"/>
          </a:xfrm>
          <a:prstGeom prst="rect">
            <a:avLst/>
          </a:prstGeom>
          <a:solidFill>
            <a:srgbClr val="187A4C"/>
          </a:solidFill>
          <a:ln/>
        </p:spPr>
      </p:sp>
      <p:sp>
        <p:nvSpPr>
          <p:cNvPr id="136" name="Text 132"/>
          <p:cNvSpPr txBox="1"/>
          <p:nvPr/>
        </p:nvSpPr>
        <p:spPr>
          <a:xfrm>
            <a:off x="448056" y="3726180"/>
            <a:ext cx="45902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DOES THE TWIN LEARN THE RIGHT PERSON?</a:t>
            </a:r>
            <a:endParaRPr lang="en-US" sz="800" dirty="0"/>
          </a:p>
        </p:txBody>
      </p:sp>
      <p:sp>
        <p:nvSpPr>
          <p:cNvPr id="137" name="Text 133"/>
          <p:cNvSpPr txBox="1"/>
          <p:nvPr/>
        </p:nvSpPr>
        <p:spPr>
          <a:xfrm>
            <a:off x="5084064" y="3726180"/>
            <a:ext cx="8961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87A4C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HIDDEN TRUTH KNOWN</a:t>
            </a:r>
            <a:endParaRPr lang="en-US" sz="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" y="3950208"/>
          <a:ext cx="5614416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914400"/>
                <a:gridCol w="713232"/>
                <a:gridCol w="822960"/>
                <a:gridCol w="640080"/>
                <a:gridCol w="786384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Response the twin learns</a:t>
                      </a:r>
                      <a:endParaRPr lang="en-US" sz="75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7A4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Match with truth (r)</a:t>
                      </a:r>
                      <a:endParaRPr lang="en-US" sz="75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7A4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Twin error</a:t>
                      </a:r>
                      <a:endParaRPr lang="en-US" sz="75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7A4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One-slope error</a:t>
                      </a:r>
                      <a:endParaRPr lang="en-US" sz="75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7A4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Error cut</a:t>
                      </a:r>
                      <a:endParaRPr lang="en-US" sz="75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7A4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80% band holds</a:t>
                      </a:r>
                      <a:endParaRPr lang="en-US" sz="75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7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1F2A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Sleep to next-night heart rate</a:t>
                      </a:r>
                      <a:endParaRPr lang="en-US" sz="74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b="1" dirty="0">
                          <a:solidFill>
                            <a:srgbClr val="187A4C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0.71</a:t>
                      </a:r>
                      <a:endParaRPr lang="en-US" sz="74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1F2A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0.28</a:t>
                      </a:r>
                      <a:endParaRPr lang="en-US" sz="74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1F2A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0.40</a:t>
                      </a:r>
                      <a:endParaRPr lang="en-US" sz="74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b="1" dirty="0">
                          <a:solidFill>
                            <a:srgbClr val="187A4C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30%</a:t>
                      </a:r>
                      <a:endParaRPr lang="en-US" sz="74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1F2A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72%</a:t>
                      </a:r>
                      <a:endParaRPr lang="en-US" sz="74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1F2A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Walking to next-morning BP</a:t>
                      </a:r>
                      <a:endParaRPr lang="en-US" sz="74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b="1" dirty="0">
                          <a:solidFill>
                            <a:srgbClr val="187A4C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0.67</a:t>
                      </a:r>
                      <a:endParaRPr lang="en-US" sz="74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1F2A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0.30</a:t>
                      </a:r>
                      <a:endParaRPr lang="en-US" sz="74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1F2A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0.42</a:t>
                      </a:r>
                      <a:endParaRPr lang="en-US" sz="74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b="1" dirty="0">
                          <a:solidFill>
                            <a:srgbClr val="187A4C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28%</a:t>
                      </a:r>
                      <a:endParaRPr lang="en-US" sz="74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1F2A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74%</a:t>
                      </a:r>
                      <a:endParaRPr lang="en-US" sz="74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1F2A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Walking to next-night heart rate</a:t>
                      </a:r>
                      <a:endParaRPr lang="en-US" sz="74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b="1" dirty="0">
                          <a:solidFill>
                            <a:srgbClr val="187A4C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0.66</a:t>
                      </a:r>
                      <a:endParaRPr lang="en-US" sz="74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1F2A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0.09</a:t>
                      </a:r>
                      <a:endParaRPr lang="en-US" sz="74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1F2A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0.12</a:t>
                      </a:r>
                      <a:endParaRPr lang="en-US" sz="74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b="1" dirty="0">
                          <a:solidFill>
                            <a:srgbClr val="187A4C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25%</a:t>
                      </a:r>
                      <a:endParaRPr lang="en-US" sz="74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1F2A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76%</a:t>
                      </a:r>
                      <a:endParaRPr lang="en-US" sz="74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1F2A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Sleep to next-night HRV</a:t>
                      </a:r>
                      <a:endParaRPr lang="en-US" sz="74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b="1" dirty="0">
                          <a:solidFill>
                            <a:srgbClr val="187A4C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0.59</a:t>
                      </a:r>
                      <a:endParaRPr lang="en-US" sz="74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1F2A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1.32</a:t>
                      </a:r>
                      <a:endParaRPr lang="en-US" sz="74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1F2A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1.60</a:t>
                      </a:r>
                      <a:endParaRPr lang="en-US" sz="74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b="1" dirty="0">
                          <a:solidFill>
                            <a:srgbClr val="187A4C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18%</a:t>
                      </a:r>
                      <a:endParaRPr lang="en-US" sz="74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1F2A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75%</a:t>
                      </a:r>
                      <a:endParaRPr lang="en-US" sz="74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</a:tr>
            </a:tbl>
          </a:graphicData>
        </a:graphic>
      </p:graphicFrame>
      <p:sp>
        <p:nvSpPr>
          <p:cNvPr id="139" name="Text 134"/>
          <p:cNvSpPr txBox="1"/>
          <p:nvPr/>
        </p:nvSpPr>
        <p:spPr>
          <a:xfrm>
            <a:off x="347472" y="5321808"/>
            <a:ext cx="5614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" i="1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generator plants each person's true slopes, so recovery can be checked directly. Error is mean absolute error in each slope's own unit; one-slope uses the population average for everyone.</a:t>
            </a:r>
            <a:endParaRPr lang="en-US" sz="690" dirty="0"/>
          </a:p>
        </p:txBody>
      </p:sp>
      <p:sp>
        <p:nvSpPr>
          <p:cNvPr id="140" name="Shape 135"/>
          <p:cNvSpPr/>
          <p:nvPr/>
        </p:nvSpPr>
        <p:spPr>
          <a:xfrm>
            <a:off x="6108192" y="3675888"/>
            <a:ext cx="2834640" cy="2249424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2"/>
            </a:solidFill>
            <a:prstDash val="solid"/>
          </a:ln>
        </p:spPr>
      </p:sp>
      <p:sp>
        <p:nvSpPr>
          <p:cNvPr id="141" name="Shape 136"/>
          <p:cNvSpPr/>
          <p:nvPr/>
        </p:nvSpPr>
        <p:spPr>
          <a:xfrm>
            <a:off x="6181344" y="3771900"/>
            <a:ext cx="64008" cy="64008"/>
          </a:xfrm>
          <a:prstGeom prst="rect">
            <a:avLst/>
          </a:prstGeom>
          <a:solidFill>
            <a:srgbClr val="187A4C"/>
          </a:solidFill>
          <a:ln/>
        </p:spPr>
      </p:sp>
      <p:sp>
        <p:nvSpPr>
          <p:cNvPr id="142" name="Text 137"/>
          <p:cNvSpPr txBox="1"/>
          <p:nvPr/>
        </p:nvSpPr>
        <p:spPr>
          <a:xfrm>
            <a:off x="6281928" y="3726180"/>
            <a:ext cx="20299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NEXT 3 DAYS: MEERA'S HEART RATE (BPM)</a:t>
            </a:r>
            <a:endParaRPr lang="en-US" sz="800" dirty="0"/>
          </a:p>
        </p:txBody>
      </p:sp>
      <p:sp>
        <p:nvSpPr>
          <p:cNvPr id="143" name="Text 138"/>
          <p:cNvSpPr txBox="1"/>
          <p:nvPr/>
        </p:nvSpPr>
        <p:spPr>
          <a:xfrm>
            <a:off x="8357616" y="3726180"/>
            <a:ext cx="530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87A4C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P10 TO P90</a:t>
            </a:r>
            <a:endParaRPr lang="en-US" sz="700" dirty="0"/>
          </a:p>
        </p:txBody>
      </p:sp>
      <p:sp>
        <p:nvSpPr>
          <p:cNvPr id="144" name="Shape 139"/>
          <p:cNvSpPr/>
          <p:nvPr/>
        </p:nvSpPr>
        <p:spPr>
          <a:xfrm>
            <a:off x="6446520" y="4700588"/>
            <a:ext cx="2331720" cy="262890"/>
          </a:xfrm>
          <a:prstGeom prst="rect">
            <a:avLst/>
          </a:prstGeom>
          <a:solidFill>
            <a:srgbClr val="E5E1D6"/>
          </a:solidFill>
          <a:ln/>
        </p:spPr>
      </p:sp>
      <p:sp>
        <p:nvSpPr>
          <p:cNvPr id="145" name="Shape 140"/>
          <p:cNvSpPr/>
          <p:nvPr/>
        </p:nvSpPr>
        <p:spPr>
          <a:xfrm>
            <a:off x="8001000" y="4104704"/>
            <a:ext cx="777240" cy="705422"/>
          </a:xfrm>
          <a:custGeom>
            <a:avLst/>
            <a:gdLst/>
            <a:ahLst/>
            <a:cxnLst/>
            <a:rect l="l" t="t" r="r" b="b"/>
            <a:pathLst>
              <a:path w="777240" h="705422">
                <a:moveTo>
                  <a:pt x="0" y="122682"/>
                </a:moveTo>
                <a:lnTo>
                  <a:pt x="259080" y="0"/>
                </a:lnTo>
                <a:lnTo>
                  <a:pt x="518160" y="87630"/>
                </a:lnTo>
                <a:lnTo>
                  <a:pt x="777240" y="254127"/>
                </a:lnTo>
                <a:lnTo>
                  <a:pt x="777240" y="705422"/>
                </a:lnTo>
                <a:lnTo>
                  <a:pt x="518160" y="626554"/>
                </a:lnTo>
                <a:lnTo>
                  <a:pt x="259080" y="442531"/>
                </a:lnTo>
                <a:close/>
              </a:path>
            </a:pathLst>
          </a:custGeom>
          <a:solidFill>
            <a:srgbClr val="8FC9CB"/>
          </a:solidFill>
          <a:ln/>
        </p:spPr>
      </p:sp>
      <p:sp>
        <p:nvSpPr>
          <p:cNvPr id="146" name="Shape 141"/>
          <p:cNvSpPr/>
          <p:nvPr/>
        </p:nvSpPr>
        <p:spPr>
          <a:xfrm>
            <a:off x="6446520" y="4709351"/>
            <a:ext cx="259080" cy="21907"/>
          </a:xfrm>
          <a:prstGeom prst="line">
            <a:avLst/>
          </a:prstGeom>
          <a:noFill/>
          <a:ln w="19050">
            <a:solidFill>
              <a:srgbClr val="1F2A2A"/>
            </a:solidFill>
            <a:prstDash val="solid"/>
          </a:ln>
        </p:spPr>
      </p:sp>
      <p:sp>
        <p:nvSpPr>
          <p:cNvPr id="147" name="Shape 142"/>
          <p:cNvSpPr/>
          <p:nvPr/>
        </p:nvSpPr>
        <p:spPr>
          <a:xfrm>
            <a:off x="6705600" y="4731258"/>
            <a:ext cx="259080" cy="78867"/>
          </a:xfrm>
          <a:prstGeom prst="line">
            <a:avLst/>
          </a:prstGeom>
          <a:noFill/>
          <a:ln w="19050">
            <a:solidFill>
              <a:srgbClr val="1F2A2A"/>
            </a:solidFill>
            <a:prstDash val="solid"/>
          </a:ln>
        </p:spPr>
      </p:sp>
      <p:sp>
        <p:nvSpPr>
          <p:cNvPr id="148" name="Shape 143"/>
          <p:cNvSpPr/>
          <p:nvPr/>
        </p:nvSpPr>
        <p:spPr>
          <a:xfrm flipV="1">
            <a:off x="7741920" y="4227386"/>
            <a:ext cx="259080" cy="262890"/>
          </a:xfrm>
          <a:prstGeom prst="line">
            <a:avLst/>
          </a:prstGeom>
          <a:noFill/>
          <a:ln w="19050">
            <a:solidFill>
              <a:srgbClr val="1F2A2A"/>
            </a:solidFill>
            <a:prstDash val="solid"/>
          </a:ln>
        </p:spPr>
      </p:sp>
      <p:sp>
        <p:nvSpPr>
          <p:cNvPr id="149" name="Shape 144"/>
          <p:cNvSpPr/>
          <p:nvPr/>
        </p:nvSpPr>
        <p:spPr>
          <a:xfrm>
            <a:off x="8001000" y="4227386"/>
            <a:ext cx="259080" cy="135826"/>
          </a:xfrm>
          <a:prstGeom prst="line">
            <a:avLst/>
          </a:prstGeom>
          <a:noFill/>
          <a:ln w="19050">
            <a:solidFill>
              <a:srgbClr val="086A70"/>
            </a:solidFill>
            <a:prstDash val="dash"/>
          </a:ln>
        </p:spPr>
      </p:sp>
      <p:sp>
        <p:nvSpPr>
          <p:cNvPr id="150" name="Shape 145"/>
          <p:cNvSpPr/>
          <p:nvPr/>
        </p:nvSpPr>
        <p:spPr>
          <a:xfrm>
            <a:off x="8260080" y="4363212"/>
            <a:ext cx="259080" cy="113919"/>
          </a:xfrm>
          <a:prstGeom prst="line">
            <a:avLst/>
          </a:prstGeom>
          <a:noFill/>
          <a:ln w="19050">
            <a:solidFill>
              <a:srgbClr val="086A70"/>
            </a:solidFill>
            <a:prstDash val="dash"/>
          </a:ln>
        </p:spPr>
      </p:sp>
      <p:sp>
        <p:nvSpPr>
          <p:cNvPr id="151" name="Shape 146"/>
          <p:cNvSpPr/>
          <p:nvPr/>
        </p:nvSpPr>
        <p:spPr>
          <a:xfrm>
            <a:off x="8519160" y="4477131"/>
            <a:ext cx="259080" cy="135826"/>
          </a:xfrm>
          <a:prstGeom prst="line">
            <a:avLst/>
          </a:prstGeom>
          <a:noFill/>
          <a:ln w="19050">
            <a:solidFill>
              <a:srgbClr val="086A70"/>
            </a:solidFill>
            <a:prstDash val="dash"/>
          </a:ln>
        </p:spPr>
      </p:sp>
      <p:sp>
        <p:nvSpPr>
          <p:cNvPr id="152" name="Shape 147"/>
          <p:cNvSpPr/>
          <p:nvPr/>
        </p:nvSpPr>
        <p:spPr>
          <a:xfrm>
            <a:off x="8001000" y="3977640"/>
            <a:ext cx="91" cy="1051560"/>
          </a:xfrm>
          <a:prstGeom prst="line">
            <a:avLst/>
          </a:prstGeom>
          <a:noFill/>
          <a:ln w="6350">
            <a:solidFill>
              <a:srgbClr val="5D6766"/>
            </a:solidFill>
            <a:prstDash val="dash"/>
          </a:ln>
        </p:spPr>
      </p:sp>
      <p:sp>
        <p:nvSpPr>
          <p:cNvPr id="153" name="Text 148"/>
          <p:cNvSpPr txBox="1"/>
          <p:nvPr/>
        </p:nvSpPr>
        <p:spPr>
          <a:xfrm>
            <a:off x="7726680" y="3950208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today</a:t>
            </a:r>
            <a:endParaRPr lang="en-US" sz="600" dirty="0"/>
          </a:p>
        </p:txBody>
      </p:sp>
      <p:sp>
        <p:nvSpPr>
          <p:cNvPr id="154" name="Text 149"/>
          <p:cNvSpPr txBox="1"/>
          <p:nvPr/>
        </p:nvSpPr>
        <p:spPr>
          <a:xfrm>
            <a:off x="6172200" y="4842891"/>
            <a:ext cx="219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55</a:t>
            </a:r>
            <a:endParaRPr lang="en-US" sz="600" dirty="0"/>
          </a:p>
        </p:txBody>
      </p:sp>
      <p:sp>
        <p:nvSpPr>
          <p:cNvPr id="155" name="Text 150"/>
          <p:cNvSpPr txBox="1"/>
          <p:nvPr/>
        </p:nvSpPr>
        <p:spPr>
          <a:xfrm>
            <a:off x="6172200" y="4404741"/>
            <a:ext cx="219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65</a:t>
            </a:r>
            <a:endParaRPr lang="en-US" sz="600" dirty="0"/>
          </a:p>
        </p:txBody>
      </p:sp>
      <p:sp>
        <p:nvSpPr>
          <p:cNvPr id="156" name="Text 151"/>
          <p:cNvSpPr txBox="1"/>
          <p:nvPr/>
        </p:nvSpPr>
        <p:spPr>
          <a:xfrm>
            <a:off x="6172200" y="3966591"/>
            <a:ext cx="219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75</a:t>
            </a:r>
            <a:endParaRPr lang="en-US" sz="600" dirty="0"/>
          </a:p>
        </p:txBody>
      </p:sp>
      <p:sp>
        <p:nvSpPr>
          <p:cNvPr id="157" name="Text 152"/>
          <p:cNvSpPr txBox="1"/>
          <p:nvPr/>
        </p:nvSpPr>
        <p:spPr>
          <a:xfrm>
            <a:off x="7132320" y="4816602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i="1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her usual range</a:t>
            </a:r>
            <a:endParaRPr lang="en-US" sz="600" dirty="0"/>
          </a:p>
        </p:txBody>
      </p:sp>
      <p:sp>
        <p:nvSpPr>
          <p:cNvPr id="158" name="Text 153"/>
          <p:cNvSpPr txBox="1"/>
          <p:nvPr/>
        </p:nvSpPr>
        <p:spPr>
          <a:xfrm>
            <a:off x="7033260" y="4558094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i="1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watch off</a:t>
            </a:r>
            <a:endParaRPr lang="en-US" sz="600" dirty="0"/>
          </a:p>
        </p:txBody>
      </p:sp>
      <p:sp>
        <p:nvSpPr>
          <p:cNvPr id="159" name="Text 154"/>
          <p:cNvSpPr txBox="1"/>
          <p:nvPr/>
        </p:nvSpPr>
        <p:spPr>
          <a:xfrm>
            <a:off x="6309360" y="5047488"/>
            <a:ext cx="365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6 Oct</a:t>
            </a:r>
            <a:endParaRPr lang="en-US" sz="600" dirty="0"/>
          </a:p>
        </p:txBody>
      </p:sp>
      <p:sp>
        <p:nvSpPr>
          <p:cNvPr id="160" name="Text 155"/>
          <p:cNvSpPr txBox="1"/>
          <p:nvPr/>
        </p:nvSpPr>
        <p:spPr>
          <a:xfrm>
            <a:off x="8503920" y="5047488"/>
            <a:ext cx="365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15 Oct</a:t>
            </a:r>
            <a:endParaRPr lang="en-US" sz="600" dirty="0"/>
          </a:p>
        </p:txBody>
      </p:sp>
      <p:sp>
        <p:nvSpPr>
          <p:cNvPr id="161" name="Text 156"/>
          <p:cNvSpPr txBox="1"/>
          <p:nvPr/>
        </p:nvSpPr>
        <p:spPr>
          <a:xfrm>
            <a:off x="6181344" y="5230368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086A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Tomorrow 67 bpm</a:t>
            </a:r>
            <a:r>
              <a:rPr lang="en-US" sz="68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 (likely 63 to 73). </a:t>
            </a:r>
            <a:r>
              <a:rPr lang="en-US" sz="68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Day-1 error: </a:t>
            </a:r>
            <a:r>
              <a:rPr lang="en-US" sz="68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2.5 bpm heart rate, 6.2 mmHg BP; 73% of readings land inside the P10 to P90 band.</a:t>
            </a:r>
            <a:endParaRPr lang="en-US" sz="680" dirty="0"/>
          </a:p>
        </p:txBody>
      </p:sp>
      <p:sp>
        <p:nvSpPr>
          <p:cNvPr id="162" name="Shape 157"/>
          <p:cNvSpPr/>
          <p:nvPr/>
        </p:nvSpPr>
        <p:spPr>
          <a:xfrm>
            <a:off x="9015984" y="3675888"/>
            <a:ext cx="2898648" cy="2249424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2"/>
            </a:solidFill>
            <a:prstDash val="solid"/>
          </a:ln>
        </p:spPr>
      </p:sp>
      <p:sp>
        <p:nvSpPr>
          <p:cNvPr id="163" name="Shape 158"/>
          <p:cNvSpPr/>
          <p:nvPr/>
        </p:nvSpPr>
        <p:spPr>
          <a:xfrm>
            <a:off x="9089136" y="3771900"/>
            <a:ext cx="64008" cy="64008"/>
          </a:xfrm>
          <a:prstGeom prst="rect">
            <a:avLst/>
          </a:prstGeom>
          <a:solidFill>
            <a:srgbClr val="B03A23"/>
          </a:solidFill>
          <a:ln/>
        </p:spPr>
      </p:sp>
      <p:sp>
        <p:nvSpPr>
          <p:cNvPr id="164" name="Text 159"/>
          <p:cNvSpPr txBox="1"/>
          <p:nvPr/>
        </p:nvSpPr>
        <p:spPr>
          <a:xfrm>
            <a:off x="9189720" y="3726180"/>
            <a:ext cx="26243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HONEST LIMITS</a:t>
            </a:r>
            <a:endParaRPr lang="en-US" sz="800" dirty="0"/>
          </a:p>
        </p:txBody>
      </p:sp>
      <p:pic>
        <p:nvPicPr>
          <p:cNvPr id="165" name="Image 2" descr="g_warn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7424" y="3986784"/>
            <a:ext cx="118872" cy="118872"/>
          </a:xfrm>
          <a:prstGeom prst="rect">
            <a:avLst/>
          </a:prstGeom>
        </p:spPr>
      </p:pic>
      <p:sp>
        <p:nvSpPr>
          <p:cNvPr id="166" name="Text 160"/>
          <p:cNvSpPr txBox="1"/>
          <p:nvPr/>
        </p:nvSpPr>
        <p:spPr>
          <a:xfrm>
            <a:off x="9272016" y="3950208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10" b="1" dirty="0">
                <a:solidFill>
                  <a:srgbClr val="B03A2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Synthetic labels: </a:t>
            </a:r>
            <a:r>
              <a:rPr lang="en-US" sz="71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real-world results will be lower</a:t>
            </a:r>
            <a:endParaRPr lang="en-US" sz="710" dirty="0"/>
          </a:p>
        </p:txBody>
      </p:sp>
      <p:pic>
        <p:nvPicPr>
          <p:cNvPr id="167" name="Image 3" descr="g_warn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7424" y="4352544"/>
            <a:ext cx="118872" cy="118872"/>
          </a:xfrm>
          <a:prstGeom prst="rect">
            <a:avLst/>
          </a:prstGeom>
        </p:spPr>
      </p:pic>
      <p:sp>
        <p:nvSpPr>
          <p:cNvPr id="168" name="Text 161"/>
          <p:cNvSpPr txBox="1"/>
          <p:nvPr/>
        </p:nvSpPr>
        <p:spPr>
          <a:xfrm>
            <a:off x="9272016" y="4315968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10" b="1" dirty="0">
                <a:solidFill>
                  <a:srgbClr val="B03A2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Published anchors: </a:t>
            </a:r>
            <a:r>
              <a:rPr lang="en-US" sz="71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NightSignal 80% sensitivity (infections); EDI AUROC 0.76</a:t>
            </a:r>
            <a:endParaRPr lang="en-US" sz="710" dirty="0"/>
          </a:p>
        </p:txBody>
      </p:sp>
      <p:pic>
        <p:nvPicPr>
          <p:cNvPr id="169" name="Image 4" descr="g_warn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7424" y="4718304"/>
            <a:ext cx="118872" cy="118872"/>
          </a:xfrm>
          <a:prstGeom prst="rect">
            <a:avLst/>
          </a:prstGeom>
        </p:spPr>
      </p:pic>
      <p:sp>
        <p:nvSpPr>
          <p:cNvPr id="170" name="Text 162"/>
          <p:cNvSpPr txBox="1"/>
          <p:nvPr/>
        </p:nvSpPr>
        <p:spPr>
          <a:xfrm>
            <a:off x="9272016" y="4681728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10" b="1" dirty="0">
                <a:solidFill>
                  <a:srgbClr val="B03A2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Nightly, not live: </a:t>
            </a:r>
            <a:r>
              <a:rPr lang="en-US" sz="71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budget watches sync hourly to daily</a:t>
            </a:r>
            <a:endParaRPr lang="en-US" sz="710" dirty="0"/>
          </a:p>
        </p:txBody>
      </p:sp>
      <p:pic>
        <p:nvPicPr>
          <p:cNvPr id="171" name="Image 5" descr="g_warn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07424" y="5084064"/>
            <a:ext cx="118872" cy="118872"/>
          </a:xfrm>
          <a:prstGeom prst="rect">
            <a:avLst/>
          </a:prstGeom>
        </p:spPr>
      </p:pic>
      <p:sp>
        <p:nvSpPr>
          <p:cNvPr id="172" name="Text 163"/>
          <p:cNvSpPr txBox="1"/>
          <p:nvPr/>
        </p:nvSpPr>
        <p:spPr>
          <a:xfrm>
            <a:off x="9272016" y="5047488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10" b="1" dirty="0">
                <a:solidFill>
                  <a:srgbClr val="B03A2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Not heart-attack detection: </a:t>
            </a:r>
            <a:r>
              <a:rPr lang="en-US" sz="71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acute events go to SOS and 112</a:t>
            </a:r>
            <a:endParaRPr lang="en-US" sz="710" dirty="0"/>
          </a:p>
        </p:txBody>
      </p:sp>
      <p:pic>
        <p:nvPicPr>
          <p:cNvPr id="173" name="Image 6" descr="g_warn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07424" y="5449824"/>
            <a:ext cx="118872" cy="118872"/>
          </a:xfrm>
          <a:prstGeom prst="rect">
            <a:avLst/>
          </a:prstGeom>
        </p:spPr>
      </p:pic>
      <p:sp>
        <p:nvSpPr>
          <p:cNvPr id="174" name="Text 164"/>
          <p:cNvSpPr txBox="1"/>
          <p:nvPr/>
        </p:nvSpPr>
        <p:spPr>
          <a:xfrm>
            <a:off x="9272016" y="5413248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10" b="1" dirty="0">
                <a:solidFill>
                  <a:srgbClr val="B03A2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Record adds ranking: </a:t>
            </a:r>
            <a:r>
              <a:rPr lang="en-US" sz="71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not much timing</a:t>
            </a:r>
            <a:endParaRPr lang="en-US" sz="710" dirty="0"/>
          </a:p>
        </p:txBody>
      </p:sp>
      <p:sp>
        <p:nvSpPr>
          <p:cNvPr id="175" name="Shape 165"/>
          <p:cNvSpPr/>
          <p:nvPr/>
        </p:nvSpPr>
        <p:spPr>
          <a:xfrm>
            <a:off x="274320" y="6016752"/>
            <a:ext cx="11640312" cy="310896"/>
          </a:xfrm>
          <a:prstGeom prst="rect">
            <a:avLst/>
          </a:prstGeom>
          <a:solidFill>
            <a:srgbClr val="E3F4EB"/>
          </a:solidFill>
          <a:ln/>
        </p:spPr>
      </p:sp>
      <p:sp>
        <p:nvSpPr>
          <p:cNvPr id="176" name="Shape 166"/>
          <p:cNvSpPr/>
          <p:nvPr/>
        </p:nvSpPr>
        <p:spPr>
          <a:xfrm>
            <a:off x="274320" y="6016752"/>
            <a:ext cx="960120" cy="310896"/>
          </a:xfrm>
          <a:prstGeom prst="rect">
            <a:avLst/>
          </a:prstGeom>
          <a:solidFill>
            <a:srgbClr val="187A4C"/>
          </a:solidFill>
          <a:ln/>
        </p:spPr>
      </p:sp>
      <p:sp>
        <p:nvSpPr>
          <p:cNvPr id="177" name="Text 167"/>
          <p:cNvSpPr txBox="1"/>
          <p:nvPr/>
        </p:nvSpPr>
        <p:spPr>
          <a:xfrm>
            <a:off x="274320" y="601675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PROOF</a:t>
            </a:r>
            <a:endParaRPr lang="en-US" sz="850" dirty="0"/>
          </a:p>
        </p:txBody>
      </p:sp>
      <p:sp>
        <p:nvSpPr>
          <p:cNvPr id="178" name="Text 168"/>
          <p:cNvSpPr txBox="1"/>
          <p:nvPr/>
        </p:nvSpPr>
        <p:spPr>
          <a:xfrm>
            <a:off x="1325880" y="6016752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lift comes from the twin on every split, and the cuff keeps colds from becoming alarms; </a:t>
            </a:r>
            <a:r>
              <a:rPr lang="en-US" sz="8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these are synthetic results, so the next test is a real clinic.</a:t>
            </a:r>
            <a:endParaRPr lang="en-US" sz="850" dirty="0"/>
          </a:p>
        </p:txBody>
      </p:sp>
      <p:sp>
        <p:nvSpPr>
          <p:cNvPr id="179" name="Text 169"/>
          <p:cNvSpPr txBox="1"/>
          <p:nvPr/>
        </p:nvSpPr>
        <p:spPr>
          <a:xfrm>
            <a:off x="274320" y="6400800"/>
            <a:ext cx="6903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87A4C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ANNEXURE A4</a:t>
            </a:r>
            <a:r>
              <a:rPr lang="en-US" sz="70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  |  budget = 0.045 false alerts a patient-day; 342 episodes in 28,685 patient-days; three patient splits</a:t>
            </a:r>
            <a:endParaRPr lang="en-US" sz="700" dirty="0"/>
          </a:p>
        </p:txBody>
      </p:sp>
      <p:sp>
        <p:nvSpPr>
          <p:cNvPr id="180" name="Text 170"/>
          <p:cNvSpPr txBox="1"/>
          <p:nvPr/>
        </p:nvSpPr>
        <p:spPr>
          <a:xfrm>
            <a:off x="7315200" y="6400800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87A4C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SOURCE: </a:t>
            </a:r>
            <a:r>
              <a:rPr lang="en-US" sz="70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docs/MODEL_CARD.md; backend/artifacts/model_card.json; tests/test_leakage.py; NightSignal and EDI as cited in the model card</a:t>
            </a:r>
            <a:endParaRPr lang="en-US" sz="700" dirty="0"/>
          </a:p>
        </p:txBody>
      </p:sp>
      <p:sp>
        <p:nvSpPr>
          <p:cNvPr id="181" name="Shape 171"/>
          <p:cNvSpPr/>
          <p:nvPr/>
        </p:nvSpPr>
        <p:spPr>
          <a:xfrm>
            <a:off x="11658600" y="6419088"/>
            <a:ext cx="256032" cy="256032"/>
          </a:xfrm>
          <a:prstGeom prst="rect">
            <a:avLst/>
          </a:prstGeom>
          <a:solidFill>
            <a:srgbClr val="1F2A2A"/>
          </a:solidFill>
          <a:ln/>
        </p:spPr>
      </p:sp>
      <p:sp>
        <p:nvSpPr>
          <p:cNvPr id="182" name="Text 172"/>
          <p:cNvSpPr txBox="1"/>
          <p:nvPr/>
        </p:nvSpPr>
        <p:spPr>
          <a:xfrm>
            <a:off x="11658600" y="64190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46304"/>
            <a:ext cx="566928" cy="566928"/>
          </a:xfrm>
          <a:prstGeom prst="rect">
            <a:avLst/>
          </a:prstGeom>
          <a:solidFill>
            <a:srgbClr val="3F4FA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1463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A5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54864"/>
            <a:ext cx="9098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550" b="1" dirty="0">
                <a:solidFill>
                  <a:srgbClr val="086A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doctor sees who needs attention and why, tries changes on the patient's own body and acts; the patient gets one plain sentence, her best habit and a safe SOS ladder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608076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Live at pratibimb-pi.vercel.app with no sign-in; the online demo replays real output from the trained model on the synthetic cohort.</a:t>
            </a:r>
            <a:endParaRPr lang="en-US" sz="800" dirty="0"/>
          </a:p>
        </p:txBody>
      </p:sp>
      <p:pic>
        <p:nvPicPr>
          <p:cNvPr id="6" name="Image 0" descr="Pratibimb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0" y="109728"/>
            <a:ext cx="1536192" cy="2958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1130077" y="566928"/>
            <a:ext cx="784555" cy="182880"/>
          </a:xfrm>
          <a:prstGeom prst="roundRect">
            <a:avLst>
              <a:gd name="adj" fmla="val 50000"/>
            </a:avLst>
          </a:prstGeom>
          <a:solidFill>
            <a:srgbClr val="B23F69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1130077" y="566928"/>
            <a:ext cx="7845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Patient app</a:t>
            </a:r>
            <a:endParaRPr lang="en-US" sz="700" dirty="0"/>
          </a:p>
        </p:txBody>
      </p:sp>
      <p:sp>
        <p:nvSpPr>
          <p:cNvPr id="9" name="Shape 6"/>
          <p:cNvSpPr/>
          <p:nvPr/>
        </p:nvSpPr>
        <p:spPr>
          <a:xfrm>
            <a:off x="10025482" y="566928"/>
            <a:ext cx="1049731" cy="182880"/>
          </a:xfrm>
          <a:prstGeom prst="roundRect">
            <a:avLst>
              <a:gd name="adj" fmla="val 50000"/>
            </a:avLst>
          </a:prstGeom>
          <a:solidFill>
            <a:srgbClr val="086A7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0025482" y="566928"/>
            <a:ext cx="104973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Doctor dashboard</a:t>
            </a:r>
            <a:endParaRPr lang="en-US" sz="700" dirty="0"/>
          </a:p>
        </p:txBody>
      </p:sp>
      <p:pic>
        <p:nvPicPr>
          <p:cNvPr id="11" name="Image 1" descr="Pratibimb motif stri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41248"/>
            <a:ext cx="11640312" cy="5486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74320" y="987552"/>
            <a:ext cx="5760720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2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47472" y="1083564"/>
            <a:ext cx="64008" cy="64008"/>
          </a:xfrm>
          <a:prstGeom prst="rect">
            <a:avLst/>
          </a:prstGeom>
          <a:solidFill>
            <a:srgbClr val="3F4FA8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448056" y="1037844"/>
            <a:ext cx="47731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TODAY: WHO NEEDS ATTENTION</a:t>
            </a:r>
            <a:endParaRPr lang="en-US" sz="800" dirty="0"/>
          </a:p>
        </p:txBody>
      </p:sp>
      <p:sp>
        <p:nvSpPr>
          <p:cNvPr id="15" name="Text 11"/>
          <p:cNvSpPr txBox="1"/>
          <p:nvPr/>
        </p:nvSpPr>
        <p:spPr>
          <a:xfrm>
            <a:off x="5266944" y="1037844"/>
            <a:ext cx="7132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3F4FA8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DOCTOR CONSOLE</a:t>
            </a:r>
            <a:endParaRPr lang="en-US" sz="700" dirty="0"/>
          </a:p>
        </p:txBody>
      </p:sp>
      <p:pic>
        <p:nvPicPr>
          <p:cNvPr id="16" name="Image 2" descr="Doctor console: toda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225296"/>
            <a:ext cx="3931920" cy="245745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365760" y="1225296"/>
            <a:ext cx="3931920" cy="2457450"/>
          </a:xfrm>
          <a:prstGeom prst="rect">
            <a:avLst/>
          </a:prstGeom>
          <a:ln w="9525">
            <a:solidFill>
              <a:srgbClr val="D6D0C2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2664119" y="1296591"/>
            <a:ext cx="164592" cy="164592"/>
          </a:xfrm>
          <a:prstGeom prst="ellipse">
            <a:avLst/>
          </a:prstGeom>
          <a:solidFill>
            <a:srgbClr val="B23F6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2664119" y="1296591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</a:t>
            </a:r>
            <a:endParaRPr lang="en-US" sz="750" dirty="0"/>
          </a:p>
        </p:txBody>
      </p:sp>
      <p:sp>
        <p:nvSpPr>
          <p:cNvPr id="20" name="Shape 15"/>
          <p:cNvSpPr/>
          <p:nvPr/>
        </p:nvSpPr>
        <p:spPr>
          <a:xfrm>
            <a:off x="2126552" y="1914025"/>
            <a:ext cx="164592" cy="164592"/>
          </a:xfrm>
          <a:prstGeom prst="ellipse">
            <a:avLst/>
          </a:prstGeom>
          <a:solidFill>
            <a:srgbClr val="B23F6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2126552" y="1914025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</a:t>
            </a:r>
            <a:endParaRPr lang="en-US" sz="750" dirty="0"/>
          </a:p>
        </p:txBody>
      </p:sp>
      <p:sp>
        <p:nvSpPr>
          <p:cNvPr id="22" name="Shape 17"/>
          <p:cNvSpPr/>
          <p:nvPr/>
        </p:nvSpPr>
        <p:spPr>
          <a:xfrm>
            <a:off x="3232404" y="1914025"/>
            <a:ext cx="164592" cy="164592"/>
          </a:xfrm>
          <a:prstGeom prst="ellipse">
            <a:avLst/>
          </a:prstGeom>
          <a:solidFill>
            <a:srgbClr val="B23F6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3232404" y="1914025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</a:t>
            </a:r>
            <a:endParaRPr lang="en-US" sz="750" dirty="0"/>
          </a:p>
        </p:txBody>
      </p:sp>
      <p:sp>
        <p:nvSpPr>
          <p:cNvPr id="24" name="Shape 19"/>
          <p:cNvSpPr/>
          <p:nvPr/>
        </p:nvSpPr>
        <p:spPr>
          <a:xfrm>
            <a:off x="3554944" y="1914025"/>
            <a:ext cx="164592" cy="164592"/>
          </a:xfrm>
          <a:prstGeom prst="ellipse">
            <a:avLst/>
          </a:prstGeom>
          <a:solidFill>
            <a:srgbClr val="B23F6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3554944" y="1914025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</a:t>
            </a:r>
            <a:endParaRPr lang="en-US" sz="750" dirty="0"/>
          </a:p>
        </p:txBody>
      </p:sp>
      <p:sp>
        <p:nvSpPr>
          <p:cNvPr id="26" name="Shape 21"/>
          <p:cNvSpPr/>
          <p:nvPr/>
        </p:nvSpPr>
        <p:spPr>
          <a:xfrm>
            <a:off x="4407408" y="1261872"/>
            <a:ext cx="201168" cy="201168"/>
          </a:xfrm>
          <a:prstGeom prst="ellipse">
            <a:avLst/>
          </a:prstGeom>
          <a:solidFill>
            <a:srgbClr val="B23F69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4407408" y="12618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</a:t>
            </a:r>
            <a:endParaRPr lang="en-US" sz="800" dirty="0"/>
          </a:p>
        </p:txBody>
      </p:sp>
      <p:sp>
        <p:nvSpPr>
          <p:cNvPr id="28" name="Text 23"/>
          <p:cNvSpPr txBox="1"/>
          <p:nvPr/>
        </p:nvSpPr>
        <p:spPr>
          <a:xfrm>
            <a:off x="4663440" y="1243584"/>
            <a:ext cx="12984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10 urgent, 26 check-in, 204 steady</a:t>
            </a:r>
            <a:endParaRPr lang="en-US" sz="730" dirty="0"/>
          </a:p>
          <a:p>
            <a:pPr algn="l" indent="0" marL="0">
              <a:buNone/>
            </a:pPr>
            <a:r>
              <a:rPr lang="en-US" sz="73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out of 240 people on 12 Oct</a:t>
            </a:r>
            <a:endParaRPr lang="en-US" sz="730" dirty="0"/>
          </a:p>
        </p:txBody>
      </p:sp>
      <p:sp>
        <p:nvSpPr>
          <p:cNvPr id="29" name="Shape 24"/>
          <p:cNvSpPr/>
          <p:nvPr/>
        </p:nvSpPr>
        <p:spPr>
          <a:xfrm>
            <a:off x="4407408" y="1828800"/>
            <a:ext cx="201168" cy="201168"/>
          </a:xfrm>
          <a:prstGeom prst="ellipse">
            <a:avLst/>
          </a:prstGeom>
          <a:solidFill>
            <a:srgbClr val="B23F69"/>
          </a:solidFill>
          <a:ln/>
        </p:spPr>
      </p:sp>
      <p:sp>
        <p:nvSpPr>
          <p:cNvPr id="30" name="Text 25"/>
          <p:cNvSpPr txBox="1"/>
          <p:nvPr/>
        </p:nvSpPr>
        <p:spPr>
          <a:xfrm>
            <a:off x="4407408" y="18288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</a:t>
            </a:r>
            <a:endParaRPr lang="en-US" sz="800" dirty="0"/>
          </a:p>
        </p:txBody>
      </p:sp>
      <p:sp>
        <p:nvSpPr>
          <p:cNvPr id="31" name="Text 26"/>
          <p:cNvSpPr txBox="1"/>
          <p:nvPr/>
        </p:nvSpPr>
        <p:spPr>
          <a:xfrm>
            <a:off x="4663440" y="1810512"/>
            <a:ext cx="12984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Sorted by 72 h risk</a:t>
            </a:r>
            <a:endParaRPr lang="en-US" sz="730" dirty="0"/>
          </a:p>
          <a:p>
            <a:pPr algn="l" indent="0" marL="0">
              <a:buNone/>
            </a:pPr>
            <a:r>
              <a:rPr lang="en-US" sz="73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with the reason in plain words</a:t>
            </a:r>
            <a:endParaRPr lang="en-US" sz="730" dirty="0"/>
          </a:p>
        </p:txBody>
      </p:sp>
      <p:sp>
        <p:nvSpPr>
          <p:cNvPr id="32" name="Shape 27"/>
          <p:cNvSpPr/>
          <p:nvPr/>
        </p:nvSpPr>
        <p:spPr>
          <a:xfrm>
            <a:off x="4407408" y="2395728"/>
            <a:ext cx="201168" cy="201168"/>
          </a:xfrm>
          <a:prstGeom prst="ellipse">
            <a:avLst/>
          </a:prstGeom>
          <a:solidFill>
            <a:srgbClr val="B23F69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4407408" y="23957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</a:t>
            </a:r>
            <a:endParaRPr lang="en-US" sz="800" dirty="0"/>
          </a:p>
        </p:txBody>
      </p:sp>
      <p:sp>
        <p:nvSpPr>
          <p:cNvPr id="34" name="Text 29"/>
          <p:cNvSpPr txBox="1"/>
          <p:nvPr/>
        </p:nvSpPr>
        <p:spPr>
          <a:xfrm>
            <a:off x="4663440" y="2377440"/>
            <a:ext cx="12984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Trend lines</a:t>
            </a:r>
            <a:endParaRPr lang="en-US" sz="730" dirty="0"/>
          </a:p>
          <a:p>
            <a:pPr algn="l" indent="0" marL="0">
              <a:buNone/>
            </a:pPr>
            <a:r>
              <a:rPr lang="en-US" sz="73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heart rate and home BP, last week</a:t>
            </a:r>
            <a:endParaRPr lang="en-US" sz="730" dirty="0"/>
          </a:p>
        </p:txBody>
      </p:sp>
      <p:sp>
        <p:nvSpPr>
          <p:cNvPr id="35" name="Shape 30"/>
          <p:cNvSpPr/>
          <p:nvPr/>
        </p:nvSpPr>
        <p:spPr>
          <a:xfrm>
            <a:off x="4407408" y="2962656"/>
            <a:ext cx="201168" cy="201168"/>
          </a:xfrm>
          <a:prstGeom prst="ellipse">
            <a:avLst/>
          </a:prstGeom>
          <a:solidFill>
            <a:srgbClr val="B23F69"/>
          </a:solidFill>
          <a:ln/>
        </p:spPr>
      </p:sp>
      <p:sp>
        <p:nvSpPr>
          <p:cNvPr id="36" name="Text 31"/>
          <p:cNvSpPr txBox="1"/>
          <p:nvPr/>
        </p:nvSpPr>
        <p:spPr>
          <a:xfrm>
            <a:off x="4407408" y="29626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</a:t>
            </a:r>
            <a:endParaRPr lang="en-US" sz="800" dirty="0"/>
          </a:p>
        </p:txBody>
      </p:sp>
      <p:sp>
        <p:nvSpPr>
          <p:cNvPr id="37" name="Text 32"/>
          <p:cNvSpPr txBox="1"/>
          <p:nvPr/>
        </p:nvSpPr>
        <p:spPr>
          <a:xfrm>
            <a:off x="4663440" y="2944368"/>
            <a:ext cx="12984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Data freshness</a:t>
            </a:r>
            <a:endParaRPr lang="en-US" sz="730" dirty="0"/>
          </a:p>
          <a:p>
            <a:pPr algn="l" indent="0" marL="0">
              <a:buNone/>
            </a:pPr>
            <a:r>
              <a:rPr lang="en-US" sz="73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budget watches sync hourly to daily</a:t>
            </a:r>
            <a:endParaRPr lang="en-US" sz="730" dirty="0"/>
          </a:p>
        </p:txBody>
      </p:sp>
      <p:sp>
        <p:nvSpPr>
          <p:cNvPr id="38" name="Shape 33"/>
          <p:cNvSpPr/>
          <p:nvPr/>
        </p:nvSpPr>
        <p:spPr>
          <a:xfrm>
            <a:off x="6108192" y="987552"/>
            <a:ext cx="5806440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2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6181344" y="1083564"/>
            <a:ext cx="64008" cy="64008"/>
          </a:xfrm>
          <a:prstGeom prst="rect">
            <a:avLst/>
          </a:prstGeom>
          <a:solidFill>
            <a:srgbClr val="3F4FA8"/>
          </a:solidFill>
          <a:ln/>
        </p:spPr>
      </p:sp>
      <p:sp>
        <p:nvSpPr>
          <p:cNvPr id="40" name="Text 35"/>
          <p:cNvSpPr txBox="1"/>
          <p:nvPr/>
        </p:nvSpPr>
        <p:spPr>
          <a:xfrm>
            <a:off x="6281928" y="1037844"/>
            <a:ext cx="49103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TWIN PAGE: WHY, AND WHAT TO DO</a:t>
            </a:r>
            <a:endParaRPr lang="en-US" sz="800" dirty="0"/>
          </a:p>
        </p:txBody>
      </p:sp>
      <p:sp>
        <p:nvSpPr>
          <p:cNvPr id="41" name="Text 36"/>
          <p:cNvSpPr txBox="1"/>
          <p:nvPr/>
        </p:nvSpPr>
        <p:spPr>
          <a:xfrm>
            <a:off x="11237976" y="1037844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3F4FA8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MEERA'S PAGE</a:t>
            </a:r>
            <a:endParaRPr lang="en-US" sz="700" dirty="0"/>
          </a:p>
        </p:txBody>
      </p:sp>
      <p:pic>
        <p:nvPicPr>
          <p:cNvPr id="42" name="Image 3" descr="Twin page for Meer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632" y="1225296"/>
            <a:ext cx="3576626" cy="2457450"/>
          </a:xfrm>
          <a:prstGeom prst="rect">
            <a:avLst/>
          </a:prstGeom>
        </p:spPr>
      </p:pic>
      <p:sp>
        <p:nvSpPr>
          <p:cNvPr id="43" name="Shape 37"/>
          <p:cNvSpPr/>
          <p:nvPr/>
        </p:nvSpPr>
        <p:spPr>
          <a:xfrm>
            <a:off x="6199632" y="1225296"/>
            <a:ext cx="3576626" cy="2457450"/>
          </a:xfrm>
          <a:prstGeom prst="rect">
            <a:avLst/>
          </a:prstGeom>
          <a:ln w="9525">
            <a:solidFill>
              <a:srgbClr val="D6D0C2"/>
            </a:solidFill>
            <a:prstDash val="solid"/>
          </a:ln>
        </p:spPr>
      </p:sp>
      <p:sp>
        <p:nvSpPr>
          <p:cNvPr id="44" name="Shape 38"/>
          <p:cNvSpPr/>
          <p:nvPr/>
        </p:nvSpPr>
        <p:spPr>
          <a:xfrm>
            <a:off x="9137335" y="2078607"/>
            <a:ext cx="164592" cy="164592"/>
          </a:xfrm>
          <a:prstGeom prst="ellipse">
            <a:avLst/>
          </a:prstGeom>
          <a:solidFill>
            <a:srgbClr val="B23F6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39"/>
          <p:cNvSpPr txBox="1"/>
          <p:nvPr/>
        </p:nvSpPr>
        <p:spPr>
          <a:xfrm>
            <a:off x="9137335" y="2078607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</a:t>
            </a:r>
            <a:endParaRPr lang="en-US" sz="750" dirty="0"/>
          </a:p>
        </p:txBody>
      </p:sp>
      <p:sp>
        <p:nvSpPr>
          <p:cNvPr id="46" name="Shape 40"/>
          <p:cNvSpPr/>
          <p:nvPr/>
        </p:nvSpPr>
        <p:spPr>
          <a:xfrm>
            <a:off x="7775375" y="2013470"/>
            <a:ext cx="164592" cy="164592"/>
          </a:xfrm>
          <a:prstGeom prst="ellipse">
            <a:avLst/>
          </a:prstGeom>
          <a:solidFill>
            <a:srgbClr val="B23F6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1"/>
          <p:cNvSpPr txBox="1"/>
          <p:nvPr/>
        </p:nvSpPr>
        <p:spPr>
          <a:xfrm>
            <a:off x="7775375" y="201347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</a:t>
            </a:r>
            <a:endParaRPr lang="en-US" sz="750" dirty="0"/>
          </a:p>
        </p:txBody>
      </p:sp>
      <p:sp>
        <p:nvSpPr>
          <p:cNvPr id="48" name="Shape 42"/>
          <p:cNvSpPr/>
          <p:nvPr/>
        </p:nvSpPr>
        <p:spPr>
          <a:xfrm>
            <a:off x="7627335" y="3031980"/>
            <a:ext cx="164592" cy="164592"/>
          </a:xfrm>
          <a:prstGeom prst="ellipse">
            <a:avLst/>
          </a:prstGeom>
          <a:solidFill>
            <a:srgbClr val="B23F6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3"/>
          <p:cNvSpPr txBox="1"/>
          <p:nvPr/>
        </p:nvSpPr>
        <p:spPr>
          <a:xfrm>
            <a:off x="7627335" y="303198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</a:t>
            </a:r>
            <a:endParaRPr lang="en-US" sz="750" dirty="0"/>
          </a:p>
        </p:txBody>
      </p:sp>
      <p:sp>
        <p:nvSpPr>
          <p:cNvPr id="50" name="Shape 44"/>
          <p:cNvSpPr/>
          <p:nvPr/>
        </p:nvSpPr>
        <p:spPr>
          <a:xfrm>
            <a:off x="8826453" y="3405038"/>
            <a:ext cx="164592" cy="164592"/>
          </a:xfrm>
          <a:prstGeom prst="ellipse">
            <a:avLst/>
          </a:prstGeom>
          <a:solidFill>
            <a:srgbClr val="B23F6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Text 45"/>
          <p:cNvSpPr txBox="1"/>
          <p:nvPr/>
        </p:nvSpPr>
        <p:spPr>
          <a:xfrm>
            <a:off x="8826453" y="340503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</a:t>
            </a:r>
            <a:endParaRPr lang="en-US" sz="750" dirty="0"/>
          </a:p>
        </p:txBody>
      </p:sp>
      <p:sp>
        <p:nvSpPr>
          <p:cNvPr id="52" name="Shape 46"/>
          <p:cNvSpPr/>
          <p:nvPr/>
        </p:nvSpPr>
        <p:spPr>
          <a:xfrm>
            <a:off x="9885986" y="1261872"/>
            <a:ext cx="201168" cy="201168"/>
          </a:xfrm>
          <a:prstGeom prst="ellipse">
            <a:avLst/>
          </a:prstGeom>
          <a:solidFill>
            <a:srgbClr val="B23F69"/>
          </a:solidFill>
          <a:ln/>
        </p:spPr>
      </p:sp>
      <p:sp>
        <p:nvSpPr>
          <p:cNvPr id="53" name="Text 47"/>
          <p:cNvSpPr txBox="1"/>
          <p:nvPr/>
        </p:nvSpPr>
        <p:spPr>
          <a:xfrm>
            <a:off x="9885986" y="12618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</a:t>
            </a:r>
            <a:endParaRPr lang="en-US" sz="800" dirty="0"/>
          </a:p>
        </p:txBody>
      </p:sp>
      <p:sp>
        <p:nvSpPr>
          <p:cNvPr id="54" name="Text 48"/>
          <p:cNvSpPr txBox="1"/>
          <p:nvPr/>
        </p:nvSpPr>
        <p:spPr>
          <a:xfrm>
            <a:off x="10142018" y="1243584"/>
            <a:ext cx="172689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24% in 72 hours</a:t>
            </a:r>
            <a:endParaRPr lang="en-US" sz="730" dirty="0"/>
          </a:p>
          <a:p>
            <a:pPr algn="l" indent="0" marL="0">
              <a:buNone/>
            </a:pPr>
            <a:r>
              <a:rPr lang="en-US" sz="73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likely 17 to 28%; her usual 0.7%</a:t>
            </a:r>
            <a:endParaRPr lang="en-US" sz="730" dirty="0"/>
          </a:p>
        </p:txBody>
      </p:sp>
      <p:sp>
        <p:nvSpPr>
          <p:cNvPr id="55" name="Shape 49"/>
          <p:cNvSpPr/>
          <p:nvPr/>
        </p:nvSpPr>
        <p:spPr>
          <a:xfrm>
            <a:off x="9885986" y="1828800"/>
            <a:ext cx="201168" cy="201168"/>
          </a:xfrm>
          <a:prstGeom prst="ellipse">
            <a:avLst/>
          </a:prstGeom>
          <a:solidFill>
            <a:srgbClr val="B23F69"/>
          </a:solidFill>
          <a:ln/>
        </p:spPr>
      </p:sp>
      <p:sp>
        <p:nvSpPr>
          <p:cNvPr id="56" name="Text 50"/>
          <p:cNvSpPr txBox="1"/>
          <p:nvPr/>
        </p:nvSpPr>
        <p:spPr>
          <a:xfrm>
            <a:off x="9885986" y="18288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</a:t>
            </a:r>
            <a:endParaRPr lang="en-US" sz="800" dirty="0"/>
          </a:p>
        </p:txBody>
      </p:sp>
      <p:sp>
        <p:nvSpPr>
          <p:cNvPr id="57" name="Text 51"/>
          <p:cNvSpPr txBox="1"/>
          <p:nvPr/>
        </p:nvSpPr>
        <p:spPr>
          <a:xfrm>
            <a:off x="10142018" y="1810512"/>
            <a:ext cx="172689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Three sentences</a:t>
            </a:r>
            <a:endParaRPr lang="en-US" sz="730" dirty="0"/>
          </a:p>
          <a:p>
            <a:pPr algn="l" indent="0" marL="0">
              <a:buNone/>
            </a:pPr>
            <a:r>
              <a:rPr lang="en-US" sz="73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chance, the reasons, her best lever</a:t>
            </a:r>
            <a:endParaRPr lang="en-US" sz="730" dirty="0"/>
          </a:p>
        </p:txBody>
      </p:sp>
      <p:sp>
        <p:nvSpPr>
          <p:cNvPr id="58" name="Shape 52"/>
          <p:cNvSpPr/>
          <p:nvPr/>
        </p:nvSpPr>
        <p:spPr>
          <a:xfrm>
            <a:off x="9885986" y="2395728"/>
            <a:ext cx="201168" cy="201168"/>
          </a:xfrm>
          <a:prstGeom prst="ellipse">
            <a:avLst/>
          </a:prstGeom>
          <a:solidFill>
            <a:srgbClr val="B23F69"/>
          </a:solidFill>
          <a:ln/>
        </p:spPr>
      </p:sp>
      <p:sp>
        <p:nvSpPr>
          <p:cNvPr id="59" name="Text 53"/>
          <p:cNvSpPr txBox="1"/>
          <p:nvPr/>
        </p:nvSpPr>
        <p:spPr>
          <a:xfrm>
            <a:off x="9885986" y="23957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</a:t>
            </a:r>
            <a:endParaRPr lang="en-US" sz="800" dirty="0"/>
          </a:p>
        </p:txBody>
      </p:sp>
      <p:sp>
        <p:nvSpPr>
          <p:cNvPr id="60" name="Text 54"/>
          <p:cNvSpPr txBox="1"/>
          <p:nvPr/>
        </p:nvSpPr>
        <p:spPr>
          <a:xfrm>
            <a:off x="10142018" y="2377440"/>
            <a:ext cx="172689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Next step</a:t>
            </a:r>
            <a:endParaRPr lang="en-US" sz="730" dirty="0"/>
          </a:p>
          <a:p>
            <a:pPr algn="l" indent="0" marL="0">
              <a:buNone/>
            </a:pPr>
            <a:r>
              <a:rPr lang="en-US" sz="73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call Meera, confirm amlodipine, evening BP</a:t>
            </a:r>
            <a:endParaRPr lang="en-US" sz="730" dirty="0"/>
          </a:p>
        </p:txBody>
      </p:sp>
      <p:sp>
        <p:nvSpPr>
          <p:cNvPr id="61" name="Shape 55"/>
          <p:cNvSpPr/>
          <p:nvPr/>
        </p:nvSpPr>
        <p:spPr>
          <a:xfrm>
            <a:off x="9885986" y="2962656"/>
            <a:ext cx="201168" cy="201168"/>
          </a:xfrm>
          <a:prstGeom prst="ellipse">
            <a:avLst/>
          </a:prstGeom>
          <a:solidFill>
            <a:srgbClr val="B23F69"/>
          </a:solidFill>
          <a:ln/>
        </p:spPr>
      </p:sp>
      <p:sp>
        <p:nvSpPr>
          <p:cNvPr id="62" name="Text 56"/>
          <p:cNvSpPr txBox="1"/>
          <p:nvPr/>
        </p:nvSpPr>
        <p:spPr>
          <a:xfrm>
            <a:off x="9885986" y="29626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</a:t>
            </a:r>
            <a:endParaRPr lang="en-US" sz="800" dirty="0"/>
          </a:p>
        </p:txBody>
      </p:sp>
      <p:sp>
        <p:nvSpPr>
          <p:cNvPr id="63" name="Text 57"/>
          <p:cNvSpPr txBox="1"/>
          <p:nvPr/>
        </p:nvSpPr>
        <p:spPr>
          <a:xfrm>
            <a:off x="10142018" y="2944368"/>
            <a:ext cx="172689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What the twin used</a:t>
            </a:r>
            <a:endParaRPr lang="en-US" sz="730" dirty="0"/>
          </a:p>
          <a:p>
            <a:pPr algn="l" indent="0" marL="0">
              <a:buNone/>
            </a:pPr>
            <a:r>
              <a:rPr lang="en-US" sz="73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record and watch, side by side</a:t>
            </a:r>
            <a:endParaRPr lang="en-US" sz="730" dirty="0"/>
          </a:p>
        </p:txBody>
      </p:sp>
      <p:sp>
        <p:nvSpPr>
          <p:cNvPr id="64" name="Shape 58"/>
          <p:cNvSpPr/>
          <p:nvPr/>
        </p:nvSpPr>
        <p:spPr>
          <a:xfrm>
            <a:off x="274320" y="3849624"/>
            <a:ext cx="4663440" cy="2075688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2"/>
            </a:solidFill>
            <a:prstDash val="solid"/>
          </a:ln>
        </p:spPr>
      </p:sp>
      <p:sp>
        <p:nvSpPr>
          <p:cNvPr id="65" name="Shape 59"/>
          <p:cNvSpPr/>
          <p:nvPr/>
        </p:nvSpPr>
        <p:spPr>
          <a:xfrm>
            <a:off x="347472" y="3945636"/>
            <a:ext cx="64008" cy="64008"/>
          </a:xfrm>
          <a:prstGeom prst="rect">
            <a:avLst/>
          </a:prstGeom>
          <a:solidFill>
            <a:srgbClr val="3F4FA8"/>
          </a:solidFill>
          <a:ln/>
        </p:spPr>
      </p:sp>
      <p:sp>
        <p:nvSpPr>
          <p:cNvPr id="66" name="Text 60"/>
          <p:cNvSpPr txBox="1"/>
          <p:nvPr/>
        </p:nvSpPr>
        <p:spPr>
          <a:xfrm>
            <a:off x="448056" y="3899916"/>
            <a:ext cx="37673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WHAT IF: ON HER OWN SLOPES</a:t>
            </a:r>
            <a:endParaRPr lang="en-US" sz="800" dirty="0"/>
          </a:p>
        </p:txBody>
      </p:sp>
      <p:sp>
        <p:nvSpPr>
          <p:cNvPr id="67" name="Text 61"/>
          <p:cNvSpPr txBox="1"/>
          <p:nvPr/>
        </p:nvSpPr>
        <p:spPr>
          <a:xfrm>
            <a:off x="4261104" y="3899916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3F4FA8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SIMULATE TAB</a:t>
            </a:r>
            <a:endParaRPr lang="en-US" sz="700" dirty="0"/>
          </a:p>
        </p:txBody>
      </p:sp>
      <p:pic>
        <p:nvPicPr>
          <p:cNvPr id="68" name="Image 4" descr="What-if simulato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4096512"/>
            <a:ext cx="3063240" cy="1564487"/>
          </a:xfrm>
          <a:prstGeom prst="rect">
            <a:avLst/>
          </a:prstGeom>
        </p:spPr>
      </p:pic>
      <p:sp>
        <p:nvSpPr>
          <p:cNvPr id="69" name="Shape 62"/>
          <p:cNvSpPr/>
          <p:nvPr/>
        </p:nvSpPr>
        <p:spPr>
          <a:xfrm>
            <a:off x="365760" y="4096512"/>
            <a:ext cx="3063240" cy="1564487"/>
          </a:xfrm>
          <a:prstGeom prst="rect">
            <a:avLst/>
          </a:prstGeom>
          <a:ln w="9525">
            <a:solidFill>
              <a:srgbClr val="D6D0C2"/>
            </a:solidFill>
            <a:prstDash val="solid"/>
          </a:ln>
        </p:spPr>
      </p:sp>
      <p:sp>
        <p:nvSpPr>
          <p:cNvPr id="70" name="Text 63"/>
          <p:cNvSpPr txBox="1"/>
          <p:nvPr/>
        </p:nvSpPr>
        <p:spPr>
          <a:xfrm>
            <a:off x="3520440" y="4078224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F4FA8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-4.4 mmHg</a:t>
            </a:r>
            <a:endParaRPr lang="en-US" sz="690" dirty="0"/>
          </a:p>
          <a:p>
            <a:pPr algn="l" indent="0" marL="0">
              <a:buNone/>
            </a:pPr>
            <a:r>
              <a:rPr lang="en-US" sz="69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BP with a daily 30 min walk, on her slope (most people -4.3)</a:t>
            </a:r>
            <a:endParaRPr lang="en-US" sz="690" dirty="0"/>
          </a:p>
        </p:txBody>
      </p:sp>
      <p:sp>
        <p:nvSpPr>
          <p:cNvPr id="71" name="Text 64"/>
          <p:cNvSpPr txBox="1"/>
          <p:nvPr/>
        </p:nvSpPr>
        <p:spPr>
          <a:xfrm>
            <a:off x="3520440" y="4626864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F4FA8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27% lower</a:t>
            </a:r>
            <a:endParaRPr lang="en-US" sz="690" dirty="0"/>
          </a:p>
          <a:p>
            <a:pPr algn="l" indent="0" marL="0">
              <a:buNone/>
            </a:pPr>
            <a:r>
              <a:rPr lang="en-US" sz="69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ordinary-week risk: 0.7% to 0.5%</a:t>
            </a:r>
            <a:endParaRPr lang="en-US" sz="690" dirty="0"/>
          </a:p>
        </p:txBody>
      </p:sp>
      <p:sp>
        <p:nvSpPr>
          <p:cNvPr id="72" name="Text 65"/>
          <p:cNvSpPr txBox="1"/>
          <p:nvPr/>
        </p:nvSpPr>
        <p:spPr>
          <a:xfrm>
            <a:off x="3520440" y="5175504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F4FA8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holds at 24%</a:t>
            </a:r>
            <a:endParaRPr lang="en-US" sz="690" dirty="0"/>
          </a:p>
          <a:p>
            <a:pPr algn="l" indent="0" marL="0">
              <a:buNone/>
            </a:pPr>
            <a:r>
              <a:rPr lang="en-US" sz="69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next 72 h: the strain is already under way</a:t>
            </a:r>
            <a:endParaRPr lang="en-US" sz="690" dirty="0"/>
          </a:p>
        </p:txBody>
      </p:sp>
      <p:sp>
        <p:nvSpPr>
          <p:cNvPr id="73" name="Shape 66"/>
          <p:cNvSpPr/>
          <p:nvPr/>
        </p:nvSpPr>
        <p:spPr>
          <a:xfrm>
            <a:off x="5010912" y="3849624"/>
            <a:ext cx="3017520" cy="2075688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2"/>
            </a:solidFill>
            <a:prstDash val="solid"/>
          </a:ln>
        </p:spPr>
      </p:sp>
      <p:sp>
        <p:nvSpPr>
          <p:cNvPr id="74" name="Shape 67"/>
          <p:cNvSpPr/>
          <p:nvPr/>
        </p:nvSpPr>
        <p:spPr>
          <a:xfrm>
            <a:off x="5084064" y="3945636"/>
            <a:ext cx="64008" cy="64008"/>
          </a:xfrm>
          <a:prstGeom prst="rect">
            <a:avLst/>
          </a:prstGeom>
          <a:solidFill>
            <a:srgbClr val="3F4FA8"/>
          </a:solidFill>
          <a:ln/>
        </p:spPr>
      </p:sp>
      <p:sp>
        <p:nvSpPr>
          <p:cNvPr id="75" name="Text 68"/>
          <p:cNvSpPr txBox="1"/>
          <p:nvPr/>
        </p:nvSpPr>
        <p:spPr>
          <a:xfrm>
            <a:off x="5184648" y="3899916"/>
            <a:ext cx="21671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ALERTS INSIDE A BUDGET</a:t>
            </a:r>
            <a:endParaRPr lang="en-US" sz="800" dirty="0"/>
          </a:p>
        </p:txBody>
      </p:sp>
      <p:sp>
        <p:nvSpPr>
          <p:cNvPr id="76" name="Text 69"/>
          <p:cNvSpPr txBox="1"/>
          <p:nvPr/>
        </p:nvSpPr>
        <p:spPr>
          <a:xfrm>
            <a:off x="7397496" y="3899916"/>
            <a:ext cx="5760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3F4FA8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ALERTS PAGE</a:t>
            </a:r>
            <a:endParaRPr lang="en-US" sz="700" dirty="0"/>
          </a:p>
        </p:txBody>
      </p:sp>
      <p:pic>
        <p:nvPicPr>
          <p:cNvPr id="77" name="Image 5" descr="Alerts with the budget mete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02352" y="4096512"/>
            <a:ext cx="2834640" cy="1314072"/>
          </a:xfrm>
          <a:prstGeom prst="rect">
            <a:avLst/>
          </a:prstGeom>
        </p:spPr>
      </p:pic>
      <p:sp>
        <p:nvSpPr>
          <p:cNvPr id="78" name="Shape 70"/>
          <p:cNvSpPr/>
          <p:nvPr/>
        </p:nvSpPr>
        <p:spPr>
          <a:xfrm>
            <a:off x="5102352" y="4096512"/>
            <a:ext cx="2834640" cy="1314072"/>
          </a:xfrm>
          <a:prstGeom prst="rect">
            <a:avLst/>
          </a:prstGeom>
          <a:ln w="9525">
            <a:solidFill>
              <a:srgbClr val="D6D0C2"/>
            </a:solidFill>
            <a:prstDash val="solid"/>
          </a:ln>
        </p:spPr>
      </p:sp>
      <p:sp>
        <p:nvSpPr>
          <p:cNvPr id="79" name="Text 71"/>
          <p:cNvSpPr txBox="1"/>
          <p:nvPr/>
        </p:nvSpPr>
        <p:spPr>
          <a:xfrm>
            <a:off x="5102352" y="5468112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" b="1" dirty="0">
                <a:solidFill>
                  <a:srgbClr val="3F4FA8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0.037</a:t>
            </a:r>
            <a:r>
              <a:rPr lang="en-US" sz="69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 false alerts a patient-day this week vs a </a:t>
            </a:r>
            <a:r>
              <a:rPr lang="en-US" sz="69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0.045</a:t>
            </a:r>
            <a:r>
              <a:rPr lang="en-US" sz="69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 budget. Any threshold change is replayed on 14 days first; every action goes to an append-only audit log.</a:t>
            </a:r>
            <a:endParaRPr lang="en-US" sz="690" dirty="0"/>
          </a:p>
        </p:txBody>
      </p:sp>
      <p:sp>
        <p:nvSpPr>
          <p:cNvPr id="80" name="Shape 72"/>
          <p:cNvSpPr/>
          <p:nvPr/>
        </p:nvSpPr>
        <p:spPr>
          <a:xfrm>
            <a:off x="8101584" y="3849624"/>
            <a:ext cx="3813048" cy="2075688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2"/>
            </a:solidFill>
            <a:prstDash val="solid"/>
          </a:ln>
        </p:spPr>
      </p:sp>
      <p:sp>
        <p:nvSpPr>
          <p:cNvPr id="81" name="Shape 73"/>
          <p:cNvSpPr/>
          <p:nvPr/>
        </p:nvSpPr>
        <p:spPr>
          <a:xfrm>
            <a:off x="8174736" y="3945636"/>
            <a:ext cx="64008" cy="64008"/>
          </a:xfrm>
          <a:prstGeom prst="rect">
            <a:avLst/>
          </a:prstGeom>
          <a:solidFill>
            <a:srgbClr val="B23F69"/>
          </a:solidFill>
          <a:ln/>
        </p:spPr>
      </p:sp>
      <p:sp>
        <p:nvSpPr>
          <p:cNvPr id="82" name="Text 74"/>
          <p:cNvSpPr txBox="1"/>
          <p:nvPr/>
        </p:nvSpPr>
        <p:spPr>
          <a:xfrm>
            <a:off x="8275320" y="3899916"/>
            <a:ext cx="29169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MEERA'S PHONE AND THE SOS LADDER</a:t>
            </a:r>
            <a:endParaRPr lang="en-US" sz="800" dirty="0"/>
          </a:p>
        </p:txBody>
      </p:sp>
      <p:sp>
        <p:nvSpPr>
          <p:cNvPr id="83" name="Text 75"/>
          <p:cNvSpPr txBox="1"/>
          <p:nvPr/>
        </p:nvSpPr>
        <p:spPr>
          <a:xfrm>
            <a:off x="11237976" y="3899916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B23F69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PATIENT VIEW</a:t>
            </a:r>
            <a:endParaRPr lang="en-US" sz="700" dirty="0"/>
          </a:p>
        </p:txBody>
      </p:sp>
      <p:pic>
        <p:nvPicPr>
          <p:cNvPr id="84" name="Image 6" descr="Status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3024" y="4087368"/>
            <a:ext cx="683445" cy="1481328"/>
          </a:xfrm>
          <a:prstGeom prst="rect">
            <a:avLst/>
          </a:prstGeom>
        </p:spPr>
      </p:pic>
      <p:sp>
        <p:nvSpPr>
          <p:cNvPr id="85" name="Shape 76"/>
          <p:cNvSpPr/>
          <p:nvPr/>
        </p:nvSpPr>
        <p:spPr>
          <a:xfrm>
            <a:off x="8193024" y="4087368"/>
            <a:ext cx="683445" cy="1481328"/>
          </a:xfrm>
          <a:prstGeom prst="rect">
            <a:avLst/>
          </a:prstGeom>
          <a:ln w="9525">
            <a:solidFill>
              <a:srgbClr val="D6D0C2"/>
            </a:solidFill>
            <a:prstDash val="solid"/>
          </a:ln>
        </p:spPr>
      </p:sp>
      <p:sp>
        <p:nvSpPr>
          <p:cNvPr id="86" name="Text 77"/>
          <p:cNvSpPr txBox="1"/>
          <p:nvPr/>
        </p:nvSpPr>
        <p:spPr>
          <a:xfrm>
            <a:off x="8156448" y="5596128"/>
            <a:ext cx="756597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2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Status</a:t>
            </a:r>
            <a:endParaRPr lang="en-US" sz="620" dirty="0"/>
          </a:p>
        </p:txBody>
      </p:sp>
      <p:pic>
        <p:nvPicPr>
          <p:cNvPr id="87" name="Image 7" descr="Hindi, read-aloud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49621" y="4087368"/>
            <a:ext cx="683445" cy="1481328"/>
          </a:xfrm>
          <a:prstGeom prst="rect">
            <a:avLst/>
          </a:prstGeom>
        </p:spPr>
      </p:pic>
      <p:sp>
        <p:nvSpPr>
          <p:cNvPr id="88" name="Shape 78"/>
          <p:cNvSpPr/>
          <p:nvPr/>
        </p:nvSpPr>
        <p:spPr>
          <a:xfrm>
            <a:off x="8949621" y="4087368"/>
            <a:ext cx="683445" cy="1481328"/>
          </a:xfrm>
          <a:prstGeom prst="rect">
            <a:avLst/>
          </a:prstGeom>
          <a:ln w="9525">
            <a:solidFill>
              <a:srgbClr val="D6D0C2"/>
            </a:solidFill>
            <a:prstDash val="solid"/>
          </a:ln>
        </p:spPr>
      </p:sp>
      <p:sp>
        <p:nvSpPr>
          <p:cNvPr id="89" name="Text 79"/>
          <p:cNvSpPr txBox="1"/>
          <p:nvPr/>
        </p:nvSpPr>
        <p:spPr>
          <a:xfrm>
            <a:off x="8913045" y="5596128"/>
            <a:ext cx="756597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2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Hindi, read-aloud</a:t>
            </a:r>
            <a:endParaRPr lang="en-US" sz="620" dirty="0"/>
          </a:p>
        </p:txBody>
      </p:sp>
      <p:pic>
        <p:nvPicPr>
          <p:cNvPr id="90" name="Image 8" descr="SOS ladder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06219" y="4087368"/>
            <a:ext cx="683445" cy="1481328"/>
          </a:xfrm>
          <a:prstGeom prst="rect">
            <a:avLst/>
          </a:prstGeom>
        </p:spPr>
      </p:pic>
      <p:sp>
        <p:nvSpPr>
          <p:cNvPr id="91" name="Shape 80"/>
          <p:cNvSpPr/>
          <p:nvPr/>
        </p:nvSpPr>
        <p:spPr>
          <a:xfrm>
            <a:off x="9706219" y="4087368"/>
            <a:ext cx="683445" cy="1481328"/>
          </a:xfrm>
          <a:prstGeom prst="rect">
            <a:avLst/>
          </a:prstGeom>
          <a:ln w="9525">
            <a:solidFill>
              <a:srgbClr val="D6D0C2"/>
            </a:solidFill>
            <a:prstDash val="solid"/>
          </a:ln>
        </p:spPr>
      </p:sp>
      <p:sp>
        <p:nvSpPr>
          <p:cNvPr id="92" name="Text 81"/>
          <p:cNvSpPr txBox="1"/>
          <p:nvPr/>
        </p:nvSpPr>
        <p:spPr>
          <a:xfrm>
            <a:off x="9669643" y="5596128"/>
            <a:ext cx="756597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2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SOS ladder</a:t>
            </a:r>
            <a:endParaRPr lang="en-US" sz="620" dirty="0"/>
          </a:p>
        </p:txBody>
      </p:sp>
      <p:sp>
        <p:nvSpPr>
          <p:cNvPr id="93" name="Shape 82"/>
          <p:cNvSpPr/>
          <p:nvPr/>
        </p:nvSpPr>
        <p:spPr>
          <a:xfrm>
            <a:off x="10508536" y="4114800"/>
            <a:ext cx="182880" cy="182880"/>
          </a:xfrm>
          <a:prstGeom prst="ellipse">
            <a:avLst/>
          </a:prstGeom>
          <a:solidFill>
            <a:srgbClr val="B23F69"/>
          </a:solidFill>
          <a:ln/>
        </p:spPr>
      </p:sp>
      <p:sp>
        <p:nvSpPr>
          <p:cNvPr id="94" name="Text 83"/>
          <p:cNvSpPr txBox="1"/>
          <p:nvPr/>
        </p:nvSpPr>
        <p:spPr>
          <a:xfrm>
            <a:off x="10508536" y="411480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</a:t>
            </a:r>
            <a:endParaRPr lang="en-US" sz="750" dirty="0"/>
          </a:p>
        </p:txBody>
      </p:sp>
      <p:sp>
        <p:nvSpPr>
          <p:cNvPr id="95" name="Text 84"/>
          <p:cNvSpPr txBox="1"/>
          <p:nvPr/>
        </p:nvSpPr>
        <p:spPr>
          <a:xfrm>
            <a:off x="10737136" y="409651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Meera, 60 s to answer</a:t>
            </a:r>
            <a:endParaRPr lang="en-US" sz="700" dirty="0"/>
          </a:p>
        </p:txBody>
      </p:sp>
      <p:sp>
        <p:nvSpPr>
          <p:cNvPr id="96" name="Shape 85"/>
          <p:cNvSpPr/>
          <p:nvPr/>
        </p:nvSpPr>
        <p:spPr>
          <a:xfrm>
            <a:off x="10599976" y="4297680"/>
            <a:ext cx="91" cy="91440"/>
          </a:xfrm>
          <a:prstGeom prst="line">
            <a:avLst/>
          </a:prstGeom>
          <a:noFill/>
          <a:ln w="12700">
            <a:solidFill>
              <a:srgbClr val="B23F69"/>
            </a:solidFill>
            <a:prstDash val="solid"/>
          </a:ln>
        </p:spPr>
      </p:sp>
      <p:sp>
        <p:nvSpPr>
          <p:cNvPr id="97" name="Shape 86"/>
          <p:cNvSpPr/>
          <p:nvPr/>
        </p:nvSpPr>
        <p:spPr>
          <a:xfrm>
            <a:off x="10508536" y="4389120"/>
            <a:ext cx="182880" cy="182880"/>
          </a:xfrm>
          <a:prstGeom prst="ellipse">
            <a:avLst/>
          </a:prstGeom>
          <a:solidFill>
            <a:srgbClr val="B23F69"/>
          </a:solidFill>
          <a:ln/>
        </p:spPr>
      </p:sp>
      <p:sp>
        <p:nvSpPr>
          <p:cNvPr id="98" name="Text 87"/>
          <p:cNvSpPr txBox="1"/>
          <p:nvPr/>
        </p:nvSpPr>
        <p:spPr>
          <a:xfrm>
            <a:off x="10508536" y="43891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</a:t>
            </a:r>
            <a:endParaRPr lang="en-US" sz="750" dirty="0"/>
          </a:p>
        </p:txBody>
      </p:sp>
      <p:sp>
        <p:nvSpPr>
          <p:cNvPr id="99" name="Text 88"/>
          <p:cNvSpPr txBox="1"/>
          <p:nvPr/>
        </p:nvSpPr>
        <p:spPr>
          <a:xfrm>
            <a:off x="10737136" y="437083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first contact</a:t>
            </a:r>
            <a:endParaRPr lang="en-US" sz="700" dirty="0"/>
          </a:p>
        </p:txBody>
      </p:sp>
      <p:sp>
        <p:nvSpPr>
          <p:cNvPr id="100" name="Shape 89"/>
          <p:cNvSpPr/>
          <p:nvPr/>
        </p:nvSpPr>
        <p:spPr>
          <a:xfrm>
            <a:off x="10599976" y="4572000"/>
            <a:ext cx="91" cy="91440"/>
          </a:xfrm>
          <a:prstGeom prst="line">
            <a:avLst/>
          </a:prstGeom>
          <a:noFill/>
          <a:ln w="12700">
            <a:solidFill>
              <a:srgbClr val="B23F69"/>
            </a:solidFill>
            <a:prstDash val="solid"/>
          </a:ln>
        </p:spPr>
      </p:sp>
      <p:sp>
        <p:nvSpPr>
          <p:cNvPr id="101" name="Shape 90"/>
          <p:cNvSpPr/>
          <p:nvPr/>
        </p:nvSpPr>
        <p:spPr>
          <a:xfrm>
            <a:off x="10508536" y="4663440"/>
            <a:ext cx="182880" cy="182880"/>
          </a:xfrm>
          <a:prstGeom prst="ellipse">
            <a:avLst/>
          </a:prstGeom>
          <a:solidFill>
            <a:srgbClr val="B23F69"/>
          </a:solidFill>
          <a:ln/>
        </p:spPr>
      </p:sp>
      <p:sp>
        <p:nvSpPr>
          <p:cNvPr id="102" name="Text 91"/>
          <p:cNvSpPr txBox="1"/>
          <p:nvPr/>
        </p:nvSpPr>
        <p:spPr>
          <a:xfrm>
            <a:off x="10508536" y="466344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</a:t>
            </a:r>
            <a:endParaRPr lang="en-US" sz="750" dirty="0"/>
          </a:p>
        </p:txBody>
      </p:sp>
      <p:sp>
        <p:nvSpPr>
          <p:cNvPr id="103" name="Text 92"/>
          <p:cNvSpPr txBox="1"/>
          <p:nvPr/>
        </p:nvSpPr>
        <p:spPr>
          <a:xfrm>
            <a:off x="10737136" y="464515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second contact</a:t>
            </a:r>
            <a:endParaRPr lang="en-US" sz="700" dirty="0"/>
          </a:p>
        </p:txBody>
      </p:sp>
      <p:sp>
        <p:nvSpPr>
          <p:cNvPr id="104" name="Shape 93"/>
          <p:cNvSpPr/>
          <p:nvPr/>
        </p:nvSpPr>
        <p:spPr>
          <a:xfrm>
            <a:off x="10599976" y="4846320"/>
            <a:ext cx="91" cy="91440"/>
          </a:xfrm>
          <a:prstGeom prst="line">
            <a:avLst/>
          </a:prstGeom>
          <a:noFill/>
          <a:ln w="12700">
            <a:solidFill>
              <a:srgbClr val="B23F69"/>
            </a:solidFill>
            <a:prstDash val="solid"/>
          </a:ln>
        </p:spPr>
      </p:sp>
      <p:sp>
        <p:nvSpPr>
          <p:cNvPr id="105" name="Shape 94"/>
          <p:cNvSpPr/>
          <p:nvPr/>
        </p:nvSpPr>
        <p:spPr>
          <a:xfrm>
            <a:off x="10508536" y="4937760"/>
            <a:ext cx="182880" cy="182880"/>
          </a:xfrm>
          <a:prstGeom prst="ellipse">
            <a:avLst/>
          </a:prstGeom>
          <a:solidFill>
            <a:srgbClr val="B23F69"/>
          </a:solidFill>
          <a:ln/>
        </p:spPr>
      </p:sp>
      <p:sp>
        <p:nvSpPr>
          <p:cNvPr id="106" name="Text 95"/>
          <p:cNvSpPr txBox="1"/>
          <p:nvPr/>
        </p:nvSpPr>
        <p:spPr>
          <a:xfrm>
            <a:off x="10508536" y="49377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</a:t>
            </a:r>
            <a:endParaRPr lang="en-US" sz="750" dirty="0"/>
          </a:p>
        </p:txBody>
      </p:sp>
      <p:sp>
        <p:nvSpPr>
          <p:cNvPr id="107" name="Text 96"/>
          <p:cNvSpPr txBox="1"/>
          <p:nvPr/>
        </p:nvSpPr>
        <p:spPr>
          <a:xfrm>
            <a:off x="10737136" y="491947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her doctor</a:t>
            </a:r>
            <a:endParaRPr lang="en-US" sz="700" dirty="0"/>
          </a:p>
        </p:txBody>
      </p:sp>
      <p:sp>
        <p:nvSpPr>
          <p:cNvPr id="108" name="Text 97"/>
          <p:cNvSpPr txBox="1"/>
          <p:nvPr/>
        </p:nvSpPr>
        <p:spPr>
          <a:xfrm>
            <a:off x="10508536" y="5257800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" b="1" dirty="0">
                <a:solidFill>
                  <a:srgbClr val="B03A2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One tap to 112</a:t>
            </a:r>
            <a:r>
              <a:rPr lang="en-US" sz="69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 at every step; the server never dials it.</a:t>
            </a:r>
            <a:endParaRPr lang="en-US" sz="690" dirty="0"/>
          </a:p>
        </p:txBody>
      </p:sp>
      <p:sp>
        <p:nvSpPr>
          <p:cNvPr id="109" name="Shape 98"/>
          <p:cNvSpPr/>
          <p:nvPr/>
        </p:nvSpPr>
        <p:spPr>
          <a:xfrm>
            <a:off x="274320" y="6016752"/>
            <a:ext cx="11640312" cy="310896"/>
          </a:xfrm>
          <a:prstGeom prst="rect">
            <a:avLst/>
          </a:prstGeom>
          <a:solidFill>
            <a:srgbClr val="E6E9F7"/>
          </a:solidFill>
          <a:ln/>
        </p:spPr>
      </p:sp>
      <p:sp>
        <p:nvSpPr>
          <p:cNvPr id="110" name="Shape 99"/>
          <p:cNvSpPr/>
          <p:nvPr/>
        </p:nvSpPr>
        <p:spPr>
          <a:xfrm>
            <a:off x="274320" y="6016752"/>
            <a:ext cx="960120" cy="310896"/>
          </a:xfrm>
          <a:prstGeom prst="rect">
            <a:avLst/>
          </a:prstGeom>
          <a:solidFill>
            <a:srgbClr val="3F4FA8"/>
          </a:solidFill>
          <a:ln/>
        </p:spPr>
      </p:sp>
      <p:sp>
        <p:nvSpPr>
          <p:cNvPr id="111" name="Text 100"/>
          <p:cNvSpPr txBox="1"/>
          <p:nvPr/>
        </p:nvSpPr>
        <p:spPr>
          <a:xfrm>
            <a:off x="274320" y="601675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IN PRACTICE</a:t>
            </a:r>
            <a:endParaRPr lang="en-US" sz="850" dirty="0"/>
          </a:p>
        </p:txBody>
      </p:sp>
      <p:sp>
        <p:nvSpPr>
          <p:cNvPr id="112" name="Text 101"/>
          <p:cNvSpPr txBox="1"/>
          <p:nvPr/>
        </p:nvSpPr>
        <p:spPr>
          <a:xfrm>
            <a:off x="1325880" y="6016752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doctor spends time on the 10 who need it, not on all 240; </a:t>
            </a:r>
            <a:r>
              <a:rPr lang="en-US" sz="8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patient hears one sentence in her language and knows what to do.</a:t>
            </a:r>
            <a:endParaRPr lang="en-US" sz="850" dirty="0"/>
          </a:p>
        </p:txBody>
      </p:sp>
      <p:sp>
        <p:nvSpPr>
          <p:cNvPr id="113" name="Text 102"/>
          <p:cNvSpPr txBox="1"/>
          <p:nvPr/>
        </p:nvSpPr>
        <p:spPr>
          <a:xfrm>
            <a:off x="274320" y="6400800"/>
            <a:ext cx="6903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F4FA8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ANNEXURE A5</a:t>
            </a:r>
            <a:r>
              <a:rPr lang="en-US" sz="70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  |  screens from the live demo on synthetic data; messages to contacts are mock-ups and say so on screen</a:t>
            </a:r>
            <a:endParaRPr lang="en-US" sz="700" dirty="0"/>
          </a:p>
        </p:txBody>
      </p:sp>
      <p:sp>
        <p:nvSpPr>
          <p:cNvPr id="114" name="Text 103"/>
          <p:cNvSpPr txBox="1"/>
          <p:nvPr/>
        </p:nvSpPr>
        <p:spPr>
          <a:xfrm>
            <a:off x="7315200" y="6400800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F4FA8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SOURCE: </a:t>
            </a:r>
            <a:r>
              <a:rPr lang="en-US" sz="70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pratibimb-pi.vercel.app; docs/API.md; docs/COMPLIANCE.md</a:t>
            </a:r>
            <a:endParaRPr lang="en-US" sz="700" dirty="0"/>
          </a:p>
        </p:txBody>
      </p:sp>
      <p:sp>
        <p:nvSpPr>
          <p:cNvPr id="115" name="Shape 104"/>
          <p:cNvSpPr/>
          <p:nvPr/>
        </p:nvSpPr>
        <p:spPr>
          <a:xfrm>
            <a:off x="11658600" y="6419088"/>
            <a:ext cx="256032" cy="256032"/>
          </a:xfrm>
          <a:prstGeom prst="rect">
            <a:avLst/>
          </a:prstGeom>
          <a:solidFill>
            <a:srgbClr val="1F2A2A"/>
          </a:solidFill>
          <a:ln/>
        </p:spPr>
      </p:sp>
      <p:sp>
        <p:nvSpPr>
          <p:cNvPr id="116" name="Text 105"/>
          <p:cNvSpPr txBox="1"/>
          <p:nvPr/>
        </p:nvSpPr>
        <p:spPr>
          <a:xfrm>
            <a:off x="11658600" y="64190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46304"/>
            <a:ext cx="566928" cy="566928"/>
          </a:xfrm>
          <a:prstGeom prst="rect">
            <a:avLst/>
          </a:prstGeom>
          <a:solidFill>
            <a:srgbClr val="10302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1463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A6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54864"/>
            <a:ext cx="9098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550" b="1" dirty="0">
                <a:solidFill>
                  <a:srgbClr val="086A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Built for Indian practice and rules, honest about its limits, with a gated path from this prototype to a silent clinic pilot and a CDSCO filing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608076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What runs today versus what a production version adds. Phases and gates are proposed: each phase starts only when the gate before it is met.</a:t>
            </a:r>
            <a:endParaRPr lang="en-US" sz="800" dirty="0"/>
          </a:p>
        </p:txBody>
      </p:sp>
      <p:pic>
        <p:nvPicPr>
          <p:cNvPr id="6" name="Image 0" descr="Pratibimb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0" y="109728"/>
            <a:ext cx="1536192" cy="2958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1183112" y="566928"/>
            <a:ext cx="731520" cy="182880"/>
          </a:xfrm>
          <a:prstGeom prst="roundRect">
            <a:avLst>
              <a:gd name="adj" fmla="val 50000"/>
            </a:avLst>
          </a:prstGeom>
          <a:solidFill>
            <a:srgbClr val="086A7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1183112" y="5669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Roadmap</a:t>
            </a:r>
            <a:endParaRPr lang="en-US" sz="700" dirty="0"/>
          </a:p>
        </p:txBody>
      </p:sp>
      <p:sp>
        <p:nvSpPr>
          <p:cNvPr id="9" name="Shape 6"/>
          <p:cNvSpPr/>
          <p:nvPr/>
        </p:nvSpPr>
        <p:spPr>
          <a:xfrm>
            <a:off x="10237622" y="566928"/>
            <a:ext cx="890626" cy="182880"/>
          </a:xfrm>
          <a:prstGeom prst="roundRect">
            <a:avLst>
              <a:gd name="adj" fmla="val 50000"/>
            </a:avLst>
          </a:prstGeom>
          <a:solidFill>
            <a:srgbClr val="A8703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0237622" y="566928"/>
            <a:ext cx="89062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Indian impact</a:t>
            </a:r>
            <a:endParaRPr lang="en-US" sz="700" dirty="0"/>
          </a:p>
        </p:txBody>
      </p:sp>
      <p:pic>
        <p:nvPicPr>
          <p:cNvPr id="11" name="Image 1" descr="Pratibimb motif stri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41248"/>
            <a:ext cx="11640312" cy="5486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74320" y="987552"/>
            <a:ext cx="5760720" cy="2542032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2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47472" y="1083564"/>
            <a:ext cx="64008" cy="64008"/>
          </a:xfrm>
          <a:prstGeom prst="rect">
            <a:avLst/>
          </a:prstGeom>
          <a:solidFill>
            <a:srgbClr val="10302F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448056" y="1037844"/>
            <a:ext cx="46360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COMPLIANCE, MAPPED TO WHAT RUNS TODAY</a:t>
            </a:r>
            <a:endParaRPr lang="en-US" sz="800" dirty="0"/>
          </a:p>
        </p:txBody>
      </p:sp>
      <p:sp>
        <p:nvSpPr>
          <p:cNvPr id="15" name="Text 11"/>
          <p:cNvSpPr txBox="1"/>
          <p:nvPr/>
        </p:nvSpPr>
        <p:spPr>
          <a:xfrm>
            <a:off x="5129784" y="1037844"/>
            <a:ext cx="8503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0302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SEE COMPLIANCE.MD</a:t>
            </a:r>
            <a:endParaRPr lang="en-US" sz="7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" y="1243584"/>
          <a:ext cx="5614416" cy="914400"/>
        </p:xfrm>
        <a:graphic>
          <a:graphicData uri="http://schemas.openxmlformats.org/drawingml/2006/table">
            <a:tbl>
              <a:tblPr/>
              <a:tblGrid>
                <a:gridCol w="1298448"/>
                <a:gridCol w="2377440"/>
                <a:gridCol w="1938528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Rule</a:t>
                      </a:r>
                      <a:endParaRPr lang="en-US" sz="75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02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What Pratibimb does today</a:t>
                      </a:r>
                      <a:endParaRPr lang="en-US" sz="75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02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Production adds</a:t>
                      </a:r>
                      <a:endParaRPr lang="en-US" sz="75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02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F2A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DPDP Act 2023</a:t>
                      </a:r>
                      <a:endParaRPr lang="en-US" sz="7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F2A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consent per stream; opt out of AI; withdraw and delete; 18+ only</a:t>
                      </a:r>
                      <a:endParaRPr lang="en-US" sz="7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F2A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privacy notice, grievance officer, India hosting</a:t>
                      </a:r>
                      <a:endParaRPr lang="en-US" sz="7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F2A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Telemedicine Guidelines 2020</a:t>
                      </a:r>
                      <a:endParaRPr lang="en-US" sz="7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F2A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never changes a dose; the doctor decides</a:t>
                      </a:r>
                      <a:endParaRPr lang="en-US" sz="7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F2A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clinician sign-off workflow</a:t>
                      </a:r>
                      <a:endParaRPr lang="en-US" sz="7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F2A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CDSCO software guidance, 2026</a:t>
                      </a:r>
                      <a:endParaRPr lang="en-US" sz="7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F2A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model card, synthetic-data disclosure, audit log</a:t>
                      </a:r>
                      <a:endParaRPr lang="en-US" sz="7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F2A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likely Class B or C; QMS; clinical validation</a:t>
                      </a:r>
                      <a:endParaRPr lang="en-US" sz="7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F2A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ABDM</a:t>
                      </a:r>
                      <a:endParaRPr lang="en-US" sz="7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F2A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FHIR R4 and WellnessRecord export; ABHA masked</a:t>
                      </a:r>
                      <a:endParaRPr lang="en-US" sz="7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F2A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sandbox milestones M1 and M3; WASA audit</a:t>
                      </a:r>
                      <a:endParaRPr lang="en-US" sz="7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F2A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TRAI commercial messages</a:t>
                      </a:r>
                      <a:endParaRPr lang="en-US" sz="7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F2A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SMS, WhatsApp and voice templates (mocked)</a:t>
                      </a:r>
                      <a:endParaRPr lang="en-US" sz="7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F2A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DLT registration of headers and templates</a:t>
                      </a:r>
                      <a:endParaRPr lang="en-US" sz="7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F2A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ICMR AI ethics 2023</a:t>
                      </a:r>
                      <a:endParaRPr lang="en-US" sz="7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F2A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patients can refuse AI; reasons always shown</a:t>
                      </a:r>
                      <a:endParaRPr lang="en-US" sz="7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F2A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bias benchmarking before deployment</a:t>
                      </a:r>
                      <a:endParaRPr lang="en-US" sz="7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</a:tr>
            </a:tbl>
          </a:graphicData>
        </a:graphic>
      </p:graphicFrame>
      <p:sp>
        <p:nvSpPr>
          <p:cNvPr id="17" name="Shape 12"/>
          <p:cNvSpPr/>
          <p:nvPr/>
        </p:nvSpPr>
        <p:spPr>
          <a:xfrm>
            <a:off x="6108192" y="987552"/>
            <a:ext cx="5806440" cy="2542032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2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181344" y="1083564"/>
            <a:ext cx="64008" cy="64008"/>
          </a:xfrm>
          <a:prstGeom prst="rect">
            <a:avLst/>
          </a:prstGeom>
          <a:solidFill>
            <a:srgbClr val="10302F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6281928" y="1037844"/>
            <a:ext cx="5074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FIVE PHASES, EACH WITH A GATE</a:t>
            </a:r>
            <a:endParaRPr lang="en-US" sz="800" dirty="0"/>
          </a:p>
        </p:txBody>
      </p:sp>
      <p:sp>
        <p:nvSpPr>
          <p:cNvPr id="20" name="Text 15"/>
          <p:cNvSpPr txBox="1"/>
          <p:nvPr/>
        </p:nvSpPr>
        <p:spPr>
          <a:xfrm>
            <a:off x="11402568" y="1037844"/>
            <a:ext cx="457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0302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PROPOSED</a:t>
            </a:r>
            <a:endParaRPr lang="en-US" sz="700" dirty="0"/>
          </a:p>
        </p:txBody>
      </p:sp>
      <p:sp>
        <p:nvSpPr>
          <p:cNvPr id="21" name="Shape 16"/>
          <p:cNvSpPr/>
          <p:nvPr/>
        </p:nvSpPr>
        <p:spPr>
          <a:xfrm>
            <a:off x="7543800" y="1225296"/>
            <a:ext cx="91" cy="2157984"/>
          </a:xfrm>
          <a:prstGeom prst="line">
            <a:avLst/>
          </a:prstGeom>
          <a:noFill/>
          <a:ln w="6350">
            <a:solidFill>
              <a:srgbClr val="D6D0C2"/>
            </a:solidFill>
            <a:prstDash val="dash"/>
          </a:ln>
        </p:spPr>
      </p:sp>
      <p:sp>
        <p:nvSpPr>
          <p:cNvPr id="22" name="Text 17"/>
          <p:cNvSpPr txBox="1"/>
          <p:nvPr/>
        </p:nvSpPr>
        <p:spPr>
          <a:xfrm>
            <a:off x="7315200" y="1216152"/>
            <a:ext cx="457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Now</a:t>
            </a:r>
            <a:endParaRPr lang="en-US" sz="660" dirty="0"/>
          </a:p>
        </p:txBody>
      </p:sp>
      <p:sp>
        <p:nvSpPr>
          <p:cNvPr id="23" name="Shape 18"/>
          <p:cNvSpPr/>
          <p:nvPr/>
        </p:nvSpPr>
        <p:spPr>
          <a:xfrm>
            <a:off x="8252460" y="1225296"/>
            <a:ext cx="91" cy="2157984"/>
          </a:xfrm>
          <a:prstGeom prst="line">
            <a:avLst/>
          </a:prstGeom>
          <a:noFill/>
          <a:ln w="6350">
            <a:solidFill>
              <a:srgbClr val="D6D0C2"/>
            </a:solidFill>
            <a:prstDash val="dash"/>
          </a:ln>
        </p:spPr>
      </p:sp>
      <p:sp>
        <p:nvSpPr>
          <p:cNvPr id="24" name="Text 19"/>
          <p:cNvSpPr txBox="1"/>
          <p:nvPr/>
        </p:nvSpPr>
        <p:spPr>
          <a:xfrm>
            <a:off x="8023860" y="1216152"/>
            <a:ext cx="457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M3</a:t>
            </a:r>
            <a:endParaRPr lang="en-US" sz="660" dirty="0"/>
          </a:p>
        </p:txBody>
      </p:sp>
      <p:sp>
        <p:nvSpPr>
          <p:cNvPr id="25" name="Shape 20"/>
          <p:cNvSpPr/>
          <p:nvPr/>
        </p:nvSpPr>
        <p:spPr>
          <a:xfrm>
            <a:off x="8961120" y="1225296"/>
            <a:ext cx="91" cy="2157984"/>
          </a:xfrm>
          <a:prstGeom prst="line">
            <a:avLst/>
          </a:prstGeom>
          <a:noFill/>
          <a:ln w="6350">
            <a:solidFill>
              <a:srgbClr val="D6D0C2"/>
            </a:solidFill>
            <a:prstDash val="dash"/>
          </a:ln>
        </p:spPr>
      </p:sp>
      <p:sp>
        <p:nvSpPr>
          <p:cNvPr id="26" name="Text 21"/>
          <p:cNvSpPr txBox="1"/>
          <p:nvPr/>
        </p:nvSpPr>
        <p:spPr>
          <a:xfrm>
            <a:off x="8732520" y="1216152"/>
            <a:ext cx="457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M6</a:t>
            </a:r>
            <a:endParaRPr lang="en-US" sz="660" dirty="0"/>
          </a:p>
        </p:txBody>
      </p:sp>
      <p:sp>
        <p:nvSpPr>
          <p:cNvPr id="27" name="Shape 22"/>
          <p:cNvSpPr/>
          <p:nvPr/>
        </p:nvSpPr>
        <p:spPr>
          <a:xfrm>
            <a:off x="10378440" y="1225296"/>
            <a:ext cx="91" cy="2157984"/>
          </a:xfrm>
          <a:prstGeom prst="line">
            <a:avLst/>
          </a:prstGeom>
          <a:noFill/>
          <a:ln w="6350">
            <a:solidFill>
              <a:srgbClr val="D6D0C2"/>
            </a:solidFill>
            <a:prstDash val="dash"/>
          </a:ln>
        </p:spPr>
      </p:sp>
      <p:sp>
        <p:nvSpPr>
          <p:cNvPr id="28" name="Text 23"/>
          <p:cNvSpPr txBox="1"/>
          <p:nvPr/>
        </p:nvSpPr>
        <p:spPr>
          <a:xfrm>
            <a:off x="10149840" y="1216152"/>
            <a:ext cx="457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M12</a:t>
            </a:r>
            <a:endParaRPr lang="en-US" sz="660" dirty="0"/>
          </a:p>
        </p:txBody>
      </p:sp>
      <p:sp>
        <p:nvSpPr>
          <p:cNvPr id="29" name="Shape 24"/>
          <p:cNvSpPr/>
          <p:nvPr/>
        </p:nvSpPr>
        <p:spPr>
          <a:xfrm>
            <a:off x="11795760" y="1225296"/>
            <a:ext cx="91" cy="2157984"/>
          </a:xfrm>
          <a:prstGeom prst="line">
            <a:avLst/>
          </a:prstGeom>
          <a:noFill/>
          <a:ln w="6350">
            <a:solidFill>
              <a:srgbClr val="D6D0C2"/>
            </a:solidFill>
            <a:prstDash val="dash"/>
          </a:ln>
        </p:spPr>
      </p:sp>
      <p:sp>
        <p:nvSpPr>
          <p:cNvPr id="30" name="Text 25"/>
          <p:cNvSpPr txBox="1"/>
          <p:nvPr/>
        </p:nvSpPr>
        <p:spPr>
          <a:xfrm>
            <a:off x="11567160" y="1216152"/>
            <a:ext cx="457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M18</a:t>
            </a:r>
            <a:endParaRPr lang="en-US" sz="660" dirty="0"/>
          </a:p>
        </p:txBody>
      </p:sp>
      <p:sp>
        <p:nvSpPr>
          <p:cNvPr id="31" name="Text 26"/>
          <p:cNvSpPr txBox="1"/>
          <p:nvPr/>
        </p:nvSpPr>
        <p:spPr>
          <a:xfrm>
            <a:off x="6199632" y="1389888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187A4C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PROTOTYPE</a:t>
            </a:r>
            <a:endParaRPr lang="en-US" sz="740" dirty="0"/>
          </a:p>
          <a:p>
            <a:pPr algn="l" indent="0" marL="0">
              <a:buNone/>
            </a:pPr>
            <a:r>
              <a:rPr lang="en-US" sz="64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done, Oct 2026</a:t>
            </a:r>
            <a:endParaRPr lang="en-US" sz="740" dirty="0"/>
          </a:p>
        </p:txBody>
      </p:sp>
      <p:sp>
        <p:nvSpPr>
          <p:cNvPr id="32" name="Shape 27"/>
          <p:cNvSpPr/>
          <p:nvPr/>
        </p:nvSpPr>
        <p:spPr>
          <a:xfrm>
            <a:off x="7434072" y="1408176"/>
            <a:ext cx="219456" cy="146304"/>
          </a:xfrm>
          <a:prstGeom prst="rect">
            <a:avLst/>
          </a:prstGeom>
          <a:solidFill>
            <a:srgbClr val="187A4C"/>
          </a:solidFill>
          <a:ln/>
        </p:spPr>
      </p:sp>
      <p:sp>
        <p:nvSpPr>
          <p:cNvPr id="33" name="Shape 28"/>
          <p:cNvSpPr/>
          <p:nvPr/>
        </p:nvSpPr>
        <p:spPr>
          <a:xfrm>
            <a:off x="7598664" y="1426464"/>
            <a:ext cx="109728" cy="109728"/>
          </a:xfrm>
          <a:prstGeom prst="diamond">
            <a:avLst/>
          </a:prstGeom>
          <a:solidFill>
            <a:srgbClr val="1F2A2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7434072" y="1572768"/>
            <a:ext cx="4379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" i="1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Gate met: 70% caught inside the budget (synthetic)</a:t>
            </a:r>
            <a:endParaRPr lang="en-US" sz="640" dirty="0"/>
          </a:p>
        </p:txBody>
      </p:sp>
      <p:sp>
        <p:nvSpPr>
          <p:cNvPr id="35" name="Text 30"/>
          <p:cNvSpPr txBox="1"/>
          <p:nvPr/>
        </p:nvSpPr>
        <p:spPr>
          <a:xfrm>
            <a:off x="6199632" y="1792224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086A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CONNECT</a:t>
            </a:r>
            <a:endParaRPr lang="en-US" sz="740" dirty="0"/>
          </a:p>
          <a:p>
            <a:pPr algn="l" indent="0" marL="0">
              <a:buNone/>
            </a:pPr>
            <a:r>
              <a:rPr lang="en-US" sz="64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M0 to 3</a:t>
            </a:r>
            <a:endParaRPr lang="en-US" sz="740" dirty="0"/>
          </a:p>
        </p:txBody>
      </p:sp>
      <p:sp>
        <p:nvSpPr>
          <p:cNvPr id="36" name="Shape 31"/>
          <p:cNvSpPr/>
          <p:nvPr/>
        </p:nvSpPr>
        <p:spPr>
          <a:xfrm>
            <a:off x="7543800" y="1810512"/>
            <a:ext cx="708660" cy="146304"/>
          </a:xfrm>
          <a:prstGeom prst="rect">
            <a:avLst/>
          </a:prstGeom>
          <a:solidFill>
            <a:srgbClr val="086A70"/>
          </a:solidFill>
          <a:ln/>
        </p:spPr>
      </p:sp>
      <p:sp>
        <p:nvSpPr>
          <p:cNvPr id="37" name="Shape 32"/>
          <p:cNvSpPr/>
          <p:nvPr/>
        </p:nvSpPr>
        <p:spPr>
          <a:xfrm>
            <a:off x="8197596" y="1828800"/>
            <a:ext cx="109728" cy="109728"/>
          </a:xfrm>
          <a:prstGeom prst="diamond">
            <a:avLst/>
          </a:prstGeom>
          <a:solidFill>
            <a:srgbClr val="1F2A2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8" name="Text 33"/>
          <p:cNvSpPr txBox="1"/>
          <p:nvPr/>
        </p:nvSpPr>
        <p:spPr>
          <a:xfrm>
            <a:off x="7434072" y="1975104"/>
            <a:ext cx="4379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" i="1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ABDM sandbox; Android app on Health Connect. Gate: nightly sync from 3 watch brands</a:t>
            </a:r>
            <a:endParaRPr lang="en-US" sz="640" dirty="0"/>
          </a:p>
        </p:txBody>
      </p:sp>
      <p:sp>
        <p:nvSpPr>
          <p:cNvPr id="39" name="Text 34"/>
          <p:cNvSpPr txBox="1"/>
          <p:nvPr/>
        </p:nvSpPr>
        <p:spPr>
          <a:xfrm>
            <a:off x="6199632" y="2194560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A8703C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SILENT PILOT</a:t>
            </a:r>
            <a:endParaRPr lang="en-US" sz="740" dirty="0"/>
          </a:p>
          <a:p>
            <a:pPr algn="l" indent="0" marL="0">
              <a:buNone/>
            </a:pPr>
            <a:r>
              <a:rPr lang="en-US" sz="64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M3 to 6</a:t>
            </a:r>
            <a:endParaRPr lang="en-US" sz="740" dirty="0"/>
          </a:p>
        </p:txBody>
      </p:sp>
      <p:sp>
        <p:nvSpPr>
          <p:cNvPr id="40" name="Shape 35"/>
          <p:cNvSpPr/>
          <p:nvPr/>
        </p:nvSpPr>
        <p:spPr>
          <a:xfrm>
            <a:off x="8252460" y="2212848"/>
            <a:ext cx="708660" cy="146304"/>
          </a:xfrm>
          <a:prstGeom prst="rect">
            <a:avLst/>
          </a:prstGeom>
          <a:solidFill>
            <a:srgbClr val="A8703C"/>
          </a:solidFill>
          <a:ln/>
        </p:spPr>
      </p:sp>
      <p:sp>
        <p:nvSpPr>
          <p:cNvPr id="41" name="Shape 36"/>
          <p:cNvSpPr/>
          <p:nvPr/>
        </p:nvSpPr>
        <p:spPr>
          <a:xfrm>
            <a:off x="8906256" y="2231136"/>
            <a:ext cx="109728" cy="109728"/>
          </a:xfrm>
          <a:prstGeom prst="diamond">
            <a:avLst/>
          </a:prstGeom>
          <a:solidFill>
            <a:srgbClr val="1F2A2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2" name="Text 37"/>
          <p:cNvSpPr txBox="1"/>
          <p:nvPr/>
        </p:nvSpPr>
        <p:spPr>
          <a:xfrm>
            <a:off x="7434072" y="2377440"/>
            <a:ext cx="4379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" i="1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One hypertension clinic, consented patients, alerts hidden. Gate: budget holds on real data</a:t>
            </a:r>
            <a:endParaRPr lang="en-US" sz="640" dirty="0"/>
          </a:p>
        </p:txBody>
      </p:sp>
      <p:sp>
        <p:nvSpPr>
          <p:cNvPr id="43" name="Text 38"/>
          <p:cNvSpPr txBox="1"/>
          <p:nvPr/>
        </p:nvSpPr>
        <p:spPr>
          <a:xfrm>
            <a:off x="6199632" y="2596896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B23F69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LIVE PILOT</a:t>
            </a:r>
            <a:endParaRPr lang="en-US" sz="740" dirty="0"/>
          </a:p>
          <a:p>
            <a:pPr algn="l" indent="0" marL="0">
              <a:buNone/>
            </a:pPr>
            <a:r>
              <a:rPr lang="en-US" sz="64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M6 to 12</a:t>
            </a:r>
            <a:endParaRPr lang="en-US" sz="740" dirty="0"/>
          </a:p>
        </p:txBody>
      </p:sp>
      <p:sp>
        <p:nvSpPr>
          <p:cNvPr id="44" name="Shape 39"/>
          <p:cNvSpPr/>
          <p:nvPr/>
        </p:nvSpPr>
        <p:spPr>
          <a:xfrm>
            <a:off x="8961120" y="2615184"/>
            <a:ext cx="1417320" cy="146304"/>
          </a:xfrm>
          <a:prstGeom prst="rect">
            <a:avLst/>
          </a:prstGeom>
          <a:solidFill>
            <a:srgbClr val="B23F69"/>
          </a:solidFill>
          <a:ln/>
        </p:spPr>
      </p:sp>
      <p:sp>
        <p:nvSpPr>
          <p:cNvPr id="45" name="Shape 40"/>
          <p:cNvSpPr/>
          <p:nvPr/>
        </p:nvSpPr>
        <p:spPr>
          <a:xfrm>
            <a:off x="10323576" y="2633472"/>
            <a:ext cx="109728" cy="109728"/>
          </a:xfrm>
          <a:prstGeom prst="diamond">
            <a:avLst/>
          </a:prstGeom>
          <a:solidFill>
            <a:srgbClr val="1F2A2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7434072" y="2779776"/>
            <a:ext cx="4379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" i="1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Alerts to doctors; WHO SEAR chart; more languages; CGM for diabetics. Gate: safe, used</a:t>
            </a:r>
            <a:endParaRPr lang="en-US" sz="640" dirty="0"/>
          </a:p>
        </p:txBody>
      </p:sp>
      <p:sp>
        <p:nvSpPr>
          <p:cNvPr id="47" name="Text 42"/>
          <p:cNvSpPr txBox="1"/>
          <p:nvPr/>
        </p:nvSpPr>
        <p:spPr>
          <a:xfrm>
            <a:off x="6199632" y="2999232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10302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REGULATE</a:t>
            </a:r>
            <a:endParaRPr lang="en-US" sz="740" dirty="0"/>
          </a:p>
          <a:p>
            <a:pPr algn="l" indent="0" marL="0">
              <a:buNone/>
            </a:pPr>
            <a:r>
              <a:rPr lang="en-US" sz="64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M12 on</a:t>
            </a:r>
            <a:endParaRPr lang="en-US" sz="740" dirty="0"/>
          </a:p>
        </p:txBody>
      </p:sp>
      <p:sp>
        <p:nvSpPr>
          <p:cNvPr id="48" name="Shape 43"/>
          <p:cNvSpPr/>
          <p:nvPr/>
        </p:nvSpPr>
        <p:spPr>
          <a:xfrm>
            <a:off x="10378440" y="3017520"/>
            <a:ext cx="1417320" cy="146304"/>
          </a:xfrm>
          <a:prstGeom prst="rect">
            <a:avLst/>
          </a:prstGeom>
          <a:solidFill>
            <a:srgbClr val="10302F"/>
          </a:solidFill>
          <a:ln/>
        </p:spPr>
      </p:sp>
      <p:sp>
        <p:nvSpPr>
          <p:cNvPr id="49" name="Shape 44"/>
          <p:cNvSpPr/>
          <p:nvPr/>
        </p:nvSpPr>
        <p:spPr>
          <a:xfrm>
            <a:off x="11740896" y="3035808"/>
            <a:ext cx="109728" cy="109728"/>
          </a:xfrm>
          <a:prstGeom prst="diamond">
            <a:avLst/>
          </a:prstGeom>
          <a:solidFill>
            <a:srgbClr val="1F2A2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0" name="Text 45"/>
          <p:cNvSpPr txBox="1"/>
          <p:nvPr/>
        </p:nvSpPr>
        <p:spPr>
          <a:xfrm>
            <a:off x="7434072" y="3182112"/>
            <a:ext cx="4379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" i="1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CDSCO software filing (likely Class B or C); clinic network</a:t>
            </a:r>
            <a:endParaRPr lang="en-US" sz="640" dirty="0"/>
          </a:p>
        </p:txBody>
      </p:sp>
      <p:sp>
        <p:nvSpPr>
          <p:cNvPr id="51" name="Shape 46"/>
          <p:cNvSpPr/>
          <p:nvPr/>
        </p:nvSpPr>
        <p:spPr>
          <a:xfrm>
            <a:off x="274320" y="3602736"/>
            <a:ext cx="3840480" cy="2322576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2"/>
            </a:solidFill>
            <a:prstDash val="solid"/>
          </a:ln>
        </p:spPr>
      </p:sp>
      <p:sp>
        <p:nvSpPr>
          <p:cNvPr id="52" name="Shape 47"/>
          <p:cNvSpPr/>
          <p:nvPr/>
        </p:nvSpPr>
        <p:spPr>
          <a:xfrm>
            <a:off x="347472" y="3698748"/>
            <a:ext cx="64008" cy="64008"/>
          </a:xfrm>
          <a:prstGeom prst="rect">
            <a:avLst/>
          </a:prstGeom>
          <a:solidFill>
            <a:srgbClr val="A8703C"/>
          </a:solidFill>
          <a:ln/>
        </p:spPr>
      </p:sp>
      <p:sp>
        <p:nvSpPr>
          <p:cNvPr id="53" name="Text 48"/>
          <p:cNvSpPr txBox="1"/>
          <p:nvPr/>
        </p:nvSpPr>
        <p:spPr>
          <a:xfrm>
            <a:off x="448056" y="3653028"/>
            <a:ext cx="3566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BUILT FOR INDIA</a:t>
            </a:r>
            <a:endParaRPr lang="en-US" sz="800" dirty="0"/>
          </a:p>
        </p:txBody>
      </p:sp>
      <p:sp>
        <p:nvSpPr>
          <p:cNvPr id="54" name="Shape 49"/>
          <p:cNvSpPr/>
          <p:nvPr/>
        </p:nvSpPr>
        <p:spPr>
          <a:xfrm>
            <a:off x="365760" y="3877056"/>
            <a:ext cx="292608" cy="292608"/>
          </a:xfrm>
          <a:prstGeom prst="ellipse">
            <a:avLst/>
          </a:prstGeom>
          <a:solidFill>
            <a:srgbClr val="A8703C"/>
          </a:solidFill>
          <a:ln/>
        </p:spPr>
      </p:sp>
      <p:pic>
        <p:nvPicPr>
          <p:cNvPr id="55" name="Image 2" descr="watch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208" y="3938504"/>
            <a:ext cx="169713" cy="169713"/>
          </a:xfrm>
          <a:prstGeom prst="rect">
            <a:avLst/>
          </a:prstGeom>
        </p:spPr>
      </p:pic>
      <p:sp>
        <p:nvSpPr>
          <p:cNvPr id="56" name="Text 50"/>
          <p:cNvSpPr txBox="1"/>
          <p:nvPr/>
        </p:nvSpPr>
        <p:spPr>
          <a:xfrm>
            <a:off x="731520" y="384962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8A5A2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Budget watches</a:t>
            </a:r>
            <a:endParaRPr lang="en-US" sz="720" dirty="0"/>
          </a:p>
          <a:p>
            <a:pPr algn="l" indent="0" marL="0">
              <a:buNone/>
            </a:pPr>
            <a:r>
              <a:rPr lang="en-US" sz="72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via Android Health Connect; Apple Watch via HealthKit</a:t>
            </a:r>
            <a:endParaRPr lang="en-US" sz="720" dirty="0"/>
          </a:p>
        </p:txBody>
      </p:sp>
      <p:sp>
        <p:nvSpPr>
          <p:cNvPr id="57" name="Shape 51"/>
          <p:cNvSpPr/>
          <p:nvPr/>
        </p:nvSpPr>
        <p:spPr>
          <a:xfrm>
            <a:off x="365760" y="4279392"/>
            <a:ext cx="292608" cy="292608"/>
          </a:xfrm>
          <a:prstGeom prst="ellipse">
            <a:avLst/>
          </a:prstGeom>
          <a:solidFill>
            <a:srgbClr val="A8703C"/>
          </a:solidFill>
          <a:ln/>
        </p:spPr>
      </p:sp>
      <p:pic>
        <p:nvPicPr>
          <p:cNvPr id="58" name="Image 3" descr="heart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208" y="4340840"/>
            <a:ext cx="169713" cy="169713"/>
          </a:xfrm>
          <a:prstGeom prst="rect">
            <a:avLst/>
          </a:prstGeom>
        </p:spPr>
      </p:pic>
      <p:sp>
        <p:nvSpPr>
          <p:cNvPr id="59" name="Text 52"/>
          <p:cNvSpPr txBox="1"/>
          <p:nvPr/>
        </p:nvSpPr>
        <p:spPr>
          <a:xfrm>
            <a:off x="731520" y="4251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8A5A2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Home BP cuff</a:t>
            </a:r>
            <a:endParaRPr lang="en-US" sz="720" dirty="0"/>
          </a:p>
          <a:p>
            <a:pPr algn="l" indent="0" marL="0">
              <a:buNone/>
            </a:pPr>
            <a:r>
              <a:rPr lang="en-US" sz="72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cheapest sensor that separates strain from a cold</a:t>
            </a:r>
            <a:endParaRPr lang="en-US" sz="720" dirty="0"/>
          </a:p>
        </p:txBody>
      </p:sp>
      <p:sp>
        <p:nvSpPr>
          <p:cNvPr id="60" name="Shape 53"/>
          <p:cNvSpPr/>
          <p:nvPr/>
        </p:nvSpPr>
        <p:spPr>
          <a:xfrm>
            <a:off x="365760" y="4681728"/>
            <a:ext cx="292608" cy="292608"/>
          </a:xfrm>
          <a:prstGeom prst="ellipse">
            <a:avLst/>
          </a:prstGeom>
          <a:solidFill>
            <a:srgbClr val="A8703C"/>
          </a:solidFill>
          <a:ln/>
        </p:spPr>
      </p:sp>
      <p:pic>
        <p:nvPicPr>
          <p:cNvPr id="61" name="Image 4" descr="lang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208" y="4743176"/>
            <a:ext cx="169713" cy="169713"/>
          </a:xfrm>
          <a:prstGeom prst="rect">
            <a:avLst/>
          </a:prstGeom>
        </p:spPr>
      </p:pic>
      <p:sp>
        <p:nvSpPr>
          <p:cNvPr id="62" name="Text 54"/>
          <p:cNvSpPr txBox="1"/>
          <p:nvPr/>
        </p:nvSpPr>
        <p:spPr>
          <a:xfrm>
            <a:off x="731520" y="465429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8A5A2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English and Hindi</a:t>
            </a:r>
            <a:endParaRPr lang="en-US" sz="720" dirty="0"/>
          </a:p>
          <a:p>
            <a:pPr algn="l" indent="0" marL="0">
              <a:buNone/>
            </a:pPr>
            <a:r>
              <a:rPr lang="en-US" sz="72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with read-aloud on the patient view</a:t>
            </a:r>
            <a:endParaRPr lang="en-US" sz="720" dirty="0"/>
          </a:p>
        </p:txBody>
      </p:sp>
      <p:sp>
        <p:nvSpPr>
          <p:cNvPr id="63" name="Shape 55"/>
          <p:cNvSpPr/>
          <p:nvPr/>
        </p:nvSpPr>
        <p:spPr>
          <a:xfrm>
            <a:off x="365760" y="5084064"/>
            <a:ext cx="292608" cy="292608"/>
          </a:xfrm>
          <a:prstGeom prst="ellipse">
            <a:avLst/>
          </a:prstGeom>
          <a:solidFill>
            <a:srgbClr val="A8703C"/>
          </a:solidFill>
          <a:ln/>
        </p:spPr>
      </p:sp>
      <p:pic>
        <p:nvPicPr>
          <p:cNvPr id="64" name="Image 5" descr="phonecall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7208" y="5145512"/>
            <a:ext cx="169713" cy="169713"/>
          </a:xfrm>
          <a:prstGeom prst="rect">
            <a:avLst/>
          </a:prstGeom>
        </p:spPr>
      </p:pic>
      <p:sp>
        <p:nvSpPr>
          <p:cNvPr id="65" name="Text 56"/>
          <p:cNvSpPr txBox="1"/>
          <p:nvPr/>
        </p:nvSpPr>
        <p:spPr>
          <a:xfrm>
            <a:off x="731520" y="505663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8A5A2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One tap to 112</a:t>
            </a:r>
            <a:endParaRPr lang="en-US" sz="720" dirty="0"/>
          </a:p>
          <a:p>
            <a:pPr algn="l" indent="0" marL="0">
              <a:buNone/>
            </a:pPr>
            <a:r>
              <a:rPr lang="en-US" sz="72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and an ambulance booking link at every SOS step</a:t>
            </a:r>
            <a:endParaRPr lang="en-US" sz="720" dirty="0"/>
          </a:p>
        </p:txBody>
      </p:sp>
      <p:sp>
        <p:nvSpPr>
          <p:cNvPr id="66" name="Shape 57"/>
          <p:cNvSpPr/>
          <p:nvPr/>
        </p:nvSpPr>
        <p:spPr>
          <a:xfrm>
            <a:off x="365760" y="5486400"/>
            <a:ext cx="292608" cy="292608"/>
          </a:xfrm>
          <a:prstGeom prst="ellipse">
            <a:avLst/>
          </a:prstGeom>
          <a:solidFill>
            <a:srgbClr val="A8703C"/>
          </a:solidFill>
          <a:ln/>
        </p:spPr>
      </p:sp>
      <p:pic>
        <p:nvPicPr>
          <p:cNvPr id="67" name="Image 6" descr="id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7208" y="5547848"/>
            <a:ext cx="169713" cy="169713"/>
          </a:xfrm>
          <a:prstGeom prst="rect">
            <a:avLst/>
          </a:prstGeom>
        </p:spPr>
      </p:pic>
      <p:sp>
        <p:nvSpPr>
          <p:cNvPr id="68" name="Text 58"/>
          <p:cNvSpPr txBox="1"/>
          <p:nvPr/>
        </p:nvSpPr>
        <p:spPr>
          <a:xfrm>
            <a:off x="731520" y="54589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8A5A2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ABDM ready</a:t>
            </a:r>
            <a:endParaRPr lang="en-US" sz="720" dirty="0"/>
          </a:p>
          <a:p>
            <a:pPr algn="l" indent="0" marL="0">
              <a:buNone/>
            </a:pPr>
            <a:r>
              <a:rPr lang="en-US" sz="72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WellnessRecord export; ABHA masked everywhere</a:t>
            </a:r>
            <a:endParaRPr lang="en-US" sz="720" dirty="0"/>
          </a:p>
        </p:txBody>
      </p:sp>
      <p:sp>
        <p:nvSpPr>
          <p:cNvPr id="69" name="Shape 59"/>
          <p:cNvSpPr/>
          <p:nvPr/>
        </p:nvSpPr>
        <p:spPr>
          <a:xfrm>
            <a:off x="4187952" y="3602736"/>
            <a:ext cx="3840480" cy="2322576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2"/>
            </a:solidFill>
            <a:prstDash val="solid"/>
          </a:ln>
        </p:spPr>
      </p:sp>
      <p:sp>
        <p:nvSpPr>
          <p:cNvPr id="70" name="Shape 60"/>
          <p:cNvSpPr/>
          <p:nvPr/>
        </p:nvSpPr>
        <p:spPr>
          <a:xfrm>
            <a:off x="4261104" y="3698748"/>
            <a:ext cx="64008" cy="64008"/>
          </a:xfrm>
          <a:prstGeom prst="rect">
            <a:avLst/>
          </a:prstGeom>
          <a:solidFill>
            <a:srgbClr val="B03A23"/>
          </a:solidFill>
          <a:ln/>
        </p:spPr>
      </p:sp>
      <p:sp>
        <p:nvSpPr>
          <p:cNvPr id="71" name="Text 61"/>
          <p:cNvSpPr txBox="1"/>
          <p:nvPr/>
        </p:nvSpPr>
        <p:spPr>
          <a:xfrm>
            <a:off x="4361688" y="3653028"/>
            <a:ext cx="3566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HONEST LIMITS</a:t>
            </a:r>
            <a:endParaRPr lang="en-US" sz="800" dirty="0"/>
          </a:p>
        </p:txBody>
      </p:sp>
      <p:pic>
        <p:nvPicPr>
          <p:cNvPr id="72" name="Image 7" descr="g_warn ic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79392" y="3931920"/>
            <a:ext cx="128016" cy="128016"/>
          </a:xfrm>
          <a:prstGeom prst="rect">
            <a:avLst/>
          </a:prstGeom>
        </p:spPr>
      </p:pic>
      <p:sp>
        <p:nvSpPr>
          <p:cNvPr id="73" name="Text 62"/>
          <p:cNvSpPr txBox="1"/>
          <p:nvPr/>
        </p:nvSpPr>
        <p:spPr>
          <a:xfrm>
            <a:off x="4462272" y="3877056"/>
            <a:ext cx="3493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B03A2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Synthetic labels: </a:t>
            </a:r>
            <a:r>
              <a:rPr lang="en-US" sz="72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every result is on generated data; real numbers will be lower</a:t>
            </a:r>
            <a:endParaRPr lang="en-US" sz="720" dirty="0"/>
          </a:p>
        </p:txBody>
      </p:sp>
      <p:pic>
        <p:nvPicPr>
          <p:cNvPr id="74" name="Image 8" descr="g_warn ico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79392" y="4334256"/>
            <a:ext cx="128016" cy="128016"/>
          </a:xfrm>
          <a:prstGeom prst="rect">
            <a:avLst/>
          </a:prstGeom>
        </p:spPr>
      </p:pic>
      <p:sp>
        <p:nvSpPr>
          <p:cNvPr id="75" name="Text 63"/>
          <p:cNvSpPr txBox="1"/>
          <p:nvPr/>
        </p:nvSpPr>
        <p:spPr>
          <a:xfrm>
            <a:off x="4462272" y="4279392"/>
            <a:ext cx="3493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B03A2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Nightly, not minute by minute: </a:t>
            </a:r>
            <a:r>
              <a:rPr lang="en-US" sz="72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budget watches sync hourly to daily</a:t>
            </a:r>
            <a:endParaRPr lang="en-US" sz="720" dirty="0"/>
          </a:p>
        </p:txBody>
      </p:sp>
      <p:pic>
        <p:nvPicPr>
          <p:cNvPr id="76" name="Image 9" descr="g_warn icon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79392" y="4736592"/>
            <a:ext cx="128016" cy="128016"/>
          </a:xfrm>
          <a:prstGeom prst="rect">
            <a:avLst/>
          </a:prstGeom>
        </p:spPr>
      </p:pic>
      <p:sp>
        <p:nvSpPr>
          <p:cNvPr id="77" name="Text 64"/>
          <p:cNvSpPr txBox="1"/>
          <p:nvPr/>
        </p:nvSpPr>
        <p:spPr>
          <a:xfrm>
            <a:off x="4462272" y="4681728"/>
            <a:ext cx="3493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B03A2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No heart-attack detection: </a:t>
            </a:r>
            <a:r>
              <a:rPr lang="en-US" sz="72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acute events go to SOS, family and 112</a:t>
            </a:r>
            <a:endParaRPr lang="en-US" sz="720" dirty="0"/>
          </a:p>
        </p:txBody>
      </p:sp>
      <p:pic>
        <p:nvPicPr>
          <p:cNvPr id="78" name="Image 10" descr="g_warn icon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79392" y="5138928"/>
            <a:ext cx="128016" cy="128016"/>
          </a:xfrm>
          <a:prstGeom prst="rect">
            <a:avLst/>
          </a:prstGeom>
        </p:spPr>
      </p:pic>
      <p:sp>
        <p:nvSpPr>
          <p:cNvPr id="79" name="Text 65"/>
          <p:cNvSpPr txBox="1"/>
          <p:nvPr/>
        </p:nvSpPr>
        <p:spPr>
          <a:xfrm>
            <a:off x="4462272" y="5084064"/>
            <a:ext cx="3493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B03A2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Record adds ranking, not timing: </a:t>
            </a:r>
            <a:r>
              <a:rPr lang="en-US" sz="72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its job is reading the watch correctly</a:t>
            </a:r>
            <a:endParaRPr lang="en-US" sz="720" dirty="0"/>
          </a:p>
        </p:txBody>
      </p:sp>
      <p:pic>
        <p:nvPicPr>
          <p:cNvPr id="80" name="Image 11" descr="g_warn icon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79392" y="5541264"/>
            <a:ext cx="128016" cy="128016"/>
          </a:xfrm>
          <a:prstGeom prst="rect">
            <a:avLst/>
          </a:prstGeom>
        </p:spPr>
      </p:pic>
      <p:sp>
        <p:nvSpPr>
          <p:cNvPr id="81" name="Text 66"/>
          <p:cNvSpPr txBox="1"/>
          <p:nvPr/>
        </p:nvSpPr>
        <p:spPr>
          <a:xfrm>
            <a:off x="4462272" y="5486400"/>
            <a:ext cx="3493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B03A2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Framingham under-estimates South Asians: </a:t>
            </a:r>
            <a:r>
              <a:rPr lang="en-US" sz="72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WHO 2019 SEAR chart is next</a:t>
            </a:r>
            <a:endParaRPr lang="en-US" sz="720" dirty="0"/>
          </a:p>
        </p:txBody>
      </p:sp>
      <p:sp>
        <p:nvSpPr>
          <p:cNvPr id="82" name="Shape 67"/>
          <p:cNvSpPr/>
          <p:nvPr/>
        </p:nvSpPr>
        <p:spPr>
          <a:xfrm>
            <a:off x="8101584" y="3602736"/>
            <a:ext cx="3813048" cy="2322576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2"/>
            </a:solidFill>
            <a:prstDash val="solid"/>
          </a:ln>
        </p:spPr>
      </p:sp>
      <p:sp>
        <p:nvSpPr>
          <p:cNvPr id="83" name="Shape 68"/>
          <p:cNvSpPr/>
          <p:nvPr/>
        </p:nvSpPr>
        <p:spPr>
          <a:xfrm>
            <a:off x="8174736" y="3698748"/>
            <a:ext cx="64008" cy="64008"/>
          </a:xfrm>
          <a:prstGeom prst="rect">
            <a:avLst/>
          </a:prstGeom>
          <a:solidFill>
            <a:srgbClr val="086A70"/>
          </a:solidFill>
          <a:ln/>
        </p:spPr>
      </p:sp>
      <p:sp>
        <p:nvSpPr>
          <p:cNvPr id="84" name="Text 69"/>
          <p:cNvSpPr txBox="1"/>
          <p:nvPr/>
        </p:nvSpPr>
        <p:spPr>
          <a:xfrm>
            <a:off x="8275320" y="3653028"/>
            <a:ext cx="35387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TEAM AMAZE, IIM LUCKNOW</a:t>
            </a:r>
            <a:endParaRPr lang="en-US" sz="800" dirty="0"/>
          </a:p>
        </p:txBody>
      </p:sp>
      <p:sp>
        <p:nvSpPr>
          <p:cNvPr id="85" name="Shape 70"/>
          <p:cNvSpPr/>
          <p:nvPr/>
        </p:nvSpPr>
        <p:spPr>
          <a:xfrm>
            <a:off x="8193024" y="3877056"/>
            <a:ext cx="402336" cy="402336"/>
          </a:xfrm>
          <a:prstGeom prst="ellipse">
            <a:avLst/>
          </a:prstGeom>
          <a:solidFill>
            <a:srgbClr val="086A70"/>
          </a:solidFill>
          <a:ln/>
        </p:spPr>
      </p:sp>
      <p:sp>
        <p:nvSpPr>
          <p:cNvPr id="86" name="Text 71"/>
          <p:cNvSpPr txBox="1"/>
          <p:nvPr/>
        </p:nvSpPr>
        <p:spPr>
          <a:xfrm>
            <a:off x="8193024" y="38770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NP</a:t>
            </a:r>
            <a:endParaRPr lang="en-US" sz="1100" dirty="0"/>
          </a:p>
        </p:txBody>
      </p:sp>
      <p:sp>
        <p:nvSpPr>
          <p:cNvPr id="87" name="Text 72"/>
          <p:cNvSpPr txBox="1"/>
          <p:nvPr/>
        </p:nvSpPr>
        <p:spPr>
          <a:xfrm>
            <a:off x="8686800" y="3877056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Nikita Pandey</a:t>
            </a:r>
            <a:endParaRPr lang="en-US" sz="720" dirty="0"/>
          </a:p>
          <a:p>
            <a:pPr algn="l" indent="0" marL="0">
              <a:buNone/>
            </a:pPr>
            <a:r>
              <a:rPr lang="en-US" sz="72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Team leader, PGPSM, IIM Lucknow</a:t>
            </a:r>
            <a:endParaRPr lang="en-US" sz="720" dirty="0"/>
          </a:p>
        </p:txBody>
      </p:sp>
      <p:sp>
        <p:nvSpPr>
          <p:cNvPr id="88" name="Shape 73"/>
          <p:cNvSpPr/>
          <p:nvPr/>
        </p:nvSpPr>
        <p:spPr>
          <a:xfrm>
            <a:off x="8193024" y="4379976"/>
            <a:ext cx="402336" cy="402336"/>
          </a:xfrm>
          <a:prstGeom prst="ellipse">
            <a:avLst/>
          </a:prstGeom>
          <a:solidFill>
            <a:srgbClr val="B23F69"/>
          </a:solidFill>
          <a:ln/>
        </p:spPr>
      </p:sp>
      <p:sp>
        <p:nvSpPr>
          <p:cNvPr id="89" name="Text 74"/>
          <p:cNvSpPr txBox="1"/>
          <p:nvPr/>
        </p:nvSpPr>
        <p:spPr>
          <a:xfrm>
            <a:off x="8193024" y="43799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SA</a:t>
            </a:r>
            <a:endParaRPr lang="en-US" sz="1100" dirty="0"/>
          </a:p>
        </p:txBody>
      </p:sp>
      <p:sp>
        <p:nvSpPr>
          <p:cNvPr id="90" name="Text 75"/>
          <p:cNvSpPr txBox="1"/>
          <p:nvPr/>
        </p:nvSpPr>
        <p:spPr>
          <a:xfrm>
            <a:off x="8686800" y="4379976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Suraj Aryan</a:t>
            </a:r>
            <a:endParaRPr lang="en-US" sz="720" dirty="0"/>
          </a:p>
          <a:p>
            <a:pPr algn="l" indent="0" marL="0">
              <a:buNone/>
            </a:pPr>
            <a:r>
              <a:rPr lang="en-US" sz="72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Team member, PGPSM, IIM Lucknow</a:t>
            </a:r>
            <a:endParaRPr lang="en-US" sz="720" dirty="0"/>
          </a:p>
        </p:txBody>
      </p:sp>
      <p:pic>
        <p:nvPicPr>
          <p:cNvPr id="91" name="Image 12" descr="QR code to the live demo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716768" y="3858768"/>
            <a:ext cx="548640" cy="548640"/>
          </a:xfrm>
          <a:prstGeom prst="rect">
            <a:avLst/>
          </a:prstGeom>
        </p:spPr>
      </p:pic>
      <p:sp>
        <p:nvSpPr>
          <p:cNvPr id="92" name="Text 76"/>
          <p:cNvSpPr txBox="1"/>
          <p:nvPr/>
        </p:nvSpPr>
        <p:spPr>
          <a:xfrm>
            <a:off x="10661904" y="4416552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LIVE DEMO</a:t>
            </a:r>
            <a:endParaRPr lang="en-US" sz="620" dirty="0"/>
          </a:p>
        </p:txBody>
      </p:sp>
      <p:pic>
        <p:nvPicPr>
          <p:cNvPr id="93" name="Image 13" descr="QR code to the repository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320272" y="3858768"/>
            <a:ext cx="548640" cy="548640"/>
          </a:xfrm>
          <a:prstGeom prst="rect">
            <a:avLst/>
          </a:prstGeom>
        </p:spPr>
      </p:pic>
      <p:sp>
        <p:nvSpPr>
          <p:cNvPr id="94" name="Text 77"/>
          <p:cNvSpPr txBox="1"/>
          <p:nvPr/>
        </p:nvSpPr>
        <p:spPr>
          <a:xfrm>
            <a:off x="11265408" y="4416552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CODE</a:t>
            </a:r>
            <a:endParaRPr lang="en-US" sz="620" dirty="0"/>
          </a:p>
        </p:txBody>
      </p:sp>
      <p:sp>
        <p:nvSpPr>
          <p:cNvPr id="95" name="Text 78"/>
          <p:cNvSpPr txBox="1"/>
          <p:nvPr/>
        </p:nvSpPr>
        <p:spPr>
          <a:xfrm>
            <a:off x="8193024" y="491947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2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Live demo  </a:t>
            </a:r>
            <a:r>
              <a:rPr lang="en-US" sz="720" u="sng" dirty="0">
                <a:solidFill>
                  <a:srgbClr val="086A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  <a:hlinkClick r:id="rId15" invalidUrl="" action="" tgtFrame="" tooltip="https://pratibimb-pi.vercel.app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pratibimb-pi.vercel.app</a:t>
            </a:r>
            <a:endParaRPr lang="en-US" sz="72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72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Code  </a:t>
            </a:r>
            <a:r>
              <a:rPr lang="en-US" sz="720" u="sng" dirty="0">
                <a:solidFill>
                  <a:srgbClr val="086A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  <a:hlinkClick r:id="rId16" invalidUrl="" action="" tgtFrame="" tooltip="https://github.com/pndynkt/Team-AMAZE_IIM-Lucknow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github.com/pndynkt/Team-AMAZE_IIM-Lucknow</a:t>
            </a:r>
            <a:endParaRPr lang="en-US" sz="72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72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Read first  </a:t>
            </a:r>
            <a:r>
              <a:rPr lang="en-US" sz="72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README, docs/ALGORITHM.md, docs/MODEL_CARD.md</a:t>
            </a:r>
            <a:endParaRPr lang="en-US" sz="720" dirty="0"/>
          </a:p>
        </p:txBody>
      </p:sp>
      <p:sp>
        <p:nvSpPr>
          <p:cNvPr id="96" name="Text 79"/>
          <p:cNvSpPr txBox="1"/>
          <p:nvPr/>
        </p:nvSpPr>
        <p:spPr>
          <a:xfrm>
            <a:off x="8193024" y="55595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" i="1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Research prototype on synthetic data. Not a medical device. In an emergency, call 112.</a:t>
            </a:r>
            <a:endParaRPr lang="en-US" sz="660" dirty="0"/>
          </a:p>
        </p:txBody>
      </p:sp>
      <p:sp>
        <p:nvSpPr>
          <p:cNvPr id="97" name="Shape 80"/>
          <p:cNvSpPr/>
          <p:nvPr/>
        </p:nvSpPr>
        <p:spPr>
          <a:xfrm>
            <a:off x="274320" y="6016752"/>
            <a:ext cx="11640312" cy="310896"/>
          </a:xfrm>
          <a:prstGeom prst="rect">
            <a:avLst/>
          </a:prstGeom>
          <a:solidFill>
            <a:srgbClr val="DCEFEF"/>
          </a:solidFill>
          <a:ln/>
        </p:spPr>
      </p:sp>
      <p:sp>
        <p:nvSpPr>
          <p:cNvPr id="98" name="Shape 81"/>
          <p:cNvSpPr/>
          <p:nvPr/>
        </p:nvSpPr>
        <p:spPr>
          <a:xfrm>
            <a:off x="274320" y="6016752"/>
            <a:ext cx="960120" cy="310896"/>
          </a:xfrm>
          <a:prstGeom prst="rect">
            <a:avLst/>
          </a:prstGeom>
          <a:solidFill>
            <a:srgbClr val="10302F"/>
          </a:solidFill>
          <a:ln/>
        </p:spPr>
      </p:sp>
      <p:sp>
        <p:nvSpPr>
          <p:cNvPr id="99" name="Text 82"/>
          <p:cNvSpPr txBox="1"/>
          <p:nvPr/>
        </p:nvSpPr>
        <p:spPr>
          <a:xfrm>
            <a:off x="274320" y="601675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NEXT</a:t>
            </a:r>
            <a:endParaRPr lang="en-US" sz="850" dirty="0"/>
          </a:p>
        </p:txBody>
      </p:sp>
      <p:sp>
        <p:nvSpPr>
          <p:cNvPr id="100" name="Text 83"/>
          <p:cNvSpPr txBox="1"/>
          <p:nvPr/>
        </p:nvSpPr>
        <p:spPr>
          <a:xfrm>
            <a:off x="1325880" y="6016752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 silent pilot with one hypertension clinic on consented real data; </a:t>
            </a:r>
            <a:r>
              <a:rPr lang="en-US" sz="8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alarm budget and the twin's recovery of each person are the gates.</a:t>
            </a:r>
            <a:endParaRPr lang="en-US" sz="850" dirty="0"/>
          </a:p>
        </p:txBody>
      </p:sp>
      <p:sp>
        <p:nvSpPr>
          <p:cNvPr id="101" name="Text 84"/>
          <p:cNvSpPr txBox="1"/>
          <p:nvPr/>
        </p:nvSpPr>
        <p:spPr>
          <a:xfrm>
            <a:off x="274320" y="6400800"/>
            <a:ext cx="6903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0302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ANNEXURE A6</a:t>
            </a:r>
            <a:r>
              <a:rPr lang="en-US" sz="70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  |  phases, months and gates are the team's proposal; regulatory class is a judgement pending CDSCO review</a:t>
            </a:r>
            <a:endParaRPr lang="en-US" sz="700" dirty="0"/>
          </a:p>
        </p:txBody>
      </p:sp>
      <p:sp>
        <p:nvSpPr>
          <p:cNvPr id="102" name="Text 85"/>
          <p:cNvSpPr txBox="1"/>
          <p:nvPr/>
        </p:nvSpPr>
        <p:spPr>
          <a:xfrm>
            <a:off x="7315200" y="6400800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0302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SOURCE: </a:t>
            </a:r>
            <a:r>
              <a:rPr lang="en-US" sz="70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docs/COMPLIANCE.md; DPDP Act 2023; CDSCO Medical Device Software guidance, 30 Jul 2026; NRCeS ABDM guide</a:t>
            </a:r>
            <a:endParaRPr lang="en-US" sz="700" dirty="0"/>
          </a:p>
        </p:txBody>
      </p:sp>
      <p:sp>
        <p:nvSpPr>
          <p:cNvPr id="103" name="Shape 86"/>
          <p:cNvSpPr/>
          <p:nvPr/>
        </p:nvSpPr>
        <p:spPr>
          <a:xfrm>
            <a:off x="11658600" y="6419088"/>
            <a:ext cx="256032" cy="256032"/>
          </a:xfrm>
          <a:prstGeom prst="rect">
            <a:avLst/>
          </a:prstGeom>
          <a:solidFill>
            <a:srgbClr val="1F2A2A"/>
          </a:solidFill>
          <a:ln/>
        </p:spPr>
      </p:sp>
      <p:sp>
        <p:nvSpPr>
          <p:cNvPr id="104" name="Text 87"/>
          <p:cNvSpPr txBox="1"/>
          <p:nvPr/>
        </p:nvSpPr>
        <p:spPr>
          <a:xfrm>
            <a:off x="11658600" y="64190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13248" y="0"/>
            <a:ext cx="1005840" cy="6858000"/>
          </a:xfrm>
          <a:custGeom>
            <a:avLst/>
            <a:gdLst/>
            <a:ahLst/>
            <a:cxnLst/>
            <a:rect l="l" t="t" r="r" b="b"/>
            <a:pathLst>
              <a:path w="1005840" h="6858000">
                <a:moveTo>
                  <a:pt x="822960" y="0"/>
                </a:moveTo>
                <a:lnTo>
                  <a:pt x="1005840" y="0"/>
                </a:lnTo>
                <a:lnTo>
                  <a:pt x="18288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B7F86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0" y="0"/>
            <a:ext cx="1060704" cy="6858000"/>
          </a:xfrm>
          <a:custGeom>
            <a:avLst/>
            <a:gdLst/>
            <a:ahLst/>
            <a:cxnLst/>
            <a:rect l="l" t="t" r="r" b="b"/>
            <a:pathLst>
              <a:path w="1060704" h="6858000">
                <a:moveTo>
                  <a:pt x="822960" y="0"/>
                </a:moveTo>
                <a:lnTo>
                  <a:pt x="1060704" y="0"/>
                </a:lnTo>
                <a:lnTo>
                  <a:pt x="23774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D9668E"/>
          </a:solidFill>
          <a:ln/>
        </p:spPr>
      </p:sp>
      <p:sp>
        <p:nvSpPr>
          <p:cNvPr id="4" name="Shape 2"/>
          <p:cNvSpPr/>
          <p:nvPr/>
        </p:nvSpPr>
        <p:spPr>
          <a:xfrm>
            <a:off x="5989320" y="0"/>
            <a:ext cx="6202375" cy="6858000"/>
          </a:xfrm>
          <a:custGeom>
            <a:avLst/>
            <a:gdLst/>
            <a:ahLst/>
            <a:cxnLst/>
            <a:rect l="l" t="t" r="r" b="b"/>
            <a:pathLst>
              <a:path w="6202375" h="6858000">
                <a:moveTo>
                  <a:pt x="822960" y="0"/>
                </a:moveTo>
                <a:lnTo>
                  <a:pt x="6202375" y="0"/>
                </a:lnTo>
                <a:lnTo>
                  <a:pt x="620237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10302F"/>
          </a:solidFill>
          <a:ln/>
        </p:spPr>
      </p:sp>
      <p:pic>
        <p:nvPicPr>
          <p:cNvPr id="5" name="Image 0" descr="Light on still water patter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97112" y="0"/>
            <a:ext cx="3291840" cy="6858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0" y="2240280"/>
            <a:ext cx="4206240" cy="4206240"/>
          </a:xfrm>
          <a:prstGeom prst="ellipse">
            <a:avLst/>
          </a:prstGeom>
          <a:solidFill>
            <a:srgbClr val="F4F1EA"/>
          </a:solidFill>
          <a:ln w="31750">
            <a:solidFill>
              <a:srgbClr val="D9668E"/>
            </a:solidFill>
            <a:prstDash val="solid"/>
          </a:ln>
        </p:spPr>
      </p:sp>
      <p:pic>
        <p:nvPicPr>
          <p:cNvPr id="7" name="Image 1" descr="Meera, a synthetic patient, showing her watc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7184" y="2157984"/>
            <a:ext cx="4434840" cy="4730496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9829800" y="320040"/>
            <a:ext cx="205740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829800" y="39319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10302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HAPPIEST HEALTH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9829800" y="66751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B23F69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DIGITAL TWIN CHALLENGE 2026</a:t>
            </a:r>
            <a:endParaRPr lang="en-US" sz="800" dirty="0"/>
          </a:p>
        </p:txBody>
      </p:sp>
      <p:pic>
        <p:nvPicPr>
          <p:cNvPr id="11" name="Image 2" descr="Pratibimb log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02920"/>
            <a:ext cx="2377440" cy="45781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57200" y="1078992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086A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THANK </a:t>
            </a:r>
            <a:r>
              <a:rPr lang="en-US" sz="6400" b="1" dirty="0">
                <a:solidFill>
                  <a:srgbClr val="B23F69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YOU</a:t>
            </a:r>
            <a:endParaRPr lang="en-US" sz="6400" dirty="0"/>
          </a:p>
        </p:txBody>
      </p:sp>
      <p:pic>
        <p:nvPicPr>
          <p:cNvPr id="13" name="Image 3" descr="Motif strip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2103120"/>
            <a:ext cx="3017520" cy="155448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566928" y="233172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Read the body you have, not the average one.</a:t>
            </a:r>
            <a:endParaRPr lang="en-US" sz="1500" dirty="0"/>
          </a:p>
        </p:txBody>
      </p:sp>
      <p:sp>
        <p:nvSpPr>
          <p:cNvPr id="15" name="Text 9"/>
          <p:cNvSpPr txBox="1"/>
          <p:nvPr/>
        </p:nvSpPr>
        <p:spPr>
          <a:xfrm>
            <a:off x="566928" y="2852928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ANNEXURES: THE PROOF BEHIND THE ONE-PAGER</a:t>
            </a:r>
            <a:endParaRPr lang="en-US" sz="900" dirty="0"/>
          </a:p>
        </p:txBody>
      </p:sp>
      <p:sp>
        <p:nvSpPr>
          <p:cNvPr id="16" name="Shape 10"/>
          <p:cNvSpPr/>
          <p:nvPr/>
        </p:nvSpPr>
        <p:spPr>
          <a:xfrm>
            <a:off x="566928" y="3154680"/>
            <a:ext cx="384048" cy="384048"/>
          </a:xfrm>
          <a:prstGeom prst="rect">
            <a:avLst/>
          </a:prstGeom>
          <a:solidFill>
            <a:srgbClr val="B23F69"/>
          </a:solidFill>
          <a:ln/>
        </p:spPr>
      </p:sp>
      <p:sp>
        <p:nvSpPr>
          <p:cNvPr id="17" name="Text 11"/>
          <p:cNvSpPr txBox="1"/>
          <p:nvPr/>
        </p:nvSpPr>
        <p:spPr>
          <a:xfrm>
            <a:off x="566928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A1</a:t>
            </a:r>
            <a:endParaRPr lang="en-US" sz="1100" dirty="0"/>
          </a:p>
        </p:txBody>
      </p:sp>
      <p:sp>
        <p:nvSpPr>
          <p:cNvPr id="18" name="Text 12"/>
          <p:cNvSpPr txBox="1"/>
          <p:nvPr/>
        </p:nvSpPr>
        <p:spPr>
          <a:xfrm>
            <a:off x="1060704" y="3136392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86A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problem and the people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four facts, Meera's 21 nights, personas, the event, barriers</a:t>
            </a:r>
            <a:endParaRPr lang="en-US" sz="800" dirty="0"/>
          </a:p>
        </p:txBody>
      </p:sp>
      <p:sp>
        <p:nvSpPr>
          <p:cNvPr id="19" name="Shape 13"/>
          <p:cNvSpPr/>
          <p:nvPr/>
        </p:nvSpPr>
        <p:spPr>
          <a:xfrm>
            <a:off x="566928" y="3611880"/>
            <a:ext cx="384048" cy="384048"/>
          </a:xfrm>
          <a:prstGeom prst="rect">
            <a:avLst/>
          </a:prstGeom>
          <a:solidFill>
            <a:srgbClr val="8A5A2B"/>
          </a:solidFill>
          <a:ln/>
        </p:spPr>
      </p:sp>
      <p:sp>
        <p:nvSpPr>
          <p:cNvPr id="20" name="Text 14"/>
          <p:cNvSpPr txBox="1"/>
          <p:nvPr/>
        </p:nvSpPr>
        <p:spPr>
          <a:xfrm>
            <a:off x="566928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A2</a:t>
            </a:r>
            <a:endParaRPr lang="en-US" sz="1100" dirty="0"/>
          </a:p>
        </p:txBody>
      </p:sp>
      <p:sp>
        <p:nvSpPr>
          <p:cNvPr id="21" name="Text 15"/>
          <p:cNvSpPr txBox="1"/>
          <p:nvPr/>
        </p:nvSpPr>
        <p:spPr>
          <a:xfrm>
            <a:off x="1060704" y="3593592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86A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Data and architecture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record, the nightly stream, the cohort, the stack</a:t>
            </a:r>
            <a:endParaRPr lang="en-US" sz="800" dirty="0"/>
          </a:p>
        </p:txBody>
      </p:sp>
      <p:sp>
        <p:nvSpPr>
          <p:cNvPr id="22" name="Shape 16"/>
          <p:cNvSpPr/>
          <p:nvPr/>
        </p:nvSpPr>
        <p:spPr>
          <a:xfrm>
            <a:off x="566928" y="4069080"/>
            <a:ext cx="384048" cy="384048"/>
          </a:xfrm>
          <a:prstGeom prst="rect">
            <a:avLst/>
          </a:prstGeom>
          <a:solidFill>
            <a:srgbClr val="086A70"/>
          </a:solidFill>
          <a:ln/>
        </p:spPr>
      </p:sp>
      <p:sp>
        <p:nvSpPr>
          <p:cNvPr id="23" name="Text 17"/>
          <p:cNvSpPr txBox="1"/>
          <p:nvPr/>
        </p:nvSpPr>
        <p:spPr>
          <a:xfrm>
            <a:off x="566928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A3</a:t>
            </a:r>
            <a:endParaRPr lang="en-US" sz="1100" dirty="0"/>
          </a:p>
        </p:txBody>
      </p:sp>
      <p:sp>
        <p:nvSpPr>
          <p:cNvPr id="24" name="Text 18"/>
          <p:cNvSpPr txBox="1"/>
          <p:nvPr/>
        </p:nvSpPr>
        <p:spPr>
          <a:xfrm>
            <a:off x="1060704" y="4050792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86A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How the twin decides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five steps on Meera, the bridge, borrowing strength, the decision</a:t>
            </a:r>
            <a:endParaRPr lang="en-US" sz="800" dirty="0"/>
          </a:p>
        </p:txBody>
      </p:sp>
      <p:sp>
        <p:nvSpPr>
          <p:cNvPr id="25" name="Shape 19"/>
          <p:cNvSpPr/>
          <p:nvPr/>
        </p:nvSpPr>
        <p:spPr>
          <a:xfrm>
            <a:off x="566928" y="4526280"/>
            <a:ext cx="384048" cy="384048"/>
          </a:xfrm>
          <a:prstGeom prst="rect">
            <a:avLst/>
          </a:prstGeom>
          <a:solidFill>
            <a:srgbClr val="187A4C"/>
          </a:solidFill>
          <a:ln/>
        </p:spPr>
      </p:sp>
      <p:sp>
        <p:nvSpPr>
          <p:cNvPr id="26" name="Text 20"/>
          <p:cNvSpPr txBox="1"/>
          <p:nvPr/>
        </p:nvSpPr>
        <p:spPr>
          <a:xfrm>
            <a:off x="566928" y="4526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A4</a:t>
            </a:r>
            <a:endParaRPr lang="en-US" sz="1100" dirty="0"/>
          </a:p>
        </p:txBody>
      </p:sp>
      <p:sp>
        <p:nvSpPr>
          <p:cNvPr id="27" name="Text 21"/>
          <p:cNvSpPr txBox="1"/>
          <p:nvPr/>
        </p:nvSpPr>
        <p:spPr>
          <a:xfrm>
            <a:off x="1060704" y="4507992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86A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Does it work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ablation, split ranges, colds vs the cuff, recovery, forecasts, limits</a:t>
            </a:r>
            <a:endParaRPr lang="en-US" sz="800" dirty="0"/>
          </a:p>
        </p:txBody>
      </p:sp>
      <p:sp>
        <p:nvSpPr>
          <p:cNvPr id="28" name="Shape 22"/>
          <p:cNvSpPr/>
          <p:nvPr/>
        </p:nvSpPr>
        <p:spPr>
          <a:xfrm>
            <a:off x="566928" y="4983480"/>
            <a:ext cx="384048" cy="384048"/>
          </a:xfrm>
          <a:prstGeom prst="rect">
            <a:avLst/>
          </a:prstGeom>
          <a:solidFill>
            <a:srgbClr val="3F4FA8"/>
          </a:solidFill>
          <a:ln/>
        </p:spPr>
      </p:sp>
      <p:sp>
        <p:nvSpPr>
          <p:cNvPr id="29" name="Text 23"/>
          <p:cNvSpPr txBox="1"/>
          <p:nvPr/>
        </p:nvSpPr>
        <p:spPr>
          <a:xfrm>
            <a:off x="566928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A5</a:t>
            </a:r>
            <a:endParaRPr lang="en-US" sz="1100" dirty="0"/>
          </a:p>
        </p:txBody>
      </p:sp>
      <p:sp>
        <p:nvSpPr>
          <p:cNvPr id="30" name="Text 24"/>
          <p:cNvSpPr txBox="1"/>
          <p:nvPr/>
        </p:nvSpPr>
        <p:spPr>
          <a:xfrm>
            <a:off x="1060704" y="4965192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86A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product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doctor console, twin page, what-if, alert budget, phone and SOS</a:t>
            </a:r>
            <a:endParaRPr lang="en-US" sz="800" dirty="0"/>
          </a:p>
        </p:txBody>
      </p:sp>
      <p:sp>
        <p:nvSpPr>
          <p:cNvPr id="31" name="Shape 25"/>
          <p:cNvSpPr/>
          <p:nvPr/>
        </p:nvSpPr>
        <p:spPr>
          <a:xfrm>
            <a:off x="566928" y="5440680"/>
            <a:ext cx="384048" cy="384048"/>
          </a:xfrm>
          <a:prstGeom prst="rect">
            <a:avLst/>
          </a:prstGeom>
          <a:solidFill>
            <a:srgbClr val="10302F"/>
          </a:solidFill>
          <a:ln/>
        </p:spPr>
      </p:sp>
      <p:sp>
        <p:nvSpPr>
          <p:cNvPr id="32" name="Text 26"/>
          <p:cNvSpPr txBox="1"/>
          <p:nvPr/>
        </p:nvSpPr>
        <p:spPr>
          <a:xfrm>
            <a:off x="566928" y="5440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A6</a:t>
            </a:r>
            <a:endParaRPr lang="en-US" sz="1100" dirty="0"/>
          </a:p>
        </p:txBody>
      </p:sp>
      <p:sp>
        <p:nvSpPr>
          <p:cNvPr id="33" name="Text 27"/>
          <p:cNvSpPr txBox="1"/>
          <p:nvPr/>
        </p:nvSpPr>
        <p:spPr>
          <a:xfrm>
            <a:off x="1060704" y="5422392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86A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India, safety and the road ahead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compliance, gated phases, India fit, limits, team and links</a:t>
            </a:r>
            <a:endParaRPr lang="en-US" sz="800" dirty="0"/>
          </a:p>
        </p:txBody>
      </p:sp>
      <p:sp>
        <p:nvSpPr>
          <p:cNvPr id="34" name="Text 28"/>
          <p:cNvSpPr txBox="1"/>
          <p:nvPr/>
        </p:nvSpPr>
        <p:spPr>
          <a:xfrm>
            <a:off x="566928" y="6080760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D67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Team AMAZE  |  Nikita Pandey (team leader), Suraj Aryan  |  IIM Lucknow     </a:t>
            </a:r>
            <a:r>
              <a:rPr lang="en-US" sz="900" b="1" u="sng" dirty="0">
                <a:solidFill>
                  <a:srgbClr val="086A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  <a:hlinkClick r:id="rId5" invalidUrl="" action="" tgtFrame="" tooltip="https://pratibimb-pi.vercel.app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pratibimb-pi.vercel.app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atibimb">
  <a:themeElements>
    <a:clrScheme name="Pratibimb">
      <a:dk1>
        <a:srgbClr val="1F2A2A"/>
      </a:dk1>
      <a:lt1>
        <a:srgbClr val="FFFFFF"/>
      </a:lt1>
      <a:dk2>
        <a:srgbClr val="10302F"/>
      </a:dk2>
      <a:lt2>
        <a:srgbClr val="F4F1EA"/>
      </a:lt2>
      <a:accent1>
        <a:srgbClr val="086A70"/>
      </a:accent1>
      <a:accent2>
        <a:srgbClr val="B23F69"/>
      </a:accent2>
      <a:accent3>
        <a:srgbClr val="A8703C"/>
      </a:accent3>
      <a:accent4>
        <a:srgbClr val="187A4C"/>
      </a:accent4>
      <a:accent5>
        <a:srgbClr val="3F4FA8"/>
      </a:accent5>
      <a:accent6>
        <a:srgbClr val="C98A0B"/>
      </a:accent6>
      <a:hlink>
        <a:srgbClr val="086A70"/>
      </a:hlink>
      <a:folHlink>
        <a:srgbClr val="B23F69"/>
      </a:folHlink>
    </a:clrScheme>
    <a:fontScheme name="Pratibimb">
      <a:majorFont>
        <a:latin typeface="Arial Narrow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 Narrow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IIM Lucknow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Pratibimb: a digital twin for hypertension</dc:title>
  <dc:subject>Happiest Health Digital Twin Challenge 2026</dc:subject>
  <dc:creator>Team AMAZE</dc:creator>
  <cp:lastModifiedBy>Team AMAZE</cp:lastModifiedBy>
  <cp:revision>1</cp:revision>
  <dcterms:created xsi:type="dcterms:W3CDTF">2026-10-17T13:31:02Z</dcterms:created>
  <dcterms:modified xsi:type="dcterms:W3CDTF">2026-10-17T13:31:02Z</dcterms:modified>
</cp:coreProperties>
</file>