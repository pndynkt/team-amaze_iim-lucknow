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4a2e35c-43a6-612f-9afb-daff37a23684}">
          <p14:sldIdLst>
            <p14:sldId id="256"/>
            <p14:sldId id="257"/>
          </p14:sldIdLst>
        </p14:section>
        <p14:section name="Problem and use case" id="{e611795a-0f99-05a6-ec1a-9660ab4a3d4b}">
          <p14:sldIdLst>
            <p14:sldId id="258"/>
            <p14:sldId id="259"/>
          </p14:sldIdLst>
        </p14:section>
        <p14:section name="Data and architecture" id="{5d403495-3da3-7816-1006-3aa0bd48bce6}">
          <p14:sldIdLst>
            <p14:sldId id="260"/>
            <p14:sldId id="261"/>
          </p14:sldIdLst>
        </p14:section>
        <p14:section name="How the twin works" id="{a27fae39-4a2a-b14d-a45e-94bcfdb86603}">
          <p14:sldIdLst>
            <p14:sldId id="262"/>
            <p14:sldId id="263"/>
            <p14:sldId id="264"/>
          </p14:sldIdLst>
        </p14:section>
        <p14:section name="Results and outcomes" id="{a03a3368-c627-e436-7120-867371c525af}">
          <p14:sldIdLst>
            <p14:sldId id="265"/>
            <p14:sldId id="266"/>
          </p14:sldIdLst>
        </p14:section>
        <p14:section name="Product" id="{10a9833a-d3b9-a698-7d95-94764f3156bd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Team" id="{38a53a88-f66d-e01e-64e6-63c54f98c07a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Risk score</c:v>
                </c:pt>
              </c:strCache>
            </c:strRef>
          </c:tx>
          <c:spPr>
            <a:solidFill>
              <a:srgbClr val="5BC0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1F6F5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C0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C0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C08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C0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BC08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BC08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5BC08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5BC08A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5BC08A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5BC08A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5BC08A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5BC08A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5BC08A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E3B341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E3B341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E3B341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E3B341"/>
              </a:solidFill>
              <a:effectLst/>
            </c:spPr>
          </c:dPt>
          <c:dPt>
            <c:idx val="17"/>
            <c:invertIfNegative val="0"/>
            <c:bubble3D val="0"/>
            <c:spPr>
              <a:solidFill>
                <a:srgbClr val="E3B341"/>
              </a:solidFill>
              <a:effectLst/>
            </c:spPr>
          </c:dPt>
          <c:dPt>
            <c:idx val="18"/>
            <c:invertIfNegative val="0"/>
            <c:bubble3D val="0"/>
            <c:spPr>
              <a:solidFill>
                <a:srgbClr val="5BC08A"/>
              </a:solidFill>
              <a:effectLst/>
            </c:spPr>
          </c:dPt>
          <c:dPt>
            <c:idx val="19"/>
            <c:invertIfNegative val="0"/>
            <c:bubble3D val="0"/>
            <c:spPr>
              <a:solidFill>
                <a:srgbClr val="E3B341"/>
              </a:solidFill>
              <a:effectLst/>
            </c:spPr>
          </c:dPt>
          <c:dPt>
            <c:idx val="20"/>
            <c:invertIfNegative val="0"/>
            <c:bubble3D val="0"/>
            <c:spPr>
              <a:solidFill>
                <a:srgbClr val="EB6F55"/>
              </a:solidFill>
              <a:effectLst/>
            </c:spPr>
          </c:dPt>
          <c:cat>
            <c:multiLvlStrRef>
              <c:f>Sheet1!$A$2:$A$22</c:f>
              <c:multiLvlStrCache>
                <c:ptCount val="21"/>
                <c:lvl>
                  <c:pt idx="0">
                    <c:v>22 Sep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27 Sep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2 Oct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>7 Oct</c:v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12 Oct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3</c:v>
                </c:pt>
                <c:pt idx="4">
                  <c:v>1</c:v>
                </c:pt>
                <c:pt idx="5">
                  <c:v>2</c:v>
                </c:pt>
                <c:pt idx="6">
                  <c:v>2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2</c:v>
                </c:pt>
                <c:pt idx="11">
                  <c:v>1</c:v>
                </c:pt>
                <c:pt idx="12">
                  <c:v>3</c:v>
                </c:pt>
                <c:pt idx="13">
                  <c:v>41</c:v>
                </c:pt>
                <c:pt idx="14">
                  <c:v>57</c:v>
                </c:pt>
                <c:pt idx="15">
                  <c:v>32</c:v>
                </c:pt>
                <c:pt idx="16">
                  <c:v>34</c:v>
                </c:pt>
                <c:pt idx="17">
                  <c:v>47</c:v>
                </c:pt>
                <c:pt idx="18">
                  <c:v>24</c:v>
                </c:pt>
                <c:pt idx="19">
                  <c:v>53</c:v>
                </c:pt>
                <c:pt idx="20">
                  <c:v>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1F6F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3AD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2A46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3ADA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0"/>
      </c:valAx>
      <c:spPr>
        <a:solidFill>
          <a:srgbClr val="152A2A"/>
        </a:solidFill>
        <a:ln>
          <a:noFill/>
        </a:ln>
        <a:effectLst/>
      </c:spPr>
    </c:plotArea>
    <c:plotVisOnly val="1"/>
    <c:dispBlanksAs val="span"/>
  </c:chart>
  <c:spPr>
    <a:solidFill>
      <a:srgbClr val="152A2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AUROC (axis from 0.5, chance)</c:v>
                </c:pt>
              </c:strCache>
            </c:strRef>
          </c:tx>
          <c:spPr>
            <a:solidFill>
              <a:srgbClr val="3FC1C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1F6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FC1C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6A06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C8C8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E6B6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E6B6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E6B6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Pratibimb: all streams + twin</c:v>
                  </c:pt>
                  <c:pt idx="1">
                    <c:v>All streams, no twin</c:v>
                  </c:pt>
                  <c:pt idx="2">
                    <c:v>Watch + cuff + twin</c:v>
                  </c:pt>
                  <c:pt idx="3">
                    <c:v>Watch only + twin</c:v>
                  </c:pt>
                  <c:pt idx="4">
                    <c:v>Rule only (NightSignal-style)</c:v>
                  </c:pt>
                  <c:pt idx="5">
                    <c:v>Record only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0.876</c:v>
                </c:pt>
                <c:pt idx="1">
                  <c:v>0.851</c:v>
                </c:pt>
                <c:pt idx="2">
                  <c:v>0.87</c:v>
                </c:pt>
                <c:pt idx="3">
                  <c:v>0.804</c:v>
                </c:pt>
                <c:pt idx="4">
                  <c:v>0.708</c:v>
                </c:pt>
                <c:pt idx="5">
                  <c:v>0.578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F1F6F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3AD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3ADA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52A2A"/>
        </a:solidFill>
        <a:ln>
          <a:noFill/>
        </a:ln>
        <a:effectLst/>
      </c:spPr>
    </c:plotArea>
    <c:plotVisOnly val="1"/>
    <c:dispBlanksAs val="span"/>
  </c:chart>
  <c:spPr>
    <a:solidFill>
      <a:srgbClr val="152A2A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Episodes caught at the false-alert budget (%)</c:v>
                </c:pt>
              </c:strCache>
            </c:strRef>
          </c:tx>
          <c:spPr>
            <a:solidFill>
              <a:srgbClr val="3FC1C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1F6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FC1C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6A06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C8C8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E6B6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E6B6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E6B6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Pratibimb: all streams + twin</c:v>
                  </c:pt>
                  <c:pt idx="1">
                    <c:v>All streams, no twin</c:v>
                  </c:pt>
                  <c:pt idx="2">
                    <c:v>Watch + cuff + twin</c:v>
                  </c:pt>
                  <c:pt idx="3">
                    <c:v>Watch only + twin</c:v>
                  </c:pt>
                  <c:pt idx="4">
                    <c:v>Rule only (NightSignal-style)</c:v>
                  </c:pt>
                  <c:pt idx="5">
                    <c:v>Record only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64</c:v>
                </c:pt>
                <c:pt idx="2">
                  <c:v>72</c:v>
                </c:pt>
                <c:pt idx="3">
                  <c:v>55</c:v>
                </c:pt>
                <c:pt idx="4">
                  <c:v>42</c:v>
                </c:pt>
                <c:pt idx="5">
                  <c:v>15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1F6F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3AD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3ADA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52A2A"/>
        </a:solidFill>
        <a:ln>
          <a:noFill/>
        </a:ln>
        <a:effectLst/>
      </c:spPr>
    </c:plotArea>
    <c:plotVisOnly val="1"/>
    <c:dispBlanksAs val="span"/>
  </c:chart>
  <c:spPr>
    <a:solidFill>
      <a:srgbClr val="152A2A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Error reduction</c:v>
                </c:pt>
              </c:strCache>
            </c:strRef>
          </c:tx>
          <c:spPr>
            <a:solidFill>
              <a:srgbClr val="3FC1C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1F6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Sleep to heart rate</c:v>
                  </c:pt>
                  <c:pt idx="1">
                    <c:v>Walking to BP</c:v>
                  </c:pt>
                  <c:pt idx="2">
                    <c:v>Walking to heart rate</c:v>
                  </c:pt>
                  <c:pt idx="3">
                    <c:v>Sleep to HRV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28</c:v>
                </c:pt>
                <c:pt idx="2">
                  <c:v>25</c:v>
                </c:pt>
                <c:pt idx="3">
                  <c:v>18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1F6F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3AD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3ADA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52A2A"/>
        </a:solidFill>
        <a:ln>
          <a:noFill/>
        </a:ln>
        <a:effectLst/>
      </c:spPr>
    </c:plotArea>
    <c:plotVisOnly val="1"/>
    <c:dispBlanksAs val="span"/>
  </c:chart>
  <c:spPr>
    <a:solidFill>
      <a:srgbClr val="152A2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E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E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atibimb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32918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012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DAA"/>
                </a:solidFill>
              </a:rPr>
              <a:t>Pratibimb  |  Team AMAZE, IIM Lucknow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1F6F5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93ADAA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ratibimb-pi.vercel.app" TargetMode="External"/><Relationship Id="rId4" Type="http://schemas.openxmlformats.org/officeDocument/2006/relationships/hyperlink" Target="https://github.com/pndynkt/Team-AMAZE_IIM-Lucknow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hyperlink" Target="https://pratibimb-pi.vercel.app" TargetMode="External"/><Relationship Id="rId7" Type="http://schemas.openxmlformats.org/officeDocument/2006/relationships/hyperlink" Target="https://github.com/pndynkt/Team-AMAZE_IIM-Lucknow" TargetMode="External"/><Relationship Id="rId9" Type="http://schemas.openxmlformats.org/officeDocument/2006/relationships/hyperlink" Target="https://github.com/pndynkt/Team-AMAZE_IIM-Lucknow/blob/main/docs/ALGORITHM.md" TargetMode="External"/><Relationship Id="rId11" Type="http://schemas.openxmlformats.org/officeDocument/2006/relationships/hyperlink" Target="https://github.com/pndynkt/Team-AMAZE_IIM-Lucknow/blob/main/docs/MODEL_CARD.md" TargetMode="External"/><Relationship Id="rId13" Type="http://schemas.openxmlformats.org/officeDocument/2006/relationships/hyperlink" Target="https://github.com/pndynkt/Team-AMAZE_IIM-Lucknow/blob/main/docs/architecture.pdf" TargetMode="External"/><Relationship Id="rId15" Type="http://schemas.openxmlformats.org/officeDocument/2006/relationships/hyperlink" Target="https://github.com/pndynkt/Team-AMAZE_IIM-Lucknow#demo-video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6" Type="http://schemas.openxmlformats.org/officeDocument/2006/relationships/image" Target="../media/image-18-5.png"/><Relationship Id="rId8" Type="http://schemas.openxmlformats.org/officeDocument/2006/relationships/image" Target="../media/image-18-6.png"/><Relationship Id="rId10" Type="http://schemas.openxmlformats.org/officeDocument/2006/relationships/image" Target="../media/image-18-7.png"/><Relationship Id="rId12" Type="http://schemas.openxmlformats.org/officeDocument/2006/relationships/image" Target="../media/image-18-8.png"/><Relationship Id="rId14" Type="http://schemas.openxmlformats.org/officeDocument/2006/relationships/image" Target="../media/image-18-9.png"/><Relationship Id="rId16" Type="http://schemas.openxmlformats.org/officeDocument/2006/relationships/slideLayout" Target="../slideLayouts/slideLayout3.xml"/><Relationship Id="rId17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atibimb mark: a heartbeat line becoming a circle, reflected below the horiz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43000"/>
            <a:ext cx="4937760" cy="32712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051560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rgbClr val="F1F6F5"/>
                </a:solidFill>
              </a:rPr>
              <a:t>Pratibimb</a:t>
            </a:r>
            <a:endParaRPr lang="en-US" sz="6600" dirty="0"/>
          </a:p>
        </p:txBody>
      </p:sp>
      <p:pic>
        <p:nvPicPr>
          <p:cNvPr id="4" name="Image 1" descr="Pratibimb in Devanagar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2240280"/>
            <a:ext cx="1495206" cy="43891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2395728" y="224028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93ADAA"/>
                </a:solidFill>
              </a:rPr>
              <a:t>means reflection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29718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1F6F5"/>
                </a:solidFill>
              </a:rPr>
              <a:t>An early-warning digital twin for hypertension, built on the watches India already owns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39319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Fuses the health record with a budget watch and a home BP cuff, learns how one body responds to sleep and walking, and warns the doctor up to 72 hours before a cardiovascular strain episode.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507492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D6A06A"/>
                </a:solidFill>
              </a:rPr>
              <a:t>Team AMAZE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541324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6F5"/>
                </a:solidFill>
              </a:rPr>
              <a:t>Nikita Pandey (team leader), Suraj Aryan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724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IIM Lucknow, PGPSM  |  Happiest Health Digital Twin Challenge 2026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7132320" y="50749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ADAA"/>
                </a:solidFill>
              </a:rPr>
              <a:t>Live demo  </a:t>
            </a:r>
            <a:r>
              <a:rPr lang="en-US" sz="1400" b="1" u="sng" dirty="0">
                <a:solidFill>
                  <a:srgbClr val="3FC1C0"/>
                </a:solidFill>
                <a:hlinkClick r:id="rId3" invalidUrl="" action="" tgtFrame="" tooltip="Open the live dem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pratibimb-pi.vercel.app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132320" y="541324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Code  </a:t>
            </a:r>
            <a:r>
              <a:rPr lang="en-US" sz="1200" u="sng" dirty="0">
                <a:solidFill>
                  <a:srgbClr val="3FC1C0"/>
                </a:solidFill>
                <a:hlinkClick r:id="rId4" invalidUrl="" action="" tgtFrame="" tooltip="Open th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github.com/pndynkt/Team-AMAZE_IIM-Lucknow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Pratibimb at a glance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Watch, home BP cuff and health record, read through a personal twin and scored every night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615184" cy="3246120"/>
          </a:xfrm>
          <a:prstGeom prst="roundRect">
            <a:avLst>
              <a:gd name="adj" fmla="val 3497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82496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6" name="Image 0" descr="aler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345" y="1775033"/>
            <a:ext cx="235549" cy="2355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82496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07A9E"/>
                </a:solidFill>
              </a:rPr>
              <a:t>Problem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304288"/>
            <a:ext cx="221284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1 in 4 adults </a:t>
            </a:r>
            <a:r>
              <a:rPr lang="en-US" sz="1500" dirty="0">
                <a:solidFill>
                  <a:srgbClr val="C9D8D6"/>
                </a:solidFill>
              </a:rPr>
              <a:t>in India live with high blood pressure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Strain builds for days </a:t>
            </a:r>
            <a:r>
              <a:rPr lang="en-US" sz="1500" dirty="0">
                <a:solidFill>
                  <a:srgbClr val="C9D8D6"/>
                </a:solidFill>
              </a:rPr>
              <a:t>before a surge, clinic or ER visit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Fixed thresholds </a:t>
            </a:r>
            <a:r>
              <a:rPr lang="en-US" sz="1500" dirty="0">
                <a:solidFill>
                  <a:srgbClr val="C9D8D6"/>
                </a:solidFill>
              </a:rPr>
              <a:t>flag 55.8% of readings; doctors stop looking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76879" y="1481328"/>
            <a:ext cx="2615184" cy="3246120"/>
          </a:xfrm>
          <a:prstGeom prst="roundRect">
            <a:avLst>
              <a:gd name="adj" fmla="val 3497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78047" y="1682496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11" name="Image 1" descr="twi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84" y="1775033"/>
            <a:ext cx="235549" cy="23554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108399" y="1682496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C1C0"/>
                </a:solidFill>
              </a:rPr>
              <a:t>Solution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96335" y="2304288"/>
            <a:ext cx="221284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Personal twin </a:t>
            </a:r>
            <a:r>
              <a:rPr lang="en-US" sz="1500" dirty="0">
                <a:solidFill>
                  <a:srgbClr val="C9D8D6"/>
                </a:solidFill>
              </a:rPr>
              <a:t>learns how one body reacts to sleep and walking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Alerts only </a:t>
            </a:r>
            <a:r>
              <a:rPr lang="en-US" sz="1500" dirty="0">
                <a:solidFill>
                  <a:srgbClr val="C9D8D6"/>
                </a:solidFill>
              </a:rPr>
              <a:t>on change her own habits cannot explain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Calibrated 72 h risk </a:t>
            </a:r>
            <a:r>
              <a:rPr lang="en-US" sz="1500" dirty="0">
                <a:solidFill>
                  <a:srgbClr val="C9D8D6"/>
                </a:solidFill>
              </a:rPr>
              <a:t>with reasons in plain words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205118" y="1481328"/>
            <a:ext cx="2615184" cy="3246120"/>
          </a:xfrm>
          <a:prstGeom prst="roundRect">
            <a:avLst>
              <a:gd name="adj" fmla="val 3497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06286" y="1682496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16" name="Image 2" descr="targe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824" y="1775033"/>
            <a:ext cx="235549" cy="23554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36638" y="1682496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BC08A"/>
                </a:solidFill>
              </a:rPr>
              <a:t>Impact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424574" y="2304288"/>
            <a:ext cx="221284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70% of episodes </a:t>
            </a:r>
            <a:r>
              <a:rPr lang="en-US" sz="1500" dirty="0">
                <a:solidFill>
                  <a:srgbClr val="C9D8D6"/>
                </a:solidFill>
              </a:rPr>
              <a:t>caught at 1 false alert per 22 patient-days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Median 48 h </a:t>
            </a:r>
            <a:r>
              <a:rPr lang="en-US" sz="1500" dirty="0">
                <a:solidFill>
                  <a:srgbClr val="C9D8D6"/>
                </a:solidFill>
              </a:rPr>
              <a:t>warning before the event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Twin lift </a:t>
            </a:r>
            <a:r>
              <a:rPr lang="en-US" sz="1500" dirty="0">
                <a:solidFill>
                  <a:srgbClr val="C9D8D6"/>
                </a:solidFill>
              </a:rPr>
              <a:t>+0.025 AUROC, better on 3 of 3 splits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9033358" y="1481328"/>
            <a:ext cx="2615184" cy="3246120"/>
          </a:xfrm>
          <a:prstGeom prst="roundRect">
            <a:avLst>
              <a:gd name="adj" fmla="val 3497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234526" y="1682496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21" name="Image 3" descr="layers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7063" y="1775033"/>
            <a:ext cx="235549" cy="23554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764878" y="1682496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D6A06A"/>
                </a:solidFill>
              </a:rPr>
              <a:t>Implementation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9252814" y="2304288"/>
            <a:ext cx="221284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Working product: </a:t>
            </a:r>
            <a:r>
              <a:rPr lang="en-US" sz="1500" dirty="0">
                <a:solidFill>
                  <a:srgbClr val="C9D8D6"/>
                </a:solidFill>
              </a:rPr>
              <a:t>doctor console, patient app in English and Hindi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FHIR R4 and ABDM </a:t>
            </a:r>
            <a:r>
              <a:rPr lang="en-US" sz="1500" dirty="0">
                <a:solidFill>
                  <a:srgbClr val="C9D8D6"/>
                </a:solidFill>
              </a:rPr>
              <a:t>WellnessRecord export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Live demo, </a:t>
            </a:r>
            <a:r>
              <a:rPr lang="en-US" sz="1500" dirty="0">
                <a:solidFill>
                  <a:srgbClr val="C9D8D6"/>
                </a:solidFill>
              </a:rPr>
              <a:t>25 tests, MIT licence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548640" y="4919472"/>
            <a:ext cx="11094415" cy="1261872"/>
          </a:xfrm>
          <a:prstGeom prst="roundRect">
            <a:avLst>
              <a:gd name="adj" fmla="val 7246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497433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FC1C0"/>
                </a:solidFill>
              </a:rPr>
              <a:t>0.876</a:t>
            </a:r>
            <a:endParaRPr lang="en-US" sz="3200" dirty="0"/>
          </a:p>
        </p:txBody>
      </p:sp>
      <p:sp>
        <p:nvSpPr>
          <p:cNvPr id="26" name="Text 20"/>
          <p:cNvSpPr txBox="1"/>
          <p:nvPr/>
        </p:nvSpPr>
        <p:spPr>
          <a:xfrm>
            <a:off x="822960" y="55961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AUROC on patients the model never saw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3566160" y="497433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FC1C0"/>
                </a:solidFill>
              </a:rPr>
              <a:t>70%</a:t>
            </a:r>
            <a:endParaRPr lang="en-US" sz="3200" dirty="0"/>
          </a:p>
        </p:txBody>
      </p:sp>
      <p:sp>
        <p:nvSpPr>
          <p:cNvPr id="28" name="Text 22"/>
          <p:cNvSpPr txBox="1"/>
          <p:nvPr/>
        </p:nvSpPr>
        <p:spPr>
          <a:xfrm>
            <a:off x="3566160" y="55961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episodes caught inside the false-alert budget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6309360" y="497433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FC1C0"/>
                </a:solidFill>
              </a:rPr>
              <a:t>48 h</a:t>
            </a:r>
            <a:endParaRPr lang="en-US" sz="3200" dirty="0"/>
          </a:p>
        </p:txBody>
      </p:sp>
      <p:sp>
        <p:nvSpPr>
          <p:cNvPr id="30" name="Text 24"/>
          <p:cNvSpPr txBox="1"/>
          <p:nvPr/>
        </p:nvSpPr>
        <p:spPr>
          <a:xfrm>
            <a:off x="6309360" y="55961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median warning before the event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9052560" y="497433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FC1C0"/>
                </a:solidFill>
              </a:rPr>
              <a:t>240 x 120</a:t>
            </a:r>
            <a:endParaRPr lang="en-US" sz="3200" dirty="0"/>
          </a:p>
        </p:txBody>
      </p:sp>
      <p:sp>
        <p:nvSpPr>
          <p:cNvPr id="32" name="Text 26"/>
          <p:cNvSpPr txBox="1"/>
          <p:nvPr/>
        </p:nvSpPr>
        <p:spPr>
          <a:xfrm>
            <a:off x="9052560" y="55961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synthetic patients x days, seeded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Hypertension builds quietly; the watch sees it, nobody reads it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Four facts that shape the design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615184" cy="3383280"/>
          </a:xfrm>
          <a:prstGeom prst="roundRect">
            <a:avLst>
              <a:gd name="adj" fmla="val 3497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700784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6" name="Image 0" descr="hear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0633" y="1793321"/>
            <a:ext cx="235549" cy="2355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8096" y="225856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E07A9E"/>
                </a:solidFill>
              </a:rPr>
              <a:t>1 in 4</a:t>
            </a:r>
            <a:endParaRPr lang="en-US" sz="46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314553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Indian adults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3493008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8D6"/>
                </a:solidFill>
              </a:rPr>
              <a:t>have high blood pressure. Most strain builds for days before a surge, clinic visit or ER trip.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376879" y="1481328"/>
            <a:ext cx="2615184" cy="3383280"/>
          </a:xfrm>
          <a:prstGeom prst="roundRect">
            <a:avLst>
              <a:gd name="adj" fmla="val 3497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96335" y="1700784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12" name="Image 1" descr="watch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8872" y="1793321"/>
            <a:ext cx="235549" cy="23554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96335" y="225856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3FC1C0"/>
                </a:solidFill>
              </a:rPr>
              <a:t>91.6%</a:t>
            </a:r>
            <a:endParaRPr lang="en-US" sz="4600" dirty="0"/>
          </a:p>
        </p:txBody>
      </p:sp>
      <p:sp>
        <p:nvSpPr>
          <p:cNvPr id="14" name="Text 10"/>
          <p:cNvSpPr txBox="1"/>
          <p:nvPr/>
        </p:nvSpPr>
        <p:spPr>
          <a:xfrm>
            <a:off x="3596335" y="314553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of smartwatches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596335" y="3493008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8D6"/>
                </a:solidFill>
              </a:rPr>
              <a:t>sold in India cost under US$50 (IDC, Q2 2026). They log heart rate, sleep and steps every night.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205118" y="1481328"/>
            <a:ext cx="2615184" cy="3383280"/>
          </a:xfrm>
          <a:prstGeom prst="roundRect">
            <a:avLst>
              <a:gd name="adj" fmla="val 3497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24574" y="1700784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18" name="Image 2" descr="bell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112" y="1793321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24574" y="225856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E3B341"/>
                </a:solidFill>
              </a:rPr>
              <a:t>55.8%</a:t>
            </a:r>
            <a:endParaRPr lang="en-US" sz="4600" dirty="0"/>
          </a:p>
        </p:txBody>
      </p:sp>
      <p:sp>
        <p:nvSpPr>
          <p:cNvPr id="20" name="Text 15"/>
          <p:cNvSpPr txBox="1"/>
          <p:nvPr/>
        </p:nvSpPr>
        <p:spPr>
          <a:xfrm>
            <a:off x="6424574" y="314553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of readings flagged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424574" y="3493008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8D6"/>
                </a:solidFill>
              </a:rPr>
              <a:t>by fixed thresholds in one remote-monitoring study. Alert fatigue follows.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9033358" y="1481328"/>
            <a:ext cx="2615184" cy="3383280"/>
          </a:xfrm>
          <a:prstGeom prst="roundRect">
            <a:avLst>
              <a:gd name="adj" fmla="val 3497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252814" y="1700784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24" name="Image 3" descr="users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5351" y="1793321"/>
            <a:ext cx="235549" cy="235549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52814" y="225856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D6A06A"/>
                </a:solidFill>
              </a:rPr>
              <a:t>2 vs 0.3</a:t>
            </a:r>
            <a:endParaRPr lang="en-US" sz="4600" dirty="0"/>
          </a:p>
        </p:txBody>
      </p:sp>
      <p:sp>
        <p:nvSpPr>
          <p:cNvPr id="26" name="Text 20"/>
          <p:cNvSpPr txBox="1"/>
          <p:nvPr/>
        </p:nvSpPr>
        <p:spPr>
          <a:xfrm>
            <a:off x="9252814" y="314553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bpm per short night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9252814" y="3493008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8D6"/>
                </a:solidFill>
              </a:rPr>
              <a:t>One person's heart rate rises 2 bpm, another's 0.3. A population rule cannot tell them apart.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548640" y="5074920"/>
            <a:ext cx="11094415" cy="1097280"/>
          </a:xfrm>
          <a:prstGeom prst="roundRect">
            <a:avLst>
              <a:gd name="adj" fmla="val 8333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04672" y="5413248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30" name="Image 4" descr="target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209" y="5505785"/>
            <a:ext cx="235549" cy="235549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417320" y="5138928"/>
            <a:ext cx="99971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9E"/>
                </a:solidFill>
              </a:rPr>
              <a:t>The gap: </a:t>
            </a:r>
            <a:r>
              <a:rPr lang="en-US" sz="1700" dirty="0">
                <a:solidFill>
                  <a:srgbClr val="F1F6F5"/>
                </a:solidFill>
              </a:rPr>
              <a:t>nobody turns cheap nightly watch data into a personal, calibrated warning a doctor can act on, ahead of time and inside a false-alert budget. </a:t>
            </a:r>
            <a:r>
              <a:rPr lang="en-US" sz="1700" b="1" dirty="0">
                <a:solidFill>
                  <a:srgbClr val="3FC1C0"/>
                </a:solidFill>
              </a:rPr>
              <a:t>Pratibimb closes that gap.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Predict a strain episode 72 hours ahead, then hand it to people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Healthcare use case: early warning for adults with hypertension, read by their own doctor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166360" cy="4690872"/>
          </a:xfrm>
          <a:prstGeom prst="roundRect">
            <a:avLst>
              <a:gd name="adj" fmla="val 1949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6" name="Image 0" descr="tren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0633" y="1775033"/>
            <a:ext cx="235549" cy="2355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1682496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1F6F5"/>
                </a:solidFill>
              </a:rPr>
              <a:t>The event we predict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" y="2240280"/>
            <a:ext cx="4709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Overnight heart rate </a:t>
            </a:r>
            <a:r>
              <a:rPr lang="en-US" sz="1500" dirty="0">
                <a:solidFill>
                  <a:srgbClr val="C9D8D6"/>
                </a:solidFill>
              </a:rPr>
              <a:t>above her own 28-day baseline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HRV falls </a:t>
            </a:r>
            <a:r>
              <a:rPr lang="en-US" sz="1500" dirty="0">
                <a:solidFill>
                  <a:srgbClr val="C9D8D6"/>
                </a:solidFill>
              </a:rPr>
              <a:t>below her smallest worthwhile change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Sleep and steps </a:t>
            </a:r>
            <a:r>
              <a:rPr lang="en-US" sz="1500" dirty="0">
                <a:solidFill>
                  <a:srgbClr val="C9D8D6"/>
                </a:solidFill>
              </a:rPr>
              <a:t>drop; home systolic trend rises over 7 days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Ends in an event day: </a:t>
            </a:r>
            <a:r>
              <a:rPr lang="en-US" sz="1500" dirty="0">
                <a:solidFill>
                  <a:srgbClr val="C9D8D6"/>
                </a:solidFill>
              </a:rPr>
              <a:t>hypertensive surge, unplanned clinic or ER visit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68096" y="4114800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10" name="Image 1" descr="user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633" y="4207337"/>
            <a:ext cx="235549" cy="23554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98448" y="411480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1F6F5"/>
                </a:solidFill>
              </a:rPr>
              <a:t>Who acts on it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86384" y="466344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Doctor: </a:t>
            </a:r>
            <a:r>
              <a:rPr lang="en-US" sz="1500" dirty="0">
                <a:solidFill>
                  <a:srgbClr val="C9D8D6"/>
                </a:solidFill>
              </a:rPr>
              <a:t>triage by 72 h risk, reasons, what-if, acknowledge or escalate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Patient: </a:t>
            </a:r>
            <a:r>
              <a:rPr lang="en-US" sz="1500" dirty="0">
                <a:solidFill>
                  <a:srgbClr val="C9D8D6"/>
                </a:solidFill>
              </a:rPr>
              <a:t>one sentence in English or Hindi, the habit that helps most, check-in, SOS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925312" y="1481328"/>
            <a:ext cx="5717743" cy="3456432"/>
          </a:xfrm>
          <a:prstGeom prst="roundRect">
            <a:avLst>
              <a:gd name="adj" fmla="val 2646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44768" y="1609344"/>
            <a:ext cx="535198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6F5"/>
                </a:solidFill>
              </a:rPr>
              <a:t>Meera Iyer, 58, Bengaluru: nightly risk score, last 21 nights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035040" y="1938528"/>
          <a:ext cx="5498287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6144768" y="4352544"/>
            <a:ext cx="53062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Gridlines at 30 (watch) and 60 (urgent). 9 and 10 Oct: watch off, the cuff kept reporting and the score kept updating.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925312" y="5102352"/>
            <a:ext cx="2767432" cy="1069848"/>
          </a:xfrm>
          <a:prstGeom prst="roundRect">
            <a:avLst>
              <a:gd name="adj" fmla="val 8547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875624" y="5102352"/>
            <a:ext cx="2767432" cy="1069848"/>
          </a:xfrm>
          <a:prstGeom prst="roundRect">
            <a:avLst>
              <a:gd name="adj" fmla="val 8547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126480" y="5175504"/>
            <a:ext cx="240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B341"/>
                </a:solidFill>
              </a:rPr>
              <a:t>Amber tier: the model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8D6"/>
                </a:solidFill>
              </a:rPr>
              <a:t>days ahead, calibrated, inside a budget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9076792" y="5175504"/>
            <a:ext cx="240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6F55"/>
                </a:solidFill>
              </a:rPr>
              <a:t>Red tier: people and the phone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8D6"/>
                </a:solidFill>
              </a:rPr>
              <a:t>SOS, contacts, one tap to 112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Two streams, one person: static record fused with the nightly watch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Every field below exists in the synthetic cohort and in the FHIR export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749040" cy="3401568"/>
          </a:xfrm>
          <a:prstGeom prst="roundRect">
            <a:avLst>
              <a:gd name="adj" fmla="val 268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64208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6" name="Image 0" descr="recor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345" y="1756745"/>
            <a:ext cx="235549" cy="2355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6420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6A06A"/>
                </a:solidFill>
              </a:rPr>
              <a:t>Health record (static EHR)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49424"/>
            <a:ext cx="333756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Demographics: </a:t>
            </a:r>
            <a:r>
              <a:rPr lang="en-US" sz="1350" dirty="0">
                <a:solidFill>
                  <a:srgbClr val="C9D8D6"/>
                </a:solidFill>
              </a:rPr>
              <a:t>age, sex, city, masked ABHA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Past diagnoses: </a:t>
            </a:r>
            <a:r>
              <a:rPr lang="en-US" sz="1350" dirty="0">
                <a:solidFill>
                  <a:srgbClr val="C9D8D6"/>
                </a:solidFill>
              </a:rPr>
              <a:t>SNOMED CT (hypertension, IHD, MI, diabetes, CKD)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Lab results: </a:t>
            </a:r>
            <a:r>
              <a:rPr lang="en-US" sz="1350" dirty="0">
                <a:solidFill>
                  <a:srgbClr val="C9D8D6"/>
                </a:solidFill>
              </a:rPr>
              <a:t>LOINC (HbA1c, LDL, HDL, eGFR, creatinine)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Medicines: </a:t>
            </a:r>
            <a:r>
              <a:rPr lang="en-US" sz="1350" dirty="0">
                <a:solidFill>
                  <a:srgbClr val="C9D8D6"/>
                </a:solidFill>
              </a:rPr>
              <a:t>class, dose, adherence log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Genetic marker: </a:t>
            </a:r>
            <a:r>
              <a:rPr lang="en-US" sz="1350" dirty="0">
                <a:solidFill>
                  <a:srgbClr val="C9D8D6"/>
                </a:solidFill>
              </a:rPr>
              <a:t>polygenic risk tier; family history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626864" y="1481328"/>
            <a:ext cx="3108960" cy="3401568"/>
          </a:xfrm>
          <a:prstGeom prst="roundRect">
            <a:avLst>
              <a:gd name="adj" fmla="val 2941"/>
            </a:avLst>
          </a:prstGeom>
          <a:solidFill>
            <a:srgbClr val="10302F"/>
          </a:solidFill>
          <a:ln w="9525">
            <a:solidFill>
              <a:srgbClr val="2C8C8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28032" y="1664208"/>
            <a:ext cx="420624" cy="420624"/>
          </a:xfrm>
          <a:prstGeom prst="ellipse">
            <a:avLst/>
          </a:prstGeom>
          <a:solidFill>
            <a:srgbClr val="0E1A1A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11" name="Image 1" descr="twi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0569" y="1756745"/>
            <a:ext cx="235549" cy="23554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58384" y="166420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FC1C0"/>
                </a:solidFill>
              </a:rPr>
              <a:t>Fused in the twin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846320" y="2249424"/>
            <a:ext cx="269748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Record reads the watch: </a:t>
            </a:r>
            <a:r>
              <a:rPr lang="en-US" sz="1350" dirty="0">
                <a:solidFill>
                  <a:srgbClr val="C9D8D6"/>
                </a:solidFill>
              </a:rPr>
              <a:t>beta blockers dampen heart rate; diabetes blunts it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Twin removes </a:t>
            </a:r>
            <a:r>
              <a:rPr lang="en-US" sz="1350" dirty="0">
                <a:solidFill>
                  <a:srgbClr val="C9D8D6"/>
                </a:solidFill>
              </a:rPr>
              <a:t>what her own sleep and steps explain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Fusion model joins </a:t>
            </a:r>
            <a:r>
              <a:rPr lang="en-US" sz="1350" dirty="0">
                <a:solidFill>
                  <a:srgbClr val="C9D8D6"/>
                </a:solidFill>
              </a:rPr>
              <a:t>twin signals, BP trend and 8 record facts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4361688" y="3063240"/>
            <a:ext cx="201168" cy="237744"/>
          </a:xfrm>
          <a:prstGeom prst="rightArrow">
            <a:avLst/>
          </a:prstGeom>
          <a:solidFill>
            <a:srgbClr val="93ADAA"/>
          </a:solidFill>
          <a:ln w="12700">
            <a:solidFill>
              <a:srgbClr val="93ADA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99832" y="3063240"/>
            <a:ext cx="201168" cy="237744"/>
          </a:xfrm>
          <a:prstGeom prst="rightArrow">
            <a:avLst/>
          </a:prstGeom>
          <a:solidFill>
            <a:srgbClr val="93ADAA"/>
          </a:solidFill>
          <a:ln w="12700">
            <a:solidFill>
              <a:srgbClr val="93ADA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065008" y="1481328"/>
            <a:ext cx="3578047" cy="3401568"/>
          </a:xfrm>
          <a:prstGeom prst="roundRect">
            <a:avLst>
              <a:gd name="adj" fmla="val 268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66176" y="1664208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18" name="Image 2" descr="watch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713" y="1756745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796528" y="1664208"/>
            <a:ext cx="27550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FC1C0"/>
                </a:solidFill>
              </a:rPr>
              <a:t>Watch and cuff (dynamic)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284464" y="2249424"/>
            <a:ext cx="3175711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Heart rate: </a:t>
            </a:r>
            <a:r>
              <a:rPr lang="en-US" sz="1350" dirty="0">
                <a:solidFill>
                  <a:srgbClr val="C9D8D6"/>
                </a:solidFill>
              </a:rPr>
              <a:t>overnight resting, 5-minute intraday trace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HRV: </a:t>
            </a:r>
            <a:r>
              <a:rPr lang="en-US" sz="1350" dirty="0">
                <a:solidFill>
                  <a:srgbClr val="C9D8D6"/>
                </a:solidFill>
              </a:rPr>
              <a:t>RMSSD against a 60-night baseline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Sleep stages: </a:t>
            </a:r>
            <a:r>
              <a:rPr lang="en-US" sz="1350" dirty="0">
                <a:solidFill>
                  <a:srgbClr val="C9D8D6"/>
                </a:solidFill>
              </a:rPr>
              <a:t>duration, efficiency, deep, REM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Step count, </a:t>
            </a:r>
            <a:r>
              <a:rPr lang="en-US" sz="1350" dirty="0">
                <a:solidFill>
                  <a:srgbClr val="C9D8D6"/>
                </a:solidFill>
              </a:rPr>
              <a:t>SpO2, respiratory rate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Home BP cuff: </a:t>
            </a:r>
            <a:r>
              <a:rPr lang="en-US" sz="1350" dirty="0">
                <a:solidFill>
                  <a:srgbClr val="C9D8D6"/>
                </a:solidFill>
              </a:rPr>
              <a:t>morning systolic and diastolic</a:t>
            </a:r>
            <a:endParaRPr lang="en-US" sz="1350" dirty="0"/>
          </a:p>
        </p:txBody>
      </p:sp>
      <p:sp>
        <p:nvSpPr>
          <p:cNvPr id="21" name="Shape 16"/>
          <p:cNvSpPr/>
          <p:nvPr/>
        </p:nvSpPr>
        <p:spPr>
          <a:xfrm>
            <a:off x="548640" y="5047488"/>
            <a:ext cx="11094415" cy="1124712"/>
          </a:xfrm>
          <a:prstGeom prst="roundRect">
            <a:avLst>
              <a:gd name="adj" fmla="val 8130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86384" y="5074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FC1C0"/>
                </a:solidFill>
              </a:rPr>
              <a:t>240</a:t>
            </a:r>
            <a:endParaRPr lang="en-US" sz="2800" dirty="0"/>
          </a:p>
        </p:txBody>
      </p:sp>
      <p:sp>
        <p:nvSpPr>
          <p:cNvPr id="23" name="Text 18"/>
          <p:cNvSpPr txBox="1"/>
          <p:nvPr/>
        </p:nvSpPr>
        <p:spPr>
          <a:xfrm>
            <a:off x="786384" y="563270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synthetic patients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2542032" y="5074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FC1C0"/>
                </a:solidFill>
              </a:rPr>
              <a:t>120</a:t>
            </a:r>
            <a:endParaRPr lang="en-US" sz="2800" dirty="0"/>
          </a:p>
        </p:txBody>
      </p:sp>
      <p:sp>
        <p:nvSpPr>
          <p:cNvPr id="25" name="Text 20"/>
          <p:cNvSpPr txBox="1"/>
          <p:nvPr/>
        </p:nvSpPr>
        <p:spPr>
          <a:xfrm>
            <a:off x="2542032" y="563270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days each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4297680" y="5074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FC1C0"/>
                </a:solidFill>
              </a:rPr>
              <a:t>28,685</a:t>
            </a:r>
            <a:endParaRPr lang="en-US" sz="2800" dirty="0"/>
          </a:p>
        </p:txBody>
      </p:sp>
      <p:sp>
        <p:nvSpPr>
          <p:cNvPr id="27" name="Text 22"/>
          <p:cNvSpPr txBox="1"/>
          <p:nvPr/>
        </p:nvSpPr>
        <p:spPr>
          <a:xfrm>
            <a:off x="4297680" y="563270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patient-days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6053328" y="5074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FC1C0"/>
                </a:solidFill>
              </a:rPr>
              <a:t>342</a:t>
            </a:r>
            <a:endParaRPr lang="en-US" sz="2800" dirty="0"/>
          </a:p>
        </p:txBody>
      </p:sp>
      <p:sp>
        <p:nvSpPr>
          <p:cNvPr id="29" name="Text 24"/>
          <p:cNvSpPr txBox="1"/>
          <p:nvPr/>
        </p:nvSpPr>
        <p:spPr>
          <a:xfrm>
            <a:off x="6053328" y="563270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labelled strain episodes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7818120" y="5120640"/>
            <a:ext cx="36420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6F5"/>
                </a:solidFill>
              </a:rPr>
              <a:t>Planted confounders: </a:t>
            </a:r>
            <a:r>
              <a:rPr lang="en-US" sz="1300" dirty="0">
                <a:solidFill>
                  <a:srgbClr val="C9D8D6"/>
                </a:solidFill>
              </a:rPr>
              <a:t>242 colds, 767 missed doses, 756 late nights, 290 travel days. </a:t>
            </a:r>
            <a:r>
              <a:rPr lang="en-US" sz="1300" b="1" dirty="0">
                <a:solidFill>
                  <a:srgbClr val="F1F6F5"/>
                </a:solidFill>
              </a:rPr>
              <a:t>CGM: </a:t>
            </a:r>
            <a:r>
              <a:rPr lang="en-US" sz="1300" dirty="0">
                <a:solidFill>
                  <a:srgbClr val="C9D8D6"/>
                </a:solidFill>
              </a:rPr>
              <a:t>not needed for hypertension; diabetes is read from the record (HbA1c).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Architecture: two streams in, a twin, a warning out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Full resolution in docs/architecture.pdf</a:t>
            </a:r>
            <a:endParaRPr lang="en-US" sz="1500" dirty="0"/>
          </a:p>
        </p:txBody>
      </p:sp>
      <p:pic>
        <p:nvPicPr>
          <p:cNvPr id="4" name="Image 0" descr="Pratibimb architecture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4752"/>
            <a:ext cx="7122695" cy="47365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45655" y="1444752"/>
            <a:ext cx="3697400" cy="4736592"/>
          </a:xfrm>
          <a:prstGeom prst="roundRect">
            <a:avLst>
              <a:gd name="adj" fmla="val 2473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65111" y="1609344"/>
            <a:ext cx="33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How to read it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165111" y="2103120"/>
            <a:ext cx="3295064" cy="3959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Two streams in: </a:t>
            </a:r>
            <a:r>
              <a:rPr lang="en-US" sz="1500" dirty="0">
                <a:solidFill>
                  <a:srgbClr val="C9D8D6"/>
                </a:solidFill>
              </a:rPr>
              <a:t>FHIR record, watch and cuff via a companion app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Physiology engine: </a:t>
            </a:r>
            <a:r>
              <a:rPr lang="en-US" sz="1500" dirty="0">
                <a:solidFill>
                  <a:srgbClr val="C9D8D6"/>
                </a:solidFill>
              </a:rPr>
              <a:t>baseline, slopes, pooling, twin-adjusted signals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Prediction: </a:t>
            </a:r>
            <a:r>
              <a:rPr lang="en-US" sz="1500" dirty="0">
                <a:solidFill>
                  <a:srgbClr val="C9D8D6"/>
                </a:solidFill>
              </a:rPr>
              <a:t>LightGBM fusion, calibration, budgeted thresholds, forecasts, SHAP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Action layer: </a:t>
            </a:r>
            <a:r>
              <a:rPr lang="en-US" sz="1500" dirty="0">
                <a:solidFill>
                  <a:srgbClr val="C9D8D6"/>
                </a:solidFill>
              </a:rPr>
              <a:t>FastAPI, SQLite, live stream; alerts, what-if, ladder, audit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People: </a:t>
            </a:r>
            <a:r>
              <a:rPr lang="en-US" sz="1500" dirty="0">
                <a:solidFill>
                  <a:srgbClr val="C9D8D6"/>
                </a:solidFill>
              </a:rPr>
              <a:t>doctor console, patient app, consented contacts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How the twin decides: five steps, worked on Meera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Every number is computed by the trained model for Meera Iyer on 12 October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103120" cy="3639312"/>
          </a:xfrm>
          <a:prstGeom prst="roundRect">
            <a:avLst>
              <a:gd name="adj" fmla="val 434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82496"/>
            <a:ext cx="384048" cy="384048"/>
          </a:xfrm>
          <a:prstGeom prst="ellipse">
            <a:avLst/>
          </a:prstGeom>
          <a:solidFill>
            <a:srgbClr val="10302F"/>
          </a:solidFill>
          <a:ln w="9525">
            <a:solidFill>
              <a:srgbClr val="2C8C8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C1C0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76272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1F6F5"/>
                </a:solidFill>
              </a:rPr>
              <a:t>Personal baseline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4320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8D6"/>
                </a:solidFill>
              </a:rPr>
              <a:t>Tonight vs her own last 28 nights, not vs other people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72160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FC1C0"/>
                </a:solidFill>
              </a:rPr>
              <a:t>+13.8 bpm</a:t>
            </a:r>
            <a:endParaRPr lang="en-US" sz="3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361688"/>
            <a:ext cx="1773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3ADAA"/>
                </a:solidFill>
              </a:rPr>
              <a:t>above her usual 56.5 (tonight 70.3)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56332" y="3209544"/>
            <a:ext cx="137160" cy="182880"/>
          </a:xfrm>
          <a:prstGeom prst="rightArrow">
            <a:avLst/>
          </a:prstGeom>
          <a:solidFill>
            <a:srgbClr val="4E6B69"/>
          </a:solidFill>
          <a:ln w="12700">
            <a:solidFill>
              <a:srgbClr val="4E6B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96235" y="1481328"/>
            <a:ext cx="2103120" cy="3639312"/>
          </a:xfrm>
          <a:prstGeom prst="roundRect">
            <a:avLst>
              <a:gd name="adj" fmla="val 434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9115" y="1682496"/>
            <a:ext cx="384048" cy="384048"/>
          </a:xfrm>
          <a:prstGeom prst="ellipse">
            <a:avLst/>
          </a:prstGeom>
          <a:solidFill>
            <a:srgbClr val="10302F"/>
          </a:solidFill>
          <a:ln w="9525">
            <a:solidFill>
              <a:srgbClr val="2C8C8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79115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C1C0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979115" y="2176272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1F6F5"/>
                </a:solidFill>
              </a:rPr>
              <a:t>Response slopes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2979115" y="274320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8D6"/>
                </a:solidFill>
              </a:rPr>
              <a:t>Calm-day regression of tomorrow's HR, HRV, BP on today's sleep and steps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979115" y="372160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FC1C0"/>
                </a:solidFill>
              </a:rPr>
              <a:t>4 slopes</a:t>
            </a:r>
            <a:endParaRPr lang="en-US" sz="3100" dirty="0"/>
          </a:p>
        </p:txBody>
      </p:sp>
      <p:sp>
        <p:nvSpPr>
          <p:cNvPr id="18" name="Text 16"/>
          <p:cNvSpPr txBox="1"/>
          <p:nvPr/>
        </p:nvSpPr>
        <p:spPr>
          <a:xfrm>
            <a:off x="2979115" y="4361688"/>
            <a:ext cx="1773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3ADAA"/>
                </a:solidFill>
              </a:rPr>
              <a:t>per person, from 109 calm days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903927" y="3209544"/>
            <a:ext cx="137160" cy="182880"/>
          </a:xfrm>
          <a:prstGeom prst="rightArrow">
            <a:avLst/>
          </a:prstGeom>
          <a:solidFill>
            <a:srgbClr val="4E6B69"/>
          </a:solidFill>
          <a:ln w="12700">
            <a:solidFill>
              <a:srgbClr val="4E6B6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43830" y="1481328"/>
            <a:ext cx="2103120" cy="3639312"/>
          </a:xfrm>
          <a:prstGeom prst="roundRect">
            <a:avLst>
              <a:gd name="adj" fmla="val 434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26710" y="1682496"/>
            <a:ext cx="384048" cy="384048"/>
          </a:xfrm>
          <a:prstGeom prst="ellipse">
            <a:avLst/>
          </a:prstGeom>
          <a:solidFill>
            <a:srgbClr val="10302F"/>
          </a:solidFill>
          <a:ln w="9525">
            <a:solidFill>
              <a:srgbClr val="2C8C8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26710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C1C0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226710" y="2176272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1F6F5"/>
                </a:solidFill>
              </a:rPr>
              <a:t>Empirical Bayes pooling</a:t>
            </a:r>
            <a:endParaRPr lang="en-US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5226710" y="274320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8D6"/>
                </a:solidFill>
              </a:rPr>
              <a:t>Her slope pulled toward the cohort by exactly its uncertainty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226710" y="372160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FC1C0"/>
                </a:solidFill>
              </a:rPr>
              <a:t>57%</a:t>
            </a:r>
            <a:endParaRPr lang="en-US" sz="3100" dirty="0"/>
          </a:p>
        </p:txBody>
      </p:sp>
      <p:sp>
        <p:nvSpPr>
          <p:cNvPr id="26" name="Text 24"/>
          <p:cNvSpPr txBox="1"/>
          <p:nvPr/>
        </p:nvSpPr>
        <p:spPr>
          <a:xfrm>
            <a:off x="5226710" y="4361688"/>
            <a:ext cx="1773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3ADAA"/>
                </a:solidFill>
              </a:rPr>
              <a:t>weight on her own data; twin slope -1.41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151522" y="3209544"/>
            <a:ext cx="137160" cy="182880"/>
          </a:xfrm>
          <a:prstGeom prst="rightArrow">
            <a:avLst/>
          </a:prstGeom>
          <a:solidFill>
            <a:srgbClr val="4E6B69"/>
          </a:solidFill>
          <a:ln w="12700">
            <a:solidFill>
              <a:srgbClr val="4E6B6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1426" y="1481328"/>
            <a:ext cx="2103120" cy="3639312"/>
          </a:xfrm>
          <a:prstGeom prst="roundRect">
            <a:avLst>
              <a:gd name="adj" fmla="val 434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74306" y="1682496"/>
            <a:ext cx="384048" cy="384048"/>
          </a:xfrm>
          <a:prstGeom prst="ellipse">
            <a:avLst/>
          </a:prstGeom>
          <a:solidFill>
            <a:srgbClr val="10302F"/>
          </a:solidFill>
          <a:ln w="9525">
            <a:solidFill>
              <a:srgbClr val="2C8C8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74306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C1C0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474306" y="2176272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1F6F5"/>
                </a:solidFill>
              </a:rPr>
              <a:t>Twin-adjusted signal</a:t>
            </a:r>
            <a:endParaRPr lang="en-US" sz="1550" dirty="0"/>
          </a:p>
        </p:txBody>
      </p:sp>
      <p:sp>
        <p:nvSpPr>
          <p:cNvPr id="32" name="Text 30"/>
          <p:cNvSpPr txBox="1"/>
          <p:nvPr/>
        </p:nvSpPr>
        <p:spPr>
          <a:xfrm>
            <a:off x="7474306" y="274320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8D6"/>
                </a:solidFill>
              </a:rPr>
              <a:t>Tonight's change minus what her own habits explain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474306" y="372160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E07A9E"/>
                </a:solidFill>
              </a:rPr>
              <a:t>+12.6 bpm</a:t>
            </a:r>
            <a:endParaRPr lang="en-US" sz="3100" dirty="0"/>
          </a:p>
        </p:txBody>
      </p:sp>
      <p:sp>
        <p:nvSpPr>
          <p:cNvPr id="34" name="Text 32"/>
          <p:cNvSpPr txBox="1"/>
          <p:nvPr/>
        </p:nvSpPr>
        <p:spPr>
          <a:xfrm>
            <a:off x="7474306" y="4361688"/>
            <a:ext cx="1773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3ADAA"/>
                </a:solidFill>
              </a:rPr>
              <a:t>unexplained; BP +16 mmHg unexplained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399118" y="3209544"/>
            <a:ext cx="137160" cy="182880"/>
          </a:xfrm>
          <a:prstGeom prst="rightArrow">
            <a:avLst/>
          </a:prstGeom>
          <a:solidFill>
            <a:srgbClr val="4E6B69"/>
          </a:solidFill>
          <a:ln w="12700">
            <a:solidFill>
              <a:srgbClr val="4E6B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539021" y="1481328"/>
            <a:ext cx="2103120" cy="3639312"/>
          </a:xfrm>
          <a:prstGeom prst="roundRect">
            <a:avLst>
              <a:gd name="adj" fmla="val 434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21901" y="1682496"/>
            <a:ext cx="384048" cy="384048"/>
          </a:xfrm>
          <a:prstGeom prst="ellipse">
            <a:avLst/>
          </a:prstGeom>
          <a:solidFill>
            <a:srgbClr val="10302F"/>
          </a:solidFill>
          <a:ln w="9525">
            <a:solidFill>
              <a:srgbClr val="2C8C8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721901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C1C0"/>
                </a:solidFill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9721901" y="2176272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1F6F5"/>
                </a:solidFill>
              </a:rPr>
              <a:t>Fuse, calibrate, decide</a:t>
            </a:r>
            <a:endParaRPr lang="en-US" sz="1550" dirty="0"/>
          </a:p>
        </p:txBody>
      </p:sp>
      <p:sp>
        <p:nvSpPr>
          <p:cNvPr id="40" name="Text 38"/>
          <p:cNvSpPr txBox="1"/>
          <p:nvPr/>
        </p:nvSpPr>
        <p:spPr>
          <a:xfrm>
            <a:off x="9721901" y="274320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8D6"/>
                </a:solidFill>
              </a:rPr>
              <a:t>LightGBM, Platt calibration, false-alert budget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721901" y="372160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EB6F55"/>
                </a:solidFill>
              </a:rPr>
              <a:t>24%</a:t>
            </a:r>
            <a:endParaRPr lang="en-US" sz="3100" dirty="0"/>
          </a:p>
        </p:txBody>
      </p:sp>
      <p:sp>
        <p:nvSpPr>
          <p:cNvPr id="42" name="Text 40"/>
          <p:cNvSpPr txBox="1"/>
          <p:nvPr/>
        </p:nvSpPr>
        <p:spPr>
          <a:xfrm>
            <a:off x="9721901" y="4361688"/>
            <a:ext cx="1773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3ADAA"/>
                </a:solidFill>
              </a:rPr>
              <a:t>in 72 h (usual 0.7%); score 63, urgent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pic>
        <p:nvPicPr>
          <p:cNvPr id="44" name="Image 0" descr="check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68112"/>
            <a:ext cx="237744" cy="237744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1060704" y="539496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6F5"/>
                </a:solidFill>
              </a:rPr>
              <a:t>Calm days only: </a:t>
            </a:r>
            <a:r>
              <a:rPr lang="en-US" sz="1250" dirty="0">
                <a:solidFill>
                  <a:srgbClr val="C9D8D6"/>
                </a:solidFill>
              </a:rPr>
              <a:t>episodes never teach the twin</a:t>
            </a:r>
            <a:endParaRPr lang="en-US" sz="1250" dirty="0"/>
          </a:p>
        </p:txBody>
      </p:sp>
      <p:pic>
        <p:nvPicPr>
          <p:cNvPr id="46" name="Image 1" descr="check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5468112"/>
            <a:ext cx="237744" cy="237744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3803904" y="539496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6F5"/>
                </a:solidFill>
              </a:rPr>
              <a:t>AR(1)-widened errors: </a:t>
            </a:r>
            <a:r>
              <a:rPr lang="en-US" sz="1250" dirty="0">
                <a:solidFill>
                  <a:srgbClr val="C9D8D6"/>
                </a:solidFill>
              </a:rPr>
              <a:t>honest error bars</a:t>
            </a:r>
            <a:endParaRPr lang="en-US" sz="1250" dirty="0"/>
          </a:p>
        </p:txBody>
      </p:sp>
      <p:pic>
        <p:nvPicPr>
          <p:cNvPr id="48" name="Image 2" descr="che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5468112"/>
            <a:ext cx="237744" cy="237744"/>
          </a:xfrm>
          <a:prstGeom prst="rect">
            <a:avLst/>
          </a:prstGeom>
        </p:spPr>
      </p:pic>
      <p:sp>
        <p:nvSpPr>
          <p:cNvPr id="49" name="Text 44"/>
          <p:cNvSpPr txBox="1"/>
          <p:nvPr/>
        </p:nvSpPr>
        <p:spPr>
          <a:xfrm>
            <a:off x="6547104" y="539496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6F5"/>
                </a:solidFill>
              </a:rPr>
              <a:t>Expanding window: </a:t>
            </a:r>
            <a:r>
              <a:rPr lang="en-US" sz="1250" dirty="0">
                <a:solidFill>
                  <a:srgbClr val="C9D8D6"/>
                </a:solidFill>
              </a:rPr>
              <a:t>no future data; 3 leakage tests</a:t>
            </a:r>
            <a:endParaRPr lang="en-US" sz="1250" dirty="0"/>
          </a:p>
        </p:txBody>
      </p:sp>
      <p:pic>
        <p:nvPicPr>
          <p:cNvPr id="50" name="Image 3" descr="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0" y="5468112"/>
            <a:ext cx="237744" cy="237744"/>
          </a:xfrm>
          <a:prstGeom prst="rect">
            <a:avLst/>
          </a:prstGeom>
        </p:spPr>
      </p:pic>
      <p:sp>
        <p:nvSpPr>
          <p:cNvPr id="51" name="Text 45"/>
          <p:cNvSpPr txBox="1"/>
          <p:nvPr/>
        </p:nvSpPr>
        <p:spPr>
          <a:xfrm>
            <a:off x="9290304" y="539496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6F5"/>
                </a:solidFill>
              </a:rPr>
              <a:t>Monotone model: </a:t>
            </a:r>
            <a:r>
              <a:rPr lang="en-US" sz="1250" dirty="0">
                <a:solidFill>
                  <a:srgbClr val="C9D8D6"/>
                </a:solidFill>
              </a:rPr>
              <a:t>more sleep or walking never raises risk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Explained or not: a bad night versus a real warning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Steps 3 and 4 in detail, with Meera's numbers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69080" cy="4690872"/>
          </a:xfrm>
          <a:prstGeom prst="roundRect">
            <a:avLst>
              <a:gd name="adj" fmla="val 2247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66420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Tonight's heart rate, split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68096" y="225856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9D8D6"/>
                </a:solidFill>
              </a:rPr>
              <a:t>Tonight vs her usual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68096" y="2532888"/>
            <a:ext cx="2743200" cy="274320"/>
          </a:xfrm>
          <a:prstGeom prst="rect">
            <a:avLst/>
          </a:prstGeom>
          <a:solidFill>
            <a:srgbClr val="4E6B69"/>
          </a:solidFill>
          <a:ln w="12700">
            <a:solidFill>
              <a:srgbClr val="4E6B6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4448" y="25054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6F5"/>
                </a:solidFill>
              </a:rPr>
              <a:t>+13.8 bpm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00837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9D8D6"/>
                </a:solidFill>
              </a:rPr>
              <a:t>Explained by her habits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8096" y="3282696"/>
            <a:ext cx="258417" cy="274320"/>
          </a:xfrm>
          <a:prstGeom prst="rect">
            <a:avLst/>
          </a:prstGeom>
          <a:solidFill>
            <a:srgbClr val="93ADAA"/>
          </a:solidFill>
          <a:ln w="12700">
            <a:solidFill>
              <a:srgbClr val="93ADA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9665" y="325526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3ADAA"/>
                </a:solidFill>
              </a:rPr>
              <a:t>+1.3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375818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9D8D6"/>
                </a:solidFill>
              </a:rPr>
              <a:t>Unexplained: the warning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26513" y="4032504"/>
            <a:ext cx="2484783" cy="274320"/>
          </a:xfrm>
          <a:prstGeom prst="rect">
            <a:avLst/>
          </a:prstGeom>
          <a:solidFill>
            <a:srgbClr val="E07A9E"/>
          </a:solidFill>
          <a:ln w="12700">
            <a:solidFill>
              <a:srgbClr val="E07A9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84448" y="400507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07A9E"/>
                </a:solidFill>
              </a:rPr>
              <a:t>+12.6 bpm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4636008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Explained </a:t>
            </a:r>
            <a:r>
              <a:rPr lang="en-US" sz="1300" dirty="0">
                <a:solidFill>
                  <a:srgbClr val="C9D8D6"/>
                </a:solidFill>
              </a:rPr>
              <a:t>= her slopes x her habits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Last night </a:t>
            </a:r>
            <a:r>
              <a:rPr lang="en-US" sz="1300" dirty="0">
                <a:solidFill>
                  <a:srgbClr val="C9D8D6"/>
                </a:solidFill>
              </a:rPr>
              <a:t>1.38 h less sleep, 1,498 more steps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(-1.38) x (-1.38) + (-0.43) x (1.50) </a:t>
            </a:r>
            <a:r>
              <a:rPr lang="en-US" sz="1300" dirty="0">
                <a:solidFill>
                  <a:srgbClr val="C9D8D6"/>
                </a:solidFill>
              </a:rPr>
              <a:t>= +1.3 bpm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Home BP: </a:t>
            </a:r>
            <a:r>
              <a:rPr lang="en-US" sz="1300" dirty="0">
                <a:solidFill>
                  <a:srgbClr val="C9D8D6"/>
                </a:solidFill>
              </a:rPr>
              <a:t>+16 mmHg her activity cannot explain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18888" y="1481328"/>
            <a:ext cx="3657600" cy="4690872"/>
          </a:xfrm>
          <a:prstGeom prst="roundRect">
            <a:avLst>
              <a:gd name="adj" fmla="val 2500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38344" y="16642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Borrowing strength from the cohort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38344" y="20299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Sleep to heart rate, bpm per extra hour of sleep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138928" y="3172968"/>
            <a:ext cx="3017520" cy="0"/>
          </a:xfrm>
          <a:prstGeom prst="line">
            <a:avLst/>
          </a:prstGeom>
          <a:noFill/>
          <a:ln w="12700">
            <a:solidFill>
              <a:srgbClr val="4E6B6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70002" y="3127248"/>
            <a:ext cx="0" cy="91440"/>
          </a:xfrm>
          <a:prstGeom prst="line">
            <a:avLst/>
          </a:prstGeom>
          <a:noFill/>
          <a:ln w="12700">
            <a:solidFill>
              <a:srgbClr val="4E6B6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95682" y="36758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ADAA"/>
                </a:solidFill>
              </a:rPr>
              <a:t>-2.0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47688" y="3127248"/>
            <a:ext cx="0" cy="91440"/>
          </a:xfrm>
          <a:prstGeom prst="line">
            <a:avLst/>
          </a:prstGeom>
          <a:noFill/>
          <a:ln w="12700">
            <a:solidFill>
              <a:srgbClr val="4E6B6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3368" y="36758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ADAA"/>
                </a:solidFill>
              </a:rPr>
              <a:t>-1.5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25374" y="3127248"/>
            <a:ext cx="0" cy="91440"/>
          </a:xfrm>
          <a:prstGeom prst="line">
            <a:avLst/>
          </a:prstGeom>
          <a:noFill/>
          <a:ln w="12700">
            <a:solidFill>
              <a:srgbClr val="4E6B6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1054" y="36758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ADAA"/>
                </a:solidFill>
              </a:rPr>
              <a:t>-1.0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40680" y="2788920"/>
            <a:ext cx="1594975" cy="0"/>
          </a:xfrm>
          <a:prstGeom prst="line">
            <a:avLst/>
          </a:prstGeom>
          <a:noFill/>
          <a:ln w="15875">
            <a:solidFill>
              <a:srgbClr val="C9D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55871" y="2706624"/>
            <a:ext cx="164592" cy="164592"/>
          </a:xfrm>
          <a:prstGeom prst="ellipse">
            <a:avLst/>
          </a:prstGeom>
          <a:solidFill>
            <a:srgbClr val="152A2A"/>
          </a:solidFill>
          <a:ln w="19050">
            <a:solidFill>
              <a:srgbClr val="F1F6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98087" y="238658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6F5"/>
                </a:solidFill>
              </a:rPr>
              <a:t>her data -1.69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750231" y="3081528"/>
            <a:ext cx="182880" cy="182880"/>
          </a:xfrm>
          <a:prstGeom prst="ellipse">
            <a:avLst/>
          </a:prstGeom>
          <a:solidFill>
            <a:srgbClr val="E07A9E"/>
          </a:solidFill>
          <a:ln w="12700">
            <a:solidFill>
              <a:srgbClr val="E07A9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93031" y="33101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A9E"/>
                </a:solidFill>
              </a:rPr>
              <a:t>twin -1.41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660713" y="2971800"/>
            <a:ext cx="0" cy="402336"/>
          </a:xfrm>
          <a:prstGeom prst="line">
            <a:avLst/>
          </a:prstGeom>
          <a:noFill/>
          <a:ln w="25400">
            <a:solidFill>
              <a:srgbClr val="D6A06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12073" y="26974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6A06A"/>
                </a:solidFill>
              </a:rPr>
              <a:t>cohort -1.03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0056" y="3995928"/>
            <a:ext cx="3255264" cy="1261872"/>
          </a:xfrm>
          <a:prstGeom prst="roundRect">
            <a:avLst>
              <a:gd name="adj" fmla="val 7246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66360" y="4069080"/>
            <a:ext cx="30175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6F5"/>
                </a:solidFill>
              </a:rPr>
              <a:t>Weight on her own 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8D6"/>
                </a:solidFill>
              </a:rPr>
              <a:t>= spread² / (spread² + noise²)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8D6"/>
                </a:solidFill>
              </a:rPr>
              <a:t>= 0.43² / (0.43² + 0.37²) = 57%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07A9E"/>
                </a:solidFill>
              </a:rPr>
              <a:t>57% x (-1.69) + 43% x (-1.03) = -1.41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038344" y="53949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3ADAA"/>
                </a:solidFill>
              </a:rPr>
              <a:t>New users start at the cohort value; the more calm days they log, the more the slope becomes their own.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677656" y="1481328"/>
            <a:ext cx="2965399" cy="4690872"/>
          </a:xfrm>
          <a:prstGeom prst="roundRect">
            <a:avLst>
              <a:gd name="adj" fmla="val 3084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897112" y="1664208"/>
            <a:ext cx="2599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Meera vs most people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0536" y="2121408"/>
          <a:ext cx="2599639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31520"/>
                <a:gridCol w="54223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93AD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93AD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93AD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Sleep to HR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07A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 to HR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07A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 to BP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07A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Sleep to HRV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07A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</a:tbl>
          </a:graphicData>
        </a:graphic>
      </p:graphicFrame>
      <p:sp>
        <p:nvSpPr>
          <p:cNvPr id="39" name="Text 36"/>
          <p:cNvSpPr txBox="1"/>
          <p:nvPr/>
        </p:nvSpPr>
        <p:spPr>
          <a:xfrm>
            <a:off x="8897112" y="4087368"/>
            <a:ext cx="25996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3ADAA"/>
                </a:solidFill>
              </a:rPr>
              <a:t>Per extra hour of sleep or 1,000 steps; HR in bpm, BP in mmHg.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860536" y="4636008"/>
            <a:ext cx="2599639" cy="1353312"/>
          </a:xfrm>
          <a:prstGeom prst="roundRect">
            <a:avLst>
              <a:gd name="adj" fmla="val 6757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988552" y="4709160"/>
            <a:ext cx="236189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C1C0"/>
                </a:solidFill>
              </a:rPr>
              <a:t>Her strongest lever: walking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8D6"/>
                </a:solidFill>
              </a:rPr>
              <a:t>30 min a day: BP -4.4 mmHg on her slope vs -4.3 on the cohort's; heart rate -1.5 bpm.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From signal to a calibrated, budgeted alert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Step 5 in detail: the fusion model, its guardrails and how it was validated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011680" cy="2724912"/>
          </a:xfrm>
          <a:prstGeom prst="roundRect">
            <a:avLst>
              <a:gd name="adj" fmla="val 4545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64208"/>
            <a:ext cx="402336" cy="402336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6" name="Image 0" descr="merg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034" y="1752722"/>
            <a:ext cx="225308" cy="2253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25296" y="166420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1F6F5"/>
                </a:solidFill>
              </a:rPr>
              <a:t>Inputs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31136"/>
            <a:ext cx="1719072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Twin-adjusted </a:t>
            </a:r>
            <a:r>
              <a:rPr lang="en-US" sz="1350" dirty="0">
                <a:solidFill>
                  <a:srgbClr val="C9D8D6"/>
                </a:solidFill>
              </a:rPr>
              <a:t>HR, HRV and BP</a:t>
            </a:r>
            <a:endParaRPr lang="en-US" sz="13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7-day </a:t>
            </a:r>
            <a:r>
              <a:rPr lang="en-US" sz="1350" dirty="0">
                <a:solidFill>
                  <a:srgbClr val="C9D8D6"/>
                </a:solidFill>
              </a:rPr>
              <a:t>home BP trend</a:t>
            </a:r>
            <a:endParaRPr lang="en-US" sz="13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Load: </a:t>
            </a:r>
            <a:r>
              <a:rPr lang="en-US" sz="1350" dirty="0">
                <a:solidFill>
                  <a:srgbClr val="C9D8D6"/>
                </a:solidFill>
              </a:rPr>
              <a:t>sleep debt, activity</a:t>
            </a:r>
            <a:endParaRPr lang="en-US" sz="13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8 record facts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2601468" y="2752344"/>
            <a:ext cx="173736" cy="182880"/>
          </a:xfrm>
          <a:prstGeom prst="rightArrow">
            <a:avLst/>
          </a:prstGeom>
          <a:solidFill>
            <a:srgbClr val="2C8C8B"/>
          </a:solidFill>
          <a:ln w="12700">
            <a:solidFill>
              <a:srgbClr val="2C8C8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819095" y="1481328"/>
            <a:ext cx="2011680" cy="2724912"/>
          </a:xfrm>
          <a:prstGeom prst="roundRect">
            <a:avLst>
              <a:gd name="adj" fmla="val 4545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001975" y="1664208"/>
            <a:ext cx="402336" cy="402336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12" name="Image 1" descr="branch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489" y="1752722"/>
            <a:ext cx="225308" cy="2253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95751" y="166420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1F6F5"/>
                </a:solidFill>
              </a:rPr>
              <a:t>LightGBM</a:t>
            </a:r>
            <a:endParaRPr lang="en-US" sz="1550" dirty="0"/>
          </a:p>
        </p:txBody>
      </p:sp>
      <p:sp>
        <p:nvSpPr>
          <p:cNvPr id="14" name="Text 10"/>
          <p:cNvSpPr txBox="1"/>
          <p:nvPr/>
        </p:nvSpPr>
        <p:spPr>
          <a:xfrm>
            <a:off x="3001975" y="2231136"/>
            <a:ext cx="1719072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Gradient-boosted </a:t>
            </a:r>
            <a:r>
              <a:rPr lang="en-US" sz="1350" dirty="0">
                <a:solidFill>
                  <a:srgbClr val="C9D8D6"/>
                </a:solidFill>
              </a:rPr>
              <a:t>trees</a:t>
            </a:r>
            <a:endParaRPr lang="en-US" sz="13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Monotone: </a:t>
            </a:r>
            <a:r>
              <a:rPr lang="en-US" sz="1350" dirty="0">
                <a:solidFill>
                  <a:srgbClr val="C9D8D6"/>
                </a:solidFill>
              </a:rPr>
              <a:t>sleep and walking never raise risk</a:t>
            </a:r>
            <a:endParaRPr lang="en-US" sz="13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Prior MI, Framingham </a:t>
            </a:r>
            <a:r>
              <a:rPr lang="en-US" sz="1350" dirty="0">
                <a:solidFill>
                  <a:srgbClr val="C9D8D6"/>
                </a:solidFill>
              </a:rPr>
              <a:t>only raise it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871923" y="2752344"/>
            <a:ext cx="173736" cy="182880"/>
          </a:xfrm>
          <a:prstGeom prst="rightArrow">
            <a:avLst/>
          </a:prstGeom>
          <a:solidFill>
            <a:srgbClr val="2C8C8B"/>
          </a:solidFill>
          <a:ln w="12700">
            <a:solidFill>
              <a:srgbClr val="2C8C8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089550" y="1481328"/>
            <a:ext cx="2011680" cy="2724912"/>
          </a:xfrm>
          <a:prstGeom prst="roundRect">
            <a:avLst>
              <a:gd name="adj" fmla="val 4545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272430" y="1664208"/>
            <a:ext cx="402336" cy="402336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18" name="Image 2" descr="scal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0944" y="1752722"/>
            <a:ext cx="225308" cy="22530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766206" y="166420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1F6F5"/>
                </a:solidFill>
              </a:rPr>
              <a:t>Calibrate</a:t>
            </a:r>
            <a:endParaRPr lang="en-US" sz="1550" dirty="0"/>
          </a:p>
        </p:txBody>
      </p:sp>
      <p:sp>
        <p:nvSpPr>
          <p:cNvPr id="20" name="Text 15"/>
          <p:cNvSpPr txBox="1"/>
          <p:nvPr/>
        </p:nvSpPr>
        <p:spPr>
          <a:xfrm>
            <a:off x="5272430" y="2231136"/>
            <a:ext cx="1719072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Platt scaling: </a:t>
            </a:r>
            <a:r>
              <a:rPr lang="en-US" sz="1350" dirty="0">
                <a:solidFill>
                  <a:srgbClr val="C9D8D6"/>
                </a:solidFill>
              </a:rPr>
              <a:t>"20%" means about 20%</a:t>
            </a:r>
            <a:endParaRPr lang="en-US" sz="13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5 fold models </a:t>
            </a:r>
            <a:r>
              <a:rPr lang="en-US" sz="1350" dirty="0">
                <a:solidFill>
                  <a:srgbClr val="C9D8D6"/>
                </a:solidFill>
              </a:rPr>
              <a:t>give the likely range</a:t>
            </a:r>
            <a:endParaRPr lang="en-US" sz="1350" dirty="0"/>
          </a:p>
        </p:txBody>
      </p:sp>
      <p:sp>
        <p:nvSpPr>
          <p:cNvPr id="21" name="Shape 16"/>
          <p:cNvSpPr/>
          <p:nvPr/>
        </p:nvSpPr>
        <p:spPr>
          <a:xfrm>
            <a:off x="7142378" y="2752344"/>
            <a:ext cx="173736" cy="182880"/>
          </a:xfrm>
          <a:prstGeom prst="rightArrow">
            <a:avLst/>
          </a:prstGeom>
          <a:solidFill>
            <a:srgbClr val="2C8C8B"/>
          </a:solidFill>
          <a:ln w="12700">
            <a:solidFill>
              <a:srgbClr val="2C8C8B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360006" y="1481328"/>
            <a:ext cx="2011680" cy="2724912"/>
          </a:xfrm>
          <a:prstGeom prst="roundRect">
            <a:avLst>
              <a:gd name="adj" fmla="val 4545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542886" y="1664208"/>
            <a:ext cx="402336" cy="402336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24" name="Image 3" descr="gaug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1400" y="1752722"/>
            <a:ext cx="225308" cy="2253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036662" y="166420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1F6F5"/>
                </a:solidFill>
              </a:rPr>
              <a:t>Budgeted tiers</a:t>
            </a:r>
            <a:endParaRPr lang="en-US" sz="1550" dirty="0"/>
          </a:p>
        </p:txBody>
      </p:sp>
      <p:sp>
        <p:nvSpPr>
          <p:cNvPr id="26" name="Text 20"/>
          <p:cNvSpPr txBox="1"/>
          <p:nvPr/>
        </p:nvSpPr>
        <p:spPr>
          <a:xfrm>
            <a:off x="7542886" y="2231136"/>
            <a:ext cx="1719072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Urgent: </a:t>
            </a:r>
            <a:r>
              <a:rPr lang="en-US" sz="1350" dirty="0">
                <a:solidFill>
                  <a:srgbClr val="C9D8D6"/>
                </a:solidFill>
              </a:rPr>
              <a:t>most sensitive cut within 0.045 false alerts per patient-day</a:t>
            </a:r>
            <a:endParaRPr lang="en-US" sz="13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Watch: </a:t>
            </a:r>
            <a:r>
              <a:rPr lang="en-US" sz="1350" dirty="0">
                <a:solidFill>
                  <a:srgbClr val="C9D8D6"/>
                </a:solidFill>
              </a:rPr>
              <a:t>90% of episodes</a:t>
            </a:r>
            <a:endParaRPr lang="en-US" sz="13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Score 0 to 100: </a:t>
            </a:r>
            <a:r>
              <a:rPr lang="en-US" sz="1350" dirty="0">
                <a:solidFill>
                  <a:srgbClr val="C9D8D6"/>
                </a:solidFill>
              </a:rPr>
              <a:t>30 watch, 60 urgent</a:t>
            </a:r>
            <a:endParaRPr lang="en-US" sz="1350" dirty="0"/>
          </a:p>
        </p:txBody>
      </p:sp>
      <p:sp>
        <p:nvSpPr>
          <p:cNvPr id="27" name="Shape 21"/>
          <p:cNvSpPr/>
          <p:nvPr/>
        </p:nvSpPr>
        <p:spPr>
          <a:xfrm>
            <a:off x="9412834" y="2752344"/>
            <a:ext cx="173736" cy="182880"/>
          </a:xfrm>
          <a:prstGeom prst="rightArrow">
            <a:avLst/>
          </a:prstGeom>
          <a:solidFill>
            <a:srgbClr val="2C8C8B"/>
          </a:solidFill>
          <a:ln w="12700">
            <a:solidFill>
              <a:srgbClr val="2C8C8B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9630461" y="1481328"/>
            <a:ext cx="2011680" cy="2724912"/>
          </a:xfrm>
          <a:prstGeom prst="roundRect">
            <a:avLst>
              <a:gd name="adj" fmla="val 4545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9813341" y="1664208"/>
            <a:ext cx="402336" cy="402336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30" name="Image 4" descr="list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1855" y="1752722"/>
            <a:ext cx="225308" cy="22530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0307117" y="166420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1F6F5"/>
                </a:solidFill>
              </a:rPr>
              <a:t>Explain</a:t>
            </a:r>
            <a:endParaRPr lang="en-US" sz="1550" dirty="0"/>
          </a:p>
        </p:txBody>
      </p:sp>
      <p:sp>
        <p:nvSpPr>
          <p:cNvPr id="32" name="Text 25"/>
          <p:cNvSpPr txBox="1"/>
          <p:nvPr/>
        </p:nvSpPr>
        <p:spPr>
          <a:xfrm>
            <a:off x="9813341" y="2231136"/>
            <a:ext cx="1719072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SHAP reasons </a:t>
            </a:r>
            <a:r>
              <a:rPr lang="en-US" sz="1350" dirty="0">
                <a:solidFill>
                  <a:srgbClr val="C9D8D6"/>
                </a:solidFill>
              </a:rPr>
              <a:t>in plain words</a:t>
            </a:r>
            <a:endParaRPr lang="en-US" sz="13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Split </a:t>
            </a:r>
            <a:r>
              <a:rPr lang="en-US" sz="1350" dirty="0">
                <a:solidFill>
                  <a:srgbClr val="C9D8D6"/>
                </a:solidFill>
              </a:rPr>
              <a:t>into record and watch</a:t>
            </a:r>
            <a:endParaRPr lang="en-US" sz="13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Suggested next step </a:t>
            </a:r>
            <a:r>
              <a:rPr lang="en-US" sz="1350" dirty="0">
                <a:solidFill>
                  <a:srgbClr val="C9D8D6"/>
                </a:solidFill>
              </a:rPr>
              <a:t>for the doctor</a:t>
            </a:r>
            <a:endParaRPr lang="en-US" sz="1350" dirty="0"/>
          </a:p>
        </p:txBody>
      </p:sp>
      <p:sp>
        <p:nvSpPr>
          <p:cNvPr id="33" name="Shape 26"/>
          <p:cNvSpPr/>
          <p:nvPr/>
        </p:nvSpPr>
        <p:spPr>
          <a:xfrm>
            <a:off x="548640" y="4407408"/>
            <a:ext cx="5432908" cy="1764792"/>
          </a:xfrm>
          <a:prstGeom prst="roundRect">
            <a:avLst>
              <a:gd name="adj" fmla="val 5181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749808" y="4590288"/>
            <a:ext cx="402336" cy="402336"/>
          </a:xfrm>
          <a:prstGeom prst="ellipse">
            <a:avLst/>
          </a:prstGeom>
          <a:solidFill>
            <a:srgbClr val="0E1A1A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35" name="Image 5" descr="shield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22" y="4678802"/>
            <a:ext cx="225308" cy="22530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261872" y="45902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1F6F5"/>
                </a:solidFill>
              </a:rPr>
              <a:t>Validation</a:t>
            </a:r>
            <a:endParaRPr lang="en-US" sz="1550" dirty="0"/>
          </a:p>
        </p:txBody>
      </p:sp>
      <p:sp>
        <p:nvSpPr>
          <p:cNvPr id="37" name="Text 29"/>
          <p:cNvSpPr txBox="1"/>
          <p:nvPr/>
        </p:nvSpPr>
        <p:spPr>
          <a:xfrm>
            <a:off x="768096" y="5102352"/>
            <a:ext cx="503057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Patient-level 5-fold CV, </a:t>
            </a:r>
            <a:r>
              <a:rPr lang="en-US" sz="1300" dirty="0">
                <a:solidFill>
                  <a:srgbClr val="C9D8D6"/>
                </a:solidFill>
              </a:rPr>
              <a:t>repeated on 3 splits (seeds 42, 43, 44)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Every dashboard patient </a:t>
            </a:r>
            <a:r>
              <a:rPr lang="en-US" sz="1300" dirty="0">
                <a:solidFill>
                  <a:srgbClr val="C9D8D6"/>
                </a:solidFill>
              </a:rPr>
              <a:t>scored by a model that never saw them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3 leakage tests; </a:t>
            </a:r>
            <a:r>
              <a:rPr lang="en-US" sz="1300" dirty="0">
                <a:solidFill>
                  <a:srgbClr val="C9D8D6"/>
                </a:solidFill>
              </a:rPr>
              <a:t>NightSignal-style rule run alongside as a baseline</a:t>
            </a:r>
            <a:endParaRPr lang="en-US" sz="1300" dirty="0"/>
          </a:p>
        </p:txBody>
      </p:sp>
      <p:sp>
        <p:nvSpPr>
          <p:cNvPr id="38" name="Shape 30"/>
          <p:cNvSpPr/>
          <p:nvPr/>
        </p:nvSpPr>
        <p:spPr>
          <a:xfrm>
            <a:off x="6210148" y="4407408"/>
            <a:ext cx="5432908" cy="1764792"/>
          </a:xfrm>
          <a:prstGeom prst="roundRect">
            <a:avLst>
              <a:gd name="adj" fmla="val 5181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6411316" y="4590288"/>
            <a:ext cx="402336" cy="402336"/>
          </a:xfrm>
          <a:prstGeom prst="ellipse">
            <a:avLst/>
          </a:prstGeom>
          <a:solidFill>
            <a:srgbClr val="0E1A1A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40" name="Image 6" descr="clock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9830" y="4678802"/>
            <a:ext cx="225308" cy="225308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923380" y="459028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1F6F5"/>
                </a:solidFill>
              </a:rPr>
              <a:t>Forecasts for the next 3 days</a:t>
            </a:r>
            <a:endParaRPr lang="en-US" sz="1550" dirty="0"/>
          </a:p>
        </p:txBody>
      </p:sp>
      <p:sp>
        <p:nvSpPr>
          <p:cNvPr id="42" name="Text 33"/>
          <p:cNvSpPr txBox="1"/>
          <p:nvPr/>
        </p:nvSpPr>
        <p:spPr>
          <a:xfrm>
            <a:off x="6429604" y="5102352"/>
            <a:ext cx="503057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18 quantile models: </a:t>
            </a:r>
            <a:r>
              <a:rPr lang="en-US" sz="1300" dirty="0">
                <a:solidFill>
                  <a:srgbClr val="C9D8D6"/>
                </a:solidFill>
              </a:rPr>
              <a:t>resting HR and systolic BP, days 1 to 3, P10, P50, P90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Day-1 error: </a:t>
            </a:r>
            <a:r>
              <a:rPr lang="en-US" sz="1300" dirty="0">
                <a:solidFill>
                  <a:srgbClr val="C9D8D6"/>
                </a:solidFill>
              </a:rPr>
              <a:t>2.5 bpm heart rate, 6.2 mmHg BP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P10 to P90 band </a:t>
            </a:r>
            <a:r>
              <a:rPr lang="en-US" sz="1300" dirty="0">
                <a:solidFill>
                  <a:srgbClr val="C9D8D6"/>
                </a:solidFill>
              </a:rPr>
              <a:t>holds 73% of next-day readings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Results: the twin adds lift on every patient split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Mean of three patient splits, 240 patients, measured on patients the model never saw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32908" cy="3401568"/>
          </a:xfrm>
          <a:prstGeom prst="roundRect">
            <a:avLst>
              <a:gd name="adj" fmla="val 268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627632"/>
            <a:ext cx="50671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6F5"/>
                </a:solidFill>
              </a:rPr>
              <a:t>AUROC (axis from 0.5, chance)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956816"/>
          <a:ext cx="5250028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210148" y="1481328"/>
            <a:ext cx="5432908" cy="3401568"/>
          </a:xfrm>
          <a:prstGeom prst="roundRect">
            <a:avLst>
              <a:gd name="adj" fmla="val 268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29604" y="1627632"/>
            <a:ext cx="50671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6F5"/>
                </a:solidFill>
              </a:rPr>
              <a:t>Episodes caught at the false-alert budget (%)</a:t>
            </a:r>
            <a:endParaRPr lang="en-US" sz="14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301588" y="1956816"/>
          <a:ext cx="5250028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047488"/>
            <a:ext cx="2615184" cy="1124712"/>
          </a:xfrm>
          <a:prstGeom prst="roundRect">
            <a:avLst>
              <a:gd name="adj" fmla="val 8130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49808" y="502920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FC1C0"/>
                </a:solidFill>
              </a:rPr>
              <a:t>+0.025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749808" y="5541264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3ADAA"/>
                </a:solidFill>
              </a:rPr>
              <a:t>AUROC from the twin, better on 3 of 3 splits; +7 points of episodes caught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3376879" y="5047488"/>
            <a:ext cx="2615184" cy="1124712"/>
          </a:xfrm>
          <a:prstGeom prst="roundRect">
            <a:avLst>
              <a:gd name="adj" fmla="val 8130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78047" y="502920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FC1C0"/>
                </a:solidFill>
              </a:rPr>
              <a:t>48 h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3578047" y="5541264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3ADAA"/>
                </a:solidFill>
              </a:rPr>
              <a:t>median warning; half of all episodes caught 48 h or more ahead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5118" y="5047488"/>
            <a:ext cx="2615184" cy="1124712"/>
          </a:xfrm>
          <a:prstGeom prst="roundRect">
            <a:avLst>
              <a:gd name="adj" fmla="val 8130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6286" y="502920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6A06A"/>
                </a:solidFill>
              </a:rPr>
              <a:t>1 per 22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406286" y="5541264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3ADAA"/>
                </a:solidFill>
              </a:rPr>
              <a:t>patient-days: the false-alert budget (0.045 a day)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9033358" y="5047488"/>
            <a:ext cx="2615184" cy="1124712"/>
          </a:xfrm>
          <a:prstGeom prst="roundRect">
            <a:avLst>
              <a:gd name="adj" fmla="val 8130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234526" y="502920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07A9E"/>
                </a:solidFill>
              </a:rPr>
              <a:t>233 to 164</a:t>
            </a:r>
            <a:endParaRPr lang="en-US" sz="2600" dirty="0"/>
          </a:p>
        </p:txBody>
      </p:sp>
      <p:sp>
        <p:nvSpPr>
          <p:cNvPr id="21" name="Text 17"/>
          <p:cNvSpPr txBox="1"/>
          <p:nvPr/>
        </p:nvSpPr>
        <p:spPr>
          <a:xfrm>
            <a:off x="9234526" y="5541264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3ADAA"/>
                </a:solidFill>
              </a:rPr>
              <a:t>cold-like windows alerted at 90% sensitivity once the cuff joins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Proof the twin learns the right person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The generator hides each person's true slopes, so recovery can be checked directly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349240" cy="3401568"/>
          </a:xfrm>
          <a:prstGeom prst="roundRect">
            <a:avLst>
              <a:gd name="adj" fmla="val 268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627632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6F5"/>
                </a:solidFill>
              </a:rPr>
              <a:t>Error cut vs one slope for everyone (%)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956816"/>
          <a:ext cx="51663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126480" y="1481328"/>
            <a:ext cx="5516575" cy="3401568"/>
          </a:xfrm>
          <a:prstGeom prst="roundRect">
            <a:avLst>
              <a:gd name="adj" fmla="val 268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45936" y="1627632"/>
            <a:ext cx="51508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6F5"/>
                </a:solidFill>
              </a:rPr>
              <a:t>Recovery of the hidden truth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048256"/>
          <a:ext cx="51508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22960"/>
                <a:gridCol w="914400"/>
                <a:gridCol w="853135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93AD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93AD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 (r)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93AD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Twin error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93AD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slope error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93AD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80% band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Sleep to heart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3FC1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93AD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 to heart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3FC1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93AD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 to BP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3FC1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93AD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Sleep to HRV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3FC1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93AD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345936" y="4425696"/>
            <a:ext cx="5150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3ADAA"/>
                </a:solidFill>
              </a:rPr>
              <a:t>Error: mean absolute error in each slope's own unit. One slope: the population average for everyone.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48640" y="5047488"/>
            <a:ext cx="3545738" cy="1124712"/>
          </a:xfrm>
          <a:prstGeom prst="roundRect">
            <a:avLst>
              <a:gd name="adj" fmla="val 8130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31520" y="5230368"/>
            <a:ext cx="402336" cy="402336"/>
          </a:xfrm>
          <a:prstGeom prst="ellipse">
            <a:avLst/>
          </a:prstGeom>
          <a:solidFill>
            <a:srgbClr val="0E1A1A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13" name="Image 0" descr="step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34" y="5318882"/>
            <a:ext cx="225308" cy="22530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61872" y="5102352"/>
            <a:ext cx="26770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6F5"/>
                </a:solidFill>
              </a:rPr>
              <a:t>Personal what-if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8D6"/>
                </a:solidFill>
              </a:rPr>
              <a:t>Walking advice sized to her body, not the average body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322978" y="5047488"/>
            <a:ext cx="3545738" cy="1124712"/>
          </a:xfrm>
          <a:prstGeom prst="roundRect">
            <a:avLst>
              <a:gd name="adj" fmla="val 8130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505858" y="5230368"/>
            <a:ext cx="402336" cy="402336"/>
          </a:xfrm>
          <a:prstGeom prst="ellipse">
            <a:avLst/>
          </a:prstGeom>
          <a:solidFill>
            <a:srgbClr val="0E1A1A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17" name="Image 1" descr="moo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372" y="5318882"/>
            <a:ext cx="225308" cy="22530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36210" y="5102352"/>
            <a:ext cx="26770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6F5"/>
                </a:solidFill>
              </a:rPr>
              <a:t>Fewer false alarms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8D6"/>
                </a:solidFill>
              </a:rPr>
              <a:t>A late night is explained by her own sleep slope, not alerted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8097317" y="5047488"/>
            <a:ext cx="3545738" cy="1124712"/>
          </a:xfrm>
          <a:prstGeom prst="roundRect">
            <a:avLst>
              <a:gd name="adj" fmla="val 8130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8280197" y="5230368"/>
            <a:ext cx="402336" cy="402336"/>
          </a:xfrm>
          <a:prstGeom prst="ellipse">
            <a:avLst/>
          </a:prstGeom>
          <a:solidFill>
            <a:srgbClr val="0E1A1A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21" name="Image 2" descr="scal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8711" y="5318882"/>
            <a:ext cx="225308" cy="22530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810549" y="5102352"/>
            <a:ext cx="26770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6F5"/>
                </a:solidFill>
              </a:rPr>
              <a:t>Honest uncertainty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8D6"/>
                </a:solidFill>
              </a:rPr>
              <a:t>80% intervals hold 72% to 76% of the true slopes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Doctor console: who needs attention today, and why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Live demo: pratibimb-pi.vercel.app/console</a:t>
            </a:r>
            <a:endParaRPr lang="en-US" sz="1500" dirty="0"/>
          </a:p>
        </p:txBody>
      </p:sp>
      <p:pic>
        <p:nvPicPr>
          <p:cNvPr id="4" name="Image 0" descr="Triage list sorted by 72 hour ris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4752"/>
            <a:ext cx="5442509" cy="3401568"/>
          </a:xfrm>
          <a:prstGeom prst="rect">
            <a:avLst/>
          </a:prstGeom>
        </p:spPr>
      </p:pic>
      <p:pic>
        <p:nvPicPr>
          <p:cNvPr id="5" name="Image 1" descr="Twin page summary for Meera Iy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339" y="1444752"/>
            <a:ext cx="4950716" cy="340156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047488"/>
            <a:ext cx="5432908" cy="1124712"/>
          </a:xfrm>
          <a:prstGeom prst="roundRect">
            <a:avLst>
              <a:gd name="adj" fmla="val 8130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68096" y="5138928"/>
            <a:ext cx="50305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Today: </a:t>
            </a:r>
            <a:r>
              <a:rPr lang="en-US" sz="1350" dirty="0">
                <a:solidFill>
                  <a:srgbClr val="C9D8D6"/>
                </a:solidFill>
              </a:rPr>
              <a:t>10 urgent, 26 check-in, 204 steady, sorted by 72 h risk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Every row: </a:t>
            </a:r>
            <a:r>
              <a:rPr lang="en-US" sz="1350" dirty="0">
                <a:solidFill>
                  <a:srgbClr val="C9D8D6"/>
                </a:solidFill>
              </a:rPr>
              <a:t>reason, sparklines, data freshness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6210148" y="5047488"/>
            <a:ext cx="5432908" cy="1124712"/>
          </a:xfrm>
          <a:prstGeom prst="roundRect">
            <a:avLst>
              <a:gd name="adj" fmla="val 8130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29604" y="5138928"/>
            <a:ext cx="50305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Twin page: </a:t>
            </a:r>
            <a:r>
              <a:rPr lang="en-US" sz="1350" dirty="0">
                <a:solidFill>
                  <a:srgbClr val="C9D8D6"/>
                </a:solidFill>
              </a:rPr>
              <a:t>three-sentence summary, 24% with its likely range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What the twin used </a:t>
            </a:r>
            <a:r>
              <a:rPr lang="en-US" sz="1350" dirty="0">
                <a:solidFill>
                  <a:srgbClr val="C9D8D6"/>
                </a:solidFill>
              </a:rPr>
              <a:t>and a suggested next step: acknowledge, call, escalate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Doctor console: try changes on her body, keep alerts on budget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Simulate uses Meera's own slopes; every alert carries its reasons and inputs</a:t>
            </a:r>
            <a:endParaRPr lang="en-US" sz="1500" dirty="0"/>
          </a:p>
        </p:txBody>
      </p:sp>
      <p:pic>
        <p:nvPicPr>
          <p:cNvPr id="4" name="Image 0" descr="What-if simulator for Me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4752"/>
            <a:ext cx="6660213" cy="3401568"/>
          </a:xfrm>
          <a:prstGeom prst="rect">
            <a:avLst/>
          </a:prstGeom>
        </p:spPr>
      </p:pic>
      <p:pic>
        <p:nvPicPr>
          <p:cNvPr id="5" name="Image 1" descr="Why this alert draw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453" y="1444752"/>
            <a:ext cx="1965350" cy="340156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631403" y="1444752"/>
            <a:ext cx="2011652" cy="3401568"/>
          </a:xfrm>
          <a:prstGeom prst="roundRect">
            <a:avLst>
              <a:gd name="adj" fmla="val 4546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814283" y="1554480"/>
            <a:ext cx="17373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FC1C0"/>
                </a:solidFill>
              </a:rPr>
              <a:t>0.037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9814283" y="2066544"/>
            <a:ext cx="17373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3ADAA"/>
                </a:solidFill>
              </a:rPr>
              <a:t>false alerts a patient-day this week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9814283" y="2615184"/>
            <a:ext cx="17373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6A06A"/>
                </a:solidFill>
              </a:rPr>
              <a:t>0.045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9814283" y="3127248"/>
            <a:ext cx="17373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3ADAA"/>
                </a:solidFill>
              </a:rPr>
              <a:t>budget the clinic sets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9814283" y="3547872"/>
            <a:ext cx="17373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FC1C0"/>
                </a:solidFill>
              </a:rPr>
              <a:t>14 days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9814283" y="4059936"/>
            <a:ext cx="17373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3ADAA"/>
                </a:solidFill>
              </a:rPr>
              <a:t>replayed before a threshold change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5047488"/>
            <a:ext cx="3545738" cy="1124712"/>
          </a:xfrm>
          <a:prstGeom prst="roundRect">
            <a:avLst>
              <a:gd name="adj" fmla="val 8130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49808" y="5120640"/>
            <a:ext cx="317997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Simulate: </a:t>
            </a:r>
            <a:r>
              <a:rPr lang="en-US" sz="1300" dirty="0">
                <a:solidFill>
                  <a:srgbClr val="C9D8D6"/>
                </a:solidFill>
              </a:rPr>
              <a:t>walking, sleep, medicine, salt, alcohol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72 h risk holds </a:t>
            </a:r>
            <a:r>
              <a:rPr lang="en-US" sz="1300" dirty="0">
                <a:solidFill>
                  <a:srgbClr val="C9D8D6"/>
                </a:solidFill>
              </a:rPr>
              <a:t>once strain is under way; ordinary week falls 27%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322978" y="5047488"/>
            <a:ext cx="3545738" cy="1124712"/>
          </a:xfrm>
          <a:prstGeom prst="roundRect">
            <a:avLst>
              <a:gd name="adj" fmla="val 8130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24146" y="5120640"/>
            <a:ext cx="317997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Why this alert: </a:t>
            </a:r>
            <a:r>
              <a:rPr lang="en-US" sz="1300" dirty="0">
                <a:solidFill>
                  <a:srgbClr val="C9D8D6"/>
                </a:solidFill>
              </a:rPr>
              <a:t>reasons, inputs, confidence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Model stats </a:t>
            </a:r>
            <a:r>
              <a:rPr lang="en-US" sz="1300" dirty="0">
                <a:solidFill>
                  <a:srgbClr val="C9D8D6"/>
                </a:solidFill>
              </a:rPr>
              <a:t>beside every alert: 70% caught, AUROC 0.876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097317" y="5047488"/>
            <a:ext cx="3545738" cy="1124712"/>
          </a:xfrm>
          <a:prstGeom prst="roundRect">
            <a:avLst>
              <a:gd name="adj" fmla="val 8130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98485" y="5120640"/>
            <a:ext cx="317997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Thresholds: </a:t>
            </a:r>
            <a:r>
              <a:rPr lang="en-US" sz="1300" dirty="0">
                <a:solidFill>
                  <a:srgbClr val="C9D8D6"/>
                </a:solidFill>
              </a:rPr>
              <a:t>preview on 14 days of history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1F6F5"/>
                </a:solidFill>
              </a:rPr>
              <a:t>Audit log: </a:t>
            </a:r>
            <a:r>
              <a:rPr lang="en-US" sz="1300" dirty="0">
                <a:solidFill>
                  <a:srgbClr val="C9D8D6"/>
                </a:solidFill>
              </a:rPr>
              <a:t>append-only, with the consent basis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Patient view: plain words, her own levers, a safe SOS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Live demo: pratibimb-pi.vercel.app/me/P-0007</a:t>
            </a:r>
            <a:endParaRPr lang="en-US" sz="1500" dirty="0"/>
          </a:p>
        </p:txBody>
      </p:sp>
      <p:pic>
        <p:nvPicPr>
          <p:cNvPr id="4" name="Image 0" descr="Status vs her usu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4752"/>
            <a:ext cx="2003929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879592"/>
            <a:ext cx="20039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Status vs her usual</a:t>
            </a:r>
            <a:endParaRPr lang="en-US" sz="1200" dirty="0"/>
          </a:p>
        </p:txBody>
      </p:sp>
      <p:pic>
        <p:nvPicPr>
          <p:cNvPr id="6" name="Image 1" descr="Hindi, with read-a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3737" y="1444752"/>
            <a:ext cx="2003929" cy="4343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753737" y="5879592"/>
            <a:ext cx="20039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Hindi, with read-aloud</a:t>
            </a:r>
            <a:endParaRPr lang="en-US" sz="1200" dirty="0"/>
          </a:p>
        </p:txBody>
      </p:sp>
      <p:pic>
        <p:nvPicPr>
          <p:cNvPr id="8" name="Image 2" descr="SOS check-in lad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8834" y="1444752"/>
            <a:ext cx="2003929" cy="43434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958834" y="5879592"/>
            <a:ext cx="20039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SOS check-in ladder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7301092" y="1444752"/>
            <a:ext cx="4341964" cy="4727448"/>
          </a:xfrm>
          <a:prstGeom prst="roundRect">
            <a:avLst>
              <a:gd name="adj" fmla="val 2106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538836" y="1700784"/>
            <a:ext cx="390305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3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One sentence </a:t>
            </a:r>
            <a:r>
              <a:rPr lang="en-US" sz="1500" dirty="0">
                <a:solidFill>
                  <a:srgbClr val="C9D8D6"/>
                </a:solidFill>
              </a:rPr>
              <a:t>in English or Hindi; compared with her usual, not with others</a:t>
            </a:r>
            <a:endParaRPr lang="en-US" sz="1500" dirty="0"/>
          </a:p>
          <a:p>
            <a:pPr marL="177800" indent="-177800">
              <a:spcAft>
                <a:spcPts val="13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What helps you: </a:t>
            </a:r>
            <a:r>
              <a:rPr lang="en-US" sz="1500" dirty="0">
                <a:solidFill>
                  <a:srgbClr val="C9D8D6"/>
                </a:solidFill>
              </a:rPr>
              <a:t>her own strongest levers, learned from her calm days</a:t>
            </a:r>
            <a:endParaRPr lang="en-US" sz="1500" dirty="0"/>
          </a:p>
          <a:p>
            <a:pPr marL="177800" indent="-177800">
              <a:spcAft>
                <a:spcPts val="13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Check-in: </a:t>
            </a:r>
            <a:r>
              <a:rPr lang="en-US" sz="1500" dirty="0">
                <a:solidFill>
                  <a:srgbClr val="C9D8D6"/>
                </a:solidFill>
              </a:rPr>
              <a:t>fine, tired, dizzy, chest discomfort; a note to the doctor</a:t>
            </a:r>
            <a:endParaRPr lang="en-US" sz="1500" dirty="0"/>
          </a:p>
          <a:p>
            <a:pPr marL="177800" indent="-177800">
              <a:spcAft>
                <a:spcPts val="13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Press-and-hold SOS: </a:t>
            </a:r>
            <a:r>
              <a:rPr lang="en-US" sz="1500" dirty="0">
                <a:solidFill>
                  <a:srgbClr val="C9D8D6"/>
                </a:solidFill>
              </a:rPr>
              <a:t>patient first, then two contacts, then the doctor</a:t>
            </a:r>
            <a:endParaRPr lang="en-US" sz="1500" dirty="0"/>
          </a:p>
          <a:p>
            <a:pPr marL="177800" indent="-177800">
              <a:spcAft>
                <a:spcPts val="13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One tap to 112 </a:t>
            </a:r>
            <a:r>
              <a:rPr lang="en-US" sz="1500" dirty="0">
                <a:solidFill>
                  <a:srgbClr val="C9D8D6"/>
                </a:solidFill>
              </a:rPr>
              <a:t>at every step; the server never dials it</a:t>
            </a:r>
            <a:endParaRPr lang="en-US" sz="1500" dirty="0"/>
          </a:p>
          <a:p>
            <a:pPr marL="177800" indent="-177800">
              <a:spcAft>
                <a:spcPts val="1300"/>
              </a:spcAft>
              <a:buSzPct val="100000"/>
              <a:buChar char="•"/>
            </a:pPr>
            <a:r>
              <a:rPr lang="en-US" sz="1500" b="1" dirty="0">
                <a:solidFill>
                  <a:srgbClr val="F1F6F5"/>
                </a:solidFill>
              </a:rPr>
              <a:t>New users: </a:t>
            </a:r>
            <a:r>
              <a:rPr lang="en-US" sz="1500" dirty="0">
                <a:solidFill>
                  <a:srgbClr val="C9D8D6"/>
                </a:solidFill>
              </a:rPr>
              <a:t>"still learning your normal", never a guess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Built for India: devices, standards, consent, regulation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Details in docs/COMPLIANCE.md and docs/DEVICE_SYNC.md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26464"/>
            <a:ext cx="3576218" cy="2304288"/>
          </a:xfrm>
          <a:prstGeom prst="roundRect">
            <a:avLst>
              <a:gd name="adj" fmla="val 396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27632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6" name="Image 0" descr="watch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345" y="1720169"/>
            <a:ext cx="235549" cy="2355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27632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Devices India owns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03704"/>
            <a:ext cx="315559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Budget watches </a:t>
            </a:r>
            <a:r>
              <a:rPr lang="en-US" sz="1350" dirty="0">
                <a:solidFill>
                  <a:srgbClr val="C9D8D6"/>
                </a:solidFill>
              </a:rPr>
              <a:t>via Android Health Connect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Apple Watch </a:t>
            </a:r>
            <a:r>
              <a:rPr lang="en-US" sz="1350" dirty="0">
                <a:solidFill>
                  <a:srgbClr val="C9D8D6"/>
                </a:solidFill>
              </a:rPr>
              <a:t>via HealthKit; Oura, Whoop; CSV upload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Freshness: </a:t>
            </a:r>
            <a:r>
              <a:rPr lang="en-US" sz="1350" dirty="0">
                <a:solidFill>
                  <a:srgbClr val="C9D8D6"/>
                </a:solidFill>
              </a:rPr>
              <a:t>last sync shown on every card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07738" y="1426464"/>
            <a:ext cx="3576218" cy="2304288"/>
          </a:xfrm>
          <a:prstGeom prst="roundRect">
            <a:avLst>
              <a:gd name="adj" fmla="val 396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08906" y="1627632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11" name="Image 1" descr="fileCheck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444" y="1720169"/>
            <a:ext cx="235549" cy="23554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39258" y="1627632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Health standards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7194" y="2203704"/>
            <a:ext cx="315559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FHIR R4 </a:t>
            </a:r>
            <a:r>
              <a:rPr lang="en-US" sz="1350" dirty="0">
                <a:solidFill>
                  <a:srgbClr val="C9D8D6"/>
                </a:solidFill>
              </a:rPr>
              <a:t>with SNOMED CT and LOINC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ABDM WellnessRecord </a:t>
            </a:r>
            <a:r>
              <a:rPr lang="en-US" sz="1350" dirty="0">
                <a:solidFill>
                  <a:srgbClr val="C9D8D6"/>
                </a:solidFill>
              </a:rPr>
              <a:t>bundle (NRCeS); masked ABHA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One-tap export </a:t>
            </a:r>
            <a:r>
              <a:rPr lang="en-US" sz="1350" dirty="0">
                <a:solidFill>
                  <a:srgbClr val="C9D8D6"/>
                </a:solidFill>
              </a:rPr>
              <a:t>per patient from the Records tab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66837" y="1426464"/>
            <a:ext cx="3576218" cy="2304288"/>
          </a:xfrm>
          <a:prstGeom prst="roundRect">
            <a:avLst>
              <a:gd name="adj" fmla="val 396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68005" y="1627632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16" name="Image 2" descr="shield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0542" y="1720169"/>
            <a:ext cx="235549" cy="23554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798357" y="1627632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DPDP-ready consent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86293" y="2203704"/>
            <a:ext cx="315559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Consent per stream; </a:t>
            </a:r>
            <a:r>
              <a:rPr lang="en-US" sz="1350" dirty="0">
                <a:solidFill>
                  <a:srgbClr val="C9D8D6"/>
                </a:solidFill>
              </a:rPr>
              <a:t>opt out of AI, keep records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Withdraw and delete; </a:t>
            </a:r>
            <a:r>
              <a:rPr lang="en-US" sz="1350" dirty="0">
                <a:solidFill>
                  <a:srgbClr val="C9D8D6"/>
                </a:solidFill>
              </a:rPr>
              <a:t>18+ gate; contacts consent ahead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Audit log: </a:t>
            </a:r>
            <a:r>
              <a:rPr lang="en-US" sz="1350" dirty="0">
                <a:solidFill>
                  <a:srgbClr val="C9D8D6"/>
                </a:solidFill>
              </a:rPr>
              <a:t>consent basis of every action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548640" y="3867912"/>
            <a:ext cx="3576218" cy="2304288"/>
          </a:xfrm>
          <a:prstGeom prst="roundRect">
            <a:avLst>
              <a:gd name="adj" fmla="val 396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49808" y="4069080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21" name="Image 3" descr="doctor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345" y="4161617"/>
            <a:ext cx="235549" cy="23554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80160" y="406908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Clinical safety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4645152"/>
            <a:ext cx="315559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No AI prescribing: </a:t>
            </a:r>
            <a:r>
              <a:rPr lang="en-US" sz="1350" dirty="0">
                <a:solidFill>
                  <a:srgbClr val="C9D8D6"/>
                </a:solidFill>
              </a:rPr>
              <a:t>patient text never changes doses (Telemedicine Guidelines 2020)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Doctor decides; </a:t>
            </a:r>
            <a:r>
              <a:rPr lang="en-US" sz="1350" dirty="0">
                <a:solidFill>
                  <a:srgbClr val="C9D8D6"/>
                </a:solidFill>
              </a:rPr>
              <a:t>server never dials 112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Contacts reached </a:t>
            </a:r>
            <a:r>
              <a:rPr lang="en-US" sz="1350" dirty="0">
                <a:solidFill>
                  <a:srgbClr val="C9D8D6"/>
                </a:solidFill>
              </a:rPr>
              <a:t>by SMS, WhatsApp, voice (mocked)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4307738" y="3867912"/>
            <a:ext cx="3576218" cy="2304288"/>
          </a:xfrm>
          <a:prstGeom prst="roundRect">
            <a:avLst>
              <a:gd name="adj" fmla="val 396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08906" y="4069080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26" name="Image 4" descr="boo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1444" y="4161617"/>
            <a:ext cx="235549" cy="235549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039258" y="406908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Regulatory path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4527194" y="4645152"/>
            <a:ext cx="315559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CDSCO Medical Device Software </a:t>
            </a:r>
            <a:r>
              <a:rPr lang="en-US" sz="1350" dirty="0">
                <a:solidFill>
                  <a:srgbClr val="C9D8D6"/>
                </a:solidFill>
              </a:rPr>
              <a:t>guidance (30 July 2026)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Likely Class B or C; </a:t>
            </a:r>
            <a:r>
              <a:rPr lang="en-US" sz="1350" dirty="0">
                <a:solidFill>
                  <a:srgbClr val="C9D8D6"/>
                </a:solidFill>
              </a:rPr>
              <a:t>append-only audit log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Decision support </a:t>
            </a:r>
            <a:r>
              <a:rPr lang="en-US" sz="1350" dirty="0">
                <a:solidFill>
                  <a:srgbClr val="C9D8D6"/>
                </a:solidFill>
              </a:rPr>
              <a:t>for a registered practitioner, not a diagnosis</a:t>
            </a:r>
            <a:endParaRPr lang="en-US" sz="1350" dirty="0"/>
          </a:p>
        </p:txBody>
      </p:sp>
      <p:sp>
        <p:nvSpPr>
          <p:cNvPr id="29" name="Shape 22"/>
          <p:cNvSpPr/>
          <p:nvPr/>
        </p:nvSpPr>
        <p:spPr>
          <a:xfrm>
            <a:off x="8066837" y="3867912"/>
            <a:ext cx="3576218" cy="2304288"/>
          </a:xfrm>
          <a:prstGeom prst="roundRect">
            <a:avLst>
              <a:gd name="adj" fmla="val 396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68005" y="4069080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31" name="Image 5" descr="lang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0542" y="4161617"/>
            <a:ext cx="235549" cy="235549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798357" y="406908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Language and cost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8286293" y="4645152"/>
            <a:ext cx="315559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English and Hindi </a:t>
            </a:r>
            <a:r>
              <a:rPr lang="en-US" sz="1350" dirty="0">
                <a:solidFill>
                  <a:srgbClr val="C9D8D6"/>
                </a:solidFill>
              </a:rPr>
              <a:t>with read-aloud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Works on a Rs 2,000 watch </a:t>
            </a:r>
            <a:r>
              <a:rPr lang="en-US" sz="1350" dirty="0">
                <a:solidFill>
                  <a:srgbClr val="C9D8D6"/>
                </a:solidFill>
              </a:rPr>
              <a:t>plus a home BP cuff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1F6F5"/>
                </a:solidFill>
              </a:rPr>
              <a:t>No new hardware: </a:t>
            </a:r>
            <a:r>
              <a:rPr lang="en-US" sz="1350" dirty="0">
                <a:solidFill>
                  <a:srgbClr val="C9D8D6"/>
                </a:solidFill>
              </a:rPr>
              <a:t>reads the phone's health store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Outcomes: what is built and what it shows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Every item is in the public repository and the live demo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629400" cy="4709160"/>
          </a:xfrm>
          <a:prstGeom prst="roundRect">
            <a:avLst>
              <a:gd name="adj" fmla="val 1942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6276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Delivered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66544"/>
          <a:ext cx="626364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4023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3AD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3AD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prediction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9D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AUROC 0.876; 70% caught at budget; leakage-tested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Physiology Engine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9D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recovers hidden slopes, r 0.59 to 0.71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 dashboard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9D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triage, twin, simulate, alerts, thresholds, model card, audit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9D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 and Hindi, check-in, consented SOS ladder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9D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FHIR R4 and ABDM WellnessRecord export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9D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pratibimb-pi.vercel.app, no sign-in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1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9D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MIT; 25 tests; Docker; reproducible 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41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06640" y="1463040"/>
            <a:ext cx="4236415" cy="4709160"/>
          </a:xfrm>
          <a:prstGeom prst="roundRect">
            <a:avLst>
              <a:gd name="adj" fmla="val 2158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44384" y="1627632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A day in the clinic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44384" y="1975104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3ADAA"/>
                </a:solidFill>
              </a:rPr>
              <a:t>12 October, 240 synthetic patients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644384" y="2377440"/>
            <a:ext cx="1143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B6F55"/>
                </a:solidFill>
              </a:rPr>
              <a:t>10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8823960" y="2377440"/>
            <a:ext cx="26362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8D6"/>
                </a:solidFill>
              </a:rPr>
              <a:t>need attention today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644384" y="3246120"/>
            <a:ext cx="1143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3B341"/>
                </a:solidFill>
              </a:rPr>
              <a:t>26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8823960" y="3246120"/>
            <a:ext cx="26362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8D6"/>
                </a:solidFill>
              </a:rPr>
              <a:t>worth a check-in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644384" y="4114800"/>
            <a:ext cx="1143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5BC08A"/>
                </a:solidFill>
              </a:rPr>
              <a:t>204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8823960" y="4114800"/>
            <a:ext cx="26362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8D6"/>
                </a:solidFill>
              </a:rPr>
              <a:t>steady: no action needed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644384" y="5074920"/>
            <a:ext cx="3760927" cy="0"/>
          </a:xfrm>
          <a:prstGeom prst="line">
            <a:avLst/>
          </a:prstGeom>
          <a:noFill/>
          <a:ln w="9525">
            <a:solidFill>
              <a:srgbClr val="2741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44384" y="5166360"/>
            <a:ext cx="3779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1F6F5"/>
                </a:solidFill>
              </a:rPr>
              <a:t>0.041 false alerts a patient-day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9D8D6"/>
                </a:solidFill>
              </a:rPr>
              <a:t>inside the 0.045 budget; 36 open alerts, each with reasons and inputs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Honest limits and the road to a clinic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What the evidence does not show yet, and how we close each gap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572000" cy="4709160"/>
          </a:xfrm>
          <a:prstGeom prst="roundRect">
            <a:avLst>
              <a:gd name="adj" fmla="val 2000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45920"/>
            <a:ext cx="420624" cy="42062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6" name="Image 0" descr="aler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345" y="1738457"/>
            <a:ext cx="235549" cy="2355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4592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Limits today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67712"/>
            <a:ext cx="4169664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50" b="1" dirty="0">
                <a:solidFill>
                  <a:srgbClr val="F1F6F5"/>
                </a:solidFill>
              </a:rPr>
              <a:t>Synthetic labels: </a:t>
            </a:r>
            <a:r>
              <a:rPr lang="en-US" sz="1450" dirty="0">
                <a:solidFill>
                  <a:srgbClr val="C9D8D6"/>
                </a:solidFill>
              </a:rPr>
              <a:t>real-world performance will be lower</a:t>
            </a:r>
            <a:endParaRPr lang="en-US" sz="14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50" b="1" dirty="0">
                <a:solidFill>
                  <a:srgbClr val="F1F6F5"/>
                </a:solidFill>
              </a:rPr>
              <a:t>Nightly, not minute by minute: </a:t>
            </a:r>
            <a:r>
              <a:rPr lang="en-US" sz="1450" dirty="0">
                <a:solidFill>
                  <a:srgbClr val="C9D8D6"/>
                </a:solidFill>
              </a:rPr>
              <a:t>budget watches sync hourly to daily</a:t>
            </a:r>
            <a:endParaRPr lang="en-US" sz="14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50" b="1" dirty="0">
                <a:solidFill>
                  <a:srgbClr val="F1F6F5"/>
                </a:solidFill>
              </a:rPr>
              <a:t>No heart-attack detection; </a:t>
            </a:r>
            <a:r>
              <a:rPr lang="en-US" sz="1450" dirty="0">
                <a:solidFill>
                  <a:srgbClr val="C9D8D6"/>
                </a:solidFill>
              </a:rPr>
              <a:t>acute events go to SOS and 112</a:t>
            </a:r>
            <a:endParaRPr lang="en-US" sz="14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50" b="1" dirty="0">
                <a:solidFill>
                  <a:srgbClr val="F1F6F5"/>
                </a:solidFill>
              </a:rPr>
              <a:t>Record adds ranking, </a:t>
            </a:r>
            <a:r>
              <a:rPr lang="en-US" sz="1450" dirty="0">
                <a:solidFill>
                  <a:srgbClr val="C9D8D6"/>
                </a:solidFill>
              </a:rPr>
              <a:t>not timing; its job is reading the watch right</a:t>
            </a:r>
            <a:endParaRPr lang="en-US" sz="14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50" b="1" dirty="0">
                <a:solidFill>
                  <a:srgbClr val="F1F6F5"/>
                </a:solidFill>
              </a:rPr>
              <a:t>Framingham under-estimates </a:t>
            </a:r>
            <a:r>
              <a:rPr lang="en-US" sz="1450" dirty="0">
                <a:solidFill>
                  <a:srgbClr val="C9D8D6"/>
                </a:solidFill>
              </a:rPr>
              <a:t>South Asian risk</a:t>
            </a:r>
            <a:endParaRPr lang="en-US" sz="14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50" b="1" dirty="0">
                <a:solidFill>
                  <a:srgbClr val="F1F6F5"/>
                </a:solidFill>
              </a:rPr>
              <a:t>Single splits vary </a:t>
            </a:r>
            <a:r>
              <a:rPr lang="en-US" sz="1450" dirty="0">
                <a:solidFill>
                  <a:srgbClr val="C9D8D6"/>
                </a:solidFill>
              </a:rPr>
              <a:t>by up to 19 points; every headline is a 3-split mean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349240" y="1463040"/>
            <a:ext cx="6293815" cy="1074420"/>
          </a:xfrm>
          <a:prstGeom prst="roundRect">
            <a:avLst>
              <a:gd name="adj" fmla="val 8511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550408" y="1808226"/>
            <a:ext cx="384048" cy="384048"/>
          </a:xfrm>
          <a:prstGeom prst="ellipse">
            <a:avLst/>
          </a:prstGeom>
          <a:solidFill>
            <a:srgbClr val="0E1A1A"/>
          </a:solidFill>
          <a:ln w="9525">
            <a:solidFill>
              <a:srgbClr val="2C8C8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50408" y="180822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C1C0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536192"/>
            <a:ext cx="182880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C1C0"/>
                </a:solidFill>
              </a:rPr>
              <a:t>Next 3 months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1536192"/>
            <a:ext cx="3504895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8D6"/>
                </a:solidFill>
              </a:rPr>
              <a:t>ABDM sandbox integration; Android companion app on Health Connect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349240" y="2674620"/>
            <a:ext cx="6293815" cy="1074420"/>
          </a:xfrm>
          <a:prstGeom prst="roundRect">
            <a:avLst>
              <a:gd name="adj" fmla="val 8511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50408" y="3019806"/>
            <a:ext cx="384048" cy="384048"/>
          </a:xfrm>
          <a:prstGeom prst="ellipse">
            <a:avLst/>
          </a:prstGeom>
          <a:solidFill>
            <a:srgbClr val="0E1A1A"/>
          </a:solidFill>
          <a:ln w="9525">
            <a:solidFill>
              <a:srgbClr val="2C8C8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550408" y="30198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C1C0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126480" y="2747772"/>
            <a:ext cx="182880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C1C0"/>
                </a:solidFill>
              </a:rPr>
              <a:t>3 to 6 months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2747772"/>
            <a:ext cx="3504895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8D6"/>
                </a:solidFill>
              </a:rPr>
              <a:t>Silent-mode pilot with one hypertension clinic; validate on consented real data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349240" y="3886200"/>
            <a:ext cx="6293815" cy="1074420"/>
          </a:xfrm>
          <a:prstGeom prst="roundRect">
            <a:avLst>
              <a:gd name="adj" fmla="val 8511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50408" y="4231386"/>
            <a:ext cx="384048" cy="384048"/>
          </a:xfrm>
          <a:prstGeom prst="ellipse">
            <a:avLst/>
          </a:prstGeom>
          <a:solidFill>
            <a:srgbClr val="0E1A1A"/>
          </a:solidFill>
          <a:ln w="9525">
            <a:solidFill>
              <a:srgbClr val="2C8C8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50408" y="42313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C1C0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126480" y="3959352"/>
            <a:ext cx="182880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C1C0"/>
                </a:solidFill>
              </a:rPr>
              <a:t>6 to 12 months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959352"/>
            <a:ext cx="3504895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8D6"/>
                </a:solidFill>
              </a:rPr>
              <a:t>WHO 2019 SEAR risk chart; CGM stream for diabetic patients; more Indian languages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349240" y="5097780"/>
            <a:ext cx="6293815" cy="1074420"/>
          </a:xfrm>
          <a:prstGeom prst="roundRect">
            <a:avLst>
              <a:gd name="adj" fmla="val 8511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550408" y="5442966"/>
            <a:ext cx="384048" cy="384048"/>
          </a:xfrm>
          <a:prstGeom prst="ellipse">
            <a:avLst/>
          </a:prstGeom>
          <a:solidFill>
            <a:srgbClr val="0E1A1A"/>
          </a:solidFill>
          <a:ln w="9525">
            <a:solidFill>
              <a:srgbClr val="2C8C8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50408" y="544296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C1C0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126480" y="5170932"/>
            <a:ext cx="182880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C1C0"/>
                </a:solidFill>
              </a:rPr>
              <a:t>12 months on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955280" y="5170932"/>
            <a:ext cx="3504895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8D6"/>
                </a:solidFill>
              </a:rPr>
              <a:t>CDSCO Medical Device Software filing (Class B or C); clinic network roll-out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91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Team AMAZE, IIM Lucknow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3268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DAA"/>
                </a:solidFill>
              </a:rPr>
              <a:t>Happiest Health Digital Twin Challenge 2026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2103120"/>
          </a:xfrm>
          <a:prstGeom prst="roundRect">
            <a:avLst>
              <a:gd name="adj" fmla="val 434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700784"/>
            <a:ext cx="512064" cy="51206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6" name="Image 0" descr="ca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750" y="1813438"/>
            <a:ext cx="286756" cy="2867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8096" y="2377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1F6F5"/>
                </a:solidFill>
              </a:rPr>
              <a:t>Nikita Pandey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6A06A"/>
                </a:solidFill>
              </a:rPr>
              <a:t>Team leader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30723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DAA"/>
                </a:solidFill>
              </a:rPr>
              <a:t>PGPSM, IIM Lucknow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37560" y="1463040"/>
            <a:ext cx="2606040" cy="2103120"/>
          </a:xfrm>
          <a:prstGeom prst="roundRect">
            <a:avLst>
              <a:gd name="adj" fmla="val 4348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57016" y="1700784"/>
            <a:ext cx="512064" cy="512064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12" name="Image 1" descr="cap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670" y="1813438"/>
            <a:ext cx="286756" cy="2867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57016" y="2377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1F6F5"/>
                </a:solidFill>
              </a:rPr>
              <a:t>Suraj Aryan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3557016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6A06A"/>
                </a:solidFill>
              </a:rPr>
              <a:t>Member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557016" y="30723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DAA"/>
                </a:solidFill>
              </a:rPr>
              <a:t>PGPSM, IIM Lucknow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3794760"/>
            <a:ext cx="5440680" cy="2377440"/>
          </a:xfrm>
          <a:prstGeom prst="roundRect">
            <a:avLst>
              <a:gd name="adj" fmla="val 3846"/>
            </a:avLst>
          </a:prstGeom>
          <a:solidFill>
            <a:srgbClr val="10302F"/>
          </a:solidFill>
          <a:ln w="9525">
            <a:solidFill>
              <a:srgbClr val="27413F"/>
            </a:solidFill>
            <a:prstDash val="solid"/>
          </a:ln>
        </p:spPr>
      </p:sp>
      <p:pic>
        <p:nvPicPr>
          <p:cNvPr id="17" name="Image 2" descr="Pratibimb m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69080"/>
            <a:ext cx="1828800" cy="12115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926080" y="4023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6F5"/>
                </a:solidFill>
              </a:rPr>
              <a:t>Thank you</a:t>
            </a:r>
            <a:endParaRPr lang="en-US" sz="3000" dirty="0"/>
          </a:p>
        </p:txBody>
      </p:sp>
      <p:sp>
        <p:nvSpPr>
          <p:cNvPr id="19" name="Text 14"/>
          <p:cNvSpPr txBox="1"/>
          <p:nvPr/>
        </p:nvSpPr>
        <p:spPr>
          <a:xfrm>
            <a:off x="2926080" y="46177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8D6"/>
                </a:solidFill>
              </a:rPr>
              <a:t>Pratibimb: a reflection of one body, read ahead of time.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217920" y="1463040"/>
            <a:ext cx="5425135" cy="4709160"/>
          </a:xfrm>
          <a:prstGeom prst="roundRect">
            <a:avLst>
              <a:gd name="adj" fmla="val 1942"/>
            </a:avLst>
          </a:prstGeom>
          <a:solidFill>
            <a:srgbClr val="152A2A"/>
          </a:solidFill>
          <a:ln w="9525">
            <a:solidFill>
              <a:srgbClr val="27413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455664" y="1645920"/>
            <a:ext cx="5059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1F6F5"/>
                </a:solidFill>
              </a:rPr>
              <a:t>Everything is public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6455664" y="2176272"/>
            <a:ext cx="365760" cy="365760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23" name="Image 3" descr="lin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131" y="2256739"/>
            <a:ext cx="204826" cy="20482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49440" y="213969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6F5"/>
                </a:solidFill>
              </a:rPr>
              <a:t>Live demo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8183880" y="2139696"/>
            <a:ext cx="33220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3FC1C0"/>
                </a:solidFill>
                <a:hlinkClick r:id="rId5" invalidUrl="" action="" tgtFrame="" tooltip="Live dem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pratibimb-pi.vercel.app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6455664" y="2724912"/>
            <a:ext cx="365760" cy="365760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27" name="Image 4" descr="lin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6131" y="2805379"/>
            <a:ext cx="204826" cy="20482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949440" y="268833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6F5"/>
                </a:solidFill>
              </a:rPr>
              <a:t>Repository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183880" y="2688336"/>
            <a:ext cx="33220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3FC1C0"/>
                </a:solidFill>
                <a:hlinkClick r:id="rId7" invalidUrl="" action="" tgtFrame="" tooltip="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github.com/pndynkt/Team-AMAZE_IIM-Lucknow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6455664" y="3273552"/>
            <a:ext cx="365760" cy="365760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31" name="Image 5" descr="link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6131" y="3354019"/>
            <a:ext cx="204826" cy="20482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949440" y="323697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6F5"/>
                </a:solidFill>
              </a:rPr>
              <a:t>Algorithm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8183880" y="3236976"/>
            <a:ext cx="33220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3FC1C0"/>
                </a:solidFill>
                <a:hlinkClick r:id="rId9" invalidUrl="" action="" tgtFrame="" tooltip="Algorith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docs/ALGORITHM.md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6455664" y="3822192"/>
            <a:ext cx="365760" cy="365760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35" name="Image 6" descr="link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6131" y="3902659"/>
            <a:ext cx="204826" cy="204826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6949440" y="378561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6F5"/>
                </a:solidFill>
              </a:rPr>
              <a:t>Model card</a:t>
            </a:r>
            <a:endParaRPr lang="en-US" sz="1400" dirty="0"/>
          </a:p>
        </p:txBody>
      </p:sp>
      <p:sp>
        <p:nvSpPr>
          <p:cNvPr id="37" name="Text 28"/>
          <p:cNvSpPr txBox="1"/>
          <p:nvPr/>
        </p:nvSpPr>
        <p:spPr>
          <a:xfrm>
            <a:off x="8183880" y="3785616"/>
            <a:ext cx="33220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3FC1C0"/>
                </a:solidFill>
                <a:hlinkClick r:id="rId11" invalidUrl="" action="" tgtFrame="" tooltip="Model c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docs/MODEL_CARD.md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6455664" y="4370832"/>
            <a:ext cx="365760" cy="365760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39" name="Image 7" descr="link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36131" y="4451299"/>
            <a:ext cx="204826" cy="20482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949440" y="433425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6F5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41" name="Text 31"/>
          <p:cNvSpPr txBox="1"/>
          <p:nvPr/>
        </p:nvSpPr>
        <p:spPr>
          <a:xfrm>
            <a:off x="8183880" y="4334256"/>
            <a:ext cx="33220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3FC1C0"/>
                </a:solidFill>
                <a:hlinkClick r:id="rId13" invalidUrl="" action="" tgtFrame="" tooltip="Architectu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docs/architecture.pdf</a:t>
            </a:r>
            <a:endParaRPr lang="en-US" sz="1300" dirty="0"/>
          </a:p>
        </p:txBody>
      </p:sp>
      <p:sp>
        <p:nvSpPr>
          <p:cNvPr id="42" name="Shape 32"/>
          <p:cNvSpPr/>
          <p:nvPr/>
        </p:nvSpPr>
        <p:spPr>
          <a:xfrm>
            <a:off x="6455664" y="4919472"/>
            <a:ext cx="365760" cy="365760"/>
          </a:xfrm>
          <a:prstGeom prst="ellipse">
            <a:avLst/>
          </a:prstGeom>
          <a:solidFill>
            <a:srgbClr val="10302F"/>
          </a:solidFill>
          <a:ln w="6350">
            <a:solidFill>
              <a:srgbClr val="27413F"/>
            </a:solidFill>
            <a:prstDash val="solid"/>
          </a:ln>
        </p:spPr>
      </p:sp>
      <p:pic>
        <p:nvPicPr>
          <p:cNvPr id="43" name="Image 8" descr="link ic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36131" y="4999939"/>
            <a:ext cx="204826" cy="204826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6949440" y="488289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6F5"/>
                </a:solidFill>
              </a:rPr>
              <a:t>Demo video</a:t>
            </a:r>
            <a:endParaRPr lang="en-US" sz="1400" dirty="0"/>
          </a:p>
        </p:txBody>
      </p:sp>
      <p:sp>
        <p:nvSpPr>
          <p:cNvPr id="45" name="Text 34"/>
          <p:cNvSpPr txBox="1"/>
          <p:nvPr/>
        </p:nvSpPr>
        <p:spPr>
          <a:xfrm>
            <a:off x="8183880" y="4882896"/>
            <a:ext cx="33220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3FC1C0"/>
                </a:solidFill>
                <a:hlinkClick r:id="rId15" invalidUrl="" action="" tgtFrame="" tooltip="Demo vide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unlisted YouTube; link in the README</a:t>
            </a:r>
            <a:endParaRPr lang="en-US" sz="1300" dirty="0"/>
          </a:p>
        </p:txBody>
      </p:sp>
      <p:sp>
        <p:nvSpPr>
          <p:cNvPr id="46" name="Text 35"/>
          <p:cNvSpPr txBox="1"/>
          <p:nvPr/>
        </p:nvSpPr>
        <p:spPr>
          <a:xfrm>
            <a:off x="6455664" y="5623560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3ADAA"/>
                </a:solidFill>
              </a:rPr>
              <a:t>Research prototype on synthetic data. Not a medical device. In an emergency, call 112.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3AD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atibimb">
  <a:themeElements>
    <a:clrScheme name="Pratibimb">
      <a:dk1>
        <a:srgbClr val="0E1A1A"/>
      </a:dk1>
      <a:lt1>
        <a:srgbClr val="F1F6F5"/>
      </a:lt1>
      <a:dk2>
        <a:srgbClr val="10302F"/>
      </a:dk2>
      <a:lt2>
        <a:srgbClr val="93ADAA"/>
      </a:lt2>
      <a:accent1>
        <a:srgbClr val="3FC1C0"/>
      </a:accent1>
      <a:accent2>
        <a:srgbClr val="D6A06A"/>
      </a:accent2>
      <a:accent3>
        <a:srgbClr val="E07A9E"/>
      </a:accent3>
      <a:accent4>
        <a:srgbClr val="2C8C8B"/>
      </a:accent4>
      <a:accent5>
        <a:srgbClr val="5BC08A"/>
      </a:accent5>
      <a:accent6>
        <a:srgbClr val="E3B341"/>
      </a:accent6>
      <a:hlink>
        <a:srgbClr val="3FC1C0"/>
      </a:hlink>
      <a:folHlink>
        <a:srgbClr val="D6A06A"/>
      </a:folHlink>
    </a:clrScheme>
    <a:fontScheme name="Pratibimb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IIM Lucknow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Pratibimb: a digital twin for hypertension</dc:title>
  <dc:subject>Happiest Health Digital Twin Challenge 2026</dc:subject>
  <dc:creator>Team AMAZE</dc:creator>
  <cp:lastModifiedBy>Team AMAZE</cp:lastModifiedBy>
  <cp:revision>1</cp:revision>
  <dcterms:created xsi:type="dcterms:W3CDTF">2026-10-17T12:52:21Z</dcterms:created>
  <dcterms:modified xsi:type="dcterms:W3CDTF">2026-10-17T12:52:21Z</dcterms:modified>
</cp:coreProperties>
</file>