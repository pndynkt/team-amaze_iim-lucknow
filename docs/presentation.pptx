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b805c5-d5cf-b18c-52be-b6752b64d46e}">
          <p14:sldIdLst>
            <p14:sldId id="256"/>
            <p14:sldId id="257"/>
          </p14:sldIdLst>
        </p14:section>
        <p14:section name="Problem and use case" id="{c0c23b17-b348-31f6-984a-57fd49d3001b}">
          <p14:sldIdLst>
            <p14:sldId id="258"/>
            <p14:sldId id="259"/>
          </p14:sldIdLst>
        </p14:section>
        <p14:section name="Data and architecture" id="{d65d641c-b60c-a748-fc3a-15931c4c45e9}">
          <p14:sldIdLst>
            <p14:sldId id="260"/>
            <p14:sldId id="261"/>
          </p14:sldIdLst>
        </p14:section>
        <p14:section name="How the twin works" id="{7cb4c1b6-dc13-34b3-b2db-8ab70d72ae4a}">
          <p14:sldIdLst>
            <p14:sldId id="262"/>
            <p14:sldId id="263"/>
            <p14:sldId id="264"/>
          </p14:sldIdLst>
        </p14:section>
        <p14:section name="Results and outcomes" id="{5ab0acd9-67c9-7b39-bb2c-9cd5e122da9c}">
          <p14:sldIdLst>
            <p14:sldId id="265"/>
            <p14:sldId id="266"/>
          </p14:sldIdLst>
        </p14:section>
        <p14:section name="Product" id="{204264dd-0805-271a-5624-4926ae86ceb5}">
          <p14:sldIdLst>
            <p14:sldId id="267"/>
            <p14:sldId id="268"/>
            <p14:sldId id="269"/>
            <p14:sldId id="270"/>
            <p14:sldId id="271"/>
            <p14:sldId id="272"/>
          </p14:sldIdLst>
        </p14:section>
        <p14:section name="Team" id="{76ecac8a-4486-cb38-84c4-964d2b21e579}">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Risk score</c:v>
                </c:pt>
              </c:strCache>
            </c:strRef>
          </c:tx>
          <c:spPr>
            <a:solidFill>
              <a:srgbClr val="5BC08A"/>
            </a:solidFill>
            <a:effectLst/>
          </c:spPr>
          <c:invertIfNegative val="0"/>
          <c:dLbls>
            <c:numFmt formatCode="#,##0" sourceLinked="0"/>
            <c:txPr>
              <a:bodyPr/>
              <a:lstStyle/>
              <a:p>
                <a:pPr>
                  <a:defRPr b="0" i="0" strike="noStrike" sz="1200" u="none">
                    <a:solidFill>
                      <a:srgbClr val="F1F6F5"/>
                    </a:solidFill>
                    <a:latin typeface="+mn-lt"/>
                  </a:defRPr>
                </a:pPr>
              </a:p>
            </c:txPr>
            <c:showLegendKey val="0"/>
            <c:showVal val="0"/>
            <c:showCatName val="0"/>
            <c:showSerName val="0"/>
            <c:showPercent val="0"/>
            <c:showBubbleSize val="0"/>
            <c:showLeaderLines val="0"/>
          </c:dLbls>
          <c:dPt>
            <c:idx val="0"/>
            <c:invertIfNegative val="0"/>
            <c:bubble3D val="0"/>
            <c:spPr>
              <a:solidFill>
                <a:srgbClr val="5BC08A"/>
              </a:solidFill>
              <a:effectLst/>
            </c:spPr>
          </c:dPt>
          <c:dPt>
            <c:idx val="1"/>
            <c:invertIfNegative val="0"/>
            <c:bubble3D val="0"/>
            <c:spPr>
              <a:solidFill>
                <a:srgbClr val="5BC08A"/>
              </a:solidFill>
              <a:effectLst/>
            </c:spPr>
          </c:dPt>
          <c:dPt>
            <c:idx val="2"/>
            <c:invertIfNegative val="0"/>
            <c:bubble3D val="0"/>
            <c:spPr>
              <a:solidFill>
                <a:srgbClr val="5BC08A"/>
              </a:solidFill>
              <a:effectLst/>
            </c:spPr>
          </c:dPt>
          <c:dPt>
            <c:idx val="3"/>
            <c:invertIfNegative val="0"/>
            <c:bubble3D val="0"/>
            <c:spPr>
              <a:solidFill>
                <a:srgbClr val="5BC08A"/>
              </a:solidFill>
              <a:effectLst/>
            </c:spPr>
          </c:dPt>
          <c:dPt>
            <c:idx val="4"/>
            <c:invertIfNegative val="0"/>
            <c:bubble3D val="0"/>
            <c:spPr>
              <a:solidFill>
                <a:srgbClr val="5BC08A"/>
              </a:solidFill>
              <a:effectLst/>
            </c:spPr>
          </c:dPt>
          <c:dPt>
            <c:idx val="5"/>
            <c:invertIfNegative val="0"/>
            <c:bubble3D val="0"/>
            <c:spPr>
              <a:solidFill>
                <a:srgbClr val="5BC08A"/>
              </a:solidFill>
              <a:effectLst/>
            </c:spPr>
          </c:dPt>
          <c:dPt>
            <c:idx val="6"/>
            <c:invertIfNegative val="0"/>
            <c:bubble3D val="0"/>
            <c:spPr>
              <a:solidFill>
                <a:srgbClr val="5BC08A"/>
              </a:solidFill>
              <a:effectLst/>
            </c:spPr>
          </c:dPt>
          <c:dPt>
            <c:idx val="7"/>
            <c:invertIfNegative val="0"/>
            <c:bubble3D val="0"/>
            <c:spPr>
              <a:solidFill>
                <a:srgbClr val="5BC08A"/>
              </a:solidFill>
              <a:effectLst/>
            </c:spPr>
          </c:dPt>
          <c:dPt>
            <c:idx val="8"/>
            <c:invertIfNegative val="0"/>
            <c:bubble3D val="0"/>
            <c:spPr>
              <a:solidFill>
                <a:srgbClr val="5BC08A"/>
              </a:solidFill>
              <a:effectLst/>
            </c:spPr>
          </c:dPt>
          <c:dPt>
            <c:idx val="9"/>
            <c:invertIfNegative val="0"/>
            <c:bubble3D val="0"/>
            <c:spPr>
              <a:solidFill>
                <a:srgbClr val="5BC08A"/>
              </a:solidFill>
              <a:effectLst/>
            </c:spPr>
          </c:dPt>
          <c:dPt>
            <c:idx val="10"/>
            <c:invertIfNegative val="0"/>
            <c:bubble3D val="0"/>
            <c:spPr>
              <a:solidFill>
                <a:srgbClr val="5BC08A"/>
              </a:solidFill>
              <a:effectLst/>
            </c:spPr>
          </c:dPt>
          <c:dPt>
            <c:idx val="11"/>
            <c:invertIfNegative val="0"/>
            <c:bubble3D val="0"/>
            <c:spPr>
              <a:solidFill>
                <a:srgbClr val="5BC08A"/>
              </a:solidFill>
              <a:effectLst/>
            </c:spPr>
          </c:dPt>
          <c:dPt>
            <c:idx val="12"/>
            <c:invertIfNegative val="0"/>
            <c:bubble3D val="0"/>
            <c:spPr>
              <a:solidFill>
                <a:srgbClr val="5BC08A"/>
              </a:solidFill>
              <a:effectLst/>
            </c:spPr>
          </c:dPt>
          <c:dPt>
            <c:idx val="13"/>
            <c:invertIfNegative val="0"/>
            <c:bubble3D val="0"/>
            <c:spPr>
              <a:solidFill>
                <a:srgbClr val="E3B341"/>
              </a:solidFill>
              <a:effectLst/>
            </c:spPr>
          </c:dPt>
          <c:dPt>
            <c:idx val="14"/>
            <c:invertIfNegative val="0"/>
            <c:bubble3D val="0"/>
            <c:spPr>
              <a:solidFill>
                <a:srgbClr val="E3B341"/>
              </a:solidFill>
              <a:effectLst/>
            </c:spPr>
          </c:dPt>
          <c:dPt>
            <c:idx val="15"/>
            <c:invertIfNegative val="0"/>
            <c:bubble3D val="0"/>
            <c:spPr>
              <a:solidFill>
                <a:srgbClr val="E3B341"/>
              </a:solidFill>
              <a:effectLst/>
            </c:spPr>
          </c:dPt>
          <c:dPt>
            <c:idx val="16"/>
            <c:invertIfNegative val="0"/>
            <c:bubble3D val="0"/>
            <c:spPr>
              <a:solidFill>
                <a:srgbClr val="E3B341"/>
              </a:solidFill>
              <a:effectLst/>
            </c:spPr>
          </c:dPt>
          <c:dPt>
            <c:idx val="17"/>
            <c:invertIfNegative val="0"/>
            <c:bubble3D val="0"/>
            <c:spPr>
              <a:solidFill>
                <a:srgbClr val="E3B341"/>
              </a:solidFill>
              <a:effectLst/>
            </c:spPr>
          </c:dPt>
          <c:dPt>
            <c:idx val="18"/>
            <c:invertIfNegative val="0"/>
            <c:bubble3D val="0"/>
            <c:spPr>
              <a:solidFill>
                <a:srgbClr val="5BC08A"/>
              </a:solidFill>
              <a:effectLst/>
            </c:spPr>
          </c:dPt>
          <c:dPt>
            <c:idx val="19"/>
            <c:invertIfNegative val="0"/>
            <c:bubble3D val="0"/>
            <c:spPr>
              <a:solidFill>
                <a:srgbClr val="E3B341"/>
              </a:solidFill>
              <a:effectLst/>
            </c:spPr>
          </c:dPt>
          <c:dPt>
            <c:idx val="20"/>
            <c:invertIfNegative val="0"/>
            <c:bubble3D val="0"/>
            <c:spPr>
              <a:solidFill>
                <a:srgbClr val="EB6F55"/>
              </a:solidFill>
              <a:effectLst/>
            </c:spPr>
          </c:dPt>
          <c:cat>
            <c:multiLvlStrRef>
              <c:f>Sheet1!$A$2:$A$22</c:f>
              <c:multiLvlStrCache>
                <c:ptCount val="21"/>
                <c:lvl>
                  <c:pt idx="0">
                    <c:v>22 Sep</c:v>
                  </c:pt>
                  <c:pt idx="1">
                    <c:v/>
                  </c:pt>
                  <c:pt idx="2">
                    <c:v/>
                  </c:pt>
                  <c:pt idx="3">
                    <c:v/>
                  </c:pt>
                  <c:pt idx="4">
                    <c:v/>
                  </c:pt>
                  <c:pt idx="5">
                    <c:v>27 Sep</c:v>
                  </c:pt>
                  <c:pt idx="6">
                    <c:v/>
                  </c:pt>
                  <c:pt idx="7">
                    <c:v/>
                  </c:pt>
                  <c:pt idx="8">
                    <c:v/>
                  </c:pt>
                  <c:pt idx="9">
                    <c:v/>
                  </c:pt>
                  <c:pt idx="10">
                    <c:v>2 Oct</c:v>
                  </c:pt>
                  <c:pt idx="11">
                    <c:v/>
                  </c:pt>
                  <c:pt idx="12">
                    <c:v/>
                  </c:pt>
                  <c:pt idx="13">
                    <c:v/>
                  </c:pt>
                  <c:pt idx="14">
                    <c:v/>
                  </c:pt>
                  <c:pt idx="15">
                    <c:v>7 Oct</c:v>
                  </c:pt>
                  <c:pt idx="16">
                    <c:v/>
                  </c:pt>
                  <c:pt idx="17">
                    <c:v/>
                  </c:pt>
                  <c:pt idx="18">
                    <c:v/>
                  </c:pt>
                  <c:pt idx="19">
                    <c:v/>
                  </c:pt>
                  <c:pt idx="20">
                    <c:v>12 Oct</c:v>
                  </c:pt>
                </c:lvl>
              </c:multiLvlStrCache>
            </c:multiLvlStrRef>
          </c:cat>
          <c:val>
            <c:numRef>
              <c:f>Sheet1!$B$2:$B$22</c:f>
              <c:numCache>
                <c:formatCode>General</c:formatCode>
                <c:ptCount val="21"/>
                <c:pt idx="0">
                  <c:v>1</c:v>
                </c:pt>
                <c:pt idx="1">
                  <c:v>1</c:v>
                </c:pt>
                <c:pt idx="2">
                  <c:v>1</c:v>
                </c:pt>
                <c:pt idx="3">
                  <c:v>3</c:v>
                </c:pt>
                <c:pt idx="4">
                  <c:v>1</c:v>
                </c:pt>
                <c:pt idx="5">
                  <c:v>2</c:v>
                </c:pt>
                <c:pt idx="6">
                  <c:v>2</c:v>
                </c:pt>
                <c:pt idx="7">
                  <c:v>1</c:v>
                </c:pt>
                <c:pt idx="8">
                  <c:v>1</c:v>
                </c:pt>
                <c:pt idx="9">
                  <c:v>1</c:v>
                </c:pt>
                <c:pt idx="10">
                  <c:v>2</c:v>
                </c:pt>
                <c:pt idx="11">
                  <c:v>1</c:v>
                </c:pt>
                <c:pt idx="12">
                  <c:v>3</c:v>
                </c:pt>
                <c:pt idx="13">
                  <c:v>41</c:v>
                </c:pt>
                <c:pt idx="14">
                  <c:v>57</c:v>
                </c:pt>
                <c:pt idx="15">
                  <c:v>32</c:v>
                </c:pt>
                <c:pt idx="16">
                  <c:v>34</c:v>
                </c:pt>
                <c:pt idx="17">
                  <c:v>47</c:v>
                </c:pt>
                <c:pt idx="18">
                  <c:v>24</c:v>
                </c:pt>
                <c:pt idx="19">
                  <c:v>53</c:v>
                </c:pt>
                <c:pt idx="20">
                  <c:v>63</c:v>
                </c:pt>
              </c:numCache>
            </c:numRef>
          </c:val>
        </c:ser>
        <c:dLbls>
          <c:numFmt formatCode="#,##0" sourceLinked="0"/>
          <c:txPr>
            <a:bodyPr/>
            <a:lstStyle/>
            <a:p>
              <a:pPr>
                <a:defRPr b="0" i="0" strike="noStrike" sz="1200" u="none">
                  <a:solidFill>
                    <a:srgbClr val="F1F6F5"/>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3ADAA"/>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6350" cap="flat">
              <a:solidFill>
                <a:srgbClr val="2A464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93ADAA"/>
                </a:solidFill>
                <a:latin typeface="+mn-lt"/>
              </a:defRPr>
            </a:pPr>
            <a:endParaRPr lang="en-US"/>
          </a:p>
        </c:txPr>
        <c:crossAx val="2094734554"/>
        <c:crosses val="autoZero"/>
        <c:crossBetween val="between"/>
        <c:majorUnit val="30"/>
      </c:valAx>
      <c:spPr>
        <a:solidFill>
          <a:srgbClr val="152A2A"/>
        </a:solidFill>
        <a:ln>
          <a:noFill/>
        </a:ln>
        <a:effectLst/>
      </c:spPr>
    </c:plotArea>
    <c:plotVisOnly val="1"/>
    <c:dispBlanksAs val="span"/>
  </c:chart>
  <c:spPr>
    <a:solidFill>
      <a:srgbClr val="152A2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AUROC (axis from 0.5, chance)</c:v>
                </c:pt>
              </c:strCache>
            </c:strRef>
          </c:tx>
          <c:spPr>
            <a:solidFill>
              <a:srgbClr val="3FC1C0"/>
            </a:solidFill>
            <a:effectLst/>
          </c:spPr>
          <c:invertIfNegative val="0"/>
          <c:dLbls>
            <c:numFmt formatCode="0.000" sourceLinked="0"/>
            <c:txPr>
              <a:bodyPr/>
              <a:lstStyle/>
              <a:p>
                <a:pPr>
                  <a:defRPr b="0" i="0" strike="noStrike" sz="1200" u="none">
                    <a:solidFill>
                      <a:srgbClr val="F1F6F5"/>
                    </a:solidFill>
                    <a:latin typeface="+mn-lt"/>
                  </a:defRPr>
                </a:pPr>
              </a:p>
            </c:txPr>
            <c:showLegendKey val="0"/>
            <c:showVal val="1"/>
            <c:showCatName val="0"/>
            <c:showSerName val="0"/>
            <c:showPercent val="0"/>
            <c:showBubbleSize val="0"/>
            <c:showLeaderLines val="0"/>
          </c:dLbls>
          <c:dPt>
            <c:idx val="0"/>
            <c:invertIfNegative val="0"/>
            <c:bubble3D val="0"/>
            <c:spPr>
              <a:solidFill>
                <a:srgbClr val="3FC1C0"/>
              </a:solidFill>
              <a:effectLst/>
            </c:spPr>
          </c:dPt>
          <c:dPt>
            <c:idx val="1"/>
            <c:invertIfNegative val="0"/>
            <c:bubble3D val="0"/>
            <c:spPr>
              <a:solidFill>
                <a:srgbClr val="D6A06A"/>
              </a:solidFill>
              <a:effectLst/>
            </c:spPr>
          </c:dPt>
          <c:dPt>
            <c:idx val="2"/>
            <c:invertIfNegative val="0"/>
            <c:bubble3D val="0"/>
            <c:spPr>
              <a:solidFill>
                <a:srgbClr val="2C8C8B"/>
              </a:solidFill>
              <a:effectLst/>
            </c:spPr>
          </c:dPt>
          <c:dPt>
            <c:idx val="3"/>
            <c:invertIfNegative val="0"/>
            <c:bubble3D val="0"/>
            <c:spPr>
              <a:solidFill>
                <a:srgbClr val="4E6B69"/>
              </a:solidFill>
              <a:effectLst/>
            </c:spPr>
          </c:dPt>
          <c:dPt>
            <c:idx val="4"/>
            <c:invertIfNegative val="0"/>
            <c:bubble3D val="0"/>
            <c:spPr>
              <a:solidFill>
                <a:srgbClr val="4E6B69"/>
              </a:solidFill>
              <a:effectLst/>
            </c:spPr>
          </c:dPt>
          <c:dPt>
            <c:idx val="5"/>
            <c:invertIfNegative val="0"/>
            <c:bubble3D val="0"/>
            <c:spPr>
              <a:solidFill>
                <a:srgbClr val="4E6B69"/>
              </a:solidFill>
              <a:effectLst/>
            </c:spPr>
          </c:dPt>
          <c:cat>
            <c:multiLvlStrRef>
              <c:f>Sheet1!$A$2:$A$7</c:f>
              <c:multiLvlStrCache>
                <c:ptCount val="6"/>
                <c:lvl>
                  <c:pt idx="0">
                    <c:v>Pratibimb: all streams + twin</c:v>
                  </c:pt>
                  <c:pt idx="1">
                    <c:v>All streams, no twin</c:v>
                  </c:pt>
                  <c:pt idx="2">
                    <c:v>Watch + cuff + twin</c:v>
                  </c:pt>
                  <c:pt idx="3">
                    <c:v>Watch only + twin</c:v>
                  </c:pt>
                  <c:pt idx="4">
                    <c:v>Rule only (NightSignal-style)</c:v>
                  </c:pt>
                  <c:pt idx="5">
                    <c:v>Record only</c:v>
                  </c:pt>
                </c:lvl>
              </c:multiLvlStrCache>
            </c:multiLvlStrRef>
          </c:cat>
          <c:val>
            <c:numRef>
              <c:f>Sheet1!$B$2:$B$7</c:f>
              <c:numCache>
                <c:formatCode>General</c:formatCode>
                <c:ptCount val="6"/>
                <c:pt idx="0">
                  <c:v>0.876</c:v>
                </c:pt>
                <c:pt idx="1">
                  <c:v>0.851</c:v>
                </c:pt>
                <c:pt idx="2">
                  <c:v>0.87</c:v>
                </c:pt>
                <c:pt idx="3">
                  <c:v>0.804</c:v>
                </c:pt>
                <c:pt idx="4">
                  <c:v>0.708</c:v>
                </c:pt>
                <c:pt idx="5">
                  <c:v>0.578</c:v>
                </c:pt>
              </c:numCache>
            </c:numRef>
          </c:val>
        </c:ser>
        <c:dLbls>
          <c:numFmt formatCode="0.000" sourceLinked="0"/>
          <c:txPr>
            <a:bodyPr/>
            <a:lstStyle/>
            <a:p>
              <a:pPr>
                <a:defRPr b="0" i="0" strike="noStrike" sz="1200" u="none">
                  <a:solidFill>
                    <a:srgbClr val="F1F6F5"/>
                  </a:solidFill>
                  <a:latin typeface="+mn-lt"/>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3ADAA"/>
                </a:solidFill>
                <a:latin typeface="+mn-lt"/>
              </a:defRPr>
            </a:pPr>
            <a:endParaRPr lang="en-US"/>
          </a:p>
        </c:txPr>
        <c:crossAx val="2094734552"/>
        <c:crosses val="autoZero"/>
        <c:auto val="1"/>
        <c:lblAlgn val="ctr"/>
        <c:noMultiLvlLbl val="1"/>
      </c:catAx>
      <c:valAx>
        <c:axId val="2094734552"/>
        <c:scaling>
          <c:orientation val="minMax"/>
          <c:max val="0.95"/>
          <c:min val="0.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93ADAA"/>
                </a:solidFill>
                <a:latin typeface="+mn-lt"/>
              </a:defRPr>
            </a:pPr>
            <a:endParaRPr lang="en-US"/>
          </a:p>
        </c:txPr>
        <c:crossAx val="2094734554"/>
        <c:crosses val="autoZero"/>
        <c:crossBetween val="between"/>
      </c:valAx>
      <c:spPr>
        <a:solidFill>
          <a:srgbClr val="152A2A"/>
        </a:solidFill>
        <a:ln>
          <a:noFill/>
        </a:ln>
        <a:effectLst/>
      </c:spPr>
    </c:plotArea>
    <c:plotVisOnly val="1"/>
    <c:dispBlanksAs val="span"/>
  </c:chart>
  <c:spPr>
    <a:solidFill>
      <a:srgbClr val="152A2A"/>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Episodes caught at the false-alert budget (%)</c:v>
                </c:pt>
              </c:strCache>
            </c:strRef>
          </c:tx>
          <c:spPr>
            <a:solidFill>
              <a:srgbClr val="3FC1C0"/>
            </a:solidFill>
            <a:effectLst/>
          </c:spPr>
          <c:invertIfNegative val="0"/>
          <c:dLbls>
            <c:numFmt formatCode="0&quot;%&quot;" sourceLinked="0"/>
            <c:txPr>
              <a:bodyPr/>
              <a:lstStyle/>
              <a:p>
                <a:pPr>
                  <a:defRPr b="0" i="0" strike="noStrike" sz="1200" u="none">
                    <a:solidFill>
                      <a:srgbClr val="F1F6F5"/>
                    </a:solidFill>
                    <a:latin typeface="+mn-lt"/>
                  </a:defRPr>
                </a:pPr>
              </a:p>
            </c:txPr>
            <c:showLegendKey val="0"/>
            <c:showVal val="1"/>
            <c:showCatName val="0"/>
            <c:showSerName val="0"/>
            <c:showPercent val="0"/>
            <c:showBubbleSize val="0"/>
            <c:showLeaderLines val="0"/>
          </c:dLbls>
          <c:dPt>
            <c:idx val="0"/>
            <c:invertIfNegative val="0"/>
            <c:bubble3D val="0"/>
            <c:spPr>
              <a:solidFill>
                <a:srgbClr val="3FC1C0"/>
              </a:solidFill>
              <a:effectLst/>
            </c:spPr>
          </c:dPt>
          <c:dPt>
            <c:idx val="1"/>
            <c:invertIfNegative val="0"/>
            <c:bubble3D val="0"/>
            <c:spPr>
              <a:solidFill>
                <a:srgbClr val="D6A06A"/>
              </a:solidFill>
              <a:effectLst/>
            </c:spPr>
          </c:dPt>
          <c:dPt>
            <c:idx val="2"/>
            <c:invertIfNegative val="0"/>
            <c:bubble3D val="0"/>
            <c:spPr>
              <a:solidFill>
                <a:srgbClr val="2C8C8B"/>
              </a:solidFill>
              <a:effectLst/>
            </c:spPr>
          </c:dPt>
          <c:dPt>
            <c:idx val="3"/>
            <c:invertIfNegative val="0"/>
            <c:bubble3D val="0"/>
            <c:spPr>
              <a:solidFill>
                <a:srgbClr val="4E6B69"/>
              </a:solidFill>
              <a:effectLst/>
            </c:spPr>
          </c:dPt>
          <c:dPt>
            <c:idx val="4"/>
            <c:invertIfNegative val="0"/>
            <c:bubble3D val="0"/>
            <c:spPr>
              <a:solidFill>
                <a:srgbClr val="4E6B69"/>
              </a:solidFill>
              <a:effectLst/>
            </c:spPr>
          </c:dPt>
          <c:dPt>
            <c:idx val="5"/>
            <c:invertIfNegative val="0"/>
            <c:bubble3D val="0"/>
            <c:spPr>
              <a:solidFill>
                <a:srgbClr val="4E6B69"/>
              </a:solidFill>
              <a:effectLst/>
            </c:spPr>
          </c:dPt>
          <c:cat>
            <c:multiLvlStrRef>
              <c:f>Sheet1!$A$2:$A$7</c:f>
              <c:multiLvlStrCache>
                <c:ptCount val="6"/>
                <c:lvl>
                  <c:pt idx="0">
                    <c:v>Pratibimb: all streams + twin</c:v>
                  </c:pt>
                  <c:pt idx="1">
                    <c:v>All streams, no twin</c:v>
                  </c:pt>
                  <c:pt idx="2">
                    <c:v>Watch + cuff + twin</c:v>
                  </c:pt>
                  <c:pt idx="3">
                    <c:v>Watch only + twin</c:v>
                  </c:pt>
                  <c:pt idx="4">
                    <c:v>Rule only (NightSignal-style)</c:v>
                  </c:pt>
                  <c:pt idx="5">
                    <c:v>Record only</c:v>
                  </c:pt>
                </c:lvl>
              </c:multiLvlStrCache>
            </c:multiLvlStrRef>
          </c:cat>
          <c:val>
            <c:numRef>
              <c:f>Sheet1!$B$2:$B$7</c:f>
              <c:numCache>
                <c:formatCode>General</c:formatCode>
                <c:ptCount val="6"/>
                <c:pt idx="0">
                  <c:v>70</c:v>
                </c:pt>
                <c:pt idx="1">
                  <c:v>64</c:v>
                </c:pt>
                <c:pt idx="2">
                  <c:v>72</c:v>
                </c:pt>
                <c:pt idx="3">
                  <c:v>55</c:v>
                </c:pt>
                <c:pt idx="4">
                  <c:v>42</c:v>
                </c:pt>
                <c:pt idx="5">
                  <c:v>15</c:v>
                </c:pt>
              </c:numCache>
            </c:numRef>
          </c:val>
        </c:ser>
        <c:dLbls>
          <c:numFmt formatCode="0&quot;%&quot;" sourceLinked="0"/>
          <c:txPr>
            <a:bodyPr/>
            <a:lstStyle/>
            <a:p>
              <a:pPr>
                <a:defRPr b="0" i="0" strike="noStrike" sz="1200" u="none">
                  <a:solidFill>
                    <a:srgbClr val="F1F6F5"/>
                  </a:solidFill>
                  <a:latin typeface="+mn-lt"/>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3ADAA"/>
                </a:solidFill>
                <a:latin typeface="+mn-lt"/>
              </a:defRPr>
            </a:pPr>
            <a:endParaRPr lang="en-US"/>
          </a:p>
        </c:txPr>
        <c:crossAx val="2094734552"/>
        <c:crosses val="autoZero"/>
        <c:auto val="1"/>
        <c:lblAlgn val="ctr"/>
        <c:noMultiLvlLbl val="1"/>
      </c:catAx>
      <c:valAx>
        <c:axId val="2094734552"/>
        <c:scaling>
          <c:orientation val="minMax"/>
          <c:max val="8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93ADAA"/>
                </a:solidFill>
                <a:latin typeface="+mn-lt"/>
              </a:defRPr>
            </a:pPr>
            <a:endParaRPr lang="en-US"/>
          </a:p>
        </c:txPr>
        <c:crossAx val="2094734554"/>
        <c:crosses val="autoZero"/>
        <c:crossBetween val="between"/>
      </c:valAx>
      <c:spPr>
        <a:solidFill>
          <a:srgbClr val="152A2A"/>
        </a:solidFill>
        <a:ln>
          <a:noFill/>
        </a:ln>
        <a:effectLst/>
      </c:spPr>
    </c:plotArea>
    <c:plotVisOnly val="1"/>
    <c:dispBlanksAs val="span"/>
  </c:chart>
  <c:spPr>
    <a:solidFill>
      <a:srgbClr val="152A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reduction</c:v>
                </c:pt>
              </c:strCache>
            </c:strRef>
          </c:tx>
          <c:spPr>
            <a:solidFill>
              <a:srgbClr val="3FC1C0"/>
            </a:solidFill>
            <a:effectLst/>
          </c:spPr>
          <c:invertIfNegative val="0"/>
          <c:dLbls>
            <c:numFmt formatCode="0&quot;%&quot;" sourceLinked="0"/>
            <c:txPr>
              <a:bodyPr/>
              <a:lstStyle/>
              <a:p>
                <a:pPr>
                  <a:defRPr b="0" i="0" strike="noStrike" sz="1200" u="none">
                    <a:solidFill>
                      <a:srgbClr val="F1F6F5"/>
                    </a:solidFill>
                    <a:latin typeface="+mn-lt"/>
                  </a:defRPr>
                </a:pPr>
              </a:p>
            </c:txPr>
            <c:showLegendKey val="0"/>
            <c:showVal val="1"/>
            <c:showCatName val="0"/>
            <c:showSerName val="0"/>
            <c:showPercent val="0"/>
            <c:showBubbleSize val="0"/>
            <c:showLeaderLines val="0"/>
          </c:dLbls>
          <c:cat>
            <c:multiLvlStrRef>
              <c:f>Sheet1!$A$2:$A$5</c:f>
              <c:multiLvlStrCache>
                <c:ptCount val="4"/>
                <c:lvl>
                  <c:pt idx="0">
                    <c:v>Sleep to heart rate</c:v>
                  </c:pt>
                  <c:pt idx="1">
                    <c:v>Walking to BP</c:v>
                  </c:pt>
                  <c:pt idx="2">
                    <c:v>Walking to heart rate</c:v>
                  </c:pt>
                  <c:pt idx="3">
                    <c:v>Sleep to HRV</c:v>
                  </c:pt>
                </c:lvl>
              </c:multiLvlStrCache>
            </c:multiLvlStrRef>
          </c:cat>
          <c:val>
            <c:numRef>
              <c:f>Sheet1!$B$2:$B$5</c:f>
              <c:numCache>
                <c:formatCode>General</c:formatCode>
                <c:ptCount val="4"/>
                <c:pt idx="0">
                  <c:v>30</c:v>
                </c:pt>
                <c:pt idx="1">
                  <c:v>28</c:v>
                </c:pt>
                <c:pt idx="2">
                  <c:v>25</c:v>
                </c:pt>
                <c:pt idx="3">
                  <c:v>18</c:v>
                </c:pt>
              </c:numCache>
            </c:numRef>
          </c:val>
        </c:ser>
        <c:dLbls>
          <c:numFmt formatCode="0&quot;%&quot;" sourceLinked="0"/>
          <c:txPr>
            <a:bodyPr/>
            <a:lstStyle/>
            <a:p>
              <a:pPr>
                <a:defRPr b="0" i="0" strike="noStrike" sz="1200" u="none">
                  <a:solidFill>
                    <a:srgbClr val="F1F6F5"/>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3ADAA"/>
                </a:solidFill>
                <a:latin typeface="+mn-lt"/>
              </a:defRPr>
            </a:pPr>
            <a:endParaRPr lang="en-US"/>
          </a:p>
        </c:txPr>
        <c:crossAx val="2094734552"/>
        <c:crosses val="autoZero"/>
        <c:auto val="1"/>
        <c:lblAlgn val="ctr"/>
        <c:noMultiLvlLbl val="1"/>
      </c:catAx>
      <c:valAx>
        <c:axId val="2094734552"/>
        <c:scaling>
          <c:orientation val="minMax"/>
          <c:max val="36"/>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93ADAA"/>
                </a:solidFill>
                <a:latin typeface="+mn-lt"/>
              </a:defRPr>
            </a:pPr>
            <a:endParaRPr lang="en-US"/>
          </a:p>
        </c:txPr>
        <c:crossAx val="2094734554"/>
        <c:crosses val="autoZero"/>
        <c:crossBetween val="between"/>
      </c:valAx>
      <c:spPr>
        <a:solidFill>
          <a:srgbClr val="152A2A"/>
        </a:solidFill>
        <a:ln>
          <a:noFill/>
        </a:ln>
        <a:effectLst/>
      </c:spPr>
    </c:plotArea>
    <c:plotVisOnly val="1"/>
    <c:dispBlanksAs val="span"/>
  </c:chart>
  <c:spPr>
    <a:solidFill>
      <a:srgbClr val="152A2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Pratibimb is Sanskrit for reflection: a personal model that mirrors one patient's body. We are Team AMAZE from IIM Lucknow. In the next twenty minutes: the problem, the data, how the twin works, what it achieves, and the doctor and patient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summary. The problem is quiet, days-long strain in hypertensive patients that fixed thresholds either miss or drown in false alarms. Pratibimb builds a personal twin for each patient and alerts only on what their own habits cannot explain. On a synthetic cohort it catches 70% of episodes at one false alert per 22 patient-days, a median 48 hours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in four Indian adults has high blood pressure. Over 90% of smartwatches sold in India cost under fifty dollars, and they already record heart rate, sleep and steps every night. Yet fixed thresholds flag more than half of readings in remote monitoring, so doctors stop looking. And people differ: the same short night moves one heart rate by 2 bpm and another by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event is a cardiovascular strain episode: overnight heart rate above the person's own baseline, HRV below their smallest worthwhile change, falling sleep and steps and a rising home BP trend, ending in a surge or an unplanned visit. The chart is Meera's real score from the model: quiet for weeks, then climbing from 5 October. We do not claim heart-attack detection; acute events belong to the SOS ladder and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streams, both synthetic and seeded. The record is Synthea-shaped FHIR R4: demographics, SNOMED diagnoses, LOINC labs, medicines with adherence, family history and a polygenic risk tier. The watch stream is nightly: resting heart rate, HRV, sleep with stages, steps, SpO2, breathing, plus a home BP cuff. Colds, missed doses, late nights and travel are planted so the model has to tell them from real strain.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the record and the watch stream come in; a companion app reads Health Connect or HealthKit because no website can. The Personal Physiology Engine builds the twin. The fusion model turns twin signals into a calibrated 72 hour probability. The action layer handles alerts, thresholds, the what-if simulator, the check-in ladder, consent and audit. People act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compares tonight with Meera's own last 28 nights: plus 13.8 bpm. Step two learns how her body responds to sleep and steps, on calm days only. Step three borrows strength from the cohort: 57% weight on her own data. Step four subtracts what her habits explain, leaving 12.6 bpm unexplained. Step five fuses that with BP and the record into a calibrated 24% chance in 72 hours, score 63,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tonight Meera is 13.8 bpm above her usual. Her short night and extra steps explain only 1.3 bpm, so 12.6 bpm is unexplained, and that is the warning. Middle: one person's slope is noisy, so the twin mixes it with the cohort's, weighted by how sure we are. Right: her slopes differ from most people's, which is why the what-if advice is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fusion model is LightGBM with monotone constraints, so it can never say more sleep or more walking raises risk. Platt scaling calibrates the probability. The urgent threshold is the most sensitive cut that stays within 0.045 false alerts per patient-day. SHAP turns the score into reasons. Validation is patient-level, repeated over three splits, with leakage tests in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AUROC: Pratibimb 0.876 against 0.851 for the same streams without the twin, and 0.708 for the NightSignal-style rule. Right, episodes caught at the budget: 70% against 64% without the twin. Watch plus cuff with the twin catches slightly more at the budget; the record raises ranking, not timing. The cuff is what separates strain from a cold: a cold raises heart rate but rarely BP for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synthetic generator knows every person's true slopes, we can test whether the twin finds them. Correlation with the truth is 0.59 to 0.71, and the twin beats one slope for everyone on every response, cutting error by 18 to 30 percent. That is what makes the what-if personal and keeps ordinary late nights from becoming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starts on Today: ten people need attention, 26 are worth a check-in and 204 are steady, with false alerts inside the budget. Opening Meera shows a three-sentence summary, the chance with its likely range, what the twin used from the record and the watch, and a suggested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 re-runs the twin with one change. A daily 30 minute walk moves Meera's BP by her own slope. The next 72 hours barely move, because the episode is already under way, but her ordinary-week risk drops by about a quarter. Every alert opens with its reasons, the inputs it used and how well the model does. The budget meter and the 14 day replay keep the doctor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patient sees one sentence in English or Hindi, with read-aloud, and the habits that help them most by their own slopes. If something feels wrong, press-and-hold SOS starts a consented ladder: the person first, then two contacts, then the doctor, with one tap to 112 at every step. A new user with five nights sees still learning your normal, not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Pratibimb is designed for Indian practice: it reads the budget watches people already own through Health Connect, exports FHIR R4 and the ABDM WellnessRecord bundle, keeps consent per stream as the DPDP Act expects, never prescribes, and has a clear path under CDSCO's Medical Device Software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a working, leakage-tested prediction model, the personal physiology engine, a full doctor dashboard, a patient app in two languages, FHIR and ABDM export, a live demo and an open-source repository with tests. On a typical day the doctor sees ten people who need attention out of 240, with false alerts inside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the labels are synthetic, scoring is nightly, we do not detect heart attacks, and the record adds ranking more than timing. The roadmap closes these in order: ABDM sandbox and an Android companion app, a silent-mode clinic pilot on consented real data, a South Asian risk chart and CGM for diabetic patients, then a CDSCO filing.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Pratibimb is built by Team AMAZE, Nikita Pandey and Suraj Aryan, from IIM Lucknow. The live demo, the code, the algorithm guide, the model card and the architecture are all public.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E1A1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A1A"/>
        </a:solidFill>
      </p:bgPr>
    </p:bg>
    <p:spTree>
      <p:nvGrpSpPr>
        <p:cNvPr id="1" name=""/>
        <p:cNvGrpSpPr/>
        <p:nvPr/>
      </p:nvGrpSpPr>
      <p:grpSpPr>
        <a:xfrm>
          <a:off x="0" y="0"/>
          <a:ext cx="0" cy="0"/>
          <a:chOff x="0" y="0"/>
          <a:chExt cx="0" cy="0"/>
        </a:xfrm>
      </p:grpSpPr>
      <p:pic>
        <p:nvPicPr>
          <p:cNvPr id="2" name="Image 0" descr="Pratibimb mark">    </p:cNvPr>
          <p:cNvPicPr>
            <a:picLocks noChangeAspect="1"/>
          </p:cNvPicPr>
          <p:nvPr/>
        </p:nvPicPr>
        <p:blipFill>
          <a:blip r:embed="rId1"/>
          <a:stretch>
            <a:fillRect/>
          </a:stretch>
        </p:blipFill>
        <p:spPr>
          <a:xfrm>
            <a:off x="548640" y="6400800"/>
            <a:ext cx="329184" cy="219456"/>
          </a:xfrm>
          <a:prstGeom prst="rect">
            <a:avLst/>
          </a:prstGeom>
        </p:spPr>
      </p:pic>
      <p:sp>
        <p:nvSpPr>
          <p:cNvPr id="3" name="Text 0"/>
          <p:cNvSpPr/>
          <p:nvPr/>
        </p:nvSpPr>
        <p:spPr>
          <a:xfrm>
            <a:off x="960120" y="6382512"/>
            <a:ext cx="5486400" cy="256032"/>
          </a:xfrm>
          <a:prstGeom prst="rect">
            <a:avLst/>
          </a:prstGeom>
          <a:noFill/>
          <a:ln/>
        </p:spPr>
        <p:txBody>
          <a:bodyPr wrap="square" lIns="0" tIns="0" rIns="0" bIns="0" rtlCol="0" anchor="ctr"/>
          <a:lstStyle/>
          <a:p>
            <a:pPr indent="0" marL="0">
              <a:buNone/>
            </a:pPr>
            <a:r>
              <a:rPr lang="en-US" sz="1000" dirty="0">
                <a:solidFill>
                  <a:srgbClr val="93ADAA"/>
                </a:solidFill>
              </a:rPr>
              <a:t>Pratibimb  |  Team AMAZE, IIM Lucknow</a:t>
            </a:r>
            <a:endParaRPr lang="en-US" sz="1000" dirty="0"/>
          </a:p>
        </p:txBody>
      </p:sp>
      <p:sp>
        <p:nvSpPr>
          <p:cNvPr id="4" name="Text 1"/>
          <p:cNvSpPr/>
          <p:nvPr>
            <p:ph idx="102" type="title" hasCustomPrompt="1"/>
          </p:nvPr>
        </p:nvSpPr>
        <p:spPr>
          <a:xfrm>
            <a:off x="548640" y="329184"/>
            <a:ext cx="11094415" cy="603504"/>
          </a:xfrm>
          <a:prstGeom prst="rect">
            <a:avLst/>
          </a:prstGeom>
          <a:noFill/>
          <a:ln/>
        </p:spPr>
        <p:txBody>
          <a:bodyPr wrap="square" rtlCol="0"/>
          <a:lstStyle>
            <a:lvl1pPr algn="l" indent="0" marL="0">
              <a:buNone/>
              <a:defRPr lang="en-US" sz="3000" b="1" dirty="0">
                <a:solidFill>
                  <a:srgbClr val="F1F6F5"/>
                </a:solidFill>
              </a:defRPr>
            </a:lvl1pPr>
          </a:lstStyle>
          <a:p>
            <a:pPr algn="l" indent="0" marL="0">
              <a:buNone/>
            </a:pPr>
            <a:endParaRPr lang="en-US" sz="3000" dirty="0"/>
          </a:p>
        </p:txBody>
      </p:sp>
      <p:sp>
        <p:nvSpPr>
          <p:cNvPr id="5" name="Text 1"/>
          <p:cNvSpPr/>
          <p:nvPr>
            <p:ph idx="103" type="body" hasCustomPrompt="1"/>
          </p:nvPr>
        </p:nvSpPr>
        <p:spPr>
          <a:xfrm>
            <a:off x="548640" y="932688"/>
            <a:ext cx="11094415" cy="384048"/>
          </a:xfrm>
          <a:prstGeom prst="rect">
            <a:avLst/>
          </a:prstGeom>
          <a:noFill/>
          <a:ln/>
        </p:spPr>
        <p:txBody>
          <a:bodyPr wrap="square" rtlCol="0"/>
          <a:lstStyle>
            <a:lvl1pPr algn="l" indent="0" marL="0">
              <a:buNone/>
              <a:defRPr lang="en-US" sz="1500" dirty="0">
                <a:solidFill>
                  <a:srgbClr val="93ADAA"/>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pratibimb-pi.vercel.app" TargetMode="External"/><Relationship Id="rId4" Type="http://schemas.openxmlformats.org/officeDocument/2006/relationships/hyperlink" Target="https://github.com/pndynkt/Team-AMAZE_IIM-Lucknow" TargetMode="External"/><Relationship Id="rId1" Type="http://schemas.openxmlformats.org/officeDocument/2006/relationships/image" Target="../media/image-1-1.png"/><Relationship Id="rId2" Type="http://schemas.openxmlformats.org/officeDocument/2006/relationships/image" Target="../media/image-1-2.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5" Type="http://schemas.openxmlformats.org/officeDocument/2006/relationships/hyperlink" Target="https://pratibimb-pi.vercel.app" TargetMode="External"/><Relationship Id="rId7" Type="http://schemas.openxmlformats.org/officeDocument/2006/relationships/hyperlink" Target="https://github.com/pndynkt/Team-AMAZE_IIM-Lucknow" TargetMode="External"/><Relationship Id="rId9" Type="http://schemas.openxmlformats.org/officeDocument/2006/relationships/hyperlink" Target="https://github.com/pndynkt/Team-AMAZE_IIM-Lucknow/blob/main/docs/ALGORITHM.md" TargetMode="External"/><Relationship Id="rId11" Type="http://schemas.openxmlformats.org/officeDocument/2006/relationships/hyperlink" Target="https://github.com/pndynkt/Team-AMAZE_IIM-Lucknow/blob/main/docs/MODEL_CARD.md" TargetMode="External"/><Relationship Id="rId13" Type="http://schemas.openxmlformats.org/officeDocument/2006/relationships/hyperlink" Target="https://github.com/pndynkt/Team-AMAZE_IIM-Lucknow/blob/main/docs/architecture.pdf" TargetMode="External"/><Relationship Id="rId15" Type="http://schemas.openxmlformats.org/officeDocument/2006/relationships/hyperlink" Target="https://github.com/pndynkt/Team-AMAZE_IIM-Lucknow#demo-video" TargetMode="Externa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6" Type="http://schemas.openxmlformats.org/officeDocument/2006/relationships/image" Target="../media/image-18-5.png"/><Relationship Id="rId8" Type="http://schemas.openxmlformats.org/officeDocument/2006/relationships/image" Target="../media/image-18-6.png"/><Relationship Id="rId10" Type="http://schemas.openxmlformats.org/officeDocument/2006/relationships/image" Target="../media/image-18-7.png"/><Relationship Id="rId12" Type="http://schemas.openxmlformats.org/officeDocument/2006/relationships/image" Target="../media/image-18-8.png"/><Relationship Id="rId14" Type="http://schemas.openxmlformats.org/officeDocument/2006/relationships/image" Target="../media/image-18-9.png"/><Relationship Id="rId16" Type="http://schemas.openxmlformats.org/officeDocument/2006/relationships/slideLayout" Target="../slideLayouts/slideLayout3.xml"/><Relationship Id="rId1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atibimb mark: a heartbeat line becoming a circle, reflected below the horizon">    </p:cNvPr>
          <p:cNvPicPr>
            <a:picLocks noChangeAspect="1"/>
          </p:cNvPicPr>
          <p:nvPr/>
        </p:nvPicPr>
        <p:blipFill>
          <a:blip r:embed="rId1"/>
          <a:stretch>
            <a:fillRect/>
          </a:stretch>
        </p:blipFill>
        <p:spPr>
          <a:xfrm>
            <a:off x="6629400" y="1143000"/>
            <a:ext cx="4937760" cy="3271266"/>
          </a:xfrm>
          <a:prstGeom prst="rect">
            <a:avLst/>
          </a:prstGeom>
        </p:spPr>
      </p:pic>
      <p:sp>
        <p:nvSpPr>
          <p:cNvPr id="3" name="Text 0"/>
          <p:cNvSpPr txBox="1"/>
          <p:nvPr/>
        </p:nvSpPr>
        <p:spPr>
          <a:xfrm>
            <a:off x="731520" y="1051560"/>
            <a:ext cx="5852160" cy="1051560"/>
          </a:xfrm>
          <a:prstGeom prst="rect">
            <a:avLst/>
          </a:prstGeom>
          <a:noFill/>
          <a:ln/>
        </p:spPr>
        <p:txBody>
          <a:bodyPr wrap="square" lIns="0" tIns="0" rIns="0" bIns="0" rtlCol="0" anchor="b"/>
          <a:lstStyle/>
          <a:p>
            <a:pPr indent="0" marL="0">
              <a:buNone/>
            </a:pPr>
            <a:r>
              <a:rPr lang="en-US" sz="6600" b="1" dirty="0">
                <a:solidFill>
                  <a:srgbClr val="F1F6F5"/>
                </a:solidFill>
              </a:rPr>
              <a:t>Pratibimb</a:t>
            </a:r>
            <a:endParaRPr lang="en-US" sz="6600" dirty="0"/>
          </a:p>
        </p:txBody>
      </p:sp>
      <p:pic>
        <p:nvPicPr>
          <p:cNvPr id="4" name="Image 1" descr="Pratibimb in Devanagari">    </p:cNvPr>
          <p:cNvPicPr>
            <a:picLocks noChangeAspect="1"/>
          </p:cNvPicPr>
          <p:nvPr/>
        </p:nvPicPr>
        <p:blipFill>
          <a:blip r:embed="rId2"/>
          <a:stretch>
            <a:fillRect/>
          </a:stretch>
        </p:blipFill>
        <p:spPr>
          <a:xfrm>
            <a:off x="768096" y="2240280"/>
            <a:ext cx="1495206" cy="438912"/>
          </a:xfrm>
          <a:prstGeom prst="rect">
            <a:avLst/>
          </a:prstGeom>
        </p:spPr>
      </p:pic>
      <p:sp>
        <p:nvSpPr>
          <p:cNvPr id="5" name="Text 1"/>
          <p:cNvSpPr txBox="1"/>
          <p:nvPr/>
        </p:nvSpPr>
        <p:spPr>
          <a:xfrm>
            <a:off x="2395728" y="2240280"/>
            <a:ext cx="2743200" cy="438912"/>
          </a:xfrm>
          <a:prstGeom prst="rect">
            <a:avLst/>
          </a:prstGeom>
          <a:noFill/>
          <a:ln/>
        </p:spPr>
        <p:txBody>
          <a:bodyPr wrap="square" lIns="0" tIns="0" rIns="0" bIns="0" rtlCol="0" anchor="ctr"/>
          <a:lstStyle/>
          <a:p>
            <a:pPr algn="l" indent="0" marL="0">
              <a:buNone/>
            </a:pPr>
            <a:r>
              <a:rPr lang="en-US" sz="1800" dirty="0">
                <a:solidFill>
                  <a:srgbClr val="93ADAA"/>
                </a:solidFill>
              </a:rPr>
              <a:t>means reflection</a:t>
            </a:r>
            <a:endParaRPr lang="en-US" sz="1800" dirty="0"/>
          </a:p>
        </p:txBody>
      </p:sp>
      <p:sp>
        <p:nvSpPr>
          <p:cNvPr id="6" name="Text 2"/>
          <p:cNvSpPr txBox="1"/>
          <p:nvPr/>
        </p:nvSpPr>
        <p:spPr>
          <a:xfrm>
            <a:off x="731520" y="2971800"/>
            <a:ext cx="5760720" cy="914400"/>
          </a:xfrm>
          <a:prstGeom prst="rect">
            <a:avLst/>
          </a:prstGeom>
          <a:noFill/>
          <a:ln/>
        </p:spPr>
        <p:txBody>
          <a:bodyPr wrap="square" lIns="0" tIns="0" rIns="0" bIns="0" rtlCol="0" anchor="t"/>
          <a:lstStyle/>
          <a:p>
            <a:pPr algn="l" indent="0" marL="0">
              <a:buNone/>
            </a:pPr>
            <a:r>
              <a:rPr lang="en-US" sz="2400" dirty="0">
                <a:solidFill>
                  <a:srgbClr val="F1F6F5"/>
                </a:solidFill>
              </a:rPr>
              <a:t>An early-warning digital twin for hypertension, built on the watches India already owns</a:t>
            </a:r>
            <a:endParaRPr lang="en-US" sz="2400" dirty="0"/>
          </a:p>
        </p:txBody>
      </p:sp>
      <p:sp>
        <p:nvSpPr>
          <p:cNvPr id="7" name="Text 3"/>
          <p:cNvSpPr txBox="1"/>
          <p:nvPr/>
        </p:nvSpPr>
        <p:spPr>
          <a:xfrm>
            <a:off x="731520" y="3931920"/>
            <a:ext cx="5760720" cy="914400"/>
          </a:xfrm>
          <a:prstGeom prst="rect">
            <a:avLst/>
          </a:prstGeom>
          <a:noFill/>
          <a:ln/>
        </p:spPr>
        <p:txBody>
          <a:bodyPr wrap="square" lIns="0" tIns="0" rIns="0" bIns="0" rtlCol="0" anchor="t"/>
          <a:lstStyle/>
          <a:p>
            <a:pPr algn="l" indent="0" marL="0">
              <a:buNone/>
            </a:pPr>
            <a:r>
              <a:rPr lang="en-US" sz="1500" dirty="0">
                <a:solidFill>
                  <a:srgbClr val="93ADAA"/>
                </a:solidFill>
              </a:rPr>
              <a:t>Fuses the health record with a budget watch and a home BP cuff, learns how one body responds to sleep and walking, and warns the doctor up to 72 hours before a cardiovascular strain episode.</a:t>
            </a:r>
            <a:endParaRPr lang="en-US" sz="1500" dirty="0"/>
          </a:p>
        </p:txBody>
      </p:sp>
      <p:sp>
        <p:nvSpPr>
          <p:cNvPr id="8" name="Text 4"/>
          <p:cNvSpPr txBox="1"/>
          <p:nvPr/>
        </p:nvSpPr>
        <p:spPr>
          <a:xfrm>
            <a:off x="731520" y="5074920"/>
            <a:ext cx="5760720" cy="329184"/>
          </a:xfrm>
          <a:prstGeom prst="rect">
            <a:avLst/>
          </a:prstGeom>
          <a:noFill/>
          <a:ln/>
        </p:spPr>
        <p:txBody>
          <a:bodyPr wrap="square" lIns="0" tIns="0" rIns="0" bIns="0" rtlCol="0" anchor="t"/>
          <a:lstStyle/>
          <a:p>
            <a:pPr algn="l" indent="0" marL="0">
              <a:buNone/>
            </a:pPr>
            <a:r>
              <a:rPr lang="en-US" sz="1700" b="1" dirty="0">
                <a:solidFill>
                  <a:srgbClr val="D6A06A"/>
                </a:solidFill>
              </a:rPr>
              <a:t>Team AMAZE</a:t>
            </a:r>
            <a:endParaRPr lang="en-US" sz="1700" dirty="0"/>
          </a:p>
        </p:txBody>
      </p:sp>
      <p:sp>
        <p:nvSpPr>
          <p:cNvPr id="9" name="Text 5"/>
          <p:cNvSpPr txBox="1"/>
          <p:nvPr/>
        </p:nvSpPr>
        <p:spPr>
          <a:xfrm>
            <a:off x="731520" y="5413248"/>
            <a:ext cx="5760720" cy="292608"/>
          </a:xfrm>
          <a:prstGeom prst="rect">
            <a:avLst/>
          </a:prstGeom>
          <a:noFill/>
          <a:ln/>
        </p:spPr>
        <p:txBody>
          <a:bodyPr wrap="square" lIns="0" tIns="0" rIns="0" bIns="0" rtlCol="0" anchor="t"/>
          <a:lstStyle/>
          <a:p>
            <a:pPr algn="l" indent="0" marL="0">
              <a:buNone/>
            </a:pPr>
            <a:r>
              <a:rPr lang="en-US" sz="1500" dirty="0">
                <a:solidFill>
                  <a:srgbClr val="F1F6F5"/>
                </a:solidFill>
              </a:rPr>
              <a:t>Nikita Pandey (team leader), Suraj Aryan</a:t>
            </a:r>
            <a:endParaRPr lang="en-US" sz="1500" dirty="0"/>
          </a:p>
        </p:txBody>
      </p:sp>
      <p:sp>
        <p:nvSpPr>
          <p:cNvPr id="10" name="Text 6"/>
          <p:cNvSpPr txBox="1"/>
          <p:nvPr/>
        </p:nvSpPr>
        <p:spPr>
          <a:xfrm>
            <a:off x="731520" y="5724144"/>
            <a:ext cx="5760720" cy="274320"/>
          </a:xfrm>
          <a:prstGeom prst="rect">
            <a:avLst/>
          </a:prstGeom>
          <a:noFill/>
          <a:ln/>
        </p:spPr>
        <p:txBody>
          <a:bodyPr wrap="square" lIns="0" tIns="0" rIns="0" bIns="0" rtlCol="0" anchor="t"/>
          <a:lstStyle/>
          <a:p>
            <a:pPr algn="l" indent="0" marL="0">
              <a:buNone/>
            </a:pPr>
            <a:r>
              <a:rPr lang="en-US" sz="1200" dirty="0">
                <a:solidFill>
                  <a:srgbClr val="93ADAA"/>
                </a:solidFill>
              </a:rPr>
              <a:t>IIM Lucknow, PGPSM  |  Happiest Health Digital Twin Challenge 2026</a:t>
            </a:r>
            <a:endParaRPr lang="en-US" sz="1200" dirty="0"/>
          </a:p>
        </p:txBody>
      </p:sp>
      <p:sp>
        <p:nvSpPr>
          <p:cNvPr id="11" name="Text 7"/>
          <p:cNvSpPr txBox="1"/>
          <p:nvPr/>
        </p:nvSpPr>
        <p:spPr>
          <a:xfrm>
            <a:off x="7132320" y="5074920"/>
            <a:ext cx="4480560" cy="310896"/>
          </a:xfrm>
          <a:prstGeom prst="rect">
            <a:avLst/>
          </a:prstGeom>
          <a:noFill/>
          <a:ln/>
        </p:spPr>
        <p:txBody>
          <a:bodyPr wrap="square" lIns="0" tIns="0" rIns="0" bIns="0" rtlCol="0" anchor="ctr"/>
          <a:lstStyle/>
          <a:p>
            <a:pPr indent="0" marL="0">
              <a:buNone/>
            </a:pPr>
            <a:r>
              <a:rPr lang="en-US" sz="1400" dirty="0">
                <a:solidFill>
                  <a:srgbClr val="93ADAA"/>
                </a:solidFill>
              </a:rPr>
              <a:t>Live demo  </a:t>
            </a:r>
            <a:r>
              <a:rPr lang="en-US" sz="1400" b="1" u="sng" dirty="0">
                <a:solidFill>
                  <a:srgbClr val="3FC1C0"/>
                </a:solidFill>
                <a:hlinkClick r:id="rId3" invalidUrl="" action="" tgtFrame="" tooltip="Open the live demo" history="1" highlightClick="0" endSnd="0">
                  <a:extLst>
                    <a:ext uri="{A12FA001-AC4F-418D-AE19-62706E023703}">
                      <ahyp:hlinkClr xmlns:ahyp="http://schemas.microsoft.com/office/drawing/2018/hyperlinkcolor" val="tx"/>
                    </a:ext>
                  </a:extLst>
                </a:hlinkClick>
              </a:rPr>
              <a:t>pratibimb-pi.vercel.app</a:t>
            </a:r>
            <a:endParaRPr lang="en-US" sz="1400" dirty="0"/>
          </a:p>
        </p:txBody>
      </p:sp>
      <p:sp>
        <p:nvSpPr>
          <p:cNvPr id="12" name="Text 8"/>
          <p:cNvSpPr txBox="1"/>
          <p:nvPr/>
        </p:nvSpPr>
        <p:spPr>
          <a:xfrm>
            <a:off x="7132320" y="5413248"/>
            <a:ext cx="4480560" cy="310896"/>
          </a:xfrm>
          <a:prstGeom prst="rect">
            <a:avLst/>
          </a:prstGeom>
          <a:noFill/>
          <a:ln/>
        </p:spPr>
        <p:txBody>
          <a:bodyPr wrap="square" lIns="0" tIns="0" rIns="0" bIns="0" rtlCol="0" anchor="ctr"/>
          <a:lstStyle/>
          <a:p>
            <a:pPr indent="0" marL="0">
              <a:buNone/>
            </a:pPr>
            <a:r>
              <a:rPr lang="en-US" sz="1200" dirty="0">
                <a:solidFill>
                  <a:srgbClr val="93ADAA"/>
                </a:solidFill>
              </a:rPr>
              <a:t>Code  </a:t>
            </a:r>
            <a:r>
              <a:rPr lang="en-US" sz="1200" u="sng" dirty="0">
                <a:solidFill>
                  <a:srgbClr val="3FC1C0"/>
                </a:solidFill>
                <a:hlinkClick r:id="rId4" invalidUrl="" action="" tgtFrame="" tooltip="Open the repository" history="1" highlightClick="0" endSnd="0">
                  <a:extLst>
                    <a:ext uri="{A12FA001-AC4F-418D-AE19-62706E023703}">
                      <ahyp:hlinkClr xmlns:ahyp="http://schemas.microsoft.com/office/drawing/2018/hyperlinkcolor" val="tx"/>
                    </a:ext>
                  </a:extLst>
                </a:hlinkClick>
              </a:rPr>
              <a:t>github.com/pndynkt/Team-AMAZE_IIM-Lucknow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Pratibimb at a glance</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Watch, home BP cuff and health record, read through a personal twin and scored every night</a:t>
            </a:r>
            <a:endParaRPr lang="en-US" sz="1500" dirty="0"/>
          </a:p>
        </p:txBody>
      </p:sp>
      <p:sp>
        <p:nvSpPr>
          <p:cNvPr id="4" name="Shape 2"/>
          <p:cNvSpPr/>
          <p:nvPr/>
        </p:nvSpPr>
        <p:spPr>
          <a:xfrm>
            <a:off x="548640" y="1481328"/>
            <a:ext cx="2615184" cy="3246120"/>
          </a:xfrm>
          <a:prstGeom prst="roundRect">
            <a:avLst>
              <a:gd name="adj" fmla="val 3497"/>
            </a:avLst>
          </a:prstGeom>
          <a:solidFill>
            <a:srgbClr val="152A2A"/>
          </a:solidFill>
          <a:ln w="9525">
            <a:solidFill>
              <a:srgbClr val="27413F"/>
            </a:solidFill>
            <a:prstDash val="solid"/>
          </a:ln>
        </p:spPr>
      </p:sp>
      <p:sp>
        <p:nvSpPr>
          <p:cNvPr id="5" name="Shape 3"/>
          <p:cNvSpPr/>
          <p:nvPr/>
        </p:nvSpPr>
        <p:spPr>
          <a:xfrm>
            <a:off x="749808" y="1682496"/>
            <a:ext cx="420624" cy="420624"/>
          </a:xfrm>
          <a:prstGeom prst="ellipse">
            <a:avLst/>
          </a:prstGeom>
          <a:solidFill>
            <a:srgbClr val="10302F"/>
          </a:solidFill>
          <a:ln w="6350">
            <a:solidFill>
              <a:srgbClr val="27413F"/>
            </a:solidFill>
            <a:prstDash val="solid"/>
          </a:ln>
        </p:spPr>
      </p:sp>
      <p:pic>
        <p:nvPicPr>
          <p:cNvPr id="6" name="Image 0" descr="alert icon">    </p:cNvPr>
          <p:cNvPicPr>
            <a:picLocks noChangeAspect="1"/>
          </p:cNvPicPr>
          <p:nvPr/>
        </p:nvPicPr>
        <p:blipFill>
          <a:blip r:embed="rId1"/>
          <a:stretch>
            <a:fillRect/>
          </a:stretch>
        </p:blipFill>
        <p:spPr>
          <a:xfrm>
            <a:off x="842345" y="1775033"/>
            <a:ext cx="235549" cy="235549"/>
          </a:xfrm>
          <a:prstGeom prst="rect">
            <a:avLst/>
          </a:prstGeom>
        </p:spPr>
      </p:pic>
      <p:sp>
        <p:nvSpPr>
          <p:cNvPr id="7" name="Text 4"/>
          <p:cNvSpPr txBox="1"/>
          <p:nvPr/>
        </p:nvSpPr>
        <p:spPr>
          <a:xfrm>
            <a:off x="1280160" y="1682496"/>
            <a:ext cx="1700784" cy="420624"/>
          </a:xfrm>
          <a:prstGeom prst="rect">
            <a:avLst/>
          </a:prstGeom>
          <a:noFill/>
          <a:ln/>
        </p:spPr>
        <p:txBody>
          <a:bodyPr wrap="square" lIns="0" tIns="0" rIns="0" bIns="0" rtlCol="0" anchor="ctr"/>
          <a:lstStyle/>
          <a:p>
            <a:pPr algn="l" indent="0" marL="0">
              <a:buNone/>
            </a:pPr>
            <a:r>
              <a:rPr lang="en-US" sz="1700" b="1" dirty="0">
                <a:solidFill>
                  <a:srgbClr val="E07A9E"/>
                </a:solidFill>
              </a:rPr>
              <a:t>Problem</a:t>
            </a:r>
            <a:endParaRPr lang="en-US" sz="1700" dirty="0"/>
          </a:p>
        </p:txBody>
      </p:sp>
      <p:sp>
        <p:nvSpPr>
          <p:cNvPr id="8" name="Text 5"/>
          <p:cNvSpPr txBox="1"/>
          <p:nvPr/>
        </p:nvSpPr>
        <p:spPr>
          <a:xfrm>
            <a:off x="768096" y="2304288"/>
            <a:ext cx="2212848" cy="228600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F1F6F5"/>
                </a:solidFill>
              </a:rPr>
              <a:t>1 in 4 adults </a:t>
            </a:r>
            <a:r>
              <a:rPr lang="en-US" sz="1500" dirty="0">
                <a:solidFill>
                  <a:srgbClr val="C9D8D6"/>
                </a:solidFill>
              </a:rPr>
              <a:t>in India live with high blood pressure</a:t>
            </a:r>
            <a:endParaRPr lang="en-US" sz="1500" dirty="0"/>
          </a:p>
          <a:p>
            <a:pPr marL="177800" indent="-177800">
              <a:spcAft>
                <a:spcPts val="1200"/>
              </a:spcAft>
              <a:buSzPct val="100000"/>
              <a:buChar char="•"/>
            </a:pPr>
            <a:r>
              <a:rPr lang="en-US" sz="1500" b="1" dirty="0">
                <a:solidFill>
                  <a:srgbClr val="F1F6F5"/>
                </a:solidFill>
              </a:rPr>
              <a:t>Strain builds for days </a:t>
            </a:r>
            <a:r>
              <a:rPr lang="en-US" sz="1500" dirty="0">
                <a:solidFill>
                  <a:srgbClr val="C9D8D6"/>
                </a:solidFill>
              </a:rPr>
              <a:t>before a surge, clinic or ER visit</a:t>
            </a:r>
            <a:endParaRPr lang="en-US" sz="1500" dirty="0"/>
          </a:p>
          <a:p>
            <a:pPr marL="177800" indent="-177800">
              <a:spcAft>
                <a:spcPts val="1200"/>
              </a:spcAft>
              <a:buSzPct val="100000"/>
              <a:buChar char="•"/>
            </a:pPr>
            <a:r>
              <a:rPr lang="en-US" sz="1500" b="1" dirty="0">
                <a:solidFill>
                  <a:srgbClr val="F1F6F5"/>
                </a:solidFill>
              </a:rPr>
              <a:t>Fixed thresholds </a:t>
            </a:r>
            <a:r>
              <a:rPr lang="en-US" sz="1500" dirty="0">
                <a:solidFill>
                  <a:srgbClr val="C9D8D6"/>
                </a:solidFill>
              </a:rPr>
              <a:t>flag 55.8% of readings; doctors stop looking</a:t>
            </a:r>
            <a:endParaRPr lang="en-US" sz="1500" dirty="0"/>
          </a:p>
        </p:txBody>
      </p:sp>
      <p:sp>
        <p:nvSpPr>
          <p:cNvPr id="9" name="Shape 6"/>
          <p:cNvSpPr/>
          <p:nvPr/>
        </p:nvSpPr>
        <p:spPr>
          <a:xfrm>
            <a:off x="3376879" y="1481328"/>
            <a:ext cx="2615184" cy="3246120"/>
          </a:xfrm>
          <a:prstGeom prst="roundRect">
            <a:avLst>
              <a:gd name="adj" fmla="val 3497"/>
            </a:avLst>
          </a:prstGeom>
          <a:solidFill>
            <a:srgbClr val="152A2A"/>
          </a:solidFill>
          <a:ln w="9525">
            <a:solidFill>
              <a:srgbClr val="27413F"/>
            </a:solidFill>
            <a:prstDash val="solid"/>
          </a:ln>
        </p:spPr>
      </p:sp>
      <p:sp>
        <p:nvSpPr>
          <p:cNvPr id="10" name="Shape 7"/>
          <p:cNvSpPr/>
          <p:nvPr/>
        </p:nvSpPr>
        <p:spPr>
          <a:xfrm>
            <a:off x="3578047" y="1682496"/>
            <a:ext cx="420624" cy="420624"/>
          </a:xfrm>
          <a:prstGeom prst="ellipse">
            <a:avLst/>
          </a:prstGeom>
          <a:solidFill>
            <a:srgbClr val="10302F"/>
          </a:solidFill>
          <a:ln w="6350">
            <a:solidFill>
              <a:srgbClr val="27413F"/>
            </a:solidFill>
            <a:prstDash val="solid"/>
          </a:ln>
        </p:spPr>
      </p:sp>
      <p:pic>
        <p:nvPicPr>
          <p:cNvPr id="11" name="Image 1" descr="twin icon">    </p:cNvPr>
          <p:cNvPicPr>
            <a:picLocks noChangeAspect="1"/>
          </p:cNvPicPr>
          <p:nvPr/>
        </p:nvPicPr>
        <p:blipFill>
          <a:blip r:embed="rId2"/>
          <a:stretch>
            <a:fillRect/>
          </a:stretch>
        </p:blipFill>
        <p:spPr>
          <a:xfrm>
            <a:off x="3670584" y="1775033"/>
            <a:ext cx="235549" cy="235549"/>
          </a:xfrm>
          <a:prstGeom prst="rect">
            <a:avLst/>
          </a:prstGeom>
        </p:spPr>
      </p:pic>
      <p:sp>
        <p:nvSpPr>
          <p:cNvPr id="12" name="Text 8"/>
          <p:cNvSpPr txBox="1"/>
          <p:nvPr/>
        </p:nvSpPr>
        <p:spPr>
          <a:xfrm>
            <a:off x="4108399" y="1682496"/>
            <a:ext cx="1700784" cy="420624"/>
          </a:xfrm>
          <a:prstGeom prst="rect">
            <a:avLst/>
          </a:prstGeom>
          <a:noFill/>
          <a:ln/>
        </p:spPr>
        <p:txBody>
          <a:bodyPr wrap="square" lIns="0" tIns="0" rIns="0" bIns="0" rtlCol="0" anchor="ctr"/>
          <a:lstStyle/>
          <a:p>
            <a:pPr algn="l" indent="0" marL="0">
              <a:buNone/>
            </a:pPr>
            <a:r>
              <a:rPr lang="en-US" sz="1700" b="1" dirty="0">
                <a:solidFill>
                  <a:srgbClr val="3FC1C0"/>
                </a:solidFill>
              </a:rPr>
              <a:t>Solution</a:t>
            </a:r>
            <a:endParaRPr lang="en-US" sz="1700" dirty="0"/>
          </a:p>
        </p:txBody>
      </p:sp>
      <p:sp>
        <p:nvSpPr>
          <p:cNvPr id="13" name="Text 9"/>
          <p:cNvSpPr txBox="1"/>
          <p:nvPr/>
        </p:nvSpPr>
        <p:spPr>
          <a:xfrm>
            <a:off x="3596335" y="2304288"/>
            <a:ext cx="2212848" cy="228600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F1F6F5"/>
                </a:solidFill>
              </a:rPr>
              <a:t>Personal twin </a:t>
            </a:r>
            <a:r>
              <a:rPr lang="en-US" sz="1500" dirty="0">
                <a:solidFill>
                  <a:srgbClr val="C9D8D6"/>
                </a:solidFill>
              </a:rPr>
              <a:t>learns how one body reacts to sleep and walking</a:t>
            </a:r>
            <a:endParaRPr lang="en-US" sz="1500" dirty="0"/>
          </a:p>
          <a:p>
            <a:pPr marL="177800" indent="-177800">
              <a:spcAft>
                <a:spcPts val="1200"/>
              </a:spcAft>
              <a:buSzPct val="100000"/>
              <a:buChar char="•"/>
            </a:pPr>
            <a:r>
              <a:rPr lang="en-US" sz="1500" b="1" dirty="0">
                <a:solidFill>
                  <a:srgbClr val="F1F6F5"/>
                </a:solidFill>
              </a:rPr>
              <a:t>Alerts only </a:t>
            </a:r>
            <a:r>
              <a:rPr lang="en-US" sz="1500" dirty="0">
                <a:solidFill>
                  <a:srgbClr val="C9D8D6"/>
                </a:solidFill>
              </a:rPr>
              <a:t>on change her own habits cannot explain</a:t>
            </a:r>
            <a:endParaRPr lang="en-US" sz="1500" dirty="0"/>
          </a:p>
          <a:p>
            <a:pPr marL="177800" indent="-177800">
              <a:spcAft>
                <a:spcPts val="1200"/>
              </a:spcAft>
              <a:buSzPct val="100000"/>
              <a:buChar char="•"/>
            </a:pPr>
            <a:r>
              <a:rPr lang="en-US" sz="1500" b="1" dirty="0">
                <a:solidFill>
                  <a:srgbClr val="F1F6F5"/>
                </a:solidFill>
              </a:rPr>
              <a:t>Calibrated 72 h risk </a:t>
            </a:r>
            <a:r>
              <a:rPr lang="en-US" sz="1500" dirty="0">
                <a:solidFill>
                  <a:srgbClr val="C9D8D6"/>
                </a:solidFill>
              </a:rPr>
              <a:t>with reasons in plain words</a:t>
            </a:r>
            <a:endParaRPr lang="en-US" sz="1500" dirty="0"/>
          </a:p>
        </p:txBody>
      </p:sp>
      <p:sp>
        <p:nvSpPr>
          <p:cNvPr id="14" name="Shape 10"/>
          <p:cNvSpPr/>
          <p:nvPr/>
        </p:nvSpPr>
        <p:spPr>
          <a:xfrm>
            <a:off x="6205118" y="1481328"/>
            <a:ext cx="2615184" cy="3246120"/>
          </a:xfrm>
          <a:prstGeom prst="roundRect">
            <a:avLst>
              <a:gd name="adj" fmla="val 3497"/>
            </a:avLst>
          </a:prstGeom>
          <a:solidFill>
            <a:srgbClr val="152A2A"/>
          </a:solidFill>
          <a:ln w="9525">
            <a:solidFill>
              <a:srgbClr val="27413F"/>
            </a:solidFill>
            <a:prstDash val="solid"/>
          </a:ln>
        </p:spPr>
      </p:sp>
      <p:sp>
        <p:nvSpPr>
          <p:cNvPr id="15" name="Shape 11"/>
          <p:cNvSpPr/>
          <p:nvPr/>
        </p:nvSpPr>
        <p:spPr>
          <a:xfrm>
            <a:off x="6406286" y="1682496"/>
            <a:ext cx="420624" cy="420624"/>
          </a:xfrm>
          <a:prstGeom prst="ellipse">
            <a:avLst/>
          </a:prstGeom>
          <a:solidFill>
            <a:srgbClr val="10302F"/>
          </a:solidFill>
          <a:ln w="6350">
            <a:solidFill>
              <a:srgbClr val="27413F"/>
            </a:solidFill>
            <a:prstDash val="solid"/>
          </a:ln>
        </p:spPr>
      </p:sp>
      <p:pic>
        <p:nvPicPr>
          <p:cNvPr id="16" name="Image 2" descr="target icon">    </p:cNvPr>
          <p:cNvPicPr>
            <a:picLocks noChangeAspect="1"/>
          </p:cNvPicPr>
          <p:nvPr/>
        </p:nvPicPr>
        <p:blipFill>
          <a:blip r:embed="rId3"/>
          <a:stretch>
            <a:fillRect/>
          </a:stretch>
        </p:blipFill>
        <p:spPr>
          <a:xfrm>
            <a:off x="6498824" y="1775033"/>
            <a:ext cx="235549" cy="235549"/>
          </a:xfrm>
          <a:prstGeom prst="rect">
            <a:avLst/>
          </a:prstGeom>
        </p:spPr>
      </p:pic>
      <p:sp>
        <p:nvSpPr>
          <p:cNvPr id="17" name="Text 12"/>
          <p:cNvSpPr txBox="1"/>
          <p:nvPr/>
        </p:nvSpPr>
        <p:spPr>
          <a:xfrm>
            <a:off x="6936638" y="1682496"/>
            <a:ext cx="1700784" cy="420624"/>
          </a:xfrm>
          <a:prstGeom prst="rect">
            <a:avLst/>
          </a:prstGeom>
          <a:noFill/>
          <a:ln/>
        </p:spPr>
        <p:txBody>
          <a:bodyPr wrap="square" lIns="0" tIns="0" rIns="0" bIns="0" rtlCol="0" anchor="ctr"/>
          <a:lstStyle/>
          <a:p>
            <a:pPr algn="l" indent="0" marL="0">
              <a:buNone/>
            </a:pPr>
            <a:r>
              <a:rPr lang="en-US" sz="1700" b="1" dirty="0">
                <a:solidFill>
                  <a:srgbClr val="5BC08A"/>
                </a:solidFill>
              </a:rPr>
              <a:t>Impact</a:t>
            </a:r>
            <a:endParaRPr lang="en-US" sz="1700" dirty="0"/>
          </a:p>
        </p:txBody>
      </p:sp>
      <p:sp>
        <p:nvSpPr>
          <p:cNvPr id="18" name="Text 13"/>
          <p:cNvSpPr txBox="1"/>
          <p:nvPr/>
        </p:nvSpPr>
        <p:spPr>
          <a:xfrm>
            <a:off x="6424574" y="2304288"/>
            <a:ext cx="2212848" cy="228600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F1F6F5"/>
                </a:solidFill>
              </a:rPr>
              <a:t>70% of episodes </a:t>
            </a:r>
            <a:r>
              <a:rPr lang="en-US" sz="1500" dirty="0">
                <a:solidFill>
                  <a:srgbClr val="C9D8D6"/>
                </a:solidFill>
              </a:rPr>
              <a:t>caught at 1 false alert per 22 patient-days</a:t>
            </a:r>
            <a:endParaRPr lang="en-US" sz="1500" dirty="0"/>
          </a:p>
          <a:p>
            <a:pPr marL="177800" indent="-177800">
              <a:spcAft>
                <a:spcPts val="1200"/>
              </a:spcAft>
              <a:buSzPct val="100000"/>
              <a:buChar char="•"/>
            </a:pPr>
            <a:r>
              <a:rPr lang="en-US" sz="1500" b="1" dirty="0">
                <a:solidFill>
                  <a:srgbClr val="F1F6F5"/>
                </a:solidFill>
              </a:rPr>
              <a:t>Median 48 h </a:t>
            </a:r>
            <a:r>
              <a:rPr lang="en-US" sz="1500" dirty="0">
                <a:solidFill>
                  <a:srgbClr val="C9D8D6"/>
                </a:solidFill>
              </a:rPr>
              <a:t>warning before the event</a:t>
            </a:r>
            <a:endParaRPr lang="en-US" sz="1500" dirty="0"/>
          </a:p>
          <a:p>
            <a:pPr marL="177800" indent="-177800">
              <a:spcAft>
                <a:spcPts val="1200"/>
              </a:spcAft>
              <a:buSzPct val="100000"/>
              <a:buChar char="•"/>
            </a:pPr>
            <a:r>
              <a:rPr lang="en-US" sz="1500" b="1" dirty="0">
                <a:solidFill>
                  <a:srgbClr val="F1F6F5"/>
                </a:solidFill>
              </a:rPr>
              <a:t>Twin lift </a:t>
            </a:r>
            <a:r>
              <a:rPr lang="en-US" sz="1500" dirty="0">
                <a:solidFill>
                  <a:srgbClr val="C9D8D6"/>
                </a:solidFill>
              </a:rPr>
              <a:t>+0.025 AUROC, better on 3 of 3 splits</a:t>
            </a:r>
            <a:endParaRPr lang="en-US" sz="1500" dirty="0"/>
          </a:p>
        </p:txBody>
      </p:sp>
      <p:sp>
        <p:nvSpPr>
          <p:cNvPr id="19" name="Shape 14"/>
          <p:cNvSpPr/>
          <p:nvPr/>
        </p:nvSpPr>
        <p:spPr>
          <a:xfrm>
            <a:off x="9033358" y="1481328"/>
            <a:ext cx="2615184" cy="3246120"/>
          </a:xfrm>
          <a:prstGeom prst="roundRect">
            <a:avLst>
              <a:gd name="adj" fmla="val 3497"/>
            </a:avLst>
          </a:prstGeom>
          <a:solidFill>
            <a:srgbClr val="152A2A"/>
          </a:solidFill>
          <a:ln w="9525">
            <a:solidFill>
              <a:srgbClr val="27413F"/>
            </a:solidFill>
            <a:prstDash val="solid"/>
          </a:ln>
        </p:spPr>
      </p:sp>
      <p:sp>
        <p:nvSpPr>
          <p:cNvPr id="20" name="Shape 15"/>
          <p:cNvSpPr/>
          <p:nvPr/>
        </p:nvSpPr>
        <p:spPr>
          <a:xfrm>
            <a:off x="9234526" y="1682496"/>
            <a:ext cx="420624" cy="420624"/>
          </a:xfrm>
          <a:prstGeom prst="ellipse">
            <a:avLst/>
          </a:prstGeom>
          <a:solidFill>
            <a:srgbClr val="10302F"/>
          </a:solidFill>
          <a:ln w="6350">
            <a:solidFill>
              <a:srgbClr val="27413F"/>
            </a:solidFill>
            <a:prstDash val="solid"/>
          </a:ln>
        </p:spPr>
      </p:sp>
      <p:pic>
        <p:nvPicPr>
          <p:cNvPr id="21" name="Image 3" descr="layers icon">    </p:cNvPr>
          <p:cNvPicPr>
            <a:picLocks noChangeAspect="1"/>
          </p:cNvPicPr>
          <p:nvPr/>
        </p:nvPicPr>
        <p:blipFill>
          <a:blip r:embed="rId4"/>
          <a:stretch>
            <a:fillRect/>
          </a:stretch>
        </p:blipFill>
        <p:spPr>
          <a:xfrm>
            <a:off x="9327063" y="1775033"/>
            <a:ext cx="235549" cy="235549"/>
          </a:xfrm>
          <a:prstGeom prst="rect">
            <a:avLst/>
          </a:prstGeom>
        </p:spPr>
      </p:pic>
      <p:sp>
        <p:nvSpPr>
          <p:cNvPr id="22" name="Text 16"/>
          <p:cNvSpPr txBox="1"/>
          <p:nvPr/>
        </p:nvSpPr>
        <p:spPr>
          <a:xfrm>
            <a:off x="9764878" y="1682496"/>
            <a:ext cx="1700784" cy="420624"/>
          </a:xfrm>
          <a:prstGeom prst="rect">
            <a:avLst/>
          </a:prstGeom>
          <a:noFill/>
          <a:ln/>
        </p:spPr>
        <p:txBody>
          <a:bodyPr wrap="square" lIns="0" tIns="0" rIns="0" bIns="0" rtlCol="0" anchor="ctr"/>
          <a:lstStyle/>
          <a:p>
            <a:pPr algn="l" indent="0" marL="0">
              <a:buNone/>
            </a:pPr>
            <a:r>
              <a:rPr lang="en-US" sz="1700" b="1" dirty="0">
                <a:solidFill>
                  <a:srgbClr val="D6A06A"/>
                </a:solidFill>
              </a:rPr>
              <a:t>Implementation</a:t>
            </a:r>
            <a:endParaRPr lang="en-US" sz="1700" dirty="0"/>
          </a:p>
        </p:txBody>
      </p:sp>
      <p:sp>
        <p:nvSpPr>
          <p:cNvPr id="23" name="Text 17"/>
          <p:cNvSpPr txBox="1"/>
          <p:nvPr/>
        </p:nvSpPr>
        <p:spPr>
          <a:xfrm>
            <a:off x="9252814" y="2304288"/>
            <a:ext cx="2212848" cy="228600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F1F6F5"/>
                </a:solidFill>
              </a:rPr>
              <a:t>Working product: </a:t>
            </a:r>
            <a:r>
              <a:rPr lang="en-US" sz="1500" dirty="0">
                <a:solidFill>
                  <a:srgbClr val="C9D8D6"/>
                </a:solidFill>
              </a:rPr>
              <a:t>doctor console, patient app in English and Hindi</a:t>
            </a:r>
            <a:endParaRPr lang="en-US" sz="1500" dirty="0"/>
          </a:p>
          <a:p>
            <a:pPr marL="177800" indent="-177800">
              <a:spcAft>
                <a:spcPts val="1200"/>
              </a:spcAft>
              <a:buSzPct val="100000"/>
              <a:buChar char="•"/>
            </a:pPr>
            <a:r>
              <a:rPr lang="en-US" sz="1500" b="1" dirty="0">
                <a:solidFill>
                  <a:srgbClr val="F1F6F5"/>
                </a:solidFill>
              </a:rPr>
              <a:t>FHIR R4 and ABDM </a:t>
            </a:r>
            <a:r>
              <a:rPr lang="en-US" sz="1500" dirty="0">
                <a:solidFill>
                  <a:srgbClr val="C9D8D6"/>
                </a:solidFill>
              </a:rPr>
              <a:t>WellnessRecord export</a:t>
            </a:r>
            <a:endParaRPr lang="en-US" sz="1500" dirty="0"/>
          </a:p>
          <a:p>
            <a:pPr marL="177800" indent="-177800">
              <a:spcAft>
                <a:spcPts val="1200"/>
              </a:spcAft>
              <a:buSzPct val="100000"/>
              <a:buChar char="•"/>
            </a:pPr>
            <a:r>
              <a:rPr lang="en-US" sz="1500" b="1" dirty="0">
                <a:solidFill>
                  <a:srgbClr val="F1F6F5"/>
                </a:solidFill>
              </a:rPr>
              <a:t>Live demo, </a:t>
            </a:r>
            <a:r>
              <a:rPr lang="en-US" sz="1500" dirty="0">
                <a:solidFill>
                  <a:srgbClr val="C9D8D6"/>
                </a:solidFill>
              </a:rPr>
              <a:t>25 tests, MIT licence</a:t>
            </a:r>
            <a:endParaRPr lang="en-US" sz="1500" dirty="0"/>
          </a:p>
        </p:txBody>
      </p:sp>
      <p:sp>
        <p:nvSpPr>
          <p:cNvPr id="24" name="Shape 18"/>
          <p:cNvSpPr/>
          <p:nvPr/>
        </p:nvSpPr>
        <p:spPr>
          <a:xfrm>
            <a:off x="548640" y="4919472"/>
            <a:ext cx="11094415" cy="1261872"/>
          </a:xfrm>
          <a:prstGeom prst="roundRect">
            <a:avLst>
              <a:gd name="adj" fmla="val 7246"/>
            </a:avLst>
          </a:prstGeom>
          <a:solidFill>
            <a:srgbClr val="10302F"/>
          </a:solidFill>
          <a:ln w="9525">
            <a:solidFill>
              <a:srgbClr val="27413F"/>
            </a:solidFill>
            <a:prstDash val="solid"/>
          </a:ln>
        </p:spPr>
      </p:sp>
      <p:sp>
        <p:nvSpPr>
          <p:cNvPr id="25" name="Text 19"/>
          <p:cNvSpPr txBox="1"/>
          <p:nvPr/>
        </p:nvSpPr>
        <p:spPr>
          <a:xfrm>
            <a:off x="822960" y="4974336"/>
            <a:ext cx="2514600" cy="566928"/>
          </a:xfrm>
          <a:prstGeom prst="rect">
            <a:avLst/>
          </a:prstGeom>
          <a:noFill/>
          <a:ln/>
        </p:spPr>
        <p:txBody>
          <a:bodyPr wrap="square" lIns="0" tIns="0" rIns="0" bIns="0" rtlCol="0" anchor="b"/>
          <a:lstStyle/>
          <a:p>
            <a:pPr algn="l" indent="0" marL="0">
              <a:buNone/>
            </a:pPr>
            <a:r>
              <a:rPr lang="en-US" sz="3200" b="1" dirty="0">
                <a:solidFill>
                  <a:srgbClr val="3FC1C0"/>
                </a:solidFill>
              </a:rPr>
              <a:t>0.876</a:t>
            </a:r>
            <a:endParaRPr lang="en-US" sz="3200" dirty="0"/>
          </a:p>
        </p:txBody>
      </p:sp>
      <p:sp>
        <p:nvSpPr>
          <p:cNvPr id="26" name="Text 20"/>
          <p:cNvSpPr txBox="1"/>
          <p:nvPr/>
        </p:nvSpPr>
        <p:spPr>
          <a:xfrm>
            <a:off x="822960" y="5596128"/>
            <a:ext cx="2514600" cy="457200"/>
          </a:xfrm>
          <a:prstGeom prst="rect">
            <a:avLst/>
          </a:prstGeom>
          <a:noFill/>
          <a:ln/>
        </p:spPr>
        <p:txBody>
          <a:bodyPr wrap="square" lIns="0" tIns="0" rIns="0" bIns="0" rtlCol="0" anchor="t"/>
          <a:lstStyle/>
          <a:p>
            <a:pPr algn="l" indent="0" marL="0">
              <a:buNone/>
            </a:pPr>
            <a:r>
              <a:rPr lang="en-US" sz="1200" dirty="0">
                <a:solidFill>
                  <a:srgbClr val="93ADAA"/>
                </a:solidFill>
              </a:rPr>
              <a:t>AUROC on patients the model never saw</a:t>
            </a:r>
            <a:endParaRPr lang="en-US" sz="1200" dirty="0"/>
          </a:p>
        </p:txBody>
      </p:sp>
      <p:sp>
        <p:nvSpPr>
          <p:cNvPr id="27" name="Text 21"/>
          <p:cNvSpPr txBox="1"/>
          <p:nvPr/>
        </p:nvSpPr>
        <p:spPr>
          <a:xfrm>
            <a:off x="3566160" y="4974336"/>
            <a:ext cx="2514600" cy="566928"/>
          </a:xfrm>
          <a:prstGeom prst="rect">
            <a:avLst/>
          </a:prstGeom>
          <a:noFill/>
          <a:ln/>
        </p:spPr>
        <p:txBody>
          <a:bodyPr wrap="square" lIns="0" tIns="0" rIns="0" bIns="0" rtlCol="0" anchor="b"/>
          <a:lstStyle/>
          <a:p>
            <a:pPr algn="l" indent="0" marL="0">
              <a:buNone/>
            </a:pPr>
            <a:r>
              <a:rPr lang="en-US" sz="3200" b="1" dirty="0">
                <a:solidFill>
                  <a:srgbClr val="3FC1C0"/>
                </a:solidFill>
              </a:rPr>
              <a:t>70%</a:t>
            </a:r>
            <a:endParaRPr lang="en-US" sz="3200" dirty="0"/>
          </a:p>
        </p:txBody>
      </p:sp>
      <p:sp>
        <p:nvSpPr>
          <p:cNvPr id="28" name="Text 22"/>
          <p:cNvSpPr txBox="1"/>
          <p:nvPr/>
        </p:nvSpPr>
        <p:spPr>
          <a:xfrm>
            <a:off x="3566160" y="5596128"/>
            <a:ext cx="2514600" cy="457200"/>
          </a:xfrm>
          <a:prstGeom prst="rect">
            <a:avLst/>
          </a:prstGeom>
          <a:noFill/>
          <a:ln/>
        </p:spPr>
        <p:txBody>
          <a:bodyPr wrap="square" lIns="0" tIns="0" rIns="0" bIns="0" rtlCol="0" anchor="t"/>
          <a:lstStyle/>
          <a:p>
            <a:pPr algn="l" indent="0" marL="0">
              <a:buNone/>
            </a:pPr>
            <a:r>
              <a:rPr lang="en-US" sz="1200" dirty="0">
                <a:solidFill>
                  <a:srgbClr val="93ADAA"/>
                </a:solidFill>
              </a:rPr>
              <a:t>episodes caught inside the false-alert budget</a:t>
            </a:r>
            <a:endParaRPr lang="en-US" sz="1200" dirty="0"/>
          </a:p>
        </p:txBody>
      </p:sp>
      <p:sp>
        <p:nvSpPr>
          <p:cNvPr id="29" name="Text 23"/>
          <p:cNvSpPr txBox="1"/>
          <p:nvPr/>
        </p:nvSpPr>
        <p:spPr>
          <a:xfrm>
            <a:off x="6309360" y="4974336"/>
            <a:ext cx="2514600" cy="566928"/>
          </a:xfrm>
          <a:prstGeom prst="rect">
            <a:avLst/>
          </a:prstGeom>
          <a:noFill/>
          <a:ln/>
        </p:spPr>
        <p:txBody>
          <a:bodyPr wrap="square" lIns="0" tIns="0" rIns="0" bIns="0" rtlCol="0" anchor="b"/>
          <a:lstStyle/>
          <a:p>
            <a:pPr algn="l" indent="0" marL="0">
              <a:buNone/>
            </a:pPr>
            <a:r>
              <a:rPr lang="en-US" sz="3200" b="1" dirty="0">
                <a:solidFill>
                  <a:srgbClr val="3FC1C0"/>
                </a:solidFill>
              </a:rPr>
              <a:t>48 h</a:t>
            </a:r>
            <a:endParaRPr lang="en-US" sz="3200" dirty="0"/>
          </a:p>
        </p:txBody>
      </p:sp>
      <p:sp>
        <p:nvSpPr>
          <p:cNvPr id="30" name="Text 24"/>
          <p:cNvSpPr txBox="1"/>
          <p:nvPr/>
        </p:nvSpPr>
        <p:spPr>
          <a:xfrm>
            <a:off x="6309360" y="5596128"/>
            <a:ext cx="2514600" cy="457200"/>
          </a:xfrm>
          <a:prstGeom prst="rect">
            <a:avLst/>
          </a:prstGeom>
          <a:noFill/>
          <a:ln/>
        </p:spPr>
        <p:txBody>
          <a:bodyPr wrap="square" lIns="0" tIns="0" rIns="0" bIns="0" rtlCol="0" anchor="t"/>
          <a:lstStyle/>
          <a:p>
            <a:pPr algn="l" indent="0" marL="0">
              <a:buNone/>
            </a:pPr>
            <a:r>
              <a:rPr lang="en-US" sz="1200" dirty="0">
                <a:solidFill>
                  <a:srgbClr val="93ADAA"/>
                </a:solidFill>
              </a:rPr>
              <a:t>median warning before the event</a:t>
            </a:r>
            <a:endParaRPr lang="en-US" sz="1200" dirty="0"/>
          </a:p>
        </p:txBody>
      </p:sp>
      <p:sp>
        <p:nvSpPr>
          <p:cNvPr id="31" name="Text 25"/>
          <p:cNvSpPr txBox="1"/>
          <p:nvPr/>
        </p:nvSpPr>
        <p:spPr>
          <a:xfrm>
            <a:off x="9052560" y="4974336"/>
            <a:ext cx="2514600" cy="566928"/>
          </a:xfrm>
          <a:prstGeom prst="rect">
            <a:avLst/>
          </a:prstGeom>
          <a:noFill/>
          <a:ln/>
        </p:spPr>
        <p:txBody>
          <a:bodyPr wrap="square" lIns="0" tIns="0" rIns="0" bIns="0" rtlCol="0" anchor="b"/>
          <a:lstStyle/>
          <a:p>
            <a:pPr algn="l" indent="0" marL="0">
              <a:buNone/>
            </a:pPr>
            <a:r>
              <a:rPr lang="en-US" sz="3200" b="1" dirty="0">
                <a:solidFill>
                  <a:srgbClr val="3FC1C0"/>
                </a:solidFill>
              </a:rPr>
              <a:t>240 x 120</a:t>
            </a:r>
            <a:endParaRPr lang="en-US" sz="3200" dirty="0"/>
          </a:p>
        </p:txBody>
      </p:sp>
      <p:sp>
        <p:nvSpPr>
          <p:cNvPr id="32" name="Text 26"/>
          <p:cNvSpPr txBox="1"/>
          <p:nvPr/>
        </p:nvSpPr>
        <p:spPr>
          <a:xfrm>
            <a:off x="9052560" y="5596128"/>
            <a:ext cx="2514600" cy="457200"/>
          </a:xfrm>
          <a:prstGeom prst="rect">
            <a:avLst/>
          </a:prstGeom>
          <a:noFill/>
          <a:ln/>
        </p:spPr>
        <p:txBody>
          <a:bodyPr wrap="square" lIns="0" tIns="0" rIns="0" bIns="0" rtlCol="0" anchor="t"/>
          <a:lstStyle/>
          <a:p>
            <a:pPr algn="l" indent="0" marL="0">
              <a:buNone/>
            </a:pPr>
            <a:r>
              <a:rPr lang="en-US" sz="1200" dirty="0">
                <a:solidFill>
                  <a:srgbClr val="93ADAA"/>
                </a:solidFill>
              </a:rPr>
              <a:t>synthetic patients x days, seeded</a:t>
            </a:r>
            <a:endParaRPr lang="en-US" sz="12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Hypertension builds quietly; the watch sees it, nobody reads it</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Four facts that shape the design</a:t>
            </a:r>
            <a:endParaRPr lang="en-US" sz="1500" dirty="0"/>
          </a:p>
        </p:txBody>
      </p:sp>
      <p:sp>
        <p:nvSpPr>
          <p:cNvPr id="4" name="Shape 2"/>
          <p:cNvSpPr/>
          <p:nvPr/>
        </p:nvSpPr>
        <p:spPr>
          <a:xfrm>
            <a:off x="548640" y="1481328"/>
            <a:ext cx="2615184" cy="3383280"/>
          </a:xfrm>
          <a:prstGeom prst="roundRect">
            <a:avLst>
              <a:gd name="adj" fmla="val 3497"/>
            </a:avLst>
          </a:prstGeom>
          <a:solidFill>
            <a:srgbClr val="152A2A"/>
          </a:solidFill>
          <a:ln w="9525">
            <a:solidFill>
              <a:srgbClr val="27413F"/>
            </a:solidFill>
            <a:prstDash val="solid"/>
          </a:ln>
        </p:spPr>
      </p:sp>
      <p:sp>
        <p:nvSpPr>
          <p:cNvPr id="5" name="Shape 3"/>
          <p:cNvSpPr/>
          <p:nvPr/>
        </p:nvSpPr>
        <p:spPr>
          <a:xfrm>
            <a:off x="768096" y="1700784"/>
            <a:ext cx="420624" cy="420624"/>
          </a:xfrm>
          <a:prstGeom prst="ellipse">
            <a:avLst/>
          </a:prstGeom>
          <a:solidFill>
            <a:srgbClr val="10302F"/>
          </a:solidFill>
          <a:ln w="6350">
            <a:solidFill>
              <a:srgbClr val="27413F"/>
            </a:solidFill>
            <a:prstDash val="solid"/>
          </a:ln>
        </p:spPr>
      </p:sp>
      <p:pic>
        <p:nvPicPr>
          <p:cNvPr id="6" name="Image 0" descr="heart icon">    </p:cNvPr>
          <p:cNvPicPr>
            <a:picLocks noChangeAspect="1"/>
          </p:cNvPicPr>
          <p:nvPr/>
        </p:nvPicPr>
        <p:blipFill>
          <a:blip r:embed="rId1"/>
          <a:stretch>
            <a:fillRect/>
          </a:stretch>
        </p:blipFill>
        <p:spPr>
          <a:xfrm>
            <a:off x="860633" y="1793321"/>
            <a:ext cx="235549" cy="235549"/>
          </a:xfrm>
          <a:prstGeom prst="rect">
            <a:avLst/>
          </a:prstGeom>
        </p:spPr>
      </p:pic>
      <p:sp>
        <p:nvSpPr>
          <p:cNvPr id="7" name="Text 4"/>
          <p:cNvSpPr txBox="1"/>
          <p:nvPr/>
        </p:nvSpPr>
        <p:spPr>
          <a:xfrm>
            <a:off x="768096" y="2258568"/>
            <a:ext cx="2249424" cy="822960"/>
          </a:xfrm>
          <a:prstGeom prst="rect">
            <a:avLst/>
          </a:prstGeom>
          <a:noFill/>
          <a:ln/>
        </p:spPr>
        <p:txBody>
          <a:bodyPr wrap="square" lIns="0" tIns="0" rIns="0" bIns="0" rtlCol="0" anchor="b"/>
          <a:lstStyle/>
          <a:p>
            <a:pPr algn="l" indent="0" marL="0">
              <a:buNone/>
            </a:pPr>
            <a:r>
              <a:rPr lang="en-US" sz="4600" b="1" dirty="0">
                <a:solidFill>
                  <a:srgbClr val="E07A9E"/>
                </a:solidFill>
              </a:rPr>
              <a:t>1 in 4</a:t>
            </a:r>
            <a:endParaRPr lang="en-US" sz="4600" dirty="0"/>
          </a:p>
        </p:txBody>
      </p:sp>
      <p:sp>
        <p:nvSpPr>
          <p:cNvPr id="8" name="Text 5"/>
          <p:cNvSpPr txBox="1"/>
          <p:nvPr/>
        </p:nvSpPr>
        <p:spPr>
          <a:xfrm>
            <a:off x="768096" y="3145536"/>
            <a:ext cx="2249424" cy="329184"/>
          </a:xfrm>
          <a:prstGeom prst="rect">
            <a:avLst/>
          </a:prstGeom>
          <a:noFill/>
          <a:ln/>
        </p:spPr>
        <p:txBody>
          <a:bodyPr wrap="square" lIns="0" tIns="0" rIns="0" bIns="0" rtlCol="0" anchor="t"/>
          <a:lstStyle/>
          <a:p>
            <a:pPr algn="l" indent="0" marL="0">
              <a:buNone/>
            </a:pPr>
            <a:r>
              <a:rPr lang="en-US" sz="1600" b="1" dirty="0">
                <a:solidFill>
                  <a:srgbClr val="F1F6F5"/>
                </a:solidFill>
              </a:rPr>
              <a:t>Indian adults</a:t>
            </a:r>
            <a:endParaRPr lang="en-US" sz="1600" dirty="0"/>
          </a:p>
        </p:txBody>
      </p:sp>
      <p:sp>
        <p:nvSpPr>
          <p:cNvPr id="9" name="Text 6"/>
          <p:cNvSpPr txBox="1"/>
          <p:nvPr/>
        </p:nvSpPr>
        <p:spPr>
          <a:xfrm>
            <a:off x="768096" y="3493008"/>
            <a:ext cx="2212848" cy="1280160"/>
          </a:xfrm>
          <a:prstGeom prst="rect">
            <a:avLst/>
          </a:prstGeom>
          <a:noFill/>
          <a:ln/>
        </p:spPr>
        <p:txBody>
          <a:bodyPr wrap="square" lIns="0" tIns="0" rIns="0" bIns="0" rtlCol="0" anchor="t"/>
          <a:lstStyle/>
          <a:p>
            <a:pPr algn="l" indent="0" marL="0">
              <a:buNone/>
            </a:pPr>
            <a:r>
              <a:rPr lang="en-US" sz="1400" dirty="0">
                <a:solidFill>
                  <a:srgbClr val="C9D8D6"/>
                </a:solidFill>
              </a:rPr>
              <a:t>have high blood pressure. Most strain builds for days before a surge, clinic visit or ER trip.</a:t>
            </a:r>
            <a:endParaRPr lang="en-US" sz="1400" dirty="0"/>
          </a:p>
        </p:txBody>
      </p:sp>
      <p:sp>
        <p:nvSpPr>
          <p:cNvPr id="10" name="Shape 7"/>
          <p:cNvSpPr/>
          <p:nvPr/>
        </p:nvSpPr>
        <p:spPr>
          <a:xfrm>
            <a:off x="3376879" y="1481328"/>
            <a:ext cx="2615184" cy="3383280"/>
          </a:xfrm>
          <a:prstGeom prst="roundRect">
            <a:avLst>
              <a:gd name="adj" fmla="val 3497"/>
            </a:avLst>
          </a:prstGeom>
          <a:solidFill>
            <a:srgbClr val="152A2A"/>
          </a:solidFill>
          <a:ln w="9525">
            <a:solidFill>
              <a:srgbClr val="27413F"/>
            </a:solidFill>
            <a:prstDash val="solid"/>
          </a:ln>
        </p:spPr>
      </p:sp>
      <p:sp>
        <p:nvSpPr>
          <p:cNvPr id="11" name="Shape 8"/>
          <p:cNvSpPr/>
          <p:nvPr/>
        </p:nvSpPr>
        <p:spPr>
          <a:xfrm>
            <a:off x="3596335" y="1700784"/>
            <a:ext cx="420624" cy="420624"/>
          </a:xfrm>
          <a:prstGeom prst="ellipse">
            <a:avLst/>
          </a:prstGeom>
          <a:solidFill>
            <a:srgbClr val="10302F"/>
          </a:solidFill>
          <a:ln w="6350">
            <a:solidFill>
              <a:srgbClr val="27413F"/>
            </a:solidFill>
            <a:prstDash val="solid"/>
          </a:ln>
        </p:spPr>
      </p:sp>
      <p:pic>
        <p:nvPicPr>
          <p:cNvPr id="12" name="Image 1" descr="watch icon">    </p:cNvPr>
          <p:cNvPicPr>
            <a:picLocks noChangeAspect="1"/>
          </p:cNvPicPr>
          <p:nvPr/>
        </p:nvPicPr>
        <p:blipFill>
          <a:blip r:embed="rId2"/>
          <a:stretch>
            <a:fillRect/>
          </a:stretch>
        </p:blipFill>
        <p:spPr>
          <a:xfrm>
            <a:off x="3688872" y="1793321"/>
            <a:ext cx="235549" cy="235549"/>
          </a:xfrm>
          <a:prstGeom prst="rect">
            <a:avLst/>
          </a:prstGeom>
        </p:spPr>
      </p:pic>
      <p:sp>
        <p:nvSpPr>
          <p:cNvPr id="13" name="Text 9"/>
          <p:cNvSpPr txBox="1"/>
          <p:nvPr/>
        </p:nvSpPr>
        <p:spPr>
          <a:xfrm>
            <a:off x="3596335" y="2258568"/>
            <a:ext cx="2249424" cy="822960"/>
          </a:xfrm>
          <a:prstGeom prst="rect">
            <a:avLst/>
          </a:prstGeom>
          <a:noFill/>
          <a:ln/>
        </p:spPr>
        <p:txBody>
          <a:bodyPr wrap="square" lIns="0" tIns="0" rIns="0" bIns="0" rtlCol="0" anchor="b"/>
          <a:lstStyle/>
          <a:p>
            <a:pPr algn="l" indent="0" marL="0">
              <a:buNone/>
            </a:pPr>
            <a:r>
              <a:rPr lang="en-US" sz="4600" b="1" dirty="0">
                <a:solidFill>
                  <a:srgbClr val="3FC1C0"/>
                </a:solidFill>
              </a:rPr>
              <a:t>91.6%</a:t>
            </a:r>
            <a:endParaRPr lang="en-US" sz="4600" dirty="0"/>
          </a:p>
        </p:txBody>
      </p:sp>
      <p:sp>
        <p:nvSpPr>
          <p:cNvPr id="14" name="Text 10"/>
          <p:cNvSpPr txBox="1"/>
          <p:nvPr/>
        </p:nvSpPr>
        <p:spPr>
          <a:xfrm>
            <a:off x="3596335" y="3145536"/>
            <a:ext cx="2249424" cy="329184"/>
          </a:xfrm>
          <a:prstGeom prst="rect">
            <a:avLst/>
          </a:prstGeom>
          <a:noFill/>
          <a:ln/>
        </p:spPr>
        <p:txBody>
          <a:bodyPr wrap="square" lIns="0" tIns="0" rIns="0" bIns="0" rtlCol="0" anchor="t"/>
          <a:lstStyle/>
          <a:p>
            <a:pPr algn="l" indent="0" marL="0">
              <a:buNone/>
            </a:pPr>
            <a:r>
              <a:rPr lang="en-US" sz="1600" b="1" dirty="0">
                <a:solidFill>
                  <a:srgbClr val="F1F6F5"/>
                </a:solidFill>
              </a:rPr>
              <a:t>of smartwatches</a:t>
            </a:r>
            <a:endParaRPr lang="en-US" sz="1600" dirty="0"/>
          </a:p>
        </p:txBody>
      </p:sp>
      <p:sp>
        <p:nvSpPr>
          <p:cNvPr id="15" name="Text 11"/>
          <p:cNvSpPr txBox="1"/>
          <p:nvPr/>
        </p:nvSpPr>
        <p:spPr>
          <a:xfrm>
            <a:off x="3596335" y="3493008"/>
            <a:ext cx="2212848" cy="1280160"/>
          </a:xfrm>
          <a:prstGeom prst="rect">
            <a:avLst/>
          </a:prstGeom>
          <a:noFill/>
          <a:ln/>
        </p:spPr>
        <p:txBody>
          <a:bodyPr wrap="square" lIns="0" tIns="0" rIns="0" bIns="0" rtlCol="0" anchor="t"/>
          <a:lstStyle/>
          <a:p>
            <a:pPr algn="l" indent="0" marL="0">
              <a:buNone/>
            </a:pPr>
            <a:r>
              <a:rPr lang="en-US" sz="1400" dirty="0">
                <a:solidFill>
                  <a:srgbClr val="C9D8D6"/>
                </a:solidFill>
              </a:rPr>
              <a:t>sold in India cost under US$50 (IDC, Q2 2026). They log heart rate, sleep and steps every night.</a:t>
            </a:r>
            <a:endParaRPr lang="en-US" sz="1400" dirty="0"/>
          </a:p>
        </p:txBody>
      </p:sp>
      <p:sp>
        <p:nvSpPr>
          <p:cNvPr id="16" name="Shape 12"/>
          <p:cNvSpPr/>
          <p:nvPr/>
        </p:nvSpPr>
        <p:spPr>
          <a:xfrm>
            <a:off x="6205118" y="1481328"/>
            <a:ext cx="2615184" cy="3383280"/>
          </a:xfrm>
          <a:prstGeom prst="roundRect">
            <a:avLst>
              <a:gd name="adj" fmla="val 3497"/>
            </a:avLst>
          </a:prstGeom>
          <a:solidFill>
            <a:srgbClr val="152A2A"/>
          </a:solidFill>
          <a:ln w="9525">
            <a:solidFill>
              <a:srgbClr val="27413F"/>
            </a:solidFill>
            <a:prstDash val="solid"/>
          </a:ln>
        </p:spPr>
      </p:sp>
      <p:sp>
        <p:nvSpPr>
          <p:cNvPr id="17" name="Shape 13"/>
          <p:cNvSpPr/>
          <p:nvPr/>
        </p:nvSpPr>
        <p:spPr>
          <a:xfrm>
            <a:off x="6424574" y="1700784"/>
            <a:ext cx="420624" cy="420624"/>
          </a:xfrm>
          <a:prstGeom prst="ellipse">
            <a:avLst/>
          </a:prstGeom>
          <a:solidFill>
            <a:srgbClr val="10302F"/>
          </a:solidFill>
          <a:ln w="6350">
            <a:solidFill>
              <a:srgbClr val="27413F"/>
            </a:solidFill>
            <a:prstDash val="solid"/>
          </a:ln>
        </p:spPr>
      </p:sp>
      <p:pic>
        <p:nvPicPr>
          <p:cNvPr id="18" name="Image 2" descr="bell icon">    </p:cNvPr>
          <p:cNvPicPr>
            <a:picLocks noChangeAspect="1"/>
          </p:cNvPicPr>
          <p:nvPr/>
        </p:nvPicPr>
        <p:blipFill>
          <a:blip r:embed="rId3"/>
          <a:stretch>
            <a:fillRect/>
          </a:stretch>
        </p:blipFill>
        <p:spPr>
          <a:xfrm>
            <a:off x="6517112" y="1793321"/>
            <a:ext cx="235549" cy="235549"/>
          </a:xfrm>
          <a:prstGeom prst="rect">
            <a:avLst/>
          </a:prstGeom>
        </p:spPr>
      </p:pic>
      <p:sp>
        <p:nvSpPr>
          <p:cNvPr id="19" name="Text 14"/>
          <p:cNvSpPr txBox="1"/>
          <p:nvPr/>
        </p:nvSpPr>
        <p:spPr>
          <a:xfrm>
            <a:off x="6424574" y="2258568"/>
            <a:ext cx="2249424" cy="822960"/>
          </a:xfrm>
          <a:prstGeom prst="rect">
            <a:avLst/>
          </a:prstGeom>
          <a:noFill/>
          <a:ln/>
        </p:spPr>
        <p:txBody>
          <a:bodyPr wrap="square" lIns="0" tIns="0" rIns="0" bIns="0" rtlCol="0" anchor="b"/>
          <a:lstStyle/>
          <a:p>
            <a:pPr algn="l" indent="0" marL="0">
              <a:buNone/>
            </a:pPr>
            <a:r>
              <a:rPr lang="en-US" sz="4600" b="1" dirty="0">
                <a:solidFill>
                  <a:srgbClr val="E3B341"/>
                </a:solidFill>
              </a:rPr>
              <a:t>55.8%</a:t>
            </a:r>
            <a:endParaRPr lang="en-US" sz="4600" dirty="0"/>
          </a:p>
        </p:txBody>
      </p:sp>
      <p:sp>
        <p:nvSpPr>
          <p:cNvPr id="20" name="Text 15"/>
          <p:cNvSpPr txBox="1"/>
          <p:nvPr/>
        </p:nvSpPr>
        <p:spPr>
          <a:xfrm>
            <a:off x="6424574" y="3145536"/>
            <a:ext cx="2249424" cy="329184"/>
          </a:xfrm>
          <a:prstGeom prst="rect">
            <a:avLst/>
          </a:prstGeom>
          <a:noFill/>
          <a:ln/>
        </p:spPr>
        <p:txBody>
          <a:bodyPr wrap="square" lIns="0" tIns="0" rIns="0" bIns="0" rtlCol="0" anchor="t"/>
          <a:lstStyle/>
          <a:p>
            <a:pPr algn="l" indent="0" marL="0">
              <a:buNone/>
            </a:pPr>
            <a:r>
              <a:rPr lang="en-US" sz="1600" b="1" dirty="0">
                <a:solidFill>
                  <a:srgbClr val="F1F6F5"/>
                </a:solidFill>
              </a:rPr>
              <a:t>of readings flagged</a:t>
            </a:r>
            <a:endParaRPr lang="en-US" sz="1600" dirty="0"/>
          </a:p>
        </p:txBody>
      </p:sp>
      <p:sp>
        <p:nvSpPr>
          <p:cNvPr id="21" name="Text 16"/>
          <p:cNvSpPr txBox="1"/>
          <p:nvPr/>
        </p:nvSpPr>
        <p:spPr>
          <a:xfrm>
            <a:off x="6424574" y="3493008"/>
            <a:ext cx="2212848" cy="1280160"/>
          </a:xfrm>
          <a:prstGeom prst="rect">
            <a:avLst/>
          </a:prstGeom>
          <a:noFill/>
          <a:ln/>
        </p:spPr>
        <p:txBody>
          <a:bodyPr wrap="square" lIns="0" tIns="0" rIns="0" bIns="0" rtlCol="0" anchor="t"/>
          <a:lstStyle/>
          <a:p>
            <a:pPr algn="l" indent="0" marL="0">
              <a:buNone/>
            </a:pPr>
            <a:r>
              <a:rPr lang="en-US" sz="1400" dirty="0">
                <a:solidFill>
                  <a:srgbClr val="C9D8D6"/>
                </a:solidFill>
              </a:rPr>
              <a:t>by fixed thresholds in one remote-monitoring study. Alert fatigue follows.</a:t>
            </a:r>
            <a:endParaRPr lang="en-US" sz="1400" dirty="0"/>
          </a:p>
        </p:txBody>
      </p:sp>
      <p:sp>
        <p:nvSpPr>
          <p:cNvPr id="22" name="Shape 17"/>
          <p:cNvSpPr/>
          <p:nvPr/>
        </p:nvSpPr>
        <p:spPr>
          <a:xfrm>
            <a:off x="9033358" y="1481328"/>
            <a:ext cx="2615184" cy="3383280"/>
          </a:xfrm>
          <a:prstGeom prst="roundRect">
            <a:avLst>
              <a:gd name="adj" fmla="val 3497"/>
            </a:avLst>
          </a:prstGeom>
          <a:solidFill>
            <a:srgbClr val="152A2A"/>
          </a:solidFill>
          <a:ln w="9525">
            <a:solidFill>
              <a:srgbClr val="27413F"/>
            </a:solidFill>
            <a:prstDash val="solid"/>
          </a:ln>
        </p:spPr>
      </p:sp>
      <p:sp>
        <p:nvSpPr>
          <p:cNvPr id="23" name="Shape 18"/>
          <p:cNvSpPr/>
          <p:nvPr/>
        </p:nvSpPr>
        <p:spPr>
          <a:xfrm>
            <a:off x="9252814" y="1700784"/>
            <a:ext cx="420624" cy="420624"/>
          </a:xfrm>
          <a:prstGeom prst="ellipse">
            <a:avLst/>
          </a:prstGeom>
          <a:solidFill>
            <a:srgbClr val="10302F"/>
          </a:solidFill>
          <a:ln w="6350">
            <a:solidFill>
              <a:srgbClr val="27413F"/>
            </a:solidFill>
            <a:prstDash val="solid"/>
          </a:ln>
        </p:spPr>
      </p:sp>
      <p:pic>
        <p:nvPicPr>
          <p:cNvPr id="24" name="Image 3" descr="users icon">    </p:cNvPr>
          <p:cNvPicPr>
            <a:picLocks noChangeAspect="1"/>
          </p:cNvPicPr>
          <p:nvPr/>
        </p:nvPicPr>
        <p:blipFill>
          <a:blip r:embed="rId4"/>
          <a:stretch>
            <a:fillRect/>
          </a:stretch>
        </p:blipFill>
        <p:spPr>
          <a:xfrm>
            <a:off x="9345351" y="1793321"/>
            <a:ext cx="235549" cy="235549"/>
          </a:xfrm>
          <a:prstGeom prst="rect">
            <a:avLst/>
          </a:prstGeom>
        </p:spPr>
      </p:pic>
      <p:sp>
        <p:nvSpPr>
          <p:cNvPr id="25" name="Text 19"/>
          <p:cNvSpPr txBox="1"/>
          <p:nvPr/>
        </p:nvSpPr>
        <p:spPr>
          <a:xfrm>
            <a:off x="9252814" y="2258568"/>
            <a:ext cx="2249424" cy="822960"/>
          </a:xfrm>
          <a:prstGeom prst="rect">
            <a:avLst/>
          </a:prstGeom>
          <a:noFill/>
          <a:ln/>
        </p:spPr>
        <p:txBody>
          <a:bodyPr wrap="square" lIns="0" tIns="0" rIns="0" bIns="0" rtlCol="0" anchor="b"/>
          <a:lstStyle/>
          <a:p>
            <a:pPr algn="l" indent="0" marL="0">
              <a:buNone/>
            </a:pPr>
            <a:r>
              <a:rPr lang="en-US" sz="4600" b="1" dirty="0">
                <a:solidFill>
                  <a:srgbClr val="D6A06A"/>
                </a:solidFill>
              </a:rPr>
              <a:t>2 vs 0.3</a:t>
            </a:r>
            <a:endParaRPr lang="en-US" sz="4600" dirty="0"/>
          </a:p>
        </p:txBody>
      </p:sp>
      <p:sp>
        <p:nvSpPr>
          <p:cNvPr id="26" name="Text 20"/>
          <p:cNvSpPr txBox="1"/>
          <p:nvPr/>
        </p:nvSpPr>
        <p:spPr>
          <a:xfrm>
            <a:off x="9252814" y="3145536"/>
            <a:ext cx="2249424" cy="329184"/>
          </a:xfrm>
          <a:prstGeom prst="rect">
            <a:avLst/>
          </a:prstGeom>
          <a:noFill/>
          <a:ln/>
        </p:spPr>
        <p:txBody>
          <a:bodyPr wrap="square" lIns="0" tIns="0" rIns="0" bIns="0" rtlCol="0" anchor="t"/>
          <a:lstStyle/>
          <a:p>
            <a:pPr algn="l" indent="0" marL="0">
              <a:buNone/>
            </a:pPr>
            <a:r>
              <a:rPr lang="en-US" sz="1600" b="1" dirty="0">
                <a:solidFill>
                  <a:srgbClr val="F1F6F5"/>
                </a:solidFill>
              </a:rPr>
              <a:t>bpm per short night</a:t>
            </a:r>
            <a:endParaRPr lang="en-US" sz="1600" dirty="0"/>
          </a:p>
        </p:txBody>
      </p:sp>
      <p:sp>
        <p:nvSpPr>
          <p:cNvPr id="27" name="Text 21"/>
          <p:cNvSpPr txBox="1"/>
          <p:nvPr/>
        </p:nvSpPr>
        <p:spPr>
          <a:xfrm>
            <a:off x="9252814" y="3493008"/>
            <a:ext cx="2212848" cy="1280160"/>
          </a:xfrm>
          <a:prstGeom prst="rect">
            <a:avLst/>
          </a:prstGeom>
          <a:noFill/>
          <a:ln/>
        </p:spPr>
        <p:txBody>
          <a:bodyPr wrap="square" lIns="0" tIns="0" rIns="0" bIns="0" rtlCol="0" anchor="t"/>
          <a:lstStyle/>
          <a:p>
            <a:pPr algn="l" indent="0" marL="0">
              <a:buNone/>
            </a:pPr>
            <a:r>
              <a:rPr lang="en-US" sz="1400" dirty="0">
                <a:solidFill>
                  <a:srgbClr val="C9D8D6"/>
                </a:solidFill>
              </a:rPr>
              <a:t>One person's heart rate rises 2 bpm, another's 0.3. A population rule cannot tell them apart.</a:t>
            </a:r>
            <a:endParaRPr lang="en-US" sz="1400" dirty="0"/>
          </a:p>
        </p:txBody>
      </p:sp>
      <p:sp>
        <p:nvSpPr>
          <p:cNvPr id="28" name="Shape 22"/>
          <p:cNvSpPr/>
          <p:nvPr/>
        </p:nvSpPr>
        <p:spPr>
          <a:xfrm>
            <a:off x="548640" y="5074920"/>
            <a:ext cx="11094415" cy="1097280"/>
          </a:xfrm>
          <a:prstGeom prst="roundRect">
            <a:avLst>
              <a:gd name="adj" fmla="val 8333"/>
            </a:avLst>
          </a:prstGeom>
          <a:solidFill>
            <a:srgbClr val="10302F"/>
          </a:solidFill>
          <a:ln w="9525">
            <a:solidFill>
              <a:srgbClr val="27413F"/>
            </a:solidFill>
            <a:prstDash val="solid"/>
          </a:ln>
        </p:spPr>
      </p:sp>
      <p:sp>
        <p:nvSpPr>
          <p:cNvPr id="29" name="Shape 23"/>
          <p:cNvSpPr/>
          <p:nvPr/>
        </p:nvSpPr>
        <p:spPr>
          <a:xfrm>
            <a:off x="804672" y="5413248"/>
            <a:ext cx="420624" cy="420624"/>
          </a:xfrm>
          <a:prstGeom prst="ellipse">
            <a:avLst/>
          </a:prstGeom>
          <a:solidFill>
            <a:srgbClr val="10302F"/>
          </a:solidFill>
          <a:ln w="6350">
            <a:solidFill>
              <a:srgbClr val="27413F"/>
            </a:solidFill>
            <a:prstDash val="solid"/>
          </a:ln>
        </p:spPr>
      </p:sp>
      <p:pic>
        <p:nvPicPr>
          <p:cNvPr id="30" name="Image 4" descr="target icon">    </p:cNvPr>
          <p:cNvPicPr>
            <a:picLocks noChangeAspect="1"/>
          </p:cNvPicPr>
          <p:nvPr/>
        </p:nvPicPr>
        <p:blipFill>
          <a:blip r:embed="rId5"/>
          <a:stretch>
            <a:fillRect/>
          </a:stretch>
        </p:blipFill>
        <p:spPr>
          <a:xfrm>
            <a:off x="897209" y="5505785"/>
            <a:ext cx="235549" cy="235549"/>
          </a:xfrm>
          <a:prstGeom prst="rect">
            <a:avLst/>
          </a:prstGeom>
        </p:spPr>
      </p:pic>
      <p:sp>
        <p:nvSpPr>
          <p:cNvPr id="31" name="Text 24"/>
          <p:cNvSpPr txBox="1"/>
          <p:nvPr/>
        </p:nvSpPr>
        <p:spPr>
          <a:xfrm>
            <a:off x="1417320" y="5138928"/>
            <a:ext cx="9997135" cy="969264"/>
          </a:xfrm>
          <a:prstGeom prst="rect">
            <a:avLst/>
          </a:prstGeom>
          <a:noFill/>
          <a:ln/>
        </p:spPr>
        <p:txBody>
          <a:bodyPr wrap="square" lIns="0" tIns="0" rIns="0" bIns="0" rtlCol="0" anchor="ctr"/>
          <a:lstStyle/>
          <a:p>
            <a:pPr indent="0" marL="0">
              <a:buNone/>
            </a:pPr>
            <a:r>
              <a:rPr lang="en-US" sz="1700" b="1" dirty="0">
                <a:solidFill>
                  <a:srgbClr val="E07A9E"/>
                </a:solidFill>
              </a:rPr>
              <a:t>The gap: </a:t>
            </a:r>
            <a:r>
              <a:rPr lang="en-US" sz="1700" dirty="0">
                <a:solidFill>
                  <a:srgbClr val="F1F6F5"/>
                </a:solidFill>
              </a:rPr>
              <a:t>nobody turns cheap nightly watch data into a personal, calibrated warning a doctor can act on, ahead of time and inside a false-alert budget. </a:t>
            </a:r>
            <a:r>
              <a:rPr lang="en-US" sz="1700" b="1" dirty="0">
                <a:solidFill>
                  <a:srgbClr val="3FC1C0"/>
                </a:solidFill>
              </a:rPr>
              <a:t>Pratibimb closes that gap.</a:t>
            </a:r>
            <a:endParaRPr lang="en-US" sz="17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Predict a strain episode 72 hours ahead, then hand it to people</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Healthcare use case: early warning for adults with hypertension, read by their own doctor</a:t>
            </a:r>
            <a:endParaRPr lang="en-US" sz="1500" dirty="0"/>
          </a:p>
        </p:txBody>
      </p:sp>
      <p:sp>
        <p:nvSpPr>
          <p:cNvPr id="4" name="Shape 2"/>
          <p:cNvSpPr/>
          <p:nvPr/>
        </p:nvSpPr>
        <p:spPr>
          <a:xfrm>
            <a:off x="548640" y="1481328"/>
            <a:ext cx="5166360" cy="4690872"/>
          </a:xfrm>
          <a:prstGeom prst="roundRect">
            <a:avLst>
              <a:gd name="adj" fmla="val 1949"/>
            </a:avLst>
          </a:prstGeom>
          <a:solidFill>
            <a:srgbClr val="152A2A"/>
          </a:solidFill>
          <a:ln w="9525">
            <a:solidFill>
              <a:srgbClr val="27413F"/>
            </a:solidFill>
            <a:prstDash val="solid"/>
          </a:ln>
        </p:spPr>
      </p:sp>
      <p:sp>
        <p:nvSpPr>
          <p:cNvPr id="5" name="Shape 3"/>
          <p:cNvSpPr/>
          <p:nvPr/>
        </p:nvSpPr>
        <p:spPr>
          <a:xfrm>
            <a:off x="768096" y="1682496"/>
            <a:ext cx="420624" cy="420624"/>
          </a:xfrm>
          <a:prstGeom prst="ellipse">
            <a:avLst/>
          </a:prstGeom>
          <a:solidFill>
            <a:srgbClr val="10302F"/>
          </a:solidFill>
          <a:ln w="6350">
            <a:solidFill>
              <a:srgbClr val="27413F"/>
            </a:solidFill>
            <a:prstDash val="solid"/>
          </a:ln>
        </p:spPr>
      </p:sp>
      <p:pic>
        <p:nvPicPr>
          <p:cNvPr id="6" name="Image 0" descr="trend icon">    </p:cNvPr>
          <p:cNvPicPr>
            <a:picLocks noChangeAspect="1"/>
          </p:cNvPicPr>
          <p:nvPr/>
        </p:nvPicPr>
        <p:blipFill>
          <a:blip r:embed="rId1"/>
          <a:stretch>
            <a:fillRect/>
          </a:stretch>
        </p:blipFill>
        <p:spPr>
          <a:xfrm>
            <a:off x="860633" y="1775033"/>
            <a:ext cx="235549" cy="235549"/>
          </a:xfrm>
          <a:prstGeom prst="rect">
            <a:avLst/>
          </a:prstGeom>
        </p:spPr>
      </p:pic>
      <p:sp>
        <p:nvSpPr>
          <p:cNvPr id="7" name="Text 4"/>
          <p:cNvSpPr txBox="1"/>
          <p:nvPr/>
        </p:nvSpPr>
        <p:spPr>
          <a:xfrm>
            <a:off x="1298448" y="1682496"/>
            <a:ext cx="4114800" cy="420624"/>
          </a:xfrm>
          <a:prstGeom prst="rect">
            <a:avLst/>
          </a:prstGeom>
          <a:noFill/>
          <a:ln/>
        </p:spPr>
        <p:txBody>
          <a:bodyPr wrap="square" lIns="0" tIns="0" rIns="0" bIns="0" rtlCol="0" anchor="ctr"/>
          <a:lstStyle/>
          <a:p>
            <a:pPr algn="l" indent="0" marL="0">
              <a:buNone/>
            </a:pPr>
            <a:r>
              <a:rPr lang="en-US" sz="1700" b="1" dirty="0">
                <a:solidFill>
                  <a:srgbClr val="F1F6F5"/>
                </a:solidFill>
              </a:rPr>
              <a:t>The event we predict</a:t>
            </a:r>
            <a:endParaRPr lang="en-US" sz="1700" dirty="0"/>
          </a:p>
        </p:txBody>
      </p:sp>
      <p:sp>
        <p:nvSpPr>
          <p:cNvPr id="8" name="Text 5"/>
          <p:cNvSpPr txBox="1"/>
          <p:nvPr/>
        </p:nvSpPr>
        <p:spPr>
          <a:xfrm>
            <a:off x="786384" y="2240280"/>
            <a:ext cx="4709160" cy="182880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F1F6F5"/>
                </a:solidFill>
              </a:rPr>
              <a:t>Overnight heart rate </a:t>
            </a:r>
            <a:r>
              <a:rPr lang="en-US" sz="1500" dirty="0">
                <a:solidFill>
                  <a:srgbClr val="C9D8D6"/>
                </a:solidFill>
              </a:rPr>
              <a:t>above her own 28-day baseline</a:t>
            </a:r>
            <a:endParaRPr lang="en-US" sz="1500" dirty="0"/>
          </a:p>
          <a:p>
            <a:pPr marL="177800" indent="-177800">
              <a:spcAft>
                <a:spcPts val="800"/>
              </a:spcAft>
              <a:buSzPct val="100000"/>
              <a:buChar char="•"/>
            </a:pPr>
            <a:r>
              <a:rPr lang="en-US" sz="1500" b="1" dirty="0">
                <a:solidFill>
                  <a:srgbClr val="F1F6F5"/>
                </a:solidFill>
              </a:rPr>
              <a:t>HRV falls </a:t>
            </a:r>
            <a:r>
              <a:rPr lang="en-US" sz="1500" dirty="0">
                <a:solidFill>
                  <a:srgbClr val="C9D8D6"/>
                </a:solidFill>
              </a:rPr>
              <a:t>below her smallest worthwhile change</a:t>
            </a:r>
            <a:endParaRPr lang="en-US" sz="1500" dirty="0"/>
          </a:p>
          <a:p>
            <a:pPr marL="177800" indent="-177800">
              <a:spcAft>
                <a:spcPts val="800"/>
              </a:spcAft>
              <a:buSzPct val="100000"/>
              <a:buChar char="•"/>
            </a:pPr>
            <a:r>
              <a:rPr lang="en-US" sz="1500" b="1" dirty="0">
                <a:solidFill>
                  <a:srgbClr val="F1F6F5"/>
                </a:solidFill>
              </a:rPr>
              <a:t>Sleep and steps </a:t>
            </a:r>
            <a:r>
              <a:rPr lang="en-US" sz="1500" dirty="0">
                <a:solidFill>
                  <a:srgbClr val="C9D8D6"/>
                </a:solidFill>
              </a:rPr>
              <a:t>drop; home systolic trend rises over 7 days</a:t>
            </a:r>
            <a:endParaRPr lang="en-US" sz="1500" dirty="0"/>
          </a:p>
          <a:p>
            <a:pPr marL="177800" indent="-177800">
              <a:spcAft>
                <a:spcPts val="800"/>
              </a:spcAft>
              <a:buSzPct val="100000"/>
              <a:buChar char="•"/>
            </a:pPr>
            <a:r>
              <a:rPr lang="en-US" sz="1500" b="1" dirty="0">
                <a:solidFill>
                  <a:srgbClr val="F1F6F5"/>
                </a:solidFill>
              </a:rPr>
              <a:t>Ends in an event day: </a:t>
            </a:r>
            <a:r>
              <a:rPr lang="en-US" sz="1500" dirty="0">
                <a:solidFill>
                  <a:srgbClr val="C9D8D6"/>
                </a:solidFill>
              </a:rPr>
              <a:t>hypertensive surge, unplanned clinic or ER visit</a:t>
            </a:r>
            <a:endParaRPr lang="en-US" sz="1500" dirty="0"/>
          </a:p>
        </p:txBody>
      </p:sp>
      <p:sp>
        <p:nvSpPr>
          <p:cNvPr id="9" name="Shape 6"/>
          <p:cNvSpPr/>
          <p:nvPr/>
        </p:nvSpPr>
        <p:spPr>
          <a:xfrm>
            <a:off x="768096" y="4114800"/>
            <a:ext cx="420624" cy="420624"/>
          </a:xfrm>
          <a:prstGeom prst="ellipse">
            <a:avLst/>
          </a:prstGeom>
          <a:solidFill>
            <a:srgbClr val="10302F"/>
          </a:solidFill>
          <a:ln w="6350">
            <a:solidFill>
              <a:srgbClr val="27413F"/>
            </a:solidFill>
            <a:prstDash val="solid"/>
          </a:ln>
        </p:spPr>
      </p:sp>
      <p:pic>
        <p:nvPicPr>
          <p:cNvPr id="10" name="Image 1" descr="users icon">    </p:cNvPr>
          <p:cNvPicPr>
            <a:picLocks noChangeAspect="1"/>
          </p:cNvPicPr>
          <p:nvPr/>
        </p:nvPicPr>
        <p:blipFill>
          <a:blip r:embed="rId2"/>
          <a:stretch>
            <a:fillRect/>
          </a:stretch>
        </p:blipFill>
        <p:spPr>
          <a:xfrm>
            <a:off x="860633" y="4207337"/>
            <a:ext cx="235549" cy="235549"/>
          </a:xfrm>
          <a:prstGeom prst="rect">
            <a:avLst/>
          </a:prstGeom>
        </p:spPr>
      </p:pic>
      <p:sp>
        <p:nvSpPr>
          <p:cNvPr id="11" name="Text 7"/>
          <p:cNvSpPr txBox="1"/>
          <p:nvPr/>
        </p:nvSpPr>
        <p:spPr>
          <a:xfrm>
            <a:off x="1298448" y="4114800"/>
            <a:ext cx="4114800" cy="420624"/>
          </a:xfrm>
          <a:prstGeom prst="rect">
            <a:avLst/>
          </a:prstGeom>
          <a:noFill/>
          <a:ln/>
        </p:spPr>
        <p:txBody>
          <a:bodyPr wrap="square" lIns="0" tIns="0" rIns="0" bIns="0" rtlCol="0" anchor="ctr"/>
          <a:lstStyle/>
          <a:p>
            <a:pPr algn="l" indent="0" marL="0">
              <a:buNone/>
            </a:pPr>
            <a:r>
              <a:rPr lang="en-US" sz="1700" b="1" dirty="0">
                <a:solidFill>
                  <a:srgbClr val="F1F6F5"/>
                </a:solidFill>
              </a:rPr>
              <a:t>Who acts on it</a:t>
            </a:r>
            <a:endParaRPr lang="en-US" sz="1700" dirty="0"/>
          </a:p>
        </p:txBody>
      </p:sp>
      <p:sp>
        <p:nvSpPr>
          <p:cNvPr id="12" name="Text 8"/>
          <p:cNvSpPr txBox="1"/>
          <p:nvPr/>
        </p:nvSpPr>
        <p:spPr>
          <a:xfrm>
            <a:off x="786384" y="4663440"/>
            <a:ext cx="4709160" cy="146304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F1F6F5"/>
                </a:solidFill>
              </a:rPr>
              <a:t>Doctor: </a:t>
            </a:r>
            <a:r>
              <a:rPr lang="en-US" sz="1500" dirty="0">
                <a:solidFill>
                  <a:srgbClr val="C9D8D6"/>
                </a:solidFill>
              </a:rPr>
              <a:t>triage by 72 h risk, reasons, what-if, acknowledge or escalate</a:t>
            </a:r>
            <a:endParaRPr lang="en-US" sz="1500" dirty="0"/>
          </a:p>
          <a:p>
            <a:pPr marL="177800" indent="-177800">
              <a:spcAft>
                <a:spcPts val="800"/>
              </a:spcAft>
              <a:buSzPct val="100000"/>
              <a:buChar char="•"/>
            </a:pPr>
            <a:r>
              <a:rPr lang="en-US" sz="1500" b="1" dirty="0">
                <a:solidFill>
                  <a:srgbClr val="F1F6F5"/>
                </a:solidFill>
              </a:rPr>
              <a:t>Patient: </a:t>
            </a:r>
            <a:r>
              <a:rPr lang="en-US" sz="1500" dirty="0">
                <a:solidFill>
                  <a:srgbClr val="C9D8D6"/>
                </a:solidFill>
              </a:rPr>
              <a:t>one sentence in English or Hindi, the habit that helps most, check-in, SOS</a:t>
            </a:r>
            <a:endParaRPr lang="en-US" sz="1500" dirty="0"/>
          </a:p>
        </p:txBody>
      </p:sp>
      <p:sp>
        <p:nvSpPr>
          <p:cNvPr id="13" name="Shape 9"/>
          <p:cNvSpPr/>
          <p:nvPr/>
        </p:nvSpPr>
        <p:spPr>
          <a:xfrm>
            <a:off x="5925312" y="1481328"/>
            <a:ext cx="5717743" cy="3456432"/>
          </a:xfrm>
          <a:prstGeom prst="roundRect">
            <a:avLst>
              <a:gd name="adj" fmla="val 2646"/>
            </a:avLst>
          </a:prstGeom>
          <a:solidFill>
            <a:srgbClr val="152A2A"/>
          </a:solidFill>
          <a:ln w="9525">
            <a:solidFill>
              <a:srgbClr val="27413F"/>
            </a:solidFill>
            <a:prstDash val="solid"/>
          </a:ln>
        </p:spPr>
      </p:sp>
      <p:sp>
        <p:nvSpPr>
          <p:cNvPr id="14" name="Text 10"/>
          <p:cNvSpPr txBox="1"/>
          <p:nvPr/>
        </p:nvSpPr>
        <p:spPr>
          <a:xfrm>
            <a:off x="6144768" y="1609344"/>
            <a:ext cx="5351983" cy="310896"/>
          </a:xfrm>
          <a:prstGeom prst="rect">
            <a:avLst/>
          </a:prstGeom>
          <a:noFill/>
          <a:ln/>
        </p:spPr>
        <p:txBody>
          <a:bodyPr wrap="square" lIns="0" tIns="0" rIns="0" bIns="0" rtlCol="0" anchor="t"/>
          <a:lstStyle/>
          <a:p>
            <a:pPr algn="l" indent="0" marL="0">
              <a:buNone/>
            </a:pPr>
            <a:r>
              <a:rPr lang="en-US" sz="1400" b="1" dirty="0">
                <a:solidFill>
                  <a:srgbClr val="F1F6F5"/>
                </a:solidFill>
              </a:rPr>
              <a:t>Meera Iyer, 58, Bengaluru: nightly risk score, last 21 nights</a:t>
            </a:r>
            <a:endParaRPr lang="en-US" sz="1400" dirty="0"/>
          </a:p>
        </p:txBody>
      </p:sp>
      <p:graphicFrame>
        <p:nvGraphicFramePr>
          <p:cNvPr id="15" name="Chart 0" descr=""/>
          <p:cNvGraphicFramePr/>
          <p:nvPr/>
        </p:nvGraphicFramePr>
        <p:xfrm>
          <a:off x="6035040" y="1938528"/>
          <a:ext cx="5498287" cy="2377440"/>
        </p:xfrm>
        <a:graphic xmlns:a="http://schemas.openxmlformats.org/drawingml/2006/main">
          <a:graphicData uri="http://schemas.openxmlformats.org/drawingml/2006/chart">
            <c:chart xmlns:c="http://schemas.openxmlformats.org/drawingml/2006/chart" r:id="rId3"/>
          </a:graphicData>
        </a:graphic>
      </p:graphicFrame>
      <p:sp>
        <p:nvSpPr>
          <p:cNvPr id="16" name="Text 11"/>
          <p:cNvSpPr txBox="1"/>
          <p:nvPr/>
        </p:nvSpPr>
        <p:spPr>
          <a:xfrm>
            <a:off x="6144768" y="4352544"/>
            <a:ext cx="5306263" cy="502920"/>
          </a:xfrm>
          <a:prstGeom prst="rect">
            <a:avLst/>
          </a:prstGeom>
          <a:noFill/>
          <a:ln/>
        </p:spPr>
        <p:txBody>
          <a:bodyPr wrap="square" lIns="0" tIns="0" rIns="0" bIns="0" rtlCol="0" anchor="t"/>
          <a:lstStyle/>
          <a:p>
            <a:pPr algn="l" indent="0" marL="0">
              <a:buNone/>
            </a:pPr>
            <a:r>
              <a:rPr lang="en-US" sz="1200" dirty="0">
                <a:solidFill>
                  <a:srgbClr val="93ADAA"/>
                </a:solidFill>
              </a:rPr>
              <a:t>Gridlines at 30 (watch) and 60 (urgent). 9 and 10 Oct: watch off, the cuff kept reporting and the score kept updating.</a:t>
            </a:r>
            <a:endParaRPr lang="en-US" sz="1200" dirty="0"/>
          </a:p>
        </p:txBody>
      </p:sp>
      <p:sp>
        <p:nvSpPr>
          <p:cNvPr id="17" name="Shape 12"/>
          <p:cNvSpPr/>
          <p:nvPr/>
        </p:nvSpPr>
        <p:spPr>
          <a:xfrm>
            <a:off x="5925312" y="5102352"/>
            <a:ext cx="2767432" cy="1069848"/>
          </a:xfrm>
          <a:prstGeom prst="roundRect">
            <a:avLst>
              <a:gd name="adj" fmla="val 8547"/>
            </a:avLst>
          </a:prstGeom>
          <a:solidFill>
            <a:srgbClr val="10302F"/>
          </a:solidFill>
          <a:ln w="9525">
            <a:solidFill>
              <a:srgbClr val="27413F"/>
            </a:solidFill>
            <a:prstDash val="solid"/>
          </a:ln>
        </p:spPr>
      </p:sp>
      <p:sp>
        <p:nvSpPr>
          <p:cNvPr id="18" name="Shape 13"/>
          <p:cNvSpPr/>
          <p:nvPr/>
        </p:nvSpPr>
        <p:spPr>
          <a:xfrm>
            <a:off x="8875624" y="5102352"/>
            <a:ext cx="2767432" cy="1069848"/>
          </a:xfrm>
          <a:prstGeom prst="roundRect">
            <a:avLst>
              <a:gd name="adj" fmla="val 8547"/>
            </a:avLst>
          </a:prstGeom>
          <a:solidFill>
            <a:srgbClr val="10302F"/>
          </a:solidFill>
          <a:ln w="9525">
            <a:solidFill>
              <a:srgbClr val="27413F"/>
            </a:solidFill>
            <a:prstDash val="solid"/>
          </a:ln>
        </p:spPr>
      </p:sp>
      <p:sp>
        <p:nvSpPr>
          <p:cNvPr id="19" name="Text 14"/>
          <p:cNvSpPr txBox="1"/>
          <p:nvPr/>
        </p:nvSpPr>
        <p:spPr>
          <a:xfrm>
            <a:off x="6126480" y="5175504"/>
            <a:ext cx="2401672" cy="914400"/>
          </a:xfrm>
          <a:prstGeom prst="rect">
            <a:avLst/>
          </a:prstGeom>
          <a:noFill/>
          <a:ln/>
        </p:spPr>
        <p:txBody>
          <a:bodyPr wrap="square" lIns="0" tIns="0" rIns="0" bIns="0" rtlCol="0" anchor="ctr"/>
          <a:lstStyle/>
          <a:p>
            <a:pPr indent="0" marL="0">
              <a:buNone/>
            </a:pPr>
            <a:r>
              <a:rPr lang="en-US" sz="1400" b="1" dirty="0">
                <a:solidFill>
                  <a:srgbClr val="E3B341"/>
                </a:solidFill>
              </a:rPr>
              <a:t>Amber tier: the model</a:t>
            </a:r>
            <a:endParaRPr lang="en-US" sz="1400" dirty="0"/>
          </a:p>
          <a:p>
            <a:pPr indent="0" marL="0">
              <a:buNone/>
            </a:pPr>
            <a:r>
              <a:rPr lang="en-US" sz="1400" dirty="0">
                <a:solidFill>
                  <a:srgbClr val="C9D8D6"/>
                </a:solidFill>
              </a:rPr>
              <a:t>days ahead, calibrated, inside a budget</a:t>
            </a:r>
            <a:endParaRPr lang="en-US" sz="1400" dirty="0"/>
          </a:p>
        </p:txBody>
      </p:sp>
      <p:sp>
        <p:nvSpPr>
          <p:cNvPr id="20" name="Text 15"/>
          <p:cNvSpPr txBox="1"/>
          <p:nvPr/>
        </p:nvSpPr>
        <p:spPr>
          <a:xfrm>
            <a:off x="9076792" y="5175504"/>
            <a:ext cx="2401672" cy="914400"/>
          </a:xfrm>
          <a:prstGeom prst="rect">
            <a:avLst/>
          </a:prstGeom>
          <a:noFill/>
          <a:ln/>
        </p:spPr>
        <p:txBody>
          <a:bodyPr wrap="square" lIns="0" tIns="0" rIns="0" bIns="0" rtlCol="0" anchor="ctr"/>
          <a:lstStyle/>
          <a:p>
            <a:pPr indent="0" marL="0">
              <a:buNone/>
            </a:pPr>
            <a:r>
              <a:rPr lang="en-US" sz="1400" b="1" dirty="0">
                <a:solidFill>
                  <a:srgbClr val="EB6F55"/>
                </a:solidFill>
              </a:rPr>
              <a:t>Red tier: people and the phone</a:t>
            </a:r>
            <a:endParaRPr lang="en-US" sz="1400" dirty="0"/>
          </a:p>
          <a:p>
            <a:pPr indent="0" marL="0">
              <a:buNone/>
            </a:pPr>
            <a:r>
              <a:rPr lang="en-US" sz="1400" dirty="0">
                <a:solidFill>
                  <a:srgbClr val="C9D8D6"/>
                </a:solidFill>
              </a:rPr>
              <a:t>SOS, contacts, one tap to 112</a:t>
            </a:r>
            <a:endParaRPr lang="en-US" sz="14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Two streams, one person: static record fused with the nightly watch</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Every field below exists in the synthetic cohort and in the FHIR export</a:t>
            </a:r>
            <a:endParaRPr lang="en-US" sz="1500" dirty="0"/>
          </a:p>
        </p:txBody>
      </p:sp>
      <p:sp>
        <p:nvSpPr>
          <p:cNvPr id="4" name="Shape 2"/>
          <p:cNvSpPr/>
          <p:nvPr/>
        </p:nvSpPr>
        <p:spPr>
          <a:xfrm>
            <a:off x="548640" y="1481328"/>
            <a:ext cx="3749040" cy="3401568"/>
          </a:xfrm>
          <a:prstGeom prst="roundRect">
            <a:avLst>
              <a:gd name="adj" fmla="val 2688"/>
            </a:avLst>
          </a:prstGeom>
          <a:solidFill>
            <a:srgbClr val="152A2A"/>
          </a:solidFill>
          <a:ln w="9525">
            <a:solidFill>
              <a:srgbClr val="27413F"/>
            </a:solidFill>
            <a:prstDash val="solid"/>
          </a:ln>
        </p:spPr>
      </p:sp>
      <p:sp>
        <p:nvSpPr>
          <p:cNvPr id="5" name="Shape 3"/>
          <p:cNvSpPr/>
          <p:nvPr/>
        </p:nvSpPr>
        <p:spPr>
          <a:xfrm>
            <a:off x="749808" y="1664208"/>
            <a:ext cx="420624" cy="420624"/>
          </a:xfrm>
          <a:prstGeom prst="ellipse">
            <a:avLst/>
          </a:prstGeom>
          <a:solidFill>
            <a:srgbClr val="10302F"/>
          </a:solidFill>
          <a:ln w="6350">
            <a:solidFill>
              <a:srgbClr val="27413F"/>
            </a:solidFill>
            <a:prstDash val="solid"/>
          </a:ln>
        </p:spPr>
      </p:sp>
      <p:pic>
        <p:nvPicPr>
          <p:cNvPr id="6" name="Image 0" descr="record icon">    </p:cNvPr>
          <p:cNvPicPr>
            <a:picLocks noChangeAspect="1"/>
          </p:cNvPicPr>
          <p:nvPr/>
        </p:nvPicPr>
        <p:blipFill>
          <a:blip r:embed="rId1"/>
          <a:stretch>
            <a:fillRect/>
          </a:stretch>
        </p:blipFill>
        <p:spPr>
          <a:xfrm>
            <a:off x="842345" y="1756745"/>
            <a:ext cx="235549" cy="235549"/>
          </a:xfrm>
          <a:prstGeom prst="rect">
            <a:avLst/>
          </a:prstGeom>
        </p:spPr>
      </p:pic>
      <p:sp>
        <p:nvSpPr>
          <p:cNvPr id="7" name="Text 4"/>
          <p:cNvSpPr txBox="1"/>
          <p:nvPr/>
        </p:nvSpPr>
        <p:spPr>
          <a:xfrm>
            <a:off x="1280160" y="1664208"/>
            <a:ext cx="2926080" cy="420624"/>
          </a:xfrm>
          <a:prstGeom prst="rect">
            <a:avLst/>
          </a:prstGeom>
          <a:noFill/>
          <a:ln/>
        </p:spPr>
        <p:txBody>
          <a:bodyPr wrap="square" lIns="0" tIns="0" rIns="0" bIns="0" rtlCol="0" anchor="ctr"/>
          <a:lstStyle/>
          <a:p>
            <a:pPr algn="l" indent="0" marL="0">
              <a:buNone/>
            </a:pPr>
            <a:r>
              <a:rPr lang="en-US" sz="1600" b="1" dirty="0">
                <a:solidFill>
                  <a:srgbClr val="D6A06A"/>
                </a:solidFill>
              </a:rPr>
              <a:t>Health record (static EHR)</a:t>
            </a:r>
            <a:endParaRPr lang="en-US" sz="1600" dirty="0"/>
          </a:p>
        </p:txBody>
      </p:sp>
      <p:sp>
        <p:nvSpPr>
          <p:cNvPr id="8" name="Text 5"/>
          <p:cNvSpPr txBox="1"/>
          <p:nvPr/>
        </p:nvSpPr>
        <p:spPr>
          <a:xfrm>
            <a:off x="768096" y="2249424"/>
            <a:ext cx="3337560" cy="2532888"/>
          </a:xfrm>
          <a:prstGeom prst="rect">
            <a:avLst/>
          </a:prstGeom>
          <a:noFill/>
          <a:ln/>
        </p:spPr>
        <p:txBody>
          <a:bodyPr wrap="square" lIns="0" tIns="0" rIns="0" bIns="0" rtlCol="0" anchor="t"/>
          <a:lstStyle/>
          <a:p>
            <a:pPr marL="177800" indent="-177800">
              <a:spcAft>
                <a:spcPts val="500"/>
              </a:spcAft>
              <a:buSzPct val="100000"/>
              <a:buChar char="•"/>
            </a:pPr>
            <a:r>
              <a:rPr lang="en-US" sz="1350" b="1" dirty="0">
                <a:solidFill>
                  <a:srgbClr val="F1F6F5"/>
                </a:solidFill>
              </a:rPr>
              <a:t>Demographics: </a:t>
            </a:r>
            <a:r>
              <a:rPr lang="en-US" sz="1350" dirty="0">
                <a:solidFill>
                  <a:srgbClr val="C9D8D6"/>
                </a:solidFill>
              </a:rPr>
              <a:t>age, sex, city, masked ABHA</a:t>
            </a:r>
            <a:endParaRPr lang="en-US" sz="1350" dirty="0"/>
          </a:p>
          <a:p>
            <a:pPr marL="177800" indent="-177800">
              <a:spcAft>
                <a:spcPts val="500"/>
              </a:spcAft>
              <a:buSzPct val="100000"/>
              <a:buChar char="•"/>
            </a:pPr>
            <a:r>
              <a:rPr lang="en-US" sz="1350" b="1" dirty="0">
                <a:solidFill>
                  <a:srgbClr val="F1F6F5"/>
                </a:solidFill>
              </a:rPr>
              <a:t>Past diagnoses: </a:t>
            </a:r>
            <a:r>
              <a:rPr lang="en-US" sz="1350" dirty="0">
                <a:solidFill>
                  <a:srgbClr val="C9D8D6"/>
                </a:solidFill>
              </a:rPr>
              <a:t>SNOMED CT (hypertension, IHD, MI, diabetes, CKD)</a:t>
            </a:r>
            <a:endParaRPr lang="en-US" sz="1350" dirty="0"/>
          </a:p>
          <a:p>
            <a:pPr marL="177800" indent="-177800">
              <a:spcAft>
                <a:spcPts val="500"/>
              </a:spcAft>
              <a:buSzPct val="100000"/>
              <a:buChar char="•"/>
            </a:pPr>
            <a:r>
              <a:rPr lang="en-US" sz="1350" b="1" dirty="0">
                <a:solidFill>
                  <a:srgbClr val="F1F6F5"/>
                </a:solidFill>
              </a:rPr>
              <a:t>Lab results: </a:t>
            </a:r>
            <a:r>
              <a:rPr lang="en-US" sz="1350" dirty="0">
                <a:solidFill>
                  <a:srgbClr val="C9D8D6"/>
                </a:solidFill>
              </a:rPr>
              <a:t>LOINC (HbA1c, LDL, HDL, eGFR, creatinine)</a:t>
            </a:r>
            <a:endParaRPr lang="en-US" sz="1350" dirty="0"/>
          </a:p>
          <a:p>
            <a:pPr marL="177800" indent="-177800">
              <a:spcAft>
                <a:spcPts val="500"/>
              </a:spcAft>
              <a:buSzPct val="100000"/>
              <a:buChar char="•"/>
            </a:pPr>
            <a:r>
              <a:rPr lang="en-US" sz="1350" b="1" dirty="0">
                <a:solidFill>
                  <a:srgbClr val="F1F6F5"/>
                </a:solidFill>
              </a:rPr>
              <a:t>Medicines: </a:t>
            </a:r>
            <a:r>
              <a:rPr lang="en-US" sz="1350" dirty="0">
                <a:solidFill>
                  <a:srgbClr val="C9D8D6"/>
                </a:solidFill>
              </a:rPr>
              <a:t>class, dose, adherence log</a:t>
            </a:r>
            <a:endParaRPr lang="en-US" sz="1350" dirty="0"/>
          </a:p>
          <a:p>
            <a:pPr marL="177800" indent="-177800">
              <a:spcAft>
                <a:spcPts val="500"/>
              </a:spcAft>
              <a:buSzPct val="100000"/>
              <a:buChar char="•"/>
            </a:pPr>
            <a:r>
              <a:rPr lang="en-US" sz="1350" b="1" dirty="0">
                <a:solidFill>
                  <a:srgbClr val="F1F6F5"/>
                </a:solidFill>
              </a:rPr>
              <a:t>Genetic marker: </a:t>
            </a:r>
            <a:r>
              <a:rPr lang="en-US" sz="1350" dirty="0">
                <a:solidFill>
                  <a:srgbClr val="C9D8D6"/>
                </a:solidFill>
              </a:rPr>
              <a:t>polygenic risk tier; family history</a:t>
            </a:r>
            <a:endParaRPr lang="en-US" sz="1350" dirty="0"/>
          </a:p>
        </p:txBody>
      </p:sp>
      <p:sp>
        <p:nvSpPr>
          <p:cNvPr id="9" name="Shape 6"/>
          <p:cNvSpPr/>
          <p:nvPr/>
        </p:nvSpPr>
        <p:spPr>
          <a:xfrm>
            <a:off x="4626864" y="1481328"/>
            <a:ext cx="3108960" cy="3401568"/>
          </a:xfrm>
          <a:prstGeom prst="roundRect">
            <a:avLst>
              <a:gd name="adj" fmla="val 2941"/>
            </a:avLst>
          </a:prstGeom>
          <a:solidFill>
            <a:srgbClr val="10302F"/>
          </a:solidFill>
          <a:ln w="9525">
            <a:solidFill>
              <a:srgbClr val="2C8C8B"/>
            </a:solidFill>
            <a:prstDash val="solid"/>
          </a:ln>
        </p:spPr>
      </p:sp>
      <p:sp>
        <p:nvSpPr>
          <p:cNvPr id="10" name="Shape 7"/>
          <p:cNvSpPr/>
          <p:nvPr/>
        </p:nvSpPr>
        <p:spPr>
          <a:xfrm>
            <a:off x="4828032" y="1664208"/>
            <a:ext cx="420624" cy="420624"/>
          </a:xfrm>
          <a:prstGeom prst="ellipse">
            <a:avLst/>
          </a:prstGeom>
          <a:solidFill>
            <a:srgbClr val="0E1A1A"/>
          </a:solidFill>
          <a:ln w="6350">
            <a:solidFill>
              <a:srgbClr val="27413F"/>
            </a:solidFill>
            <a:prstDash val="solid"/>
          </a:ln>
        </p:spPr>
      </p:sp>
      <p:pic>
        <p:nvPicPr>
          <p:cNvPr id="11" name="Image 1" descr="twin icon">    </p:cNvPr>
          <p:cNvPicPr>
            <a:picLocks noChangeAspect="1"/>
          </p:cNvPicPr>
          <p:nvPr/>
        </p:nvPicPr>
        <p:blipFill>
          <a:blip r:embed="rId2"/>
          <a:stretch>
            <a:fillRect/>
          </a:stretch>
        </p:blipFill>
        <p:spPr>
          <a:xfrm>
            <a:off x="4920569" y="1756745"/>
            <a:ext cx="235549" cy="235549"/>
          </a:xfrm>
          <a:prstGeom prst="rect">
            <a:avLst/>
          </a:prstGeom>
        </p:spPr>
      </p:pic>
      <p:sp>
        <p:nvSpPr>
          <p:cNvPr id="12" name="Text 8"/>
          <p:cNvSpPr txBox="1"/>
          <p:nvPr/>
        </p:nvSpPr>
        <p:spPr>
          <a:xfrm>
            <a:off x="5358384" y="1664208"/>
            <a:ext cx="2286000" cy="420624"/>
          </a:xfrm>
          <a:prstGeom prst="rect">
            <a:avLst/>
          </a:prstGeom>
          <a:noFill/>
          <a:ln/>
        </p:spPr>
        <p:txBody>
          <a:bodyPr wrap="square" lIns="0" tIns="0" rIns="0" bIns="0" rtlCol="0" anchor="ctr"/>
          <a:lstStyle/>
          <a:p>
            <a:pPr algn="l" indent="0" marL="0">
              <a:buNone/>
            </a:pPr>
            <a:r>
              <a:rPr lang="en-US" sz="1600" b="1" dirty="0">
                <a:solidFill>
                  <a:srgbClr val="3FC1C0"/>
                </a:solidFill>
              </a:rPr>
              <a:t>Fused in the twin</a:t>
            </a:r>
            <a:endParaRPr lang="en-US" sz="1600" dirty="0"/>
          </a:p>
        </p:txBody>
      </p:sp>
      <p:sp>
        <p:nvSpPr>
          <p:cNvPr id="13" name="Text 9"/>
          <p:cNvSpPr txBox="1"/>
          <p:nvPr/>
        </p:nvSpPr>
        <p:spPr>
          <a:xfrm>
            <a:off x="4846320" y="2249424"/>
            <a:ext cx="2697480" cy="2532888"/>
          </a:xfrm>
          <a:prstGeom prst="rect">
            <a:avLst/>
          </a:prstGeom>
          <a:noFill/>
          <a:ln/>
        </p:spPr>
        <p:txBody>
          <a:bodyPr wrap="square" lIns="0" tIns="0" rIns="0" bIns="0" rtlCol="0" anchor="t"/>
          <a:lstStyle/>
          <a:p>
            <a:pPr marL="177800" indent="-177800">
              <a:spcAft>
                <a:spcPts val="800"/>
              </a:spcAft>
              <a:buSzPct val="100000"/>
              <a:buChar char="•"/>
            </a:pPr>
            <a:r>
              <a:rPr lang="en-US" sz="1350" b="1" dirty="0">
                <a:solidFill>
                  <a:srgbClr val="F1F6F5"/>
                </a:solidFill>
              </a:rPr>
              <a:t>Record reads the watch: </a:t>
            </a:r>
            <a:r>
              <a:rPr lang="en-US" sz="1350" dirty="0">
                <a:solidFill>
                  <a:srgbClr val="C9D8D6"/>
                </a:solidFill>
              </a:rPr>
              <a:t>beta blockers dampen heart rate; diabetes blunts it</a:t>
            </a:r>
            <a:endParaRPr lang="en-US" sz="1350" dirty="0"/>
          </a:p>
          <a:p>
            <a:pPr marL="177800" indent="-177800">
              <a:spcAft>
                <a:spcPts val="800"/>
              </a:spcAft>
              <a:buSzPct val="100000"/>
              <a:buChar char="•"/>
            </a:pPr>
            <a:r>
              <a:rPr lang="en-US" sz="1350" b="1" dirty="0">
                <a:solidFill>
                  <a:srgbClr val="F1F6F5"/>
                </a:solidFill>
              </a:rPr>
              <a:t>Twin removes </a:t>
            </a:r>
            <a:r>
              <a:rPr lang="en-US" sz="1350" dirty="0">
                <a:solidFill>
                  <a:srgbClr val="C9D8D6"/>
                </a:solidFill>
              </a:rPr>
              <a:t>what her own sleep and steps explain</a:t>
            </a:r>
            <a:endParaRPr lang="en-US" sz="1350" dirty="0"/>
          </a:p>
          <a:p>
            <a:pPr marL="177800" indent="-177800">
              <a:spcAft>
                <a:spcPts val="800"/>
              </a:spcAft>
              <a:buSzPct val="100000"/>
              <a:buChar char="•"/>
            </a:pPr>
            <a:r>
              <a:rPr lang="en-US" sz="1350" b="1" dirty="0">
                <a:solidFill>
                  <a:srgbClr val="F1F6F5"/>
                </a:solidFill>
              </a:rPr>
              <a:t>Fusion model joins </a:t>
            </a:r>
            <a:r>
              <a:rPr lang="en-US" sz="1350" dirty="0">
                <a:solidFill>
                  <a:srgbClr val="C9D8D6"/>
                </a:solidFill>
              </a:rPr>
              <a:t>twin signals, BP trend and 8 record facts</a:t>
            </a:r>
            <a:endParaRPr lang="en-US" sz="1350" dirty="0"/>
          </a:p>
        </p:txBody>
      </p:sp>
      <p:sp>
        <p:nvSpPr>
          <p:cNvPr id="14" name="Shape 10"/>
          <p:cNvSpPr/>
          <p:nvPr/>
        </p:nvSpPr>
        <p:spPr>
          <a:xfrm>
            <a:off x="4361688" y="3063240"/>
            <a:ext cx="201168" cy="237744"/>
          </a:xfrm>
          <a:prstGeom prst="rightArrow">
            <a:avLst/>
          </a:prstGeom>
          <a:solidFill>
            <a:srgbClr val="93ADAA"/>
          </a:solidFill>
          <a:ln w="12700">
            <a:solidFill>
              <a:srgbClr val="93ADAA"/>
            </a:solidFill>
            <a:prstDash val="solid"/>
          </a:ln>
        </p:spPr>
      </p:sp>
      <p:sp>
        <p:nvSpPr>
          <p:cNvPr id="15" name="Shape 11"/>
          <p:cNvSpPr/>
          <p:nvPr/>
        </p:nvSpPr>
        <p:spPr>
          <a:xfrm>
            <a:off x="7799832" y="3063240"/>
            <a:ext cx="201168" cy="237744"/>
          </a:xfrm>
          <a:prstGeom prst="rightArrow">
            <a:avLst/>
          </a:prstGeom>
          <a:solidFill>
            <a:srgbClr val="93ADAA"/>
          </a:solidFill>
          <a:ln w="12700">
            <a:solidFill>
              <a:srgbClr val="93ADAA"/>
            </a:solidFill>
            <a:prstDash val="solid"/>
          </a:ln>
        </p:spPr>
      </p:sp>
      <p:sp>
        <p:nvSpPr>
          <p:cNvPr id="16" name="Shape 12"/>
          <p:cNvSpPr/>
          <p:nvPr/>
        </p:nvSpPr>
        <p:spPr>
          <a:xfrm>
            <a:off x="8065008" y="1481328"/>
            <a:ext cx="3578047" cy="3401568"/>
          </a:xfrm>
          <a:prstGeom prst="roundRect">
            <a:avLst>
              <a:gd name="adj" fmla="val 2688"/>
            </a:avLst>
          </a:prstGeom>
          <a:solidFill>
            <a:srgbClr val="152A2A"/>
          </a:solidFill>
          <a:ln w="9525">
            <a:solidFill>
              <a:srgbClr val="27413F"/>
            </a:solidFill>
            <a:prstDash val="solid"/>
          </a:ln>
        </p:spPr>
      </p:sp>
      <p:sp>
        <p:nvSpPr>
          <p:cNvPr id="17" name="Shape 13"/>
          <p:cNvSpPr/>
          <p:nvPr/>
        </p:nvSpPr>
        <p:spPr>
          <a:xfrm>
            <a:off x="8266176" y="1664208"/>
            <a:ext cx="420624" cy="420624"/>
          </a:xfrm>
          <a:prstGeom prst="ellipse">
            <a:avLst/>
          </a:prstGeom>
          <a:solidFill>
            <a:srgbClr val="10302F"/>
          </a:solidFill>
          <a:ln w="6350">
            <a:solidFill>
              <a:srgbClr val="27413F"/>
            </a:solidFill>
            <a:prstDash val="solid"/>
          </a:ln>
        </p:spPr>
      </p:sp>
      <p:pic>
        <p:nvPicPr>
          <p:cNvPr id="18" name="Image 2" descr="watch icon">    </p:cNvPr>
          <p:cNvPicPr>
            <a:picLocks noChangeAspect="1"/>
          </p:cNvPicPr>
          <p:nvPr/>
        </p:nvPicPr>
        <p:blipFill>
          <a:blip r:embed="rId3"/>
          <a:stretch>
            <a:fillRect/>
          </a:stretch>
        </p:blipFill>
        <p:spPr>
          <a:xfrm>
            <a:off x="8358713" y="1756745"/>
            <a:ext cx="235549" cy="235549"/>
          </a:xfrm>
          <a:prstGeom prst="rect">
            <a:avLst/>
          </a:prstGeom>
        </p:spPr>
      </p:pic>
      <p:sp>
        <p:nvSpPr>
          <p:cNvPr id="19" name="Text 14"/>
          <p:cNvSpPr txBox="1"/>
          <p:nvPr/>
        </p:nvSpPr>
        <p:spPr>
          <a:xfrm>
            <a:off x="8796528" y="1664208"/>
            <a:ext cx="2755087" cy="420624"/>
          </a:xfrm>
          <a:prstGeom prst="rect">
            <a:avLst/>
          </a:prstGeom>
          <a:noFill/>
          <a:ln/>
        </p:spPr>
        <p:txBody>
          <a:bodyPr wrap="square" lIns="0" tIns="0" rIns="0" bIns="0" rtlCol="0" anchor="ctr"/>
          <a:lstStyle/>
          <a:p>
            <a:pPr algn="l" indent="0" marL="0">
              <a:buNone/>
            </a:pPr>
            <a:r>
              <a:rPr lang="en-US" sz="1600" b="1" dirty="0">
                <a:solidFill>
                  <a:srgbClr val="3FC1C0"/>
                </a:solidFill>
              </a:rPr>
              <a:t>Watch and cuff (dynamic)</a:t>
            </a:r>
            <a:endParaRPr lang="en-US" sz="1600" dirty="0"/>
          </a:p>
        </p:txBody>
      </p:sp>
      <p:sp>
        <p:nvSpPr>
          <p:cNvPr id="20" name="Text 15"/>
          <p:cNvSpPr txBox="1"/>
          <p:nvPr/>
        </p:nvSpPr>
        <p:spPr>
          <a:xfrm>
            <a:off x="8284464" y="2249424"/>
            <a:ext cx="3175711" cy="2532888"/>
          </a:xfrm>
          <a:prstGeom prst="rect">
            <a:avLst/>
          </a:prstGeom>
          <a:noFill/>
          <a:ln/>
        </p:spPr>
        <p:txBody>
          <a:bodyPr wrap="square" lIns="0" tIns="0" rIns="0" bIns="0" rtlCol="0" anchor="t"/>
          <a:lstStyle/>
          <a:p>
            <a:pPr marL="177800" indent="-177800">
              <a:spcAft>
                <a:spcPts val="500"/>
              </a:spcAft>
              <a:buSzPct val="100000"/>
              <a:buChar char="•"/>
            </a:pPr>
            <a:r>
              <a:rPr lang="en-US" sz="1350" b="1" dirty="0">
                <a:solidFill>
                  <a:srgbClr val="F1F6F5"/>
                </a:solidFill>
              </a:rPr>
              <a:t>Heart rate: </a:t>
            </a:r>
            <a:r>
              <a:rPr lang="en-US" sz="1350" dirty="0">
                <a:solidFill>
                  <a:srgbClr val="C9D8D6"/>
                </a:solidFill>
              </a:rPr>
              <a:t>overnight resting, 5-minute intraday trace</a:t>
            </a:r>
            <a:endParaRPr lang="en-US" sz="1350" dirty="0"/>
          </a:p>
          <a:p>
            <a:pPr marL="177800" indent="-177800">
              <a:spcAft>
                <a:spcPts val="500"/>
              </a:spcAft>
              <a:buSzPct val="100000"/>
              <a:buChar char="•"/>
            </a:pPr>
            <a:r>
              <a:rPr lang="en-US" sz="1350" b="1" dirty="0">
                <a:solidFill>
                  <a:srgbClr val="F1F6F5"/>
                </a:solidFill>
              </a:rPr>
              <a:t>HRV: </a:t>
            </a:r>
            <a:r>
              <a:rPr lang="en-US" sz="1350" dirty="0">
                <a:solidFill>
                  <a:srgbClr val="C9D8D6"/>
                </a:solidFill>
              </a:rPr>
              <a:t>RMSSD against a 60-night baseline</a:t>
            </a:r>
            <a:endParaRPr lang="en-US" sz="1350" dirty="0"/>
          </a:p>
          <a:p>
            <a:pPr marL="177800" indent="-177800">
              <a:spcAft>
                <a:spcPts val="500"/>
              </a:spcAft>
              <a:buSzPct val="100000"/>
              <a:buChar char="•"/>
            </a:pPr>
            <a:r>
              <a:rPr lang="en-US" sz="1350" b="1" dirty="0">
                <a:solidFill>
                  <a:srgbClr val="F1F6F5"/>
                </a:solidFill>
              </a:rPr>
              <a:t>Sleep stages: </a:t>
            </a:r>
            <a:r>
              <a:rPr lang="en-US" sz="1350" dirty="0">
                <a:solidFill>
                  <a:srgbClr val="C9D8D6"/>
                </a:solidFill>
              </a:rPr>
              <a:t>duration, efficiency, deep, REM</a:t>
            </a:r>
            <a:endParaRPr lang="en-US" sz="1350" dirty="0"/>
          </a:p>
          <a:p>
            <a:pPr marL="177800" indent="-177800">
              <a:spcAft>
                <a:spcPts val="500"/>
              </a:spcAft>
              <a:buSzPct val="100000"/>
              <a:buChar char="•"/>
            </a:pPr>
            <a:r>
              <a:rPr lang="en-US" sz="1350" b="1" dirty="0">
                <a:solidFill>
                  <a:srgbClr val="F1F6F5"/>
                </a:solidFill>
              </a:rPr>
              <a:t>Step count, </a:t>
            </a:r>
            <a:r>
              <a:rPr lang="en-US" sz="1350" dirty="0">
                <a:solidFill>
                  <a:srgbClr val="C9D8D6"/>
                </a:solidFill>
              </a:rPr>
              <a:t>SpO2, respiratory rate</a:t>
            </a:r>
            <a:endParaRPr lang="en-US" sz="1350" dirty="0"/>
          </a:p>
          <a:p>
            <a:pPr marL="177800" indent="-177800">
              <a:spcAft>
                <a:spcPts val="500"/>
              </a:spcAft>
              <a:buSzPct val="100000"/>
              <a:buChar char="•"/>
            </a:pPr>
            <a:r>
              <a:rPr lang="en-US" sz="1350" b="1" dirty="0">
                <a:solidFill>
                  <a:srgbClr val="F1F6F5"/>
                </a:solidFill>
              </a:rPr>
              <a:t>Home BP cuff: </a:t>
            </a:r>
            <a:r>
              <a:rPr lang="en-US" sz="1350" dirty="0">
                <a:solidFill>
                  <a:srgbClr val="C9D8D6"/>
                </a:solidFill>
              </a:rPr>
              <a:t>morning systolic and diastolic</a:t>
            </a:r>
            <a:endParaRPr lang="en-US" sz="1350" dirty="0"/>
          </a:p>
        </p:txBody>
      </p:sp>
      <p:sp>
        <p:nvSpPr>
          <p:cNvPr id="21" name="Shape 16"/>
          <p:cNvSpPr/>
          <p:nvPr/>
        </p:nvSpPr>
        <p:spPr>
          <a:xfrm>
            <a:off x="548640" y="5047488"/>
            <a:ext cx="11094415" cy="1124712"/>
          </a:xfrm>
          <a:prstGeom prst="roundRect">
            <a:avLst>
              <a:gd name="adj" fmla="val 8130"/>
            </a:avLst>
          </a:prstGeom>
          <a:solidFill>
            <a:srgbClr val="152A2A"/>
          </a:solidFill>
          <a:ln w="9525">
            <a:solidFill>
              <a:srgbClr val="27413F"/>
            </a:solidFill>
            <a:prstDash val="solid"/>
          </a:ln>
        </p:spPr>
      </p:sp>
      <p:sp>
        <p:nvSpPr>
          <p:cNvPr id="22" name="Text 17"/>
          <p:cNvSpPr txBox="1"/>
          <p:nvPr/>
        </p:nvSpPr>
        <p:spPr>
          <a:xfrm>
            <a:off x="786384" y="5074920"/>
            <a:ext cx="1645920" cy="502920"/>
          </a:xfrm>
          <a:prstGeom prst="rect">
            <a:avLst/>
          </a:prstGeom>
          <a:noFill/>
          <a:ln/>
        </p:spPr>
        <p:txBody>
          <a:bodyPr wrap="square" lIns="0" tIns="0" rIns="0" bIns="0" rtlCol="0" anchor="b"/>
          <a:lstStyle/>
          <a:p>
            <a:pPr algn="l" indent="0" marL="0">
              <a:buNone/>
            </a:pPr>
            <a:r>
              <a:rPr lang="en-US" sz="2800" b="1" dirty="0">
                <a:solidFill>
                  <a:srgbClr val="3FC1C0"/>
                </a:solidFill>
              </a:rPr>
              <a:t>240</a:t>
            </a:r>
            <a:endParaRPr lang="en-US" sz="2800" dirty="0"/>
          </a:p>
        </p:txBody>
      </p:sp>
      <p:sp>
        <p:nvSpPr>
          <p:cNvPr id="23" name="Text 18"/>
          <p:cNvSpPr txBox="1"/>
          <p:nvPr/>
        </p:nvSpPr>
        <p:spPr>
          <a:xfrm>
            <a:off x="786384" y="5632704"/>
            <a:ext cx="1645920" cy="365760"/>
          </a:xfrm>
          <a:prstGeom prst="rect">
            <a:avLst/>
          </a:prstGeom>
          <a:noFill/>
          <a:ln/>
        </p:spPr>
        <p:txBody>
          <a:bodyPr wrap="square" lIns="0" tIns="0" rIns="0" bIns="0" rtlCol="0" anchor="t"/>
          <a:lstStyle/>
          <a:p>
            <a:pPr algn="l" indent="0" marL="0">
              <a:buNone/>
            </a:pPr>
            <a:r>
              <a:rPr lang="en-US" sz="1200" dirty="0">
                <a:solidFill>
                  <a:srgbClr val="93ADAA"/>
                </a:solidFill>
              </a:rPr>
              <a:t>synthetic patients</a:t>
            </a:r>
            <a:endParaRPr lang="en-US" sz="1200" dirty="0"/>
          </a:p>
        </p:txBody>
      </p:sp>
      <p:sp>
        <p:nvSpPr>
          <p:cNvPr id="24" name="Text 19"/>
          <p:cNvSpPr txBox="1"/>
          <p:nvPr/>
        </p:nvSpPr>
        <p:spPr>
          <a:xfrm>
            <a:off x="2542032" y="5074920"/>
            <a:ext cx="1645920" cy="502920"/>
          </a:xfrm>
          <a:prstGeom prst="rect">
            <a:avLst/>
          </a:prstGeom>
          <a:noFill/>
          <a:ln/>
        </p:spPr>
        <p:txBody>
          <a:bodyPr wrap="square" lIns="0" tIns="0" rIns="0" bIns="0" rtlCol="0" anchor="b"/>
          <a:lstStyle/>
          <a:p>
            <a:pPr algn="l" indent="0" marL="0">
              <a:buNone/>
            </a:pPr>
            <a:r>
              <a:rPr lang="en-US" sz="2800" b="1" dirty="0">
                <a:solidFill>
                  <a:srgbClr val="3FC1C0"/>
                </a:solidFill>
              </a:rPr>
              <a:t>120</a:t>
            </a:r>
            <a:endParaRPr lang="en-US" sz="2800" dirty="0"/>
          </a:p>
        </p:txBody>
      </p:sp>
      <p:sp>
        <p:nvSpPr>
          <p:cNvPr id="25" name="Text 20"/>
          <p:cNvSpPr txBox="1"/>
          <p:nvPr/>
        </p:nvSpPr>
        <p:spPr>
          <a:xfrm>
            <a:off x="2542032" y="5632704"/>
            <a:ext cx="1645920" cy="365760"/>
          </a:xfrm>
          <a:prstGeom prst="rect">
            <a:avLst/>
          </a:prstGeom>
          <a:noFill/>
          <a:ln/>
        </p:spPr>
        <p:txBody>
          <a:bodyPr wrap="square" lIns="0" tIns="0" rIns="0" bIns="0" rtlCol="0" anchor="t"/>
          <a:lstStyle/>
          <a:p>
            <a:pPr algn="l" indent="0" marL="0">
              <a:buNone/>
            </a:pPr>
            <a:r>
              <a:rPr lang="en-US" sz="1200" dirty="0">
                <a:solidFill>
                  <a:srgbClr val="93ADAA"/>
                </a:solidFill>
              </a:rPr>
              <a:t>days each</a:t>
            </a:r>
            <a:endParaRPr lang="en-US" sz="1200" dirty="0"/>
          </a:p>
        </p:txBody>
      </p:sp>
      <p:sp>
        <p:nvSpPr>
          <p:cNvPr id="26" name="Text 21"/>
          <p:cNvSpPr txBox="1"/>
          <p:nvPr/>
        </p:nvSpPr>
        <p:spPr>
          <a:xfrm>
            <a:off x="4297680" y="5074920"/>
            <a:ext cx="1645920" cy="502920"/>
          </a:xfrm>
          <a:prstGeom prst="rect">
            <a:avLst/>
          </a:prstGeom>
          <a:noFill/>
          <a:ln/>
        </p:spPr>
        <p:txBody>
          <a:bodyPr wrap="square" lIns="0" tIns="0" rIns="0" bIns="0" rtlCol="0" anchor="b"/>
          <a:lstStyle/>
          <a:p>
            <a:pPr algn="l" indent="0" marL="0">
              <a:buNone/>
            </a:pPr>
            <a:r>
              <a:rPr lang="en-US" sz="2800" b="1" dirty="0">
                <a:solidFill>
                  <a:srgbClr val="3FC1C0"/>
                </a:solidFill>
              </a:rPr>
              <a:t>28,685</a:t>
            </a:r>
            <a:endParaRPr lang="en-US" sz="2800" dirty="0"/>
          </a:p>
        </p:txBody>
      </p:sp>
      <p:sp>
        <p:nvSpPr>
          <p:cNvPr id="27" name="Text 22"/>
          <p:cNvSpPr txBox="1"/>
          <p:nvPr/>
        </p:nvSpPr>
        <p:spPr>
          <a:xfrm>
            <a:off x="4297680" y="5632704"/>
            <a:ext cx="1645920" cy="365760"/>
          </a:xfrm>
          <a:prstGeom prst="rect">
            <a:avLst/>
          </a:prstGeom>
          <a:noFill/>
          <a:ln/>
        </p:spPr>
        <p:txBody>
          <a:bodyPr wrap="square" lIns="0" tIns="0" rIns="0" bIns="0" rtlCol="0" anchor="t"/>
          <a:lstStyle/>
          <a:p>
            <a:pPr algn="l" indent="0" marL="0">
              <a:buNone/>
            </a:pPr>
            <a:r>
              <a:rPr lang="en-US" sz="1200" dirty="0">
                <a:solidFill>
                  <a:srgbClr val="93ADAA"/>
                </a:solidFill>
              </a:rPr>
              <a:t>patient-days</a:t>
            </a:r>
            <a:endParaRPr lang="en-US" sz="1200" dirty="0"/>
          </a:p>
        </p:txBody>
      </p:sp>
      <p:sp>
        <p:nvSpPr>
          <p:cNvPr id="28" name="Text 23"/>
          <p:cNvSpPr txBox="1"/>
          <p:nvPr/>
        </p:nvSpPr>
        <p:spPr>
          <a:xfrm>
            <a:off x="6053328" y="5074920"/>
            <a:ext cx="1645920" cy="502920"/>
          </a:xfrm>
          <a:prstGeom prst="rect">
            <a:avLst/>
          </a:prstGeom>
          <a:noFill/>
          <a:ln/>
        </p:spPr>
        <p:txBody>
          <a:bodyPr wrap="square" lIns="0" tIns="0" rIns="0" bIns="0" rtlCol="0" anchor="b"/>
          <a:lstStyle/>
          <a:p>
            <a:pPr algn="l" indent="0" marL="0">
              <a:buNone/>
            </a:pPr>
            <a:r>
              <a:rPr lang="en-US" sz="2800" b="1" dirty="0">
                <a:solidFill>
                  <a:srgbClr val="3FC1C0"/>
                </a:solidFill>
              </a:rPr>
              <a:t>342</a:t>
            </a:r>
            <a:endParaRPr lang="en-US" sz="2800" dirty="0"/>
          </a:p>
        </p:txBody>
      </p:sp>
      <p:sp>
        <p:nvSpPr>
          <p:cNvPr id="29" name="Text 24"/>
          <p:cNvSpPr txBox="1"/>
          <p:nvPr/>
        </p:nvSpPr>
        <p:spPr>
          <a:xfrm>
            <a:off x="6053328" y="5632704"/>
            <a:ext cx="1645920" cy="365760"/>
          </a:xfrm>
          <a:prstGeom prst="rect">
            <a:avLst/>
          </a:prstGeom>
          <a:noFill/>
          <a:ln/>
        </p:spPr>
        <p:txBody>
          <a:bodyPr wrap="square" lIns="0" tIns="0" rIns="0" bIns="0" rtlCol="0" anchor="t"/>
          <a:lstStyle/>
          <a:p>
            <a:pPr algn="l" indent="0" marL="0">
              <a:buNone/>
            </a:pPr>
            <a:r>
              <a:rPr lang="en-US" sz="1200" dirty="0">
                <a:solidFill>
                  <a:srgbClr val="93ADAA"/>
                </a:solidFill>
              </a:rPr>
              <a:t>labelled strain episodes</a:t>
            </a:r>
            <a:endParaRPr lang="en-US" sz="1200" dirty="0"/>
          </a:p>
        </p:txBody>
      </p:sp>
      <p:sp>
        <p:nvSpPr>
          <p:cNvPr id="30" name="Text 25"/>
          <p:cNvSpPr txBox="1"/>
          <p:nvPr/>
        </p:nvSpPr>
        <p:spPr>
          <a:xfrm>
            <a:off x="7818120" y="5120640"/>
            <a:ext cx="3642055" cy="987552"/>
          </a:xfrm>
          <a:prstGeom prst="rect">
            <a:avLst/>
          </a:prstGeom>
          <a:noFill/>
          <a:ln/>
        </p:spPr>
        <p:txBody>
          <a:bodyPr wrap="square" lIns="0" tIns="0" rIns="0" bIns="0" rtlCol="0" anchor="ctr"/>
          <a:lstStyle/>
          <a:p>
            <a:pPr indent="0" marL="0">
              <a:buNone/>
            </a:pPr>
            <a:r>
              <a:rPr lang="en-US" sz="1300" b="1" dirty="0">
                <a:solidFill>
                  <a:srgbClr val="F1F6F5"/>
                </a:solidFill>
              </a:rPr>
              <a:t>Planted confounders: </a:t>
            </a:r>
            <a:r>
              <a:rPr lang="en-US" sz="1300" dirty="0">
                <a:solidFill>
                  <a:srgbClr val="C9D8D6"/>
                </a:solidFill>
              </a:rPr>
              <a:t>242 colds, 767 missed doses, 756 late nights, 290 travel days. </a:t>
            </a:r>
            <a:r>
              <a:rPr lang="en-US" sz="1300" b="1" dirty="0">
                <a:solidFill>
                  <a:srgbClr val="F1F6F5"/>
                </a:solidFill>
              </a:rPr>
              <a:t>CGM: </a:t>
            </a:r>
            <a:r>
              <a:rPr lang="en-US" sz="1300" dirty="0">
                <a:solidFill>
                  <a:srgbClr val="C9D8D6"/>
                </a:solidFill>
              </a:rPr>
              <a:t>not needed for hypertension; diabetes is read from the record (HbA1c).</a:t>
            </a:r>
            <a:endParaRPr lang="en-US" sz="13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Architecture: two streams in, a twin, a warning out</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Full resolution in docs/architecture.pdf</a:t>
            </a:r>
            <a:endParaRPr lang="en-US" sz="1500" dirty="0"/>
          </a:p>
        </p:txBody>
      </p:sp>
      <p:pic>
        <p:nvPicPr>
          <p:cNvPr id="4" name="Image 0" descr="Pratibimb architecture diagram">    </p:cNvPr>
          <p:cNvPicPr>
            <a:picLocks noChangeAspect="1"/>
          </p:cNvPicPr>
          <p:nvPr/>
        </p:nvPicPr>
        <p:blipFill>
          <a:blip r:embed="rId1"/>
          <a:stretch>
            <a:fillRect/>
          </a:stretch>
        </p:blipFill>
        <p:spPr>
          <a:xfrm>
            <a:off x="548640" y="1444752"/>
            <a:ext cx="7122695" cy="4736592"/>
          </a:xfrm>
          <a:prstGeom prst="rect">
            <a:avLst/>
          </a:prstGeom>
        </p:spPr>
      </p:pic>
      <p:sp>
        <p:nvSpPr>
          <p:cNvPr id="5" name="Shape 2"/>
          <p:cNvSpPr/>
          <p:nvPr/>
        </p:nvSpPr>
        <p:spPr>
          <a:xfrm>
            <a:off x="7945655" y="1444752"/>
            <a:ext cx="3697400" cy="4736592"/>
          </a:xfrm>
          <a:prstGeom prst="roundRect">
            <a:avLst>
              <a:gd name="adj" fmla="val 2473"/>
            </a:avLst>
          </a:prstGeom>
          <a:solidFill>
            <a:srgbClr val="152A2A"/>
          </a:solidFill>
          <a:ln w="9525">
            <a:solidFill>
              <a:srgbClr val="27413F"/>
            </a:solidFill>
            <a:prstDash val="solid"/>
          </a:ln>
        </p:spPr>
      </p:sp>
      <p:sp>
        <p:nvSpPr>
          <p:cNvPr id="6" name="Text 3"/>
          <p:cNvSpPr txBox="1"/>
          <p:nvPr/>
        </p:nvSpPr>
        <p:spPr>
          <a:xfrm>
            <a:off x="8165111" y="1609344"/>
            <a:ext cx="3331640" cy="365760"/>
          </a:xfrm>
          <a:prstGeom prst="rect">
            <a:avLst/>
          </a:prstGeom>
          <a:noFill/>
          <a:ln/>
        </p:spPr>
        <p:txBody>
          <a:bodyPr wrap="square" lIns="0" tIns="0" rIns="0" bIns="0" rtlCol="0" anchor="t"/>
          <a:lstStyle/>
          <a:p>
            <a:pPr algn="l" indent="0" marL="0">
              <a:buNone/>
            </a:pPr>
            <a:r>
              <a:rPr lang="en-US" sz="1600" b="1" dirty="0">
                <a:solidFill>
                  <a:srgbClr val="F1F6F5"/>
                </a:solidFill>
              </a:rPr>
              <a:t>How to read it</a:t>
            </a:r>
            <a:endParaRPr lang="en-US" sz="1600" dirty="0"/>
          </a:p>
        </p:txBody>
      </p:sp>
      <p:sp>
        <p:nvSpPr>
          <p:cNvPr id="7" name="Text 4"/>
          <p:cNvSpPr txBox="1"/>
          <p:nvPr/>
        </p:nvSpPr>
        <p:spPr>
          <a:xfrm>
            <a:off x="8165111" y="2103120"/>
            <a:ext cx="3295064" cy="3959352"/>
          </a:xfrm>
          <a:prstGeom prst="rect">
            <a:avLst/>
          </a:prstGeom>
          <a:noFill/>
          <a:ln/>
        </p:spPr>
        <p:txBody>
          <a:bodyPr wrap="square" lIns="0" tIns="0" rIns="0" bIns="0" rtlCol="0" anchor="t"/>
          <a:lstStyle/>
          <a:p>
            <a:pPr marL="177800" indent="-177800">
              <a:spcAft>
                <a:spcPts val="1400"/>
              </a:spcAft>
              <a:buSzPct val="100000"/>
              <a:buChar char="•"/>
            </a:pPr>
            <a:r>
              <a:rPr lang="en-US" sz="1500" b="1" dirty="0">
                <a:solidFill>
                  <a:srgbClr val="F1F6F5"/>
                </a:solidFill>
              </a:rPr>
              <a:t>Two streams in: </a:t>
            </a:r>
            <a:r>
              <a:rPr lang="en-US" sz="1500" dirty="0">
                <a:solidFill>
                  <a:srgbClr val="C9D8D6"/>
                </a:solidFill>
              </a:rPr>
              <a:t>FHIR record, watch and cuff via a companion app</a:t>
            </a:r>
            <a:endParaRPr lang="en-US" sz="1500" dirty="0"/>
          </a:p>
          <a:p>
            <a:pPr marL="177800" indent="-177800">
              <a:spcAft>
                <a:spcPts val="1400"/>
              </a:spcAft>
              <a:buSzPct val="100000"/>
              <a:buChar char="•"/>
            </a:pPr>
            <a:r>
              <a:rPr lang="en-US" sz="1500" b="1" dirty="0">
                <a:solidFill>
                  <a:srgbClr val="F1F6F5"/>
                </a:solidFill>
              </a:rPr>
              <a:t>Physiology engine: </a:t>
            </a:r>
            <a:r>
              <a:rPr lang="en-US" sz="1500" dirty="0">
                <a:solidFill>
                  <a:srgbClr val="C9D8D6"/>
                </a:solidFill>
              </a:rPr>
              <a:t>baseline, slopes, pooling, twin-adjusted signals</a:t>
            </a:r>
            <a:endParaRPr lang="en-US" sz="1500" dirty="0"/>
          </a:p>
          <a:p>
            <a:pPr marL="177800" indent="-177800">
              <a:spcAft>
                <a:spcPts val="1400"/>
              </a:spcAft>
              <a:buSzPct val="100000"/>
              <a:buChar char="•"/>
            </a:pPr>
            <a:r>
              <a:rPr lang="en-US" sz="1500" b="1" dirty="0">
                <a:solidFill>
                  <a:srgbClr val="F1F6F5"/>
                </a:solidFill>
              </a:rPr>
              <a:t>Prediction: </a:t>
            </a:r>
            <a:r>
              <a:rPr lang="en-US" sz="1500" dirty="0">
                <a:solidFill>
                  <a:srgbClr val="C9D8D6"/>
                </a:solidFill>
              </a:rPr>
              <a:t>LightGBM fusion, calibration, budgeted thresholds, forecasts, SHAP</a:t>
            </a:r>
            <a:endParaRPr lang="en-US" sz="1500" dirty="0"/>
          </a:p>
          <a:p>
            <a:pPr marL="177800" indent="-177800">
              <a:spcAft>
                <a:spcPts val="1400"/>
              </a:spcAft>
              <a:buSzPct val="100000"/>
              <a:buChar char="•"/>
            </a:pPr>
            <a:r>
              <a:rPr lang="en-US" sz="1500" b="1" dirty="0">
                <a:solidFill>
                  <a:srgbClr val="F1F6F5"/>
                </a:solidFill>
              </a:rPr>
              <a:t>Action layer: </a:t>
            </a:r>
            <a:r>
              <a:rPr lang="en-US" sz="1500" dirty="0">
                <a:solidFill>
                  <a:srgbClr val="C9D8D6"/>
                </a:solidFill>
              </a:rPr>
              <a:t>FastAPI, SQLite, live stream; alerts, what-if, ladder, audit</a:t>
            </a:r>
            <a:endParaRPr lang="en-US" sz="1500" dirty="0"/>
          </a:p>
          <a:p>
            <a:pPr marL="177800" indent="-177800">
              <a:spcAft>
                <a:spcPts val="1400"/>
              </a:spcAft>
              <a:buSzPct val="100000"/>
              <a:buChar char="•"/>
            </a:pPr>
            <a:r>
              <a:rPr lang="en-US" sz="1500" b="1" dirty="0">
                <a:solidFill>
                  <a:srgbClr val="F1F6F5"/>
                </a:solidFill>
              </a:rPr>
              <a:t>People: </a:t>
            </a:r>
            <a:r>
              <a:rPr lang="en-US" sz="1500" dirty="0">
                <a:solidFill>
                  <a:srgbClr val="C9D8D6"/>
                </a:solidFill>
              </a:rPr>
              <a:t>doctor console, patient app, consented contacts</a:t>
            </a:r>
            <a:endParaRPr lang="en-US" sz="15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How the twin decides: five steps, worked on Meera</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Every number is computed by the trained model for Meera Iyer on 12 October</a:t>
            </a:r>
            <a:endParaRPr lang="en-US" sz="1500" dirty="0"/>
          </a:p>
        </p:txBody>
      </p:sp>
      <p:sp>
        <p:nvSpPr>
          <p:cNvPr id="4" name="Shape 2"/>
          <p:cNvSpPr/>
          <p:nvPr/>
        </p:nvSpPr>
        <p:spPr>
          <a:xfrm>
            <a:off x="548640" y="1481328"/>
            <a:ext cx="2103120" cy="3639312"/>
          </a:xfrm>
          <a:prstGeom prst="roundRect">
            <a:avLst>
              <a:gd name="adj" fmla="val 4348"/>
            </a:avLst>
          </a:prstGeom>
          <a:solidFill>
            <a:srgbClr val="152A2A"/>
          </a:solidFill>
          <a:ln w="9525">
            <a:solidFill>
              <a:srgbClr val="27413F"/>
            </a:solidFill>
            <a:prstDash val="solid"/>
          </a:ln>
        </p:spPr>
      </p:sp>
      <p:sp>
        <p:nvSpPr>
          <p:cNvPr id="5" name="Shape 3"/>
          <p:cNvSpPr/>
          <p:nvPr/>
        </p:nvSpPr>
        <p:spPr>
          <a:xfrm>
            <a:off x="731520" y="1682496"/>
            <a:ext cx="384048" cy="384048"/>
          </a:xfrm>
          <a:prstGeom prst="ellipse">
            <a:avLst/>
          </a:prstGeom>
          <a:solidFill>
            <a:srgbClr val="10302F"/>
          </a:solidFill>
          <a:ln w="9525">
            <a:solidFill>
              <a:srgbClr val="2C8C8B"/>
            </a:solidFill>
            <a:prstDash val="solid"/>
          </a:ln>
        </p:spPr>
      </p:sp>
      <p:sp>
        <p:nvSpPr>
          <p:cNvPr id="6" name="Text 4"/>
          <p:cNvSpPr txBox="1"/>
          <p:nvPr/>
        </p:nvSpPr>
        <p:spPr>
          <a:xfrm>
            <a:off x="731520" y="1682496"/>
            <a:ext cx="384048" cy="384048"/>
          </a:xfrm>
          <a:prstGeom prst="rect">
            <a:avLst/>
          </a:prstGeom>
          <a:noFill/>
          <a:ln/>
        </p:spPr>
        <p:txBody>
          <a:bodyPr wrap="square" lIns="0" tIns="0" rIns="0" bIns="0" rtlCol="0" anchor="ctr"/>
          <a:lstStyle/>
          <a:p>
            <a:pPr algn="ctr" indent="0" marL="0">
              <a:buNone/>
            </a:pPr>
            <a:r>
              <a:rPr lang="en-US" sz="1500" b="1" dirty="0">
                <a:solidFill>
                  <a:srgbClr val="3FC1C0"/>
                </a:solidFill>
              </a:rPr>
              <a:t>1</a:t>
            </a:r>
            <a:endParaRPr lang="en-US" sz="1500" dirty="0"/>
          </a:p>
        </p:txBody>
      </p:sp>
      <p:sp>
        <p:nvSpPr>
          <p:cNvPr id="7" name="Text 5"/>
          <p:cNvSpPr txBox="1"/>
          <p:nvPr/>
        </p:nvSpPr>
        <p:spPr>
          <a:xfrm>
            <a:off x="731520" y="2176272"/>
            <a:ext cx="1773936" cy="566928"/>
          </a:xfrm>
          <a:prstGeom prst="rect">
            <a:avLst/>
          </a:prstGeom>
          <a:noFill/>
          <a:ln/>
        </p:spPr>
        <p:txBody>
          <a:bodyPr wrap="square" lIns="0" tIns="0" rIns="0" bIns="0" rtlCol="0" anchor="t"/>
          <a:lstStyle/>
          <a:p>
            <a:pPr algn="l" indent="0" marL="0">
              <a:buNone/>
            </a:pPr>
            <a:r>
              <a:rPr lang="en-US" sz="1550" b="1" dirty="0">
                <a:solidFill>
                  <a:srgbClr val="F1F6F5"/>
                </a:solidFill>
              </a:rPr>
              <a:t>Personal baseline</a:t>
            </a:r>
            <a:endParaRPr lang="en-US" sz="1550" dirty="0"/>
          </a:p>
        </p:txBody>
      </p:sp>
      <p:sp>
        <p:nvSpPr>
          <p:cNvPr id="8" name="Text 6"/>
          <p:cNvSpPr txBox="1"/>
          <p:nvPr/>
        </p:nvSpPr>
        <p:spPr>
          <a:xfrm>
            <a:off x="731520" y="2743200"/>
            <a:ext cx="1773936" cy="960120"/>
          </a:xfrm>
          <a:prstGeom prst="rect">
            <a:avLst/>
          </a:prstGeom>
          <a:noFill/>
          <a:ln/>
        </p:spPr>
        <p:txBody>
          <a:bodyPr wrap="square" lIns="0" tIns="0" rIns="0" bIns="0" rtlCol="0" anchor="t"/>
          <a:lstStyle/>
          <a:p>
            <a:pPr algn="l" indent="0" marL="0">
              <a:buNone/>
            </a:pPr>
            <a:r>
              <a:rPr lang="en-US" sz="1300" dirty="0">
                <a:solidFill>
                  <a:srgbClr val="C9D8D6"/>
                </a:solidFill>
              </a:rPr>
              <a:t>Tonight vs her own last 28 nights, not vs other people</a:t>
            </a:r>
            <a:endParaRPr lang="en-US" sz="1300" dirty="0"/>
          </a:p>
        </p:txBody>
      </p:sp>
      <p:sp>
        <p:nvSpPr>
          <p:cNvPr id="9" name="Text 7"/>
          <p:cNvSpPr txBox="1"/>
          <p:nvPr/>
        </p:nvSpPr>
        <p:spPr>
          <a:xfrm>
            <a:off x="731520" y="3721608"/>
            <a:ext cx="1828800" cy="603504"/>
          </a:xfrm>
          <a:prstGeom prst="rect">
            <a:avLst/>
          </a:prstGeom>
          <a:noFill/>
          <a:ln/>
        </p:spPr>
        <p:txBody>
          <a:bodyPr wrap="square" lIns="0" tIns="0" rIns="0" bIns="0" rtlCol="0" anchor="b"/>
          <a:lstStyle/>
          <a:p>
            <a:pPr algn="l" indent="0" marL="0">
              <a:buNone/>
            </a:pPr>
            <a:r>
              <a:rPr lang="en-US" sz="3100" b="1" dirty="0">
                <a:solidFill>
                  <a:srgbClr val="3FC1C0"/>
                </a:solidFill>
              </a:rPr>
              <a:t>+13.8 bpm</a:t>
            </a:r>
            <a:endParaRPr lang="en-US" sz="3100" dirty="0"/>
          </a:p>
        </p:txBody>
      </p:sp>
      <p:sp>
        <p:nvSpPr>
          <p:cNvPr id="10" name="Text 8"/>
          <p:cNvSpPr txBox="1"/>
          <p:nvPr/>
        </p:nvSpPr>
        <p:spPr>
          <a:xfrm>
            <a:off x="731520" y="4361688"/>
            <a:ext cx="1773936" cy="658368"/>
          </a:xfrm>
          <a:prstGeom prst="rect">
            <a:avLst/>
          </a:prstGeom>
          <a:noFill/>
          <a:ln/>
        </p:spPr>
        <p:txBody>
          <a:bodyPr wrap="square" lIns="0" tIns="0" rIns="0" bIns="0" rtlCol="0" anchor="t"/>
          <a:lstStyle/>
          <a:p>
            <a:pPr algn="l" indent="0" marL="0">
              <a:buNone/>
            </a:pPr>
            <a:r>
              <a:rPr lang="en-US" sz="1250" dirty="0">
                <a:solidFill>
                  <a:srgbClr val="93ADAA"/>
                </a:solidFill>
              </a:rPr>
              <a:t>above her usual 56.5 (tonight 70.3)</a:t>
            </a:r>
            <a:endParaRPr lang="en-US" sz="1250" dirty="0"/>
          </a:p>
        </p:txBody>
      </p:sp>
      <p:sp>
        <p:nvSpPr>
          <p:cNvPr id="11" name="Shape 9"/>
          <p:cNvSpPr/>
          <p:nvPr/>
        </p:nvSpPr>
        <p:spPr>
          <a:xfrm>
            <a:off x="2656332" y="3209544"/>
            <a:ext cx="137160" cy="182880"/>
          </a:xfrm>
          <a:prstGeom prst="rightArrow">
            <a:avLst/>
          </a:prstGeom>
          <a:solidFill>
            <a:srgbClr val="4E6B69"/>
          </a:solidFill>
          <a:ln w="12700">
            <a:solidFill>
              <a:srgbClr val="4E6B69"/>
            </a:solidFill>
            <a:prstDash val="solid"/>
          </a:ln>
        </p:spPr>
      </p:sp>
      <p:sp>
        <p:nvSpPr>
          <p:cNvPr id="12" name="Shape 10"/>
          <p:cNvSpPr/>
          <p:nvPr/>
        </p:nvSpPr>
        <p:spPr>
          <a:xfrm>
            <a:off x="2796235" y="1481328"/>
            <a:ext cx="2103120" cy="3639312"/>
          </a:xfrm>
          <a:prstGeom prst="roundRect">
            <a:avLst>
              <a:gd name="adj" fmla="val 4348"/>
            </a:avLst>
          </a:prstGeom>
          <a:solidFill>
            <a:srgbClr val="152A2A"/>
          </a:solidFill>
          <a:ln w="9525">
            <a:solidFill>
              <a:srgbClr val="27413F"/>
            </a:solidFill>
            <a:prstDash val="solid"/>
          </a:ln>
        </p:spPr>
      </p:sp>
      <p:sp>
        <p:nvSpPr>
          <p:cNvPr id="13" name="Shape 11"/>
          <p:cNvSpPr/>
          <p:nvPr/>
        </p:nvSpPr>
        <p:spPr>
          <a:xfrm>
            <a:off x="2979115" y="1682496"/>
            <a:ext cx="384048" cy="384048"/>
          </a:xfrm>
          <a:prstGeom prst="ellipse">
            <a:avLst/>
          </a:prstGeom>
          <a:solidFill>
            <a:srgbClr val="10302F"/>
          </a:solidFill>
          <a:ln w="9525">
            <a:solidFill>
              <a:srgbClr val="2C8C8B"/>
            </a:solidFill>
            <a:prstDash val="solid"/>
          </a:ln>
        </p:spPr>
      </p:sp>
      <p:sp>
        <p:nvSpPr>
          <p:cNvPr id="14" name="Text 12"/>
          <p:cNvSpPr txBox="1"/>
          <p:nvPr/>
        </p:nvSpPr>
        <p:spPr>
          <a:xfrm>
            <a:off x="2979115" y="1682496"/>
            <a:ext cx="384048" cy="384048"/>
          </a:xfrm>
          <a:prstGeom prst="rect">
            <a:avLst/>
          </a:prstGeom>
          <a:noFill/>
          <a:ln/>
        </p:spPr>
        <p:txBody>
          <a:bodyPr wrap="square" lIns="0" tIns="0" rIns="0" bIns="0" rtlCol="0" anchor="ctr"/>
          <a:lstStyle/>
          <a:p>
            <a:pPr algn="ctr" indent="0" marL="0">
              <a:buNone/>
            </a:pPr>
            <a:r>
              <a:rPr lang="en-US" sz="1500" b="1" dirty="0">
                <a:solidFill>
                  <a:srgbClr val="3FC1C0"/>
                </a:solidFill>
              </a:rPr>
              <a:t>2</a:t>
            </a:r>
            <a:endParaRPr lang="en-US" sz="1500" dirty="0"/>
          </a:p>
        </p:txBody>
      </p:sp>
      <p:sp>
        <p:nvSpPr>
          <p:cNvPr id="15" name="Text 13"/>
          <p:cNvSpPr txBox="1"/>
          <p:nvPr/>
        </p:nvSpPr>
        <p:spPr>
          <a:xfrm>
            <a:off x="2979115" y="2176272"/>
            <a:ext cx="1773936" cy="566928"/>
          </a:xfrm>
          <a:prstGeom prst="rect">
            <a:avLst/>
          </a:prstGeom>
          <a:noFill/>
          <a:ln/>
        </p:spPr>
        <p:txBody>
          <a:bodyPr wrap="square" lIns="0" tIns="0" rIns="0" bIns="0" rtlCol="0" anchor="t"/>
          <a:lstStyle/>
          <a:p>
            <a:pPr algn="l" indent="0" marL="0">
              <a:buNone/>
            </a:pPr>
            <a:r>
              <a:rPr lang="en-US" sz="1550" b="1" dirty="0">
                <a:solidFill>
                  <a:srgbClr val="F1F6F5"/>
                </a:solidFill>
              </a:rPr>
              <a:t>Response slopes</a:t>
            </a:r>
            <a:endParaRPr lang="en-US" sz="1550" dirty="0"/>
          </a:p>
        </p:txBody>
      </p:sp>
      <p:sp>
        <p:nvSpPr>
          <p:cNvPr id="16" name="Text 14"/>
          <p:cNvSpPr txBox="1"/>
          <p:nvPr/>
        </p:nvSpPr>
        <p:spPr>
          <a:xfrm>
            <a:off x="2979115" y="2743200"/>
            <a:ext cx="1773936" cy="960120"/>
          </a:xfrm>
          <a:prstGeom prst="rect">
            <a:avLst/>
          </a:prstGeom>
          <a:noFill/>
          <a:ln/>
        </p:spPr>
        <p:txBody>
          <a:bodyPr wrap="square" lIns="0" tIns="0" rIns="0" bIns="0" rtlCol="0" anchor="t"/>
          <a:lstStyle/>
          <a:p>
            <a:pPr algn="l" indent="0" marL="0">
              <a:buNone/>
            </a:pPr>
            <a:r>
              <a:rPr lang="en-US" sz="1300" dirty="0">
                <a:solidFill>
                  <a:srgbClr val="C9D8D6"/>
                </a:solidFill>
              </a:rPr>
              <a:t>Calm-day regression of tomorrow's HR, HRV, BP on today's sleep and steps</a:t>
            </a:r>
            <a:endParaRPr lang="en-US" sz="1300" dirty="0"/>
          </a:p>
        </p:txBody>
      </p:sp>
      <p:sp>
        <p:nvSpPr>
          <p:cNvPr id="17" name="Text 15"/>
          <p:cNvSpPr txBox="1"/>
          <p:nvPr/>
        </p:nvSpPr>
        <p:spPr>
          <a:xfrm>
            <a:off x="2979115" y="3721608"/>
            <a:ext cx="1828800" cy="603504"/>
          </a:xfrm>
          <a:prstGeom prst="rect">
            <a:avLst/>
          </a:prstGeom>
          <a:noFill/>
          <a:ln/>
        </p:spPr>
        <p:txBody>
          <a:bodyPr wrap="square" lIns="0" tIns="0" rIns="0" bIns="0" rtlCol="0" anchor="b"/>
          <a:lstStyle/>
          <a:p>
            <a:pPr algn="l" indent="0" marL="0">
              <a:buNone/>
            </a:pPr>
            <a:r>
              <a:rPr lang="en-US" sz="3100" b="1" dirty="0">
                <a:solidFill>
                  <a:srgbClr val="3FC1C0"/>
                </a:solidFill>
              </a:rPr>
              <a:t>4 slopes</a:t>
            </a:r>
            <a:endParaRPr lang="en-US" sz="3100" dirty="0"/>
          </a:p>
        </p:txBody>
      </p:sp>
      <p:sp>
        <p:nvSpPr>
          <p:cNvPr id="18" name="Text 16"/>
          <p:cNvSpPr txBox="1"/>
          <p:nvPr/>
        </p:nvSpPr>
        <p:spPr>
          <a:xfrm>
            <a:off x="2979115" y="4361688"/>
            <a:ext cx="1773936" cy="658368"/>
          </a:xfrm>
          <a:prstGeom prst="rect">
            <a:avLst/>
          </a:prstGeom>
          <a:noFill/>
          <a:ln/>
        </p:spPr>
        <p:txBody>
          <a:bodyPr wrap="square" lIns="0" tIns="0" rIns="0" bIns="0" rtlCol="0" anchor="t"/>
          <a:lstStyle/>
          <a:p>
            <a:pPr algn="l" indent="0" marL="0">
              <a:buNone/>
            </a:pPr>
            <a:r>
              <a:rPr lang="en-US" sz="1250" dirty="0">
                <a:solidFill>
                  <a:srgbClr val="93ADAA"/>
                </a:solidFill>
              </a:rPr>
              <a:t>per person, from 109 calm days</a:t>
            </a:r>
            <a:endParaRPr lang="en-US" sz="1250" dirty="0"/>
          </a:p>
        </p:txBody>
      </p:sp>
      <p:sp>
        <p:nvSpPr>
          <p:cNvPr id="19" name="Shape 17"/>
          <p:cNvSpPr/>
          <p:nvPr/>
        </p:nvSpPr>
        <p:spPr>
          <a:xfrm>
            <a:off x="4903927" y="3209544"/>
            <a:ext cx="137160" cy="182880"/>
          </a:xfrm>
          <a:prstGeom prst="rightArrow">
            <a:avLst/>
          </a:prstGeom>
          <a:solidFill>
            <a:srgbClr val="4E6B69"/>
          </a:solidFill>
          <a:ln w="12700">
            <a:solidFill>
              <a:srgbClr val="4E6B69"/>
            </a:solidFill>
            <a:prstDash val="solid"/>
          </a:ln>
        </p:spPr>
      </p:sp>
      <p:sp>
        <p:nvSpPr>
          <p:cNvPr id="20" name="Shape 18"/>
          <p:cNvSpPr/>
          <p:nvPr/>
        </p:nvSpPr>
        <p:spPr>
          <a:xfrm>
            <a:off x="5043830" y="1481328"/>
            <a:ext cx="2103120" cy="3639312"/>
          </a:xfrm>
          <a:prstGeom prst="roundRect">
            <a:avLst>
              <a:gd name="adj" fmla="val 4348"/>
            </a:avLst>
          </a:prstGeom>
          <a:solidFill>
            <a:srgbClr val="152A2A"/>
          </a:solidFill>
          <a:ln w="9525">
            <a:solidFill>
              <a:srgbClr val="27413F"/>
            </a:solidFill>
            <a:prstDash val="solid"/>
          </a:ln>
        </p:spPr>
      </p:sp>
      <p:sp>
        <p:nvSpPr>
          <p:cNvPr id="21" name="Shape 19"/>
          <p:cNvSpPr/>
          <p:nvPr/>
        </p:nvSpPr>
        <p:spPr>
          <a:xfrm>
            <a:off x="5226710" y="1682496"/>
            <a:ext cx="384048" cy="384048"/>
          </a:xfrm>
          <a:prstGeom prst="ellipse">
            <a:avLst/>
          </a:prstGeom>
          <a:solidFill>
            <a:srgbClr val="10302F"/>
          </a:solidFill>
          <a:ln w="9525">
            <a:solidFill>
              <a:srgbClr val="2C8C8B"/>
            </a:solidFill>
            <a:prstDash val="solid"/>
          </a:ln>
        </p:spPr>
      </p:sp>
      <p:sp>
        <p:nvSpPr>
          <p:cNvPr id="22" name="Text 20"/>
          <p:cNvSpPr txBox="1"/>
          <p:nvPr/>
        </p:nvSpPr>
        <p:spPr>
          <a:xfrm>
            <a:off x="5226710" y="1682496"/>
            <a:ext cx="384048" cy="384048"/>
          </a:xfrm>
          <a:prstGeom prst="rect">
            <a:avLst/>
          </a:prstGeom>
          <a:noFill/>
          <a:ln/>
        </p:spPr>
        <p:txBody>
          <a:bodyPr wrap="square" lIns="0" tIns="0" rIns="0" bIns="0" rtlCol="0" anchor="ctr"/>
          <a:lstStyle/>
          <a:p>
            <a:pPr algn="ctr" indent="0" marL="0">
              <a:buNone/>
            </a:pPr>
            <a:r>
              <a:rPr lang="en-US" sz="1500" b="1" dirty="0">
                <a:solidFill>
                  <a:srgbClr val="3FC1C0"/>
                </a:solidFill>
              </a:rPr>
              <a:t>3</a:t>
            </a:r>
            <a:endParaRPr lang="en-US" sz="1500" dirty="0"/>
          </a:p>
        </p:txBody>
      </p:sp>
      <p:sp>
        <p:nvSpPr>
          <p:cNvPr id="23" name="Text 21"/>
          <p:cNvSpPr txBox="1"/>
          <p:nvPr/>
        </p:nvSpPr>
        <p:spPr>
          <a:xfrm>
            <a:off x="5226710" y="2176272"/>
            <a:ext cx="1773936" cy="566928"/>
          </a:xfrm>
          <a:prstGeom prst="rect">
            <a:avLst/>
          </a:prstGeom>
          <a:noFill/>
          <a:ln/>
        </p:spPr>
        <p:txBody>
          <a:bodyPr wrap="square" lIns="0" tIns="0" rIns="0" bIns="0" rtlCol="0" anchor="t"/>
          <a:lstStyle/>
          <a:p>
            <a:pPr algn="l" indent="0" marL="0">
              <a:buNone/>
            </a:pPr>
            <a:r>
              <a:rPr lang="en-US" sz="1550" b="1" dirty="0">
                <a:solidFill>
                  <a:srgbClr val="F1F6F5"/>
                </a:solidFill>
              </a:rPr>
              <a:t>Empirical Bayes pooling</a:t>
            </a:r>
            <a:endParaRPr lang="en-US" sz="1550" dirty="0"/>
          </a:p>
        </p:txBody>
      </p:sp>
      <p:sp>
        <p:nvSpPr>
          <p:cNvPr id="24" name="Text 22"/>
          <p:cNvSpPr txBox="1"/>
          <p:nvPr/>
        </p:nvSpPr>
        <p:spPr>
          <a:xfrm>
            <a:off x="5226710" y="2743200"/>
            <a:ext cx="1773936" cy="960120"/>
          </a:xfrm>
          <a:prstGeom prst="rect">
            <a:avLst/>
          </a:prstGeom>
          <a:noFill/>
          <a:ln/>
        </p:spPr>
        <p:txBody>
          <a:bodyPr wrap="square" lIns="0" tIns="0" rIns="0" bIns="0" rtlCol="0" anchor="t"/>
          <a:lstStyle/>
          <a:p>
            <a:pPr algn="l" indent="0" marL="0">
              <a:buNone/>
            </a:pPr>
            <a:r>
              <a:rPr lang="en-US" sz="1300" dirty="0">
                <a:solidFill>
                  <a:srgbClr val="C9D8D6"/>
                </a:solidFill>
              </a:rPr>
              <a:t>Her slope pulled toward the cohort by exactly its uncertainty</a:t>
            </a:r>
            <a:endParaRPr lang="en-US" sz="1300" dirty="0"/>
          </a:p>
        </p:txBody>
      </p:sp>
      <p:sp>
        <p:nvSpPr>
          <p:cNvPr id="25" name="Text 23"/>
          <p:cNvSpPr txBox="1"/>
          <p:nvPr/>
        </p:nvSpPr>
        <p:spPr>
          <a:xfrm>
            <a:off x="5226710" y="3721608"/>
            <a:ext cx="1828800" cy="603504"/>
          </a:xfrm>
          <a:prstGeom prst="rect">
            <a:avLst/>
          </a:prstGeom>
          <a:noFill/>
          <a:ln/>
        </p:spPr>
        <p:txBody>
          <a:bodyPr wrap="square" lIns="0" tIns="0" rIns="0" bIns="0" rtlCol="0" anchor="b"/>
          <a:lstStyle/>
          <a:p>
            <a:pPr algn="l" indent="0" marL="0">
              <a:buNone/>
            </a:pPr>
            <a:r>
              <a:rPr lang="en-US" sz="3100" b="1" dirty="0">
                <a:solidFill>
                  <a:srgbClr val="3FC1C0"/>
                </a:solidFill>
              </a:rPr>
              <a:t>57%</a:t>
            </a:r>
            <a:endParaRPr lang="en-US" sz="3100" dirty="0"/>
          </a:p>
        </p:txBody>
      </p:sp>
      <p:sp>
        <p:nvSpPr>
          <p:cNvPr id="26" name="Text 24"/>
          <p:cNvSpPr txBox="1"/>
          <p:nvPr/>
        </p:nvSpPr>
        <p:spPr>
          <a:xfrm>
            <a:off x="5226710" y="4361688"/>
            <a:ext cx="1773936" cy="658368"/>
          </a:xfrm>
          <a:prstGeom prst="rect">
            <a:avLst/>
          </a:prstGeom>
          <a:noFill/>
          <a:ln/>
        </p:spPr>
        <p:txBody>
          <a:bodyPr wrap="square" lIns="0" tIns="0" rIns="0" bIns="0" rtlCol="0" anchor="t"/>
          <a:lstStyle/>
          <a:p>
            <a:pPr algn="l" indent="0" marL="0">
              <a:buNone/>
            </a:pPr>
            <a:r>
              <a:rPr lang="en-US" sz="1250" dirty="0">
                <a:solidFill>
                  <a:srgbClr val="93ADAA"/>
                </a:solidFill>
              </a:rPr>
              <a:t>weight on her own data; twin slope -1.41</a:t>
            </a:r>
            <a:endParaRPr lang="en-US" sz="1250" dirty="0"/>
          </a:p>
        </p:txBody>
      </p:sp>
      <p:sp>
        <p:nvSpPr>
          <p:cNvPr id="27" name="Shape 25"/>
          <p:cNvSpPr/>
          <p:nvPr/>
        </p:nvSpPr>
        <p:spPr>
          <a:xfrm>
            <a:off x="7151522" y="3209544"/>
            <a:ext cx="137160" cy="182880"/>
          </a:xfrm>
          <a:prstGeom prst="rightArrow">
            <a:avLst/>
          </a:prstGeom>
          <a:solidFill>
            <a:srgbClr val="4E6B69"/>
          </a:solidFill>
          <a:ln w="12700">
            <a:solidFill>
              <a:srgbClr val="4E6B69"/>
            </a:solidFill>
            <a:prstDash val="solid"/>
          </a:ln>
        </p:spPr>
      </p:sp>
      <p:sp>
        <p:nvSpPr>
          <p:cNvPr id="28" name="Shape 26"/>
          <p:cNvSpPr/>
          <p:nvPr/>
        </p:nvSpPr>
        <p:spPr>
          <a:xfrm>
            <a:off x="7291426" y="1481328"/>
            <a:ext cx="2103120" cy="3639312"/>
          </a:xfrm>
          <a:prstGeom prst="roundRect">
            <a:avLst>
              <a:gd name="adj" fmla="val 4348"/>
            </a:avLst>
          </a:prstGeom>
          <a:solidFill>
            <a:srgbClr val="152A2A"/>
          </a:solidFill>
          <a:ln w="9525">
            <a:solidFill>
              <a:srgbClr val="27413F"/>
            </a:solidFill>
            <a:prstDash val="solid"/>
          </a:ln>
        </p:spPr>
      </p:sp>
      <p:sp>
        <p:nvSpPr>
          <p:cNvPr id="29" name="Shape 27"/>
          <p:cNvSpPr/>
          <p:nvPr/>
        </p:nvSpPr>
        <p:spPr>
          <a:xfrm>
            <a:off x="7474306" y="1682496"/>
            <a:ext cx="384048" cy="384048"/>
          </a:xfrm>
          <a:prstGeom prst="ellipse">
            <a:avLst/>
          </a:prstGeom>
          <a:solidFill>
            <a:srgbClr val="10302F"/>
          </a:solidFill>
          <a:ln w="9525">
            <a:solidFill>
              <a:srgbClr val="2C8C8B"/>
            </a:solidFill>
            <a:prstDash val="solid"/>
          </a:ln>
        </p:spPr>
      </p:sp>
      <p:sp>
        <p:nvSpPr>
          <p:cNvPr id="30" name="Text 28"/>
          <p:cNvSpPr txBox="1"/>
          <p:nvPr/>
        </p:nvSpPr>
        <p:spPr>
          <a:xfrm>
            <a:off x="7474306" y="1682496"/>
            <a:ext cx="384048" cy="384048"/>
          </a:xfrm>
          <a:prstGeom prst="rect">
            <a:avLst/>
          </a:prstGeom>
          <a:noFill/>
          <a:ln/>
        </p:spPr>
        <p:txBody>
          <a:bodyPr wrap="square" lIns="0" tIns="0" rIns="0" bIns="0" rtlCol="0" anchor="ctr"/>
          <a:lstStyle/>
          <a:p>
            <a:pPr algn="ctr" indent="0" marL="0">
              <a:buNone/>
            </a:pPr>
            <a:r>
              <a:rPr lang="en-US" sz="1500" b="1" dirty="0">
                <a:solidFill>
                  <a:srgbClr val="3FC1C0"/>
                </a:solidFill>
              </a:rPr>
              <a:t>4</a:t>
            </a:r>
            <a:endParaRPr lang="en-US" sz="1500" dirty="0"/>
          </a:p>
        </p:txBody>
      </p:sp>
      <p:sp>
        <p:nvSpPr>
          <p:cNvPr id="31" name="Text 29"/>
          <p:cNvSpPr txBox="1"/>
          <p:nvPr/>
        </p:nvSpPr>
        <p:spPr>
          <a:xfrm>
            <a:off x="7474306" y="2176272"/>
            <a:ext cx="1773936" cy="566928"/>
          </a:xfrm>
          <a:prstGeom prst="rect">
            <a:avLst/>
          </a:prstGeom>
          <a:noFill/>
          <a:ln/>
        </p:spPr>
        <p:txBody>
          <a:bodyPr wrap="square" lIns="0" tIns="0" rIns="0" bIns="0" rtlCol="0" anchor="t"/>
          <a:lstStyle/>
          <a:p>
            <a:pPr algn="l" indent="0" marL="0">
              <a:buNone/>
            </a:pPr>
            <a:r>
              <a:rPr lang="en-US" sz="1550" b="1" dirty="0">
                <a:solidFill>
                  <a:srgbClr val="F1F6F5"/>
                </a:solidFill>
              </a:rPr>
              <a:t>Twin-adjusted signal</a:t>
            </a:r>
            <a:endParaRPr lang="en-US" sz="1550" dirty="0"/>
          </a:p>
        </p:txBody>
      </p:sp>
      <p:sp>
        <p:nvSpPr>
          <p:cNvPr id="32" name="Text 30"/>
          <p:cNvSpPr txBox="1"/>
          <p:nvPr/>
        </p:nvSpPr>
        <p:spPr>
          <a:xfrm>
            <a:off x="7474306" y="2743200"/>
            <a:ext cx="1773936" cy="960120"/>
          </a:xfrm>
          <a:prstGeom prst="rect">
            <a:avLst/>
          </a:prstGeom>
          <a:noFill/>
          <a:ln/>
        </p:spPr>
        <p:txBody>
          <a:bodyPr wrap="square" lIns="0" tIns="0" rIns="0" bIns="0" rtlCol="0" anchor="t"/>
          <a:lstStyle/>
          <a:p>
            <a:pPr algn="l" indent="0" marL="0">
              <a:buNone/>
            </a:pPr>
            <a:r>
              <a:rPr lang="en-US" sz="1300" dirty="0">
                <a:solidFill>
                  <a:srgbClr val="C9D8D6"/>
                </a:solidFill>
              </a:rPr>
              <a:t>Tonight's change minus what her own habits explain</a:t>
            </a:r>
            <a:endParaRPr lang="en-US" sz="1300" dirty="0"/>
          </a:p>
        </p:txBody>
      </p:sp>
      <p:sp>
        <p:nvSpPr>
          <p:cNvPr id="33" name="Text 31"/>
          <p:cNvSpPr txBox="1"/>
          <p:nvPr/>
        </p:nvSpPr>
        <p:spPr>
          <a:xfrm>
            <a:off x="7474306" y="3721608"/>
            <a:ext cx="1828800" cy="603504"/>
          </a:xfrm>
          <a:prstGeom prst="rect">
            <a:avLst/>
          </a:prstGeom>
          <a:noFill/>
          <a:ln/>
        </p:spPr>
        <p:txBody>
          <a:bodyPr wrap="square" lIns="0" tIns="0" rIns="0" bIns="0" rtlCol="0" anchor="b"/>
          <a:lstStyle/>
          <a:p>
            <a:pPr algn="l" indent="0" marL="0">
              <a:buNone/>
            </a:pPr>
            <a:r>
              <a:rPr lang="en-US" sz="3100" b="1" dirty="0">
                <a:solidFill>
                  <a:srgbClr val="E07A9E"/>
                </a:solidFill>
              </a:rPr>
              <a:t>+12.6 bpm</a:t>
            </a:r>
            <a:endParaRPr lang="en-US" sz="3100" dirty="0"/>
          </a:p>
        </p:txBody>
      </p:sp>
      <p:sp>
        <p:nvSpPr>
          <p:cNvPr id="34" name="Text 32"/>
          <p:cNvSpPr txBox="1"/>
          <p:nvPr/>
        </p:nvSpPr>
        <p:spPr>
          <a:xfrm>
            <a:off x="7474306" y="4361688"/>
            <a:ext cx="1773936" cy="658368"/>
          </a:xfrm>
          <a:prstGeom prst="rect">
            <a:avLst/>
          </a:prstGeom>
          <a:noFill/>
          <a:ln/>
        </p:spPr>
        <p:txBody>
          <a:bodyPr wrap="square" lIns="0" tIns="0" rIns="0" bIns="0" rtlCol="0" anchor="t"/>
          <a:lstStyle/>
          <a:p>
            <a:pPr algn="l" indent="0" marL="0">
              <a:buNone/>
            </a:pPr>
            <a:r>
              <a:rPr lang="en-US" sz="1250" dirty="0">
                <a:solidFill>
                  <a:srgbClr val="93ADAA"/>
                </a:solidFill>
              </a:rPr>
              <a:t>unexplained; BP +16 mmHg unexplained</a:t>
            </a:r>
            <a:endParaRPr lang="en-US" sz="1250" dirty="0"/>
          </a:p>
        </p:txBody>
      </p:sp>
      <p:sp>
        <p:nvSpPr>
          <p:cNvPr id="35" name="Shape 33"/>
          <p:cNvSpPr/>
          <p:nvPr/>
        </p:nvSpPr>
        <p:spPr>
          <a:xfrm>
            <a:off x="9399118" y="3209544"/>
            <a:ext cx="137160" cy="182880"/>
          </a:xfrm>
          <a:prstGeom prst="rightArrow">
            <a:avLst/>
          </a:prstGeom>
          <a:solidFill>
            <a:srgbClr val="4E6B69"/>
          </a:solidFill>
          <a:ln w="12700">
            <a:solidFill>
              <a:srgbClr val="4E6B69"/>
            </a:solidFill>
            <a:prstDash val="solid"/>
          </a:ln>
        </p:spPr>
      </p:sp>
      <p:sp>
        <p:nvSpPr>
          <p:cNvPr id="36" name="Shape 34"/>
          <p:cNvSpPr/>
          <p:nvPr/>
        </p:nvSpPr>
        <p:spPr>
          <a:xfrm>
            <a:off x="9539021" y="1481328"/>
            <a:ext cx="2103120" cy="3639312"/>
          </a:xfrm>
          <a:prstGeom prst="roundRect">
            <a:avLst>
              <a:gd name="adj" fmla="val 4348"/>
            </a:avLst>
          </a:prstGeom>
          <a:solidFill>
            <a:srgbClr val="152A2A"/>
          </a:solidFill>
          <a:ln w="9525">
            <a:solidFill>
              <a:srgbClr val="27413F"/>
            </a:solidFill>
            <a:prstDash val="solid"/>
          </a:ln>
        </p:spPr>
      </p:sp>
      <p:sp>
        <p:nvSpPr>
          <p:cNvPr id="37" name="Shape 35"/>
          <p:cNvSpPr/>
          <p:nvPr/>
        </p:nvSpPr>
        <p:spPr>
          <a:xfrm>
            <a:off x="9721901" y="1682496"/>
            <a:ext cx="384048" cy="384048"/>
          </a:xfrm>
          <a:prstGeom prst="ellipse">
            <a:avLst/>
          </a:prstGeom>
          <a:solidFill>
            <a:srgbClr val="10302F"/>
          </a:solidFill>
          <a:ln w="9525">
            <a:solidFill>
              <a:srgbClr val="2C8C8B"/>
            </a:solidFill>
            <a:prstDash val="solid"/>
          </a:ln>
        </p:spPr>
      </p:sp>
      <p:sp>
        <p:nvSpPr>
          <p:cNvPr id="38" name="Text 36"/>
          <p:cNvSpPr txBox="1"/>
          <p:nvPr/>
        </p:nvSpPr>
        <p:spPr>
          <a:xfrm>
            <a:off x="9721901" y="1682496"/>
            <a:ext cx="384048" cy="384048"/>
          </a:xfrm>
          <a:prstGeom prst="rect">
            <a:avLst/>
          </a:prstGeom>
          <a:noFill/>
          <a:ln/>
        </p:spPr>
        <p:txBody>
          <a:bodyPr wrap="square" lIns="0" tIns="0" rIns="0" bIns="0" rtlCol="0" anchor="ctr"/>
          <a:lstStyle/>
          <a:p>
            <a:pPr algn="ctr" indent="0" marL="0">
              <a:buNone/>
            </a:pPr>
            <a:r>
              <a:rPr lang="en-US" sz="1500" b="1" dirty="0">
                <a:solidFill>
                  <a:srgbClr val="3FC1C0"/>
                </a:solidFill>
              </a:rPr>
              <a:t>5</a:t>
            </a:r>
            <a:endParaRPr lang="en-US" sz="1500" dirty="0"/>
          </a:p>
        </p:txBody>
      </p:sp>
      <p:sp>
        <p:nvSpPr>
          <p:cNvPr id="39" name="Text 37"/>
          <p:cNvSpPr txBox="1"/>
          <p:nvPr/>
        </p:nvSpPr>
        <p:spPr>
          <a:xfrm>
            <a:off x="9721901" y="2176272"/>
            <a:ext cx="1773936" cy="566928"/>
          </a:xfrm>
          <a:prstGeom prst="rect">
            <a:avLst/>
          </a:prstGeom>
          <a:noFill/>
          <a:ln/>
        </p:spPr>
        <p:txBody>
          <a:bodyPr wrap="square" lIns="0" tIns="0" rIns="0" bIns="0" rtlCol="0" anchor="t"/>
          <a:lstStyle/>
          <a:p>
            <a:pPr algn="l" indent="0" marL="0">
              <a:buNone/>
            </a:pPr>
            <a:r>
              <a:rPr lang="en-US" sz="1550" b="1" dirty="0">
                <a:solidFill>
                  <a:srgbClr val="F1F6F5"/>
                </a:solidFill>
              </a:rPr>
              <a:t>Fuse, calibrate, decide</a:t>
            </a:r>
            <a:endParaRPr lang="en-US" sz="1550" dirty="0"/>
          </a:p>
        </p:txBody>
      </p:sp>
      <p:sp>
        <p:nvSpPr>
          <p:cNvPr id="40" name="Text 38"/>
          <p:cNvSpPr txBox="1"/>
          <p:nvPr/>
        </p:nvSpPr>
        <p:spPr>
          <a:xfrm>
            <a:off x="9721901" y="2743200"/>
            <a:ext cx="1773936" cy="960120"/>
          </a:xfrm>
          <a:prstGeom prst="rect">
            <a:avLst/>
          </a:prstGeom>
          <a:noFill/>
          <a:ln/>
        </p:spPr>
        <p:txBody>
          <a:bodyPr wrap="square" lIns="0" tIns="0" rIns="0" bIns="0" rtlCol="0" anchor="t"/>
          <a:lstStyle/>
          <a:p>
            <a:pPr algn="l" indent="0" marL="0">
              <a:buNone/>
            </a:pPr>
            <a:r>
              <a:rPr lang="en-US" sz="1300" dirty="0">
                <a:solidFill>
                  <a:srgbClr val="C9D8D6"/>
                </a:solidFill>
              </a:rPr>
              <a:t>LightGBM, Platt calibration, false-alert budget</a:t>
            </a:r>
            <a:endParaRPr lang="en-US" sz="1300" dirty="0"/>
          </a:p>
        </p:txBody>
      </p:sp>
      <p:sp>
        <p:nvSpPr>
          <p:cNvPr id="41" name="Text 39"/>
          <p:cNvSpPr txBox="1"/>
          <p:nvPr/>
        </p:nvSpPr>
        <p:spPr>
          <a:xfrm>
            <a:off x="9721901" y="3721608"/>
            <a:ext cx="1828800" cy="603504"/>
          </a:xfrm>
          <a:prstGeom prst="rect">
            <a:avLst/>
          </a:prstGeom>
          <a:noFill/>
          <a:ln/>
        </p:spPr>
        <p:txBody>
          <a:bodyPr wrap="square" lIns="0" tIns="0" rIns="0" bIns="0" rtlCol="0" anchor="b"/>
          <a:lstStyle/>
          <a:p>
            <a:pPr algn="l" indent="0" marL="0">
              <a:buNone/>
            </a:pPr>
            <a:r>
              <a:rPr lang="en-US" sz="3100" b="1" dirty="0">
                <a:solidFill>
                  <a:srgbClr val="EB6F55"/>
                </a:solidFill>
              </a:rPr>
              <a:t>24%</a:t>
            </a:r>
            <a:endParaRPr lang="en-US" sz="3100" dirty="0"/>
          </a:p>
        </p:txBody>
      </p:sp>
      <p:sp>
        <p:nvSpPr>
          <p:cNvPr id="42" name="Text 40"/>
          <p:cNvSpPr txBox="1"/>
          <p:nvPr/>
        </p:nvSpPr>
        <p:spPr>
          <a:xfrm>
            <a:off x="9721901" y="4361688"/>
            <a:ext cx="1773936" cy="658368"/>
          </a:xfrm>
          <a:prstGeom prst="rect">
            <a:avLst/>
          </a:prstGeom>
          <a:noFill/>
          <a:ln/>
        </p:spPr>
        <p:txBody>
          <a:bodyPr wrap="square" lIns="0" tIns="0" rIns="0" bIns="0" rtlCol="0" anchor="t"/>
          <a:lstStyle/>
          <a:p>
            <a:pPr algn="l" indent="0" marL="0">
              <a:buNone/>
            </a:pPr>
            <a:r>
              <a:rPr lang="en-US" sz="1250" dirty="0">
                <a:solidFill>
                  <a:srgbClr val="93ADAA"/>
                </a:solidFill>
              </a:rPr>
              <a:t>in 72 h (usual 0.7%); score 63, urgent</a:t>
            </a:r>
            <a:endParaRPr lang="en-US" sz="1250" dirty="0"/>
          </a:p>
        </p:txBody>
      </p:sp>
      <p:sp>
        <p:nvSpPr>
          <p:cNvPr id="43" name="Shape 41"/>
          <p:cNvSpPr/>
          <p:nvPr/>
        </p:nvSpPr>
        <p:spPr>
          <a:xfrm>
            <a:off x="548640" y="5303520"/>
            <a:ext cx="11094415" cy="868680"/>
          </a:xfrm>
          <a:prstGeom prst="roundRect">
            <a:avLst>
              <a:gd name="adj" fmla="val 10526"/>
            </a:avLst>
          </a:prstGeom>
          <a:solidFill>
            <a:srgbClr val="10302F"/>
          </a:solidFill>
          <a:ln w="9525">
            <a:solidFill>
              <a:srgbClr val="27413F"/>
            </a:solidFill>
            <a:prstDash val="solid"/>
          </a:ln>
        </p:spPr>
      </p:sp>
      <p:pic>
        <p:nvPicPr>
          <p:cNvPr id="44" name="Image 0" descr="check icon">    </p:cNvPr>
          <p:cNvPicPr>
            <a:picLocks noChangeAspect="1"/>
          </p:cNvPicPr>
          <p:nvPr/>
        </p:nvPicPr>
        <p:blipFill>
          <a:blip r:embed="rId1"/>
          <a:stretch>
            <a:fillRect/>
          </a:stretch>
        </p:blipFill>
        <p:spPr>
          <a:xfrm>
            <a:off x="731520" y="5468112"/>
            <a:ext cx="237744" cy="237744"/>
          </a:xfrm>
          <a:prstGeom prst="rect">
            <a:avLst/>
          </a:prstGeom>
        </p:spPr>
      </p:pic>
      <p:sp>
        <p:nvSpPr>
          <p:cNvPr id="45" name="Text 42"/>
          <p:cNvSpPr txBox="1"/>
          <p:nvPr/>
        </p:nvSpPr>
        <p:spPr>
          <a:xfrm>
            <a:off x="1060704" y="5394960"/>
            <a:ext cx="2331720" cy="713232"/>
          </a:xfrm>
          <a:prstGeom prst="rect">
            <a:avLst/>
          </a:prstGeom>
          <a:noFill/>
          <a:ln/>
        </p:spPr>
        <p:txBody>
          <a:bodyPr wrap="square" lIns="0" tIns="0" rIns="0" bIns="0" rtlCol="0" anchor="ctr"/>
          <a:lstStyle/>
          <a:p>
            <a:pPr indent="0" marL="0">
              <a:buNone/>
            </a:pPr>
            <a:r>
              <a:rPr lang="en-US" sz="1250" b="1" dirty="0">
                <a:solidFill>
                  <a:srgbClr val="F1F6F5"/>
                </a:solidFill>
              </a:rPr>
              <a:t>Calm days only: </a:t>
            </a:r>
            <a:r>
              <a:rPr lang="en-US" sz="1250" dirty="0">
                <a:solidFill>
                  <a:srgbClr val="C9D8D6"/>
                </a:solidFill>
              </a:rPr>
              <a:t>episodes never teach the twin</a:t>
            </a:r>
            <a:endParaRPr lang="en-US" sz="1250" dirty="0"/>
          </a:p>
        </p:txBody>
      </p:sp>
      <p:pic>
        <p:nvPicPr>
          <p:cNvPr id="46" name="Image 1" descr="check icon">    </p:cNvPr>
          <p:cNvPicPr>
            <a:picLocks noChangeAspect="1"/>
          </p:cNvPicPr>
          <p:nvPr/>
        </p:nvPicPr>
        <p:blipFill>
          <a:blip r:embed="rId2"/>
          <a:stretch>
            <a:fillRect/>
          </a:stretch>
        </p:blipFill>
        <p:spPr>
          <a:xfrm>
            <a:off x="3474720" y="5468112"/>
            <a:ext cx="237744" cy="237744"/>
          </a:xfrm>
          <a:prstGeom prst="rect">
            <a:avLst/>
          </a:prstGeom>
        </p:spPr>
      </p:pic>
      <p:sp>
        <p:nvSpPr>
          <p:cNvPr id="47" name="Text 43"/>
          <p:cNvSpPr txBox="1"/>
          <p:nvPr/>
        </p:nvSpPr>
        <p:spPr>
          <a:xfrm>
            <a:off x="3803904" y="5394960"/>
            <a:ext cx="2331720" cy="713232"/>
          </a:xfrm>
          <a:prstGeom prst="rect">
            <a:avLst/>
          </a:prstGeom>
          <a:noFill/>
          <a:ln/>
        </p:spPr>
        <p:txBody>
          <a:bodyPr wrap="square" lIns="0" tIns="0" rIns="0" bIns="0" rtlCol="0" anchor="ctr"/>
          <a:lstStyle/>
          <a:p>
            <a:pPr indent="0" marL="0">
              <a:buNone/>
            </a:pPr>
            <a:r>
              <a:rPr lang="en-US" sz="1250" b="1" dirty="0">
                <a:solidFill>
                  <a:srgbClr val="F1F6F5"/>
                </a:solidFill>
              </a:rPr>
              <a:t>AR(1)-widened errors: </a:t>
            </a:r>
            <a:r>
              <a:rPr lang="en-US" sz="1250" dirty="0">
                <a:solidFill>
                  <a:srgbClr val="C9D8D6"/>
                </a:solidFill>
              </a:rPr>
              <a:t>honest error bars</a:t>
            </a:r>
            <a:endParaRPr lang="en-US" sz="1250" dirty="0"/>
          </a:p>
        </p:txBody>
      </p:sp>
      <p:pic>
        <p:nvPicPr>
          <p:cNvPr id="48" name="Image 2" descr="check icon">    </p:cNvPr>
          <p:cNvPicPr>
            <a:picLocks noChangeAspect="1"/>
          </p:cNvPicPr>
          <p:nvPr/>
        </p:nvPicPr>
        <p:blipFill>
          <a:blip r:embed="rId3"/>
          <a:stretch>
            <a:fillRect/>
          </a:stretch>
        </p:blipFill>
        <p:spPr>
          <a:xfrm>
            <a:off x="6217920" y="5468112"/>
            <a:ext cx="237744" cy="237744"/>
          </a:xfrm>
          <a:prstGeom prst="rect">
            <a:avLst/>
          </a:prstGeom>
        </p:spPr>
      </p:pic>
      <p:sp>
        <p:nvSpPr>
          <p:cNvPr id="49" name="Text 44"/>
          <p:cNvSpPr txBox="1"/>
          <p:nvPr/>
        </p:nvSpPr>
        <p:spPr>
          <a:xfrm>
            <a:off x="6547104" y="5394960"/>
            <a:ext cx="2331720" cy="713232"/>
          </a:xfrm>
          <a:prstGeom prst="rect">
            <a:avLst/>
          </a:prstGeom>
          <a:noFill/>
          <a:ln/>
        </p:spPr>
        <p:txBody>
          <a:bodyPr wrap="square" lIns="0" tIns="0" rIns="0" bIns="0" rtlCol="0" anchor="ctr"/>
          <a:lstStyle/>
          <a:p>
            <a:pPr indent="0" marL="0">
              <a:buNone/>
            </a:pPr>
            <a:r>
              <a:rPr lang="en-US" sz="1250" b="1" dirty="0">
                <a:solidFill>
                  <a:srgbClr val="F1F6F5"/>
                </a:solidFill>
              </a:rPr>
              <a:t>Expanding window: </a:t>
            </a:r>
            <a:r>
              <a:rPr lang="en-US" sz="1250" dirty="0">
                <a:solidFill>
                  <a:srgbClr val="C9D8D6"/>
                </a:solidFill>
              </a:rPr>
              <a:t>no future data; 3 leakage tests</a:t>
            </a:r>
            <a:endParaRPr lang="en-US" sz="1250" dirty="0"/>
          </a:p>
        </p:txBody>
      </p:sp>
      <p:pic>
        <p:nvPicPr>
          <p:cNvPr id="50" name="Image 3" descr="check icon">    </p:cNvPr>
          <p:cNvPicPr>
            <a:picLocks noChangeAspect="1"/>
          </p:cNvPicPr>
          <p:nvPr/>
        </p:nvPicPr>
        <p:blipFill>
          <a:blip r:embed="rId4"/>
          <a:stretch>
            <a:fillRect/>
          </a:stretch>
        </p:blipFill>
        <p:spPr>
          <a:xfrm>
            <a:off x="8961120" y="5468112"/>
            <a:ext cx="237744" cy="237744"/>
          </a:xfrm>
          <a:prstGeom prst="rect">
            <a:avLst/>
          </a:prstGeom>
        </p:spPr>
      </p:pic>
      <p:sp>
        <p:nvSpPr>
          <p:cNvPr id="51" name="Text 45"/>
          <p:cNvSpPr txBox="1"/>
          <p:nvPr/>
        </p:nvSpPr>
        <p:spPr>
          <a:xfrm>
            <a:off x="9290304" y="5394960"/>
            <a:ext cx="2331720" cy="713232"/>
          </a:xfrm>
          <a:prstGeom prst="rect">
            <a:avLst/>
          </a:prstGeom>
          <a:noFill/>
          <a:ln/>
        </p:spPr>
        <p:txBody>
          <a:bodyPr wrap="square" lIns="0" tIns="0" rIns="0" bIns="0" rtlCol="0" anchor="ctr"/>
          <a:lstStyle/>
          <a:p>
            <a:pPr indent="0" marL="0">
              <a:buNone/>
            </a:pPr>
            <a:r>
              <a:rPr lang="en-US" sz="1250" b="1" dirty="0">
                <a:solidFill>
                  <a:srgbClr val="F1F6F5"/>
                </a:solidFill>
              </a:rPr>
              <a:t>Monotone model: </a:t>
            </a:r>
            <a:r>
              <a:rPr lang="en-US" sz="1250" dirty="0">
                <a:solidFill>
                  <a:srgbClr val="C9D8D6"/>
                </a:solidFill>
              </a:rPr>
              <a:t>more sleep or walking never raises risk</a:t>
            </a:r>
            <a:endParaRPr lang="en-US" sz="125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Explained or not: a bad night versus a real warning</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Steps 3 and 4 in detail, with Meera's numbers</a:t>
            </a:r>
            <a:endParaRPr lang="en-US" sz="1500" dirty="0"/>
          </a:p>
        </p:txBody>
      </p:sp>
      <p:sp>
        <p:nvSpPr>
          <p:cNvPr id="4" name="Shape 2"/>
          <p:cNvSpPr/>
          <p:nvPr/>
        </p:nvSpPr>
        <p:spPr>
          <a:xfrm>
            <a:off x="548640" y="1481328"/>
            <a:ext cx="4069080" cy="4690872"/>
          </a:xfrm>
          <a:prstGeom prst="roundRect">
            <a:avLst>
              <a:gd name="adj" fmla="val 2247"/>
            </a:avLst>
          </a:prstGeom>
          <a:solidFill>
            <a:srgbClr val="152A2A"/>
          </a:solidFill>
          <a:ln w="9525">
            <a:solidFill>
              <a:srgbClr val="27413F"/>
            </a:solidFill>
            <a:prstDash val="solid"/>
          </a:ln>
        </p:spPr>
      </p:sp>
      <p:sp>
        <p:nvSpPr>
          <p:cNvPr id="5" name="Text 3"/>
          <p:cNvSpPr txBox="1"/>
          <p:nvPr/>
        </p:nvSpPr>
        <p:spPr>
          <a:xfrm>
            <a:off x="768096" y="1664208"/>
            <a:ext cx="3703320" cy="365760"/>
          </a:xfrm>
          <a:prstGeom prst="rect">
            <a:avLst/>
          </a:prstGeom>
          <a:noFill/>
          <a:ln/>
        </p:spPr>
        <p:txBody>
          <a:bodyPr wrap="square" lIns="0" tIns="0" rIns="0" bIns="0" rtlCol="0" anchor="t"/>
          <a:lstStyle/>
          <a:p>
            <a:pPr algn="l" indent="0" marL="0">
              <a:buNone/>
            </a:pPr>
            <a:r>
              <a:rPr lang="en-US" sz="1600" b="1" dirty="0">
                <a:solidFill>
                  <a:srgbClr val="F1F6F5"/>
                </a:solidFill>
              </a:rPr>
              <a:t>Tonight's heart rate, split</a:t>
            </a:r>
            <a:endParaRPr lang="en-US" sz="1600" dirty="0"/>
          </a:p>
        </p:txBody>
      </p:sp>
      <p:sp>
        <p:nvSpPr>
          <p:cNvPr id="6" name="Text 4"/>
          <p:cNvSpPr txBox="1"/>
          <p:nvPr/>
        </p:nvSpPr>
        <p:spPr>
          <a:xfrm>
            <a:off x="768096" y="2258568"/>
            <a:ext cx="3611880" cy="256032"/>
          </a:xfrm>
          <a:prstGeom prst="rect">
            <a:avLst/>
          </a:prstGeom>
          <a:noFill/>
          <a:ln/>
        </p:spPr>
        <p:txBody>
          <a:bodyPr wrap="square" lIns="0" tIns="0" rIns="0" bIns="0" rtlCol="0" anchor="t"/>
          <a:lstStyle/>
          <a:p>
            <a:pPr algn="l" indent="0" marL="0">
              <a:buNone/>
            </a:pPr>
            <a:r>
              <a:rPr lang="en-US" sz="1250" dirty="0">
                <a:solidFill>
                  <a:srgbClr val="C9D8D6"/>
                </a:solidFill>
              </a:rPr>
              <a:t>Tonight vs her usual</a:t>
            </a:r>
            <a:endParaRPr lang="en-US" sz="1250" dirty="0"/>
          </a:p>
        </p:txBody>
      </p:sp>
      <p:sp>
        <p:nvSpPr>
          <p:cNvPr id="7" name="Shape 5"/>
          <p:cNvSpPr/>
          <p:nvPr/>
        </p:nvSpPr>
        <p:spPr>
          <a:xfrm>
            <a:off x="768096" y="2532888"/>
            <a:ext cx="2743200" cy="274320"/>
          </a:xfrm>
          <a:prstGeom prst="rect">
            <a:avLst/>
          </a:prstGeom>
          <a:solidFill>
            <a:srgbClr val="4E6B69"/>
          </a:solidFill>
          <a:ln w="12700">
            <a:solidFill>
              <a:srgbClr val="4E6B69"/>
            </a:solidFill>
            <a:prstDash val="solid"/>
          </a:ln>
        </p:spPr>
      </p:sp>
      <p:sp>
        <p:nvSpPr>
          <p:cNvPr id="8" name="Text 6"/>
          <p:cNvSpPr txBox="1"/>
          <p:nvPr/>
        </p:nvSpPr>
        <p:spPr>
          <a:xfrm>
            <a:off x="3584448" y="2505456"/>
            <a:ext cx="914400" cy="329184"/>
          </a:xfrm>
          <a:prstGeom prst="rect">
            <a:avLst/>
          </a:prstGeom>
          <a:noFill/>
          <a:ln/>
        </p:spPr>
        <p:txBody>
          <a:bodyPr wrap="square" lIns="0" tIns="0" rIns="0" bIns="0" rtlCol="0" anchor="ctr"/>
          <a:lstStyle/>
          <a:p>
            <a:pPr algn="l" indent="0" marL="0">
              <a:buNone/>
            </a:pPr>
            <a:r>
              <a:rPr lang="en-US" sz="1300" b="1" dirty="0">
                <a:solidFill>
                  <a:srgbClr val="F1F6F5"/>
                </a:solidFill>
              </a:rPr>
              <a:t>+13.8 bpm</a:t>
            </a:r>
            <a:endParaRPr lang="en-US" sz="1300" dirty="0"/>
          </a:p>
        </p:txBody>
      </p:sp>
      <p:sp>
        <p:nvSpPr>
          <p:cNvPr id="9" name="Text 7"/>
          <p:cNvSpPr txBox="1"/>
          <p:nvPr/>
        </p:nvSpPr>
        <p:spPr>
          <a:xfrm>
            <a:off x="768096" y="3008376"/>
            <a:ext cx="3611880" cy="256032"/>
          </a:xfrm>
          <a:prstGeom prst="rect">
            <a:avLst/>
          </a:prstGeom>
          <a:noFill/>
          <a:ln/>
        </p:spPr>
        <p:txBody>
          <a:bodyPr wrap="square" lIns="0" tIns="0" rIns="0" bIns="0" rtlCol="0" anchor="t"/>
          <a:lstStyle/>
          <a:p>
            <a:pPr algn="l" indent="0" marL="0">
              <a:buNone/>
            </a:pPr>
            <a:r>
              <a:rPr lang="en-US" sz="1250" dirty="0">
                <a:solidFill>
                  <a:srgbClr val="C9D8D6"/>
                </a:solidFill>
              </a:rPr>
              <a:t>Explained by her habits</a:t>
            </a:r>
            <a:endParaRPr lang="en-US" sz="1250" dirty="0"/>
          </a:p>
        </p:txBody>
      </p:sp>
      <p:sp>
        <p:nvSpPr>
          <p:cNvPr id="10" name="Shape 8"/>
          <p:cNvSpPr/>
          <p:nvPr/>
        </p:nvSpPr>
        <p:spPr>
          <a:xfrm>
            <a:off x="768096" y="3282696"/>
            <a:ext cx="258417" cy="274320"/>
          </a:xfrm>
          <a:prstGeom prst="rect">
            <a:avLst/>
          </a:prstGeom>
          <a:solidFill>
            <a:srgbClr val="93ADAA"/>
          </a:solidFill>
          <a:ln w="12700">
            <a:solidFill>
              <a:srgbClr val="93ADAA"/>
            </a:solidFill>
            <a:prstDash val="solid"/>
          </a:ln>
        </p:spPr>
      </p:sp>
      <p:sp>
        <p:nvSpPr>
          <p:cNvPr id="11" name="Text 9"/>
          <p:cNvSpPr txBox="1"/>
          <p:nvPr/>
        </p:nvSpPr>
        <p:spPr>
          <a:xfrm>
            <a:off x="1099665" y="3255264"/>
            <a:ext cx="914400" cy="329184"/>
          </a:xfrm>
          <a:prstGeom prst="rect">
            <a:avLst/>
          </a:prstGeom>
          <a:noFill/>
          <a:ln/>
        </p:spPr>
        <p:txBody>
          <a:bodyPr wrap="square" lIns="0" tIns="0" rIns="0" bIns="0" rtlCol="0" anchor="ctr"/>
          <a:lstStyle/>
          <a:p>
            <a:pPr algn="l" indent="0" marL="0">
              <a:buNone/>
            </a:pPr>
            <a:r>
              <a:rPr lang="en-US" sz="1300" b="1" dirty="0">
                <a:solidFill>
                  <a:srgbClr val="93ADAA"/>
                </a:solidFill>
              </a:rPr>
              <a:t>+1.3</a:t>
            </a:r>
            <a:endParaRPr lang="en-US" sz="1300" dirty="0"/>
          </a:p>
        </p:txBody>
      </p:sp>
      <p:sp>
        <p:nvSpPr>
          <p:cNvPr id="12" name="Text 10"/>
          <p:cNvSpPr txBox="1"/>
          <p:nvPr/>
        </p:nvSpPr>
        <p:spPr>
          <a:xfrm>
            <a:off x="768096" y="3758184"/>
            <a:ext cx="3611880" cy="256032"/>
          </a:xfrm>
          <a:prstGeom prst="rect">
            <a:avLst/>
          </a:prstGeom>
          <a:noFill/>
          <a:ln/>
        </p:spPr>
        <p:txBody>
          <a:bodyPr wrap="square" lIns="0" tIns="0" rIns="0" bIns="0" rtlCol="0" anchor="t"/>
          <a:lstStyle/>
          <a:p>
            <a:pPr algn="l" indent="0" marL="0">
              <a:buNone/>
            </a:pPr>
            <a:r>
              <a:rPr lang="en-US" sz="1250" dirty="0">
                <a:solidFill>
                  <a:srgbClr val="C9D8D6"/>
                </a:solidFill>
              </a:rPr>
              <a:t>Unexplained: the warning</a:t>
            </a:r>
            <a:endParaRPr lang="en-US" sz="1250" dirty="0"/>
          </a:p>
        </p:txBody>
      </p:sp>
      <p:sp>
        <p:nvSpPr>
          <p:cNvPr id="13" name="Shape 11"/>
          <p:cNvSpPr/>
          <p:nvPr/>
        </p:nvSpPr>
        <p:spPr>
          <a:xfrm>
            <a:off x="1026513" y="4032504"/>
            <a:ext cx="2484783" cy="274320"/>
          </a:xfrm>
          <a:prstGeom prst="rect">
            <a:avLst/>
          </a:prstGeom>
          <a:solidFill>
            <a:srgbClr val="E07A9E"/>
          </a:solidFill>
          <a:ln w="12700">
            <a:solidFill>
              <a:srgbClr val="E07A9E"/>
            </a:solidFill>
            <a:prstDash val="solid"/>
          </a:ln>
        </p:spPr>
      </p:sp>
      <p:sp>
        <p:nvSpPr>
          <p:cNvPr id="14" name="Text 12"/>
          <p:cNvSpPr txBox="1"/>
          <p:nvPr/>
        </p:nvSpPr>
        <p:spPr>
          <a:xfrm>
            <a:off x="3584448" y="4005072"/>
            <a:ext cx="914400" cy="329184"/>
          </a:xfrm>
          <a:prstGeom prst="rect">
            <a:avLst/>
          </a:prstGeom>
          <a:noFill/>
          <a:ln/>
        </p:spPr>
        <p:txBody>
          <a:bodyPr wrap="square" lIns="0" tIns="0" rIns="0" bIns="0" rtlCol="0" anchor="ctr"/>
          <a:lstStyle/>
          <a:p>
            <a:pPr algn="l" indent="0" marL="0">
              <a:buNone/>
            </a:pPr>
            <a:r>
              <a:rPr lang="en-US" sz="1300" b="1" dirty="0">
                <a:solidFill>
                  <a:srgbClr val="E07A9E"/>
                </a:solidFill>
              </a:rPr>
              <a:t>+12.6 bpm</a:t>
            </a:r>
            <a:endParaRPr lang="en-US" sz="1300" dirty="0"/>
          </a:p>
        </p:txBody>
      </p:sp>
      <p:sp>
        <p:nvSpPr>
          <p:cNvPr id="15" name="Text 13"/>
          <p:cNvSpPr txBox="1"/>
          <p:nvPr/>
        </p:nvSpPr>
        <p:spPr>
          <a:xfrm>
            <a:off x="768096" y="4636008"/>
            <a:ext cx="3657600" cy="14630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F1F6F5"/>
                </a:solidFill>
              </a:rPr>
              <a:t>Explained </a:t>
            </a:r>
            <a:r>
              <a:rPr lang="en-US" sz="1300" dirty="0">
                <a:solidFill>
                  <a:srgbClr val="C9D8D6"/>
                </a:solidFill>
              </a:rPr>
              <a:t>= her slopes x her habits</a:t>
            </a:r>
            <a:endParaRPr lang="en-US" sz="1300" dirty="0"/>
          </a:p>
          <a:p>
            <a:pPr marL="177800" indent="-177800">
              <a:spcAft>
                <a:spcPts val="400"/>
              </a:spcAft>
              <a:buSzPct val="100000"/>
              <a:buChar char="•"/>
            </a:pPr>
            <a:r>
              <a:rPr lang="en-US" sz="1300" b="1" dirty="0">
                <a:solidFill>
                  <a:srgbClr val="F1F6F5"/>
                </a:solidFill>
              </a:rPr>
              <a:t>Last night </a:t>
            </a:r>
            <a:r>
              <a:rPr lang="en-US" sz="1300" dirty="0">
                <a:solidFill>
                  <a:srgbClr val="C9D8D6"/>
                </a:solidFill>
              </a:rPr>
              <a:t>1.38 h less sleep, 1,498 more steps</a:t>
            </a:r>
            <a:endParaRPr lang="en-US" sz="1300" dirty="0"/>
          </a:p>
          <a:p>
            <a:pPr marL="177800" indent="-177800">
              <a:spcAft>
                <a:spcPts val="400"/>
              </a:spcAft>
              <a:buSzPct val="100000"/>
              <a:buChar char="•"/>
            </a:pPr>
            <a:r>
              <a:rPr lang="en-US" sz="1300" b="1" dirty="0">
                <a:solidFill>
                  <a:srgbClr val="F1F6F5"/>
                </a:solidFill>
              </a:rPr>
              <a:t>(-1.38) x (-1.38) + (-0.43) x (1.50) </a:t>
            </a:r>
            <a:r>
              <a:rPr lang="en-US" sz="1300" dirty="0">
                <a:solidFill>
                  <a:srgbClr val="C9D8D6"/>
                </a:solidFill>
              </a:rPr>
              <a:t>= +1.3 bpm</a:t>
            </a:r>
            <a:endParaRPr lang="en-US" sz="1300" dirty="0"/>
          </a:p>
          <a:p>
            <a:pPr marL="177800" indent="-177800">
              <a:spcAft>
                <a:spcPts val="400"/>
              </a:spcAft>
              <a:buSzPct val="100000"/>
              <a:buChar char="•"/>
            </a:pPr>
            <a:r>
              <a:rPr lang="en-US" sz="1300" b="1" dirty="0">
                <a:solidFill>
                  <a:srgbClr val="F1F6F5"/>
                </a:solidFill>
              </a:rPr>
              <a:t>Home BP: </a:t>
            </a:r>
            <a:r>
              <a:rPr lang="en-US" sz="1300" dirty="0">
                <a:solidFill>
                  <a:srgbClr val="C9D8D6"/>
                </a:solidFill>
              </a:rPr>
              <a:t>+16 mmHg her activity cannot explain</a:t>
            </a:r>
            <a:endParaRPr lang="en-US" sz="1300" dirty="0"/>
          </a:p>
        </p:txBody>
      </p:sp>
      <p:sp>
        <p:nvSpPr>
          <p:cNvPr id="16" name="Shape 14"/>
          <p:cNvSpPr/>
          <p:nvPr/>
        </p:nvSpPr>
        <p:spPr>
          <a:xfrm>
            <a:off x="4818888" y="1481328"/>
            <a:ext cx="3657600" cy="4690872"/>
          </a:xfrm>
          <a:prstGeom prst="roundRect">
            <a:avLst>
              <a:gd name="adj" fmla="val 2500"/>
            </a:avLst>
          </a:prstGeom>
          <a:solidFill>
            <a:srgbClr val="152A2A"/>
          </a:solidFill>
          <a:ln w="9525">
            <a:solidFill>
              <a:srgbClr val="27413F"/>
            </a:solidFill>
            <a:prstDash val="solid"/>
          </a:ln>
        </p:spPr>
      </p:sp>
      <p:sp>
        <p:nvSpPr>
          <p:cNvPr id="17" name="Text 15"/>
          <p:cNvSpPr txBox="1"/>
          <p:nvPr/>
        </p:nvSpPr>
        <p:spPr>
          <a:xfrm>
            <a:off x="5038344" y="1664208"/>
            <a:ext cx="3291840" cy="365760"/>
          </a:xfrm>
          <a:prstGeom prst="rect">
            <a:avLst/>
          </a:prstGeom>
          <a:noFill/>
          <a:ln/>
        </p:spPr>
        <p:txBody>
          <a:bodyPr wrap="square" lIns="0" tIns="0" rIns="0" bIns="0" rtlCol="0" anchor="t"/>
          <a:lstStyle/>
          <a:p>
            <a:pPr algn="l" indent="0" marL="0">
              <a:buNone/>
            </a:pPr>
            <a:r>
              <a:rPr lang="en-US" sz="1600" b="1" dirty="0">
                <a:solidFill>
                  <a:srgbClr val="F1F6F5"/>
                </a:solidFill>
              </a:rPr>
              <a:t>Borrowing strength from the cohort</a:t>
            </a:r>
            <a:endParaRPr lang="en-US" sz="1600" dirty="0"/>
          </a:p>
        </p:txBody>
      </p:sp>
      <p:sp>
        <p:nvSpPr>
          <p:cNvPr id="18" name="Text 16"/>
          <p:cNvSpPr txBox="1"/>
          <p:nvPr/>
        </p:nvSpPr>
        <p:spPr>
          <a:xfrm>
            <a:off x="5038344" y="2029968"/>
            <a:ext cx="3291840" cy="274320"/>
          </a:xfrm>
          <a:prstGeom prst="rect">
            <a:avLst/>
          </a:prstGeom>
          <a:noFill/>
          <a:ln/>
        </p:spPr>
        <p:txBody>
          <a:bodyPr wrap="square" lIns="0" tIns="0" rIns="0" bIns="0" rtlCol="0" anchor="t"/>
          <a:lstStyle/>
          <a:p>
            <a:pPr algn="l" indent="0" marL="0">
              <a:buNone/>
            </a:pPr>
            <a:r>
              <a:rPr lang="en-US" sz="1200" dirty="0">
                <a:solidFill>
                  <a:srgbClr val="93ADAA"/>
                </a:solidFill>
              </a:rPr>
              <a:t>Sleep to heart rate, bpm per extra hour of sleep</a:t>
            </a:r>
            <a:endParaRPr lang="en-US" sz="1200" dirty="0"/>
          </a:p>
        </p:txBody>
      </p:sp>
      <p:sp>
        <p:nvSpPr>
          <p:cNvPr id="19" name="Shape 17"/>
          <p:cNvSpPr/>
          <p:nvPr/>
        </p:nvSpPr>
        <p:spPr>
          <a:xfrm>
            <a:off x="5138928" y="3172968"/>
            <a:ext cx="3017520" cy="0"/>
          </a:xfrm>
          <a:prstGeom prst="line">
            <a:avLst/>
          </a:prstGeom>
          <a:noFill/>
          <a:ln w="12700">
            <a:solidFill>
              <a:srgbClr val="4E6B69"/>
            </a:solidFill>
            <a:prstDash val="solid"/>
          </a:ln>
        </p:spPr>
      </p:sp>
      <p:sp>
        <p:nvSpPr>
          <p:cNvPr id="20" name="Shape 18"/>
          <p:cNvSpPr/>
          <p:nvPr/>
        </p:nvSpPr>
        <p:spPr>
          <a:xfrm>
            <a:off x="5570002" y="3127248"/>
            <a:ext cx="0" cy="91440"/>
          </a:xfrm>
          <a:prstGeom prst="line">
            <a:avLst/>
          </a:prstGeom>
          <a:noFill/>
          <a:ln w="12700">
            <a:solidFill>
              <a:srgbClr val="4E6B69"/>
            </a:solidFill>
            <a:prstDash val="solid"/>
          </a:ln>
        </p:spPr>
      </p:sp>
      <p:sp>
        <p:nvSpPr>
          <p:cNvPr id="21" name="Text 19"/>
          <p:cNvSpPr txBox="1"/>
          <p:nvPr/>
        </p:nvSpPr>
        <p:spPr>
          <a:xfrm>
            <a:off x="5295682" y="3675888"/>
            <a:ext cx="548640" cy="228600"/>
          </a:xfrm>
          <a:prstGeom prst="rect">
            <a:avLst/>
          </a:prstGeom>
          <a:noFill/>
          <a:ln/>
        </p:spPr>
        <p:txBody>
          <a:bodyPr wrap="square" lIns="0" tIns="0" rIns="0" bIns="0" rtlCol="0" anchor="t"/>
          <a:lstStyle/>
          <a:p>
            <a:pPr algn="ctr" indent="0" marL="0">
              <a:buNone/>
            </a:pPr>
            <a:r>
              <a:rPr lang="en-US" sz="1100" dirty="0">
                <a:solidFill>
                  <a:srgbClr val="93ADAA"/>
                </a:solidFill>
              </a:rPr>
              <a:t>-2.0</a:t>
            </a:r>
            <a:endParaRPr lang="en-US" sz="1100" dirty="0"/>
          </a:p>
        </p:txBody>
      </p:sp>
      <p:sp>
        <p:nvSpPr>
          <p:cNvPr id="22" name="Shape 20"/>
          <p:cNvSpPr/>
          <p:nvPr/>
        </p:nvSpPr>
        <p:spPr>
          <a:xfrm>
            <a:off x="6647688" y="3127248"/>
            <a:ext cx="0" cy="91440"/>
          </a:xfrm>
          <a:prstGeom prst="line">
            <a:avLst/>
          </a:prstGeom>
          <a:noFill/>
          <a:ln w="12700">
            <a:solidFill>
              <a:srgbClr val="4E6B69"/>
            </a:solidFill>
            <a:prstDash val="solid"/>
          </a:ln>
        </p:spPr>
      </p:sp>
      <p:sp>
        <p:nvSpPr>
          <p:cNvPr id="23" name="Text 21"/>
          <p:cNvSpPr txBox="1"/>
          <p:nvPr/>
        </p:nvSpPr>
        <p:spPr>
          <a:xfrm>
            <a:off x="6373368" y="3675888"/>
            <a:ext cx="548640" cy="228600"/>
          </a:xfrm>
          <a:prstGeom prst="rect">
            <a:avLst/>
          </a:prstGeom>
          <a:noFill/>
          <a:ln/>
        </p:spPr>
        <p:txBody>
          <a:bodyPr wrap="square" lIns="0" tIns="0" rIns="0" bIns="0" rtlCol="0" anchor="t"/>
          <a:lstStyle/>
          <a:p>
            <a:pPr algn="ctr" indent="0" marL="0">
              <a:buNone/>
            </a:pPr>
            <a:r>
              <a:rPr lang="en-US" sz="1100" dirty="0">
                <a:solidFill>
                  <a:srgbClr val="93ADAA"/>
                </a:solidFill>
              </a:rPr>
              <a:t>-1.5</a:t>
            </a:r>
            <a:endParaRPr lang="en-US" sz="1100" dirty="0"/>
          </a:p>
        </p:txBody>
      </p:sp>
      <p:sp>
        <p:nvSpPr>
          <p:cNvPr id="24" name="Shape 22"/>
          <p:cNvSpPr/>
          <p:nvPr/>
        </p:nvSpPr>
        <p:spPr>
          <a:xfrm>
            <a:off x="7725374" y="3127248"/>
            <a:ext cx="0" cy="91440"/>
          </a:xfrm>
          <a:prstGeom prst="line">
            <a:avLst/>
          </a:prstGeom>
          <a:noFill/>
          <a:ln w="12700">
            <a:solidFill>
              <a:srgbClr val="4E6B69"/>
            </a:solidFill>
            <a:prstDash val="solid"/>
          </a:ln>
        </p:spPr>
      </p:sp>
      <p:sp>
        <p:nvSpPr>
          <p:cNvPr id="25" name="Text 23"/>
          <p:cNvSpPr txBox="1"/>
          <p:nvPr/>
        </p:nvSpPr>
        <p:spPr>
          <a:xfrm>
            <a:off x="7451054" y="3675888"/>
            <a:ext cx="548640" cy="228600"/>
          </a:xfrm>
          <a:prstGeom prst="rect">
            <a:avLst/>
          </a:prstGeom>
          <a:noFill/>
          <a:ln/>
        </p:spPr>
        <p:txBody>
          <a:bodyPr wrap="square" lIns="0" tIns="0" rIns="0" bIns="0" rtlCol="0" anchor="t"/>
          <a:lstStyle/>
          <a:p>
            <a:pPr algn="ctr" indent="0" marL="0">
              <a:buNone/>
            </a:pPr>
            <a:r>
              <a:rPr lang="en-US" sz="1100" dirty="0">
                <a:solidFill>
                  <a:srgbClr val="93ADAA"/>
                </a:solidFill>
              </a:rPr>
              <a:t>-1.0</a:t>
            </a:r>
            <a:endParaRPr lang="en-US" sz="1100" dirty="0"/>
          </a:p>
        </p:txBody>
      </p:sp>
      <p:sp>
        <p:nvSpPr>
          <p:cNvPr id="26" name="Shape 24"/>
          <p:cNvSpPr/>
          <p:nvPr/>
        </p:nvSpPr>
        <p:spPr>
          <a:xfrm>
            <a:off x="5440680" y="2788920"/>
            <a:ext cx="1594975" cy="0"/>
          </a:xfrm>
          <a:prstGeom prst="line">
            <a:avLst/>
          </a:prstGeom>
          <a:noFill/>
          <a:ln w="15875">
            <a:solidFill>
              <a:srgbClr val="C9D8D6"/>
            </a:solidFill>
            <a:prstDash val="solid"/>
          </a:ln>
        </p:spPr>
      </p:sp>
      <p:sp>
        <p:nvSpPr>
          <p:cNvPr id="27" name="Shape 25"/>
          <p:cNvSpPr/>
          <p:nvPr/>
        </p:nvSpPr>
        <p:spPr>
          <a:xfrm>
            <a:off x="6155871" y="2706624"/>
            <a:ext cx="164592" cy="164592"/>
          </a:xfrm>
          <a:prstGeom prst="ellipse">
            <a:avLst/>
          </a:prstGeom>
          <a:solidFill>
            <a:srgbClr val="152A2A"/>
          </a:solidFill>
          <a:ln w="19050">
            <a:solidFill>
              <a:srgbClr val="F1F6F5"/>
            </a:solidFill>
            <a:prstDash val="solid"/>
          </a:ln>
        </p:spPr>
      </p:sp>
      <p:sp>
        <p:nvSpPr>
          <p:cNvPr id="28" name="Text 26"/>
          <p:cNvSpPr txBox="1"/>
          <p:nvPr/>
        </p:nvSpPr>
        <p:spPr>
          <a:xfrm>
            <a:off x="5598087" y="2386584"/>
            <a:ext cx="1280160" cy="256032"/>
          </a:xfrm>
          <a:prstGeom prst="rect">
            <a:avLst/>
          </a:prstGeom>
          <a:noFill/>
          <a:ln/>
        </p:spPr>
        <p:txBody>
          <a:bodyPr wrap="square" lIns="0" tIns="0" rIns="0" bIns="0" rtlCol="0" anchor="t"/>
          <a:lstStyle/>
          <a:p>
            <a:pPr algn="ctr" indent="0" marL="0">
              <a:buNone/>
            </a:pPr>
            <a:r>
              <a:rPr lang="en-US" sz="1200" dirty="0">
                <a:solidFill>
                  <a:srgbClr val="F1F6F5"/>
                </a:solidFill>
              </a:rPr>
              <a:t>her data -1.69</a:t>
            </a:r>
            <a:endParaRPr lang="en-US" sz="1200" dirty="0"/>
          </a:p>
        </p:txBody>
      </p:sp>
      <p:sp>
        <p:nvSpPr>
          <p:cNvPr id="29" name="Shape 27"/>
          <p:cNvSpPr/>
          <p:nvPr/>
        </p:nvSpPr>
        <p:spPr>
          <a:xfrm>
            <a:off x="6750231" y="3081528"/>
            <a:ext cx="182880" cy="182880"/>
          </a:xfrm>
          <a:prstGeom prst="ellipse">
            <a:avLst/>
          </a:prstGeom>
          <a:solidFill>
            <a:srgbClr val="E07A9E"/>
          </a:solidFill>
          <a:ln w="12700">
            <a:solidFill>
              <a:srgbClr val="E07A9E"/>
            </a:solidFill>
            <a:prstDash val="solid"/>
          </a:ln>
        </p:spPr>
      </p:sp>
      <p:sp>
        <p:nvSpPr>
          <p:cNvPr id="30" name="Text 28"/>
          <p:cNvSpPr txBox="1"/>
          <p:nvPr/>
        </p:nvSpPr>
        <p:spPr>
          <a:xfrm>
            <a:off x="6293031" y="3310128"/>
            <a:ext cx="1097280" cy="256032"/>
          </a:xfrm>
          <a:prstGeom prst="rect">
            <a:avLst/>
          </a:prstGeom>
          <a:noFill/>
          <a:ln/>
        </p:spPr>
        <p:txBody>
          <a:bodyPr wrap="square" lIns="0" tIns="0" rIns="0" bIns="0" rtlCol="0" anchor="t"/>
          <a:lstStyle/>
          <a:p>
            <a:pPr algn="ctr" indent="0" marL="0">
              <a:buNone/>
            </a:pPr>
            <a:r>
              <a:rPr lang="en-US" sz="1200" b="1" dirty="0">
                <a:solidFill>
                  <a:srgbClr val="E07A9E"/>
                </a:solidFill>
              </a:rPr>
              <a:t>twin -1.41</a:t>
            </a:r>
            <a:endParaRPr lang="en-US" sz="1200" dirty="0"/>
          </a:p>
        </p:txBody>
      </p:sp>
      <p:sp>
        <p:nvSpPr>
          <p:cNvPr id="31" name="Shape 29"/>
          <p:cNvSpPr/>
          <p:nvPr/>
        </p:nvSpPr>
        <p:spPr>
          <a:xfrm>
            <a:off x="7660713" y="2971800"/>
            <a:ext cx="0" cy="402336"/>
          </a:xfrm>
          <a:prstGeom prst="line">
            <a:avLst/>
          </a:prstGeom>
          <a:noFill/>
          <a:ln w="25400">
            <a:solidFill>
              <a:srgbClr val="D6A06A"/>
            </a:solidFill>
            <a:prstDash val="solid"/>
          </a:ln>
        </p:spPr>
      </p:sp>
      <p:sp>
        <p:nvSpPr>
          <p:cNvPr id="32" name="Text 30"/>
          <p:cNvSpPr txBox="1"/>
          <p:nvPr/>
        </p:nvSpPr>
        <p:spPr>
          <a:xfrm>
            <a:off x="7112073" y="2697480"/>
            <a:ext cx="1097280" cy="256032"/>
          </a:xfrm>
          <a:prstGeom prst="rect">
            <a:avLst/>
          </a:prstGeom>
          <a:noFill/>
          <a:ln/>
        </p:spPr>
        <p:txBody>
          <a:bodyPr wrap="square" lIns="0" tIns="0" rIns="0" bIns="0" rtlCol="0" anchor="t"/>
          <a:lstStyle/>
          <a:p>
            <a:pPr algn="ctr" indent="0" marL="0">
              <a:buNone/>
            </a:pPr>
            <a:r>
              <a:rPr lang="en-US" sz="1200" dirty="0">
                <a:solidFill>
                  <a:srgbClr val="D6A06A"/>
                </a:solidFill>
              </a:rPr>
              <a:t>cohort -1.03</a:t>
            </a:r>
            <a:endParaRPr lang="en-US" sz="1200" dirty="0"/>
          </a:p>
        </p:txBody>
      </p:sp>
      <p:sp>
        <p:nvSpPr>
          <p:cNvPr id="33" name="Shape 31"/>
          <p:cNvSpPr/>
          <p:nvPr/>
        </p:nvSpPr>
        <p:spPr>
          <a:xfrm>
            <a:off x="5020056" y="3995928"/>
            <a:ext cx="3255264" cy="1261872"/>
          </a:xfrm>
          <a:prstGeom prst="roundRect">
            <a:avLst>
              <a:gd name="adj" fmla="val 7246"/>
            </a:avLst>
          </a:prstGeom>
          <a:solidFill>
            <a:srgbClr val="10302F"/>
          </a:solidFill>
          <a:ln w="9525">
            <a:solidFill>
              <a:srgbClr val="27413F"/>
            </a:solidFill>
            <a:prstDash val="solid"/>
          </a:ln>
        </p:spPr>
      </p:sp>
      <p:sp>
        <p:nvSpPr>
          <p:cNvPr id="34" name="Text 32"/>
          <p:cNvSpPr txBox="1"/>
          <p:nvPr/>
        </p:nvSpPr>
        <p:spPr>
          <a:xfrm>
            <a:off x="5166360" y="4069080"/>
            <a:ext cx="3017520" cy="1133856"/>
          </a:xfrm>
          <a:prstGeom prst="rect">
            <a:avLst/>
          </a:prstGeom>
          <a:noFill/>
          <a:ln/>
        </p:spPr>
        <p:txBody>
          <a:bodyPr wrap="square" lIns="0" tIns="0" rIns="0" bIns="0" rtlCol="0" anchor="ctr"/>
          <a:lstStyle/>
          <a:p>
            <a:pPr indent="0" marL="0">
              <a:buNone/>
            </a:pPr>
            <a:r>
              <a:rPr lang="en-US" sz="1300" b="1" dirty="0">
                <a:solidFill>
                  <a:srgbClr val="F1F6F5"/>
                </a:solidFill>
              </a:rPr>
              <a:t>Weight on her own data</a:t>
            </a:r>
            <a:endParaRPr lang="en-US" sz="1300" dirty="0"/>
          </a:p>
          <a:p>
            <a:pPr indent="0" marL="0">
              <a:buNone/>
            </a:pPr>
            <a:r>
              <a:rPr lang="en-US" sz="1300" dirty="0">
                <a:solidFill>
                  <a:srgbClr val="C9D8D6"/>
                </a:solidFill>
              </a:rPr>
              <a:t>= spread² / (spread² + noise²)</a:t>
            </a:r>
            <a:endParaRPr lang="en-US" sz="1300" dirty="0"/>
          </a:p>
          <a:p>
            <a:pPr indent="0" marL="0">
              <a:buNone/>
            </a:pPr>
            <a:r>
              <a:rPr lang="en-US" sz="1300" dirty="0">
                <a:solidFill>
                  <a:srgbClr val="C9D8D6"/>
                </a:solidFill>
              </a:rPr>
              <a:t>= 0.43² / (0.43² + 0.37²) = 57%</a:t>
            </a:r>
            <a:endParaRPr lang="en-US" sz="1300" dirty="0"/>
          </a:p>
          <a:p>
            <a:pPr indent="0" marL="0">
              <a:buNone/>
            </a:pPr>
            <a:r>
              <a:rPr lang="en-US" sz="1300" b="1" dirty="0">
                <a:solidFill>
                  <a:srgbClr val="E07A9E"/>
                </a:solidFill>
              </a:rPr>
              <a:t>57% x (-1.69) + 43% x (-1.03) = -1.41</a:t>
            </a:r>
            <a:endParaRPr lang="en-US" sz="1300" dirty="0"/>
          </a:p>
        </p:txBody>
      </p:sp>
      <p:sp>
        <p:nvSpPr>
          <p:cNvPr id="35" name="Text 33"/>
          <p:cNvSpPr txBox="1"/>
          <p:nvPr/>
        </p:nvSpPr>
        <p:spPr>
          <a:xfrm>
            <a:off x="5038344" y="5394960"/>
            <a:ext cx="3246120" cy="685800"/>
          </a:xfrm>
          <a:prstGeom prst="rect">
            <a:avLst/>
          </a:prstGeom>
          <a:noFill/>
          <a:ln/>
        </p:spPr>
        <p:txBody>
          <a:bodyPr wrap="square" lIns="0" tIns="0" rIns="0" bIns="0" rtlCol="0" anchor="t"/>
          <a:lstStyle/>
          <a:p>
            <a:pPr algn="l" indent="0" marL="0">
              <a:buNone/>
            </a:pPr>
            <a:r>
              <a:rPr lang="en-US" sz="1250" dirty="0">
                <a:solidFill>
                  <a:srgbClr val="93ADAA"/>
                </a:solidFill>
              </a:rPr>
              <a:t>New users start at the cohort value; the more calm days they log, the more the slope becomes their own.</a:t>
            </a:r>
            <a:endParaRPr lang="en-US" sz="1250" dirty="0"/>
          </a:p>
        </p:txBody>
      </p:sp>
      <p:sp>
        <p:nvSpPr>
          <p:cNvPr id="36" name="Shape 34"/>
          <p:cNvSpPr/>
          <p:nvPr/>
        </p:nvSpPr>
        <p:spPr>
          <a:xfrm>
            <a:off x="8677656" y="1481328"/>
            <a:ext cx="2965399" cy="4690872"/>
          </a:xfrm>
          <a:prstGeom prst="roundRect">
            <a:avLst>
              <a:gd name="adj" fmla="val 3084"/>
            </a:avLst>
          </a:prstGeom>
          <a:solidFill>
            <a:srgbClr val="152A2A"/>
          </a:solidFill>
          <a:ln w="9525">
            <a:solidFill>
              <a:srgbClr val="27413F"/>
            </a:solidFill>
            <a:prstDash val="solid"/>
          </a:ln>
        </p:spPr>
      </p:sp>
      <p:sp>
        <p:nvSpPr>
          <p:cNvPr id="37" name="Text 35"/>
          <p:cNvSpPr txBox="1"/>
          <p:nvPr/>
        </p:nvSpPr>
        <p:spPr>
          <a:xfrm>
            <a:off x="8897112" y="1664208"/>
            <a:ext cx="2599639" cy="365760"/>
          </a:xfrm>
          <a:prstGeom prst="rect">
            <a:avLst/>
          </a:prstGeom>
          <a:noFill/>
          <a:ln/>
        </p:spPr>
        <p:txBody>
          <a:bodyPr wrap="square" lIns="0" tIns="0" rIns="0" bIns="0" rtlCol="0" anchor="t"/>
          <a:lstStyle/>
          <a:p>
            <a:pPr algn="l" indent="0" marL="0">
              <a:buNone/>
            </a:pPr>
            <a:r>
              <a:rPr lang="en-US" sz="1600" b="1" dirty="0">
                <a:solidFill>
                  <a:srgbClr val="F1F6F5"/>
                </a:solidFill>
              </a:rPr>
              <a:t>Meera vs most people</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860536" y="2121408"/>
          <a:ext cx="2599639" cy="914400"/>
        </p:xfrm>
        <a:graphic>
          <a:graphicData uri="http://schemas.openxmlformats.org/drawingml/2006/table">
            <a:tbl>
              <a:tblPr/>
              <a:tblGrid>
                <a:gridCol w="1325880"/>
                <a:gridCol w="731520"/>
                <a:gridCol w="542239"/>
              </a:tblGrid>
              <a:tr h="365760">
                <a:tc>
                  <a:txBody>
                    <a:bodyPr/>
                    <a:lstStyle/>
                    <a:p>
                      <a:pPr algn="l" indent="0" marL="0">
                        <a:buNone/>
                      </a:pPr>
                      <a:r>
                        <a:rPr lang="en-US" sz="1150" b="1" dirty="0">
                          <a:solidFill>
                            <a:srgbClr val="93ADAA"/>
                          </a:solidFill>
                          <a:latin typeface="Calibri" pitchFamily="34" charset="0"/>
                          <a:ea typeface="Calibri" pitchFamily="34" charset="-122"/>
                          <a:cs typeface="Calibri" pitchFamily="34" charset="-120"/>
                        </a:rPr>
                        <a:t>Slope</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150" b="1" dirty="0">
                          <a:solidFill>
                            <a:srgbClr val="93ADAA"/>
                          </a:solidFill>
                          <a:latin typeface="Calibri" pitchFamily="34" charset="0"/>
                          <a:ea typeface="Calibri" pitchFamily="34" charset="-122"/>
                          <a:cs typeface="Calibri" pitchFamily="34" charset="-120"/>
                        </a:rPr>
                        <a:t>Meera</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150" b="1" dirty="0">
                          <a:solidFill>
                            <a:srgbClr val="93ADAA"/>
                          </a:solidFill>
                          <a:latin typeface="Calibri" pitchFamily="34" charset="0"/>
                          <a:ea typeface="Calibri" pitchFamily="34" charset="-122"/>
                          <a:cs typeface="Calibri" pitchFamily="34" charset="-120"/>
                        </a:rPr>
                        <a:t>Most</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365760">
                <a:tc>
                  <a:txBody>
                    <a:bodyPr/>
                    <a:lstStyle/>
                    <a:p>
                      <a:pPr algn="l" indent="0" marL="0">
                        <a:buNone/>
                      </a:pPr>
                      <a:r>
                        <a:rPr lang="en-US" sz="1250" dirty="0">
                          <a:solidFill>
                            <a:srgbClr val="F1F6F5"/>
                          </a:solidFill>
                          <a:latin typeface="Calibri" pitchFamily="34" charset="0"/>
                          <a:ea typeface="Calibri" pitchFamily="34" charset="-122"/>
                          <a:cs typeface="Calibri" pitchFamily="34" charset="-120"/>
                        </a:rPr>
                        <a:t>Sleep to HR</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b="1" dirty="0">
                          <a:solidFill>
                            <a:srgbClr val="E07A9E"/>
                          </a:solidFill>
                          <a:latin typeface="Calibri" pitchFamily="34" charset="0"/>
                          <a:ea typeface="Calibri" pitchFamily="34" charset="-122"/>
                          <a:cs typeface="Calibri" pitchFamily="34" charset="-120"/>
                        </a:rPr>
                        <a:t>-1.41</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dirty="0">
                          <a:solidFill>
                            <a:srgbClr val="F1F6F5"/>
                          </a:solidFill>
                          <a:latin typeface="Calibri" pitchFamily="34" charset="0"/>
                          <a:ea typeface="Calibri" pitchFamily="34" charset="-122"/>
                          <a:cs typeface="Calibri" pitchFamily="34" charset="-120"/>
                        </a:rPr>
                        <a:t>-1.03</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365760">
                <a:tc>
                  <a:txBody>
                    <a:bodyPr/>
                    <a:lstStyle/>
                    <a:p>
                      <a:pPr algn="l" indent="0" marL="0">
                        <a:buNone/>
                      </a:pPr>
                      <a:r>
                        <a:rPr lang="en-US" sz="1250" dirty="0">
                          <a:solidFill>
                            <a:srgbClr val="F1F6F5"/>
                          </a:solidFill>
                          <a:latin typeface="Calibri" pitchFamily="34" charset="0"/>
                          <a:ea typeface="Calibri" pitchFamily="34" charset="-122"/>
                          <a:cs typeface="Calibri" pitchFamily="34" charset="-120"/>
                        </a:rPr>
                        <a:t>Walking to HR</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b="1" dirty="0">
                          <a:solidFill>
                            <a:srgbClr val="E07A9E"/>
                          </a:solidFill>
                          <a:latin typeface="Calibri" pitchFamily="34" charset="0"/>
                          <a:ea typeface="Calibri" pitchFamily="34" charset="-122"/>
                          <a:cs typeface="Calibri" pitchFamily="34" charset="-120"/>
                        </a:rPr>
                        <a:t>-0.44</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dirty="0">
                          <a:solidFill>
                            <a:srgbClr val="F1F6F5"/>
                          </a:solidFill>
                          <a:latin typeface="Calibri" pitchFamily="34" charset="0"/>
                          <a:ea typeface="Calibri" pitchFamily="34" charset="-122"/>
                          <a:cs typeface="Calibri" pitchFamily="34" charset="-120"/>
                        </a:rPr>
                        <a:t>-0.32</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365760">
                <a:tc>
                  <a:txBody>
                    <a:bodyPr/>
                    <a:lstStyle/>
                    <a:p>
                      <a:pPr algn="l" indent="0" marL="0">
                        <a:buNone/>
                      </a:pPr>
                      <a:r>
                        <a:rPr lang="en-US" sz="1250" dirty="0">
                          <a:solidFill>
                            <a:srgbClr val="F1F6F5"/>
                          </a:solidFill>
                          <a:latin typeface="Calibri" pitchFamily="34" charset="0"/>
                          <a:ea typeface="Calibri" pitchFamily="34" charset="-122"/>
                          <a:cs typeface="Calibri" pitchFamily="34" charset="-120"/>
                        </a:rPr>
                        <a:t>Walking to BP</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b="1" dirty="0">
                          <a:solidFill>
                            <a:srgbClr val="E07A9E"/>
                          </a:solidFill>
                          <a:latin typeface="Calibri" pitchFamily="34" charset="0"/>
                          <a:ea typeface="Calibri" pitchFamily="34" charset="-122"/>
                          <a:cs typeface="Calibri" pitchFamily="34" charset="-120"/>
                        </a:rPr>
                        <a:t>-1.28</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dirty="0">
                          <a:solidFill>
                            <a:srgbClr val="F1F6F5"/>
                          </a:solidFill>
                          <a:latin typeface="Calibri" pitchFamily="34" charset="0"/>
                          <a:ea typeface="Calibri" pitchFamily="34" charset="-122"/>
                          <a:cs typeface="Calibri" pitchFamily="34" charset="-120"/>
                        </a:rPr>
                        <a:t>-1.25</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365760">
                <a:tc>
                  <a:txBody>
                    <a:bodyPr/>
                    <a:lstStyle/>
                    <a:p>
                      <a:pPr algn="l" indent="0" marL="0">
                        <a:buNone/>
                      </a:pPr>
                      <a:r>
                        <a:rPr lang="en-US" sz="1250" dirty="0">
                          <a:solidFill>
                            <a:srgbClr val="F1F6F5"/>
                          </a:solidFill>
                          <a:latin typeface="Calibri" pitchFamily="34" charset="0"/>
                          <a:ea typeface="Calibri" pitchFamily="34" charset="-122"/>
                          <a:cs typeface="Calibri" pitchFamily="34" charset="-120"/>
                        </a:rPr>
                        <a:t>Sleep to HRV</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b="1" dirty="0">
                          <a:solidFill>
                            <a:srgbClr val="E07A9E"/>
                          </a:solidFill>
                          <a:latin typeface="Calibri" pitchFamily="34" charset="0"/>
                          <a:ea typeface="Calibri" pitchFamily="34" charset="-122"/>
                          <a:cs typeface="Calibri" pitchFamily="34" charset="-120"/>
                        </a:rPr>
                        <a:t>+3.8%</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250" dirty="0">
                          <a:solidFill>
                            <a:srgbClr val="F1F6F5"/>
                          </a:solidFill>
                          <a:latin typeface="Calibri" pitchFamily="34" charset="0"/>
                          <a:ea typeface="Calibri" pitchFamily="34" charset="-122"/>
                          <a:cs typeface="Calibri" pitchFamily="34" charset="-120"/>
                        </a:rPr>
                        <a:t>+4.4%</a:t>
                      </a:r>
                      <a:endParaRPr lang="en-US" sz="12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bl>
          </a:graphicData>
        </a:graphic>
      </p:graphicFrame>
      <p:sp>
        <p:nvSpPr>
          <p:cNvPr id="39" name="Text 36"/>
          <p:cNvSpPr txBox="1"/>
          <p:nvPr/>
        </p:nvSpPr>
        <p:spPr>
          <a:xfrm>
            <a:off x="8897112" y="4087368"/>
            <a:ext cx="2599639" cy="457200"/>
          </a:xfrm>
          <a:prstGeom prst="rect">
            <a:avLst/>
          </a:prstGeom>
          <a:noFill/>
          <a:ln/>
        </p:spPr>
        <p:txBody>
          <a:bodyPr wrap="square" lIns="0" tIns="0" rIns="0" bIns="0" rtlCol="0" anchor="t"/>
          <a:lstStyle/>
          <a:p>
            <a:pPr algn="l" indent="0" marL="0">
              <a:buNone/>
            </a:pPr>
            <a:r>
              <a:rPr lang="en-US" sz="1150" dirty="0">
                <a:solidFill>
                  <a:srgbClr val="93ADAA"/>
                </a:solidFill>
              </a:rPr>
              <a:t>Per extra hour of sleep or 1,000 steps; HR in bpm, BP in mmHg.</a:t>
            </a:r>
            <a:endParaRPr lang="en-US" sz="1150" dirty="0"/>
          </a:p>
        </p:txBody>
      </p:sp>
      <p:sp>
        <p:nvSpPr>
          <p:cNvPr id="40" name="Shape 37"/>
          <p:cNvSpPr/>
          <p:nvPr/>
        </p:nvSpPr>
        <p:spPr>
          <a:xfrm>
            <a:off x="8860536" y="4636008"/>
            <a:ext cx="2599639" cy="1353312"/>
          </a:xfrm>
          <a:prstGeom prst="roundRect">
            <a:avLst>
              <a:gd name="adj" fmla="val 6757"/>
            </a:avLst>
          </a:prstGeom>
          <a:solidFill>
            <a:srgbClr val="10302F"/>
          </a:solidFill>
          <a:ln w="9525">
            <a:solidFill>
              <a:srgbClr val="27413F"/>
            </a:solidFill>
            <a:prstDash val="solid"/>
          </a:ln>
        </p:spPr>
      </p:sp>
      <p:sp>
        <p:nvSpPr>
          <p:cNvPr id="41" name="Text 38"/>
          <p:cNvSpPr txBox="1"/>
          <p:nvPr/>
        </p:nvSpPr>
        <p:spPr>
          <a:xfrm>
            <a:off x="8988552" y="4709160"/>
            <a:ext cx="2361895" cy="1207008"/>
          </a:xfrm>
          <a:prstGeom prst="rect">
            <a:avLst/>
          </a:prstGeom>
          <a:noFill/>
          <a:ln/>
        </p:spPr>
        <p:txBody>
          <a:bodyPr wrap="square" lIns="0" tIns="0" rIns="0" bIns="0" rtlCol="0" anchor="ctr"/>
          <a:lstStyle/>
          <a:p>
            <a:pPr indent="0" marL="0">
              <a:buNone/>
            </a:pPr>
            <a:r>
              <a:rPr lang="en-US" sz="1300" b="1" dirty="0">
                <a:solidFill>
                  <a:srgbClr val="3FC1C0"/>
                </a:solidFill>
              </a:rPr>
              <a:t>Her strongest lever: walking</a:t>
            </a:r>
            <a:endParaRPr lang="en-US" sz="1300" dirty="0"/>
          </a:p>
          <a:p>
            <a:pPr indent="0" marL="0">
              <a:buNone/>
            </a:pPr>
            <a:r>
              <a:rPr lang="en-US" sz="1300" dirty="0">
                <a:solidFill>
                  <a:srgbClr val="C9D8D6"/>
                </a:solidFill>
              </a:rPr>
              <a:t>30 min a day: BP -4.4 mmHg on her slope vs -4.3 on the cohort's; heart rate -1.5 bpm.</a:t>
            </a:r>
            <a:endParaRPr lang="en-US" sz="13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From signal to a calibrated, budgeted alert</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Step 5 in detail: the fusion model, its guardrails and how it was validated</a:t>
            </a:r>
            <a:endParaRPr lang="en-US" sz="1500" dirty="0"/>
          </a:p>
        </p:txBody>
      </p:sp>
      <p:sp>
        <p:nvSpPr>
          <p:cNvPr id="4" name="Shape 2"/>
          <p:cNvSpPr/>
          <p:nvPr/>
        </p:nvSpPr>
        <p:spPr>
          <a:xfrm>
            <a:off x="548640" y="1481328"/>
            <a:ext cx="2011680" cy="2724912"/>
          </a:xfrm>
          <a:prstGeom prst="roundRect">
            <a:avLst>
              <a:gd name="adj" fmla="val 4545"/>
            </a:avLst>
          </a:prstGeom>
          <a:solidFill>
            <a:srgbClr val="152A2A"/>
          </a:solidFill>
          <a:ln w="9525">
            <a:solidFill>
              <a:srgbClr val="27413F"/>
            </a:solidFill>
            <a:prstDash val="solid"/>
          </a:ln>
        </p:spPr>
      </p:sp>
      <p:sp>
        <p:nvSpPr>
          <p:cNvPr id="5" name="Shape 3"/>
          <p:cNvSpPr/>
          <p:nvPr/>
        </p:nvSpPr>
        <p:spPr>
          <a:xfrm>
            <a:off x="731520" y="1664208"/>
            <a:ext cx="402336" cy="402336"/>
          </a:xfrm>
          <a:prstGeom prst="ellipse">
            <a:avLst/>
          </a:prstGeom>
          <a:solidFill>
            <a:srgbClr val="10302F"/>
          </a:solidFill>
          <a:ln w="6350">
            <a:solidFill>
              <a:srgbClr val="27413F"/>
            </a:solidFill>
            <a:prstDash val="solid"/>
          </a:ln>
        </p:spPr>
      </p:sp>
      <p:pic>
        <p:nvPicPr>
          <p:cNvPr id="6" name="Image 0" descr="merge icon">    </p:cNvPr>
          <p:cNvPicPr>
            <a:picLocks noChangeAspect="1"/>
          </p:cNvPicPr>
          <p:nvPr/>
        </p:nvPicPr>
        <p:blipFill>
          <a:blip r:embed="rId1"/>
          <a:stretch>
            <a:fillRect/>
          </a:stretch>
        </p:blipFill>
        <p:spPr>
          <a:xfrm>
            <a:off x="820034" y="1752722"/>
            <a:ext cx="225308" cy="225308"/>
          </a:xfrm>
          <a:prstGeom prst="rect">
            <a:avLst/>
          </a:prstGeom>
        </p:spPr>
      </p:pic>
      <p:sp>
        <p:nvSpPr>
          <p:cNvPr id="7" name="Text 4"/>
          <p:cNvSpPr txBox="1"/>
          <p:nvPr/>
        </p:nvSpPr>
        <p:spPr>
          <a:xfrm>
            <a:off x="1225296" y="1664208"/>
            <a:ext cx="1234440" cy="402336"/>
          </a:xfrm>
          <a:prstGeom prst="rect">
            <a:avLst/>
          </a:prstGeom>
          <a:noFill/>
          <a:ln/>
        </p:spPr>
        <p:txBody>
          <a:bodyPr wrap="square" lIns="0" tIns="0" rIns="0" bIns="0" rtlCol="0" anchor="ctr"/>
          <a:lstStyle/>
          <a:p>
            <a:pPr algn="l" indent="0" marL="0">
              <a:buNone/>
            </a:pPr>
            <a:r>
              <a:rPr lang="en-US" sz="1550" b="1" dirty="0">
                <a:solidFill>
                  <a:srgbClr val="F1F6F5"/>
                </a:solidFill>
              </a:rPr>
              <a:t>Inputs</a:t>
            </a:r>
            <a:endParaRPr lang="en-US" sz="1550" dirty="0"/>
          </a:p>
        </p:txBody>
      </p:sp>
      <p:sp>
        <p:nvSpPr>
          <p:cNvPr id="8" name="Text 5"/>
          <p:cNvSpPr txBox="1"/>
          <p:nvPr/>
        </p:nvSpPr>
        <p:spPr>
          <a:xfrm>
            <a:off x="731520" y="2231136"/>
            <a:ext cx="1719072" cy="1901952"/>
          </a:xfrm>
          <a:prstGeom prst="rect">
            <a:avLst/>
          </a:prstGeom>
          <a:noFill/>
          <a:ln/>
        </p:spPr>
        <p:txBody>
          <a:bodyPr wrap="square" lIns="0" tIns="0" rIns="0" bIns="0" rtlCol="0" anchor="t"/>
          <a:lstStyle/>
          <a:p>
            <a:pPr marL="152400" indent="-152400">
              <a:spcAft>
                <a:spcPts val="700"/>
              </a:spcAft>
              <a:buSzPct val="100000"/>
              <a:buChar char="•"/>
            </a:pPr>
            <a:r>
              <a:rPr lang="en-US" sz="1350" b="1" dirty="0">
                <a:solidFill>
                  <a:srgbClr val="F1F6F5"/>
                </a:solidFill>
              </a:rPr>
              <a:t>Twin-adjusted </a:t>
            </a:r>
            <a:r>
              <a:rPr lang="en-US" sz="1350" dirty="0">
                <a:solidFill>
                  <a:srgbClr val="C9D8D6"/>
                </a:solidFill>
              </a:rPr>
              <a:t>HR, HRV and BP</a:t>
            </a:r>
            <a:endParaRPr lang="en-US" sz="1350" dirty="0"/>
          </a:p>
          <a:p>
            <a:pPr marL="152400" indent="-152400">
              <a:spcAft>
                <a:spcPts val="700"/>
              </a:spcAft>
              <a:buSzPct val="100000"/>
              <a:buChar char="•"/>
            </a:pPr>
            <a:r>
              <a:rPr lang="en-US" sz="1350" b="1" dirty="0">
                <a:solidFill>
                  <a:srgbClr val="F1F6F5"/>
                </a:solidFill>
              </a:rPr>
              <a:t>7-day </a:t>
            </a:r>
            <a:r>
              <a:rPr lang="en-US" sz="1350" dirty="0">
                <a:solidFill>
                  <a:srgbClr val="C9D8D6"/>
                </a:solidFill>
              </a:rPr>
              <a:t>home BP trend</a:t>
            </a:r>
            <a:endParaRPr lang="en-US" sz="1350" dirty="0"/>
          </a:p>
          <a:p>
            <a:pPr marL="152400" indent="-152400">
              <a:spcAft>
                <a:spcPts val="700"/>
              </a:spcAft>
              <a:buSzPct val="100000"/>
              <a:buChar char="•"/>
            </a:pPr>
            <a:r>
              <a:rPr lang="en-US" sz="1350" b="1" dirty="0">
                <a:solidFill>
                  <a:srgbClr val="F1F6F5"/>
                </a:solidFill>
              </a:rPr>
              <a:t>Load: </a:t>
            </a:r>
            <a:r>
              <a:rPr lang="en-US" sz="1350" dirty="0">
                <a:solidFill>
                  <a:srgbClr val="C9D8D6"/>
                </a:solidFill>
              </a:rPr>
              <a:t>sleep debt, activity</a:t>
            </a:r>
            <a:endParaRPr lang="en-US" sz="1350" dirty="0"/>
          </a:p>
          <a:p>
            <a:pPr marL="152400" indent="-152400">
              <a:spcAft>
                <a:spcPts val="700"/>
              </a:spcAft>
              <a:buSzPct val="100000"/>
              <a:buChar char="•"/>
            </a:pPr>
            <a:r>
              <a:rPr lang="en-US" sz="1350" b="1" dirty="0">
                <a:solidFill>
                  <a:srgbClr val="F1F6F5"/>
                </a:solidFill>
              </a:rPr>
              <a:t>8 record facts</a:t>
            </a:r>
            <a:endParaRPr lang="en-US" sz="1350" dirty="0"/>
          </a:p>
        </p:txBody>
      </p:sp>
      <p:sp>
        <p:nvSpPr>
          <p:cNvPr id="9" name="Shape 6"/>
          <p:cNvSpPr/>
          <p:nvPr/>
        </p:nvSpPr>
        <p:spPr>
          <a:xfrm>
            <a:off x="2601468" y="2752344"/>
            <a:ext cx="173736" cy="182880"/>
          </a:xfrm>
          <a:prstGeom prst="rightArrow">
            <a:avLst/>
          </a:prstGeom>
          <a:solidFill>
            <a:srgbClr val="2C8C8B"/>
          </a:solidFill>
          <a:ln w="12700">
            <a:solidFill>
              <a:srgbClr val="2C8C8B"/>
            </a:solidFill>
            <a:prstDash val="solid"/>
          </a:ln>
        </p:spPr>
      </p:sp>
      <p:sp>
        <p:nvSpPr>
          <p:cNvPr id="10" name="Shape 7"/>
          <p:cNvSpPr/>
          <p:nvPr/>
        </p:nvSpPr>
        <p:spPr>
          <a:xfrm>
            <a:off x="2819095" y="1481328"/>
            <a:ext cx="2011680" cy="2724912"/>
          </a:xfrm>
          <a:prstGeom prst="roundRect">
            <a:avLst>
              <a:gd name="adj" fmla="val 4545"/>
            </a:avLst>
          </a:prstGeom>
          <a:solidFill>
            <a:srgbClr val="152A2A"/>
          </a:solidFill>
          <a:ln w="9525">
            <a:solidFill>
              <a:srgbClr val="27413F"/>
            </a:solidFill>
            <a:prstDash val="solid"/>
          </a:ln>
        </p:spPr>
      </p:sp>
      <p:sp>
        <p:nvSpPr>
          <p:cNvPr id="11" name="Shape 8"/>
          <p:cNvSpPr/>
          <p:nvPr/>
        </p:nvSpPr>
        <p:spPr>
          <a:xfrm>
            <a:off x="3001975" y="1664208"/>
            <a:ext cx="402336" cy="402336"/>
          </a:xfrm>
          <a:prstGeom prst="ellipse">
            <a:avLst/>
          </a:prstGeom>
          <a:solidFill>
            <a:srgbClr val="10302F"/>
          </a:solidFill>
          <a:ln w="6350">
            <a:solidFill>
              <a:srgbClr val="27413F"/>
            </a:solidFill>
            <a:prstDash val="solid"/>
          </a:ln>
        </p:spPr>
      </p:sp>
      <p:pic>
        <p:nvPicPr>
          <p:cNvPr id="12" name="Image 1" descr="branch icon">    </p:cNvPr>
          <p:cNvPicPr>
            <a:picLocks noChangeAspect="1"/>
          </p:cNvPicPr>
          <p:nvPr/>
        </p:nvPicPr>
        <p:blipFill>
          <a:blip r:embed="rId2"/>
          <a:stretch>
            <a:fillRect/>
          </a:stretch>
        </p:blipFill>
        <p:spPr>
          <a:xfrm>
            <a:off x="3090489" y="1752722"/>
            <a:ext cx="225308" cy="225308"/>
          </a:xfrm>
          <a:prstGeom prst="rect">
            <a:avLst/>
          </a:prstGeom>
        </p:spPr>
      </p:pic>
      <p:sp>
        <p:nvSpPr>
          <p:cNvPr id="13" name="Text 9"/>
          <p:cNvSpPr txBox="1"/>
          <p:nvPr/>
        </p:nvSpPr>
        <p:spPr>
          <a:xfrm>
            <a:off x="3495751" y="1664208"/>
            <a:ext cx="1234440" cy="402336"/>
          </a:xfrm>
          <a:prstGeom prst="rect">
            <a:avLst/>
          </a:prstGeom>
          <a:noFill/>
          <a:ln/>
        </p:spPr>
        <p:txBody>
          <a:bodyPr wrap="square" lIns="0" tIns="0" rIns="0" bIns="0" rtlCol="0" anchor="ctr"/>
          <a:lstStyle/>
          <a:p>
            <a:pPr algn="l" indent="0" marL="0">
              <a:buNone/>
            </a:pPr>
            <a:r>
              <a:rPr lang="en-US" sz="1550" b="1" dirty="0">
                <a:solidFill>
                  <a:srgbClr val="F1F6F5"/>
                </a:solidFill>
              </a:rPr>
              <a:t>LightGBM</a:t>
            </a:r>
            <a:endParaRPr lang="en-US" sz="1550" dirty="0"/>
          </a:p>
        </p:txBody>
      </p:sp>
      <p:sp>
        <p:nvSpPr>
          <p:cNvPr id="14" name="Text 10"/>
          <p:cNvSpPr txBox="1"/>
          <p:nvPr/>
        </p:nvSpPr>
        <p:spPr>
          <a:xfrm>
            <a:off x="3001975" y="2231136"/>
            <a:ext cx="1719072" cy="1901952"/>
          </a:xfrm>
          <a:prstGeom prst="rect">
            <a:avLst/>
          </a:prstGeom>
          <a:noFill/>
          <a:ln/>
        </p:spPr>
        <p:txBody>
          <a:bodyPr wrap="square" lIns="0" tIns="0" rIns="0" bIns="0" rtlCol="0" anchor="t"/>
          <a:lstStyle/>
          <a:p>
            <a:pPr marL="152400" indent="-152400">
              <a:spcAft>
                <a:spcPts val="700"/>
              </a:spcAft>
              <a:buSzPct val="100000"/>
              <a:buChar char="•"/>
            </a:pPr>
            <a:r>
              <a:rPr lang="en-US" sz="1350" b="1" dirty="0">
                <a:solidFill>
                  <a:srgbClr val="F1F6F5"/>
                </a:solidFill>
              </a:rPr>
              <a:t>Gradient-boosted </a:t>
            </a:r>
            <a:r>
              <a:rPr lang="en-US" sz="1350" dirty="0">
                <a:solidFill>
                  <a:srgbClr val="C9D8D6"/>
                </a:solidFill>
              </a:rPr>
              <a:t>trees</a:t>
            </a:r>
            <a:endParaRPr lang="en-US" sz="1350" dirty="0"/>
          </a:p>
          <a:p>
            <a:pPr marL="152400" indent="-152400">
              <a:spcAft>
                <a:spcPts val="700"/>
              </a:spcAft>
              <a:buSzPct val="100000"/>
              <a:buChar char="•"/>
            </a:pPr>
            <a:r>
              <a:rPr lang="en-US" sz="1350" b="1" dirty="0">
                <a:solidFill>
                  <a:srgbClr val="F1F6F5"/>
                </a:solidFill>
              </a:rPr>
              <a:t>Monotone: </a:t>
            </a:r>
            <a:r>
              <a:rPr lang="en-US" sz="1350" dirty="0">
                <a:solidFill>
                  <a:srgbClr val="C9D8D6"/>
                </a:solidFill>
              </a:rPr>
              <a:t>sleep and walking never raise risk</a:t>
            </a:r>
            <a:endParaRPr lang="en-US" sz="1350" dirty="0"/>
          </a:p>
          <a:p>
            <a:pPr marL="152400" indent="-152400">
              <a:spcAft>
                <a:spcPts val="700"/>
              </a:spcAft>
              <a:buSzPct val="100000"/>
              <a:buChar char="•"/>
            </a:pPr>
            <a:r>
              <a:rPr lang="en-US" sz="1350" b="1" dirty="0">
                <a:solidFill>
                  <a:srgbClr val="F1F6F5"/>
                </a:solidFill>
              </a:rPr>
              <a:t>Prior MI, Framingham </a:t>
            </a:r>
            <a:r>
              <a:rPr lang="en-US" sz="1350" dirty="0">
                <a:solidFill>
                  <a:srgbClr val="C9D8D6"/>
                </a:solidFill>
              </a:rPr>
              <a:t>only raise it</a:t>
            </a:r>
            <a:endParaRPr lang="en-US" sz="1350" dirty="0"/>
          </a:p>
        </p:txBody>
      </p:sp>
      <p:sp>
        <p:nvSpPr>
          <p:cNvPr id="15" name="Shape 11"/>
          <p:cNvSpPr/>
          <p:nvPr/>
        </p:nvSpPr>
        <p:spPr>
          <a:xfrm>
            <a:off x="4871923" y="2752344"/>
            <a:ext cx="173736" cy="182880"/>
          </a:xfrm>
          <a:prstGeom prst="rightArrow">
            <a:avLst/>
          </a:prstGeom>
          <a:solidFill>
            <a:srgbClr val="2C8C8B"/>
          </a:solidFill>
          <a:ln w="12700">
            <a:solidFill>
              <a:srgbClr val="2C8C8B"/>
            </a:solidFill>
            <a:prstDash val="solid"/>
          </a:ln>
        </p:spPr>
      </p:sp>
      <p:sp>
        <p:nvSpPr>
          <p:cNvPr id="16" name="Shape 12"/>
          <p:cNvSpPr/>
          <p:nvPr/>
        </p:nvSpPr>
        <p:spPr>
          <a:xfrm>
            <a:off x="5089550" y="1481328"/>
            <a:ext cx="2011680" cy="2724912"/>
          </a:xfrm>
          <a:prstGeom prst="roundRect">
            <a:avLst>
              <a:gd name="adj" fmla="val 4545"/>
            </a:avLst>
          </a:prstGeom>
          <a:solidFill>
            <a:srgbClr val="152A2A"/>
          </a:solidFill>
          <a:ln w="9525">
            <a:solidFill>
              <a:srgbClr val="27413F"/>
            </a:solidFill>
            <a:prstDash val="solid"/>
          </a:ln>
        </p:spPr>
      </p:sp>
      <p:sp>
        <p:nvSpPr>
          <p:cNvPr id="17" name="Shape 13"/>
          <p:cNvSpPr/>
          <p:nvPr/>
        </p:nvSpPr>
        <p:spPr>
          <a:xfrm>
            <a:off x="5272430" y="1664208"/>
            <a:ext cx="402336" cy="402336"/>
          </a:xfrm>
          <a:prstGeom prst="ellipse">
            <a:avLst/>
          </a:prstGeom>
          <a:solidFill>
            <a:srgbClr val="10302F"/>
          </a:solidFill>
          <a:ln w="6350">
            <a:solidFill>
              <a:srgbClr val="27413F"/>
            </a:solidFill>
            <a:prstDash val="solid"/>
          </a:ln>
        </p:spPr>
      </p:sp>
      <p:pic>
        <p:nvPicPr>
          <p:cNvPr id="18" name="Image 2" descr="scale icon">    </p:cNvPr>
          <p:cNvPicPr>
            <a:picLocks noChangeAspect="1"/>
          </p:cNvPicPr>
          <p:nvPr/>
        </p:nvPicPr>
        <p:blipFill>
          <a:blip r:embed="rId3"/>
          <a:stretch>
            <a:fillRect/>
          </a:stretch>
        </p:blipFill>
        <p:spPr>
          <a:xfrm>
            <a:off x="5360944" y="1752722"/>
            <a:ext cx="225308" cy="225308"/>
          </a:xfrm>
          <a:prstGeom prst="rect">
            <a:avLst/>
          </a:prstGeom>
        </p:spPr>
      </p:pic>
      <p:sp>
        <p:nvSpPr>
          <p:cNvPr id="19" name="Text 14"/>
          <p:cNvSpPr txBox="1"/>
          <p:nvPr/>
        </p:nvSpPr>
        <p:spPr>
          <a:xfrm>
            <a:off x="5766206" y="1664208"/>
            <a:ext cx="1234440" cy="402336"/>
          </a:xfrm>
          <a:prstGeom prst="rect">
            <a:avLst/>
          </a:prstGeom>
          <a:noFill/>
          <a:ln/>
        </p:spPr>
        <p:txBody>
          <a:bodyPr wrap="square" lIns="0" tIns="0" rIns="0" bIns="0" rtlCol="0" anchor="ctr"/>
          <a:lstStyle/>
          <a:p>
            <a:pPr algn="l" indent="0" marL="0">
              <a:buNone/>
            </a:pPr>
            <a:r>
              <a:rPr lang="en-US" sz="1550" b="1" dirty="0">
                <a:solidFill>
                  <a:srgbClr val="F1F6F5"/>
                </a:solidFill>
              </a:rPr>
              <a:t>Calibrate</a:t>
            </a:r>
            <a:endParaRPr lang="en-US" sz="1550" dirty="0"/>
          </a:p>
        </p:txBody>
      </p:sp>
      <p:sp>
        <p:nvSpPr>
          <p:cNvPr id="20" name="Text 15"/>
          <p:cNvSpPr txBox="1"/>
          <p:nvPr/>
        </p:nvSpPr>
        <p:spPr>
          <a:xfrm>
            <a:off x="5272430" y="2231136"/>
            <a:ext cx="1719072" cy="1901952"/>
          </a:xfrm>
          <a:prstGeom prst="rect">
            <a:avLst/>
          </a:prstGeom>
          <a:noFill/>
          <a:ln/>
        </p:spPr>
        <p:txBody>
          <a:bodyPr wrap="square" lIns="0" tIns="0" rIns="0" bIns="0" rtlCol="0" anchor="t"/>
          <a:lstStyle/>
          <a:p>
            <a:pPr marL="152400" indent="-152400">
              <a:spcAft>
                <a:spcPts val="700"/>
              </a:spcAft>
              <a:buSzPct val="100000"/>
              <a:buChar char="•"/>
            </a:pPr>
            <a:r>
              <a:rPr lang="en-US" sz="1350" b="1" dirty="0">
                <a:solidFill>
                  <a:srgbClr val="F1F6F5"/>
                </a:solidFill>
              </a:rPr>
              <a:t>Platt scaling: </a:t>
            </a:r>
            <a:r>
              <a:rPr lang="en-US" sz="1350" dirty="0">
                <a:solidFill>
                  <a:srgbClr val="C9D8D6"/>
                </a:solidFill>
              </a:rPr>
              <a:t>"20%" means about 20%</a:t>
            </a:r>
            <a:endParaRPr lang="en-US" sz="1350" dirty="0"/>
          </a:p>
          <a:p>
            <a:pPr marL="152400" indent="-152400">
              <a:spcAft>
                <a:spcPts val="700"/>
              </a:spcAft>
              <a:buSzPct val="100000"/>
              <a:buChar char="•"/>
            </a:pPr>
            <a:r>
              <a:rPr lang="en-US" sz="1350" b="1" dirty="0">
                <a:solidFill>
                  <a:srgbClr val="F1F6F5"/>
                </a:solidFill>
              </a:rPr>
              <a:t>5 fold models </a:t>
            </a:r>
            <a:r>
              <a:rPr lang="en-US" sz="1350" dirty="0">
                <a:solidFill>
                  <a:srgbClr val="C9D8D6"/>
                </a:solidFill>
              </a:rPr>
              <a:t>give the likely range</a:t>
            </a:r>
            <a:endParaRPr lang="en-US" sz="1350" dirty="0"/>
          </a:p>
        </p:txBody>
      </p:sp>
      <p:sp>
        <p:nvSpPr>
          <p:cNvPr id="21" name="Shape 16"/>
          <p:cNvSpPr/>
          <p:nvPr/>
        </p:nvSpPr>
        <p:spPr>
          <a:xfrm>
            <a:off x="7142378" y="2752344"/>
            <a:ext cx="173736" cy="182880"/>
          </a:xfrm>
          <a:prstGeom prst="rightArrow">
            <a:avLst/>
          </a:prstGeom>
          <a:solidFill>
            <a:srgbClr val="2C8C8B"/>
          </a:solidFill>
          <a:ln w="12700">
            <a:solidFill>
              <a:srgbClr val="2C8C8B"/>
            </a:solidFill>
            <a:prstDash val="solid"/>
          </a:ln>
        </p:spPr>
      </p:sp>
      <p:sp>
        <p:nvSpPr>
          <p:cNvPr id="22" name="Shape 17"/>
          <p:cNvSpPr/>
          <p:nvPr/>
        </p:nvSpPr>
        <p:spPr>
          <a:xfrm>
            <a:off x="7360006" y="1481328"/>
            <a:ext cx="2011680" cy="2724912"/>
          </a:xfrm>
          <a:prstGeom prst="roundRect">
            <a:avLst>
              <a:gd name="adj" fmla="val 4545"/>
            </a:avLst>
          </a:prstGeom>
          <a:solidFill>
            <a:srgbClr val="152A2A"/>
          </a:solidFill>
          <a:ln w="9525">
            <a:solidFill>
              <a:srgbClr val="27413F"/>
            </a:solidFill>
            <a:prstDash val="solid"/>
          </a:ln>
        </p:spPr>
      </p:sp>
      <p:sp>
        <p:nvSpPr>
          <p:cNvPr id="23" name="Shape 18"/>
          <p:cNvSpPr/>
          <p:nvPr/>
        </p:nvSpPr>
        <p:spPr>
          <a:xfrm>
            <a:off x="7542886" y="1664208"/>
            <a:ext cx="402336" cy="402336"/>
          </a:xfrm>
          <a:prstGeom prst="ellipse">
            <a:avLst/>
          </a:prstGeom>
          <a:solidFill>
            <a:srgbClr val="10302F"/>
          </a:solidFill>
          <a:ln w="6350">
            <a:solidFill>
              <a:srgbClr val="27413F"/>
            </a:solidFill>
            <a:prstDash val="solid"/>
          </a:ln>
        </p:spPr>
      </p:sp>
      <p:pic>
        <p:nvPicPr>
          <p:cNvPr id="24" name="Image 3" descr="gauge icon">    </p:cNvPr>
          <p:cNvPicPr>
            <a:picLocks noChangeAspect="1"/>
          </p:cNvPicPr>
          <p:nvPr/>
        </p:nvPicPr>
        <p:blipFill>
          <a:blip r:embed="rId4"/>
          <a:stretch>
            <a:fillRect/>
          </a:stretch>
        </p:blipFill>
        <p:spPr>
          <a:xfrm>
            <a:off x="7631400" y="1752722"/>
            <a:ext cx="225308" cy="225308"/>
          </a:xfrm>
          <a:prstGeom prst="rect">
            <a:avLst/>
          </a:prstGeom>
        </p:spPr>
      </p:pic>
      <p:sp>
        <p:nvSpPr>
          <p:cNvPr id="25" name="Text 19"/>
          <p:cNvSpPr txBox="1"/>
          <p:nvPr/>
        </p:nvSpPr>
        <p:spPr>
          <a:xfrm>
            <a:off x="8036662" y="1664208"/>
            <a:ext cx="1234440" cy="402336"/>
          </a:xfrm>
          <a:prstGeom prst="rect">
            <a:avLst/>
          </a:prstGeom>
          <a:noFill/>
          <a:ln/>
        </p:spPr>
        <p:txBody>
          <a:bodyPr wrap="square" lIns="0" tIns="0" rIns="0" bIns="0" rtlCol="0" anchor="ctr"/>
          <a:lstStyle/>
          <a:p>
            <a:pPr algn="l" indent="0" marL="0">
              <a:buNone/>
            </a:pPr>
            <a:r>
              <a:rPr lang="en-US" sz="1550" b="1" dirty="0">
                <a:solidFill>
                  <a:srgbClr val="F1F6F5"/>
                </a:solidFill>
              </a:rPr>
              <a:t>Budgeted tiers</a:t>
            </a:r>
            <a:endParaRPr lang="en-US" sz="1550" dirty="0"/>
          </a:p>
        </p:txBody>
      </p:sp>
      <p:sp>
        <p:nvSpPr>
          <p:cNvPr id="26" name="Text 20"/>
          <p:cNvSpPr txBox="1"/>
          <p:nvPr/>
        </p:nvSpPr>
        <p:spPr>
          <a:xfrm>
            <a:off x="7542886" y="2231136"/>
            <a:ext cx="1719072" cy="1901952"/>
          </a:xfrm>
          <a:prstGeom prst="rect">
            <a:avLst/>
          </a:prstGeom>
          <a:noFill/>
          <a:ln/>
        </p:spPr>
        <p:txBody>
          <a:bodyPr wrap="square" lIns="0" tIns="0" rIns="0" bIns="0" rtlCol="0" anchor="t"/>
          <a:lstStyle/>
          <a:p>
            <a:pPr marL="152400" indent="-152400">
              <a:spcAft>
                <a:spcPts val="700"/>
              </a:spcAft>
              <a:buSzPct val="100000"/>
              <a:buChar char="•"/>
            </a:pPr>
            <a:r>
              <a:rPr lang="en-US" sz="1350" b="1" dirty="0">
                <a:solidFill>
                  <a:srgbClr val="F1F6F5"/>
                </a:solidFill>
              </a:rPr>
              <a:t>Urgent: </a:t>
            </a:r>
            <a:r>
              <a:rPr lang="en-US" sz="1350" dirty="0">
                <a:solidFill>
                  <a:srgbClr val="C9D8D6"/>
                </a:solidFill>
              </a:rPr>
              <a:t>most sensitive cut within 0.045 false alerts per patient-day</a:t>
            </a:r>
            <a:endParaRPr lang="en-US" sz="1350" dirty="0"/>
          </a:p>
          <a:p>
            <a:pPr marL="152400" indent="-152400">
              <a:spcAft>
                <a:spcPts val="700"/>
              </a:spcAft>
              <a:buSzPct val="100000"/>
              <a:buChar char="•"/>
            </a:pPr>
            <a:r>
              <a:rPr lang="en-US" sz="1350" b="1" dirty="0">
                <a:solidFill>
                  <a:srgbClr val="F1F6F5"/>
                </a:solidFill>
              </a:rPr>
              <a:t>Watch: </a:t>
            </a:r>
            <a:r>
              <a:rPr lang="en-US" sz="1350" dirty="0">
                <a:solidFill>
                  <a:srgbClr val="C9D8D6"/>
                </a:solidFill>
              </a:rPr>
              <a:t>90% of episodes</a:t>
            </a:r>
            <a:endParaRPr lang="en-US" sz="1350" dirty="0"/>
          </a:p>
          <a:p>
            <a:pPr marL="152400" indent="-152400">
              <a:spcAft>
                <a:spcPts val="700"/>
              </a:spcAft>
              <a:buSzPct val="100000"/>
              <a:buChar char="•"/>
            </a:pPr>
            <a:r>
              <a:rPr lang="en-US" sz="1350" b="1" dirty="0">
                <a:solidFill>
                  <a:srgbClr val="F1F6F5"/>
                </a:solidFill>
              </a:rPr>
              <a:t>Score 0 to 100: </a:t>
            </a:r>
            <a:r>
              <a:rPr lang="en-US" sz="1350" dirty="0">
                <a:solidFill>
                  <a:srgbClr val="C9D8D6"/>
                </a:solidFill>
              </a:rPr>
              <a:t>30 watch, 60 urgent</a:t>
            </a:r>
            <a:endParaRPr lang="en-US" sz="1350" dirty="0"/>
          </a:p>
        </p:txBody>
      </p:sp>
      <p:sp>
        <p:nvSpPr>
          <p:cNvPr id="27" name="Shape 21"/>
          <p:cNvSpPr/>
          <p:nvPr/>
        </p:nvSpPr>
        <p:spPr>
          <a:xfrm>
            <a:off x="9412834" y="2752344"/>
            <a:ext cx="173736" cy="182880"/>
          </a:xfrm>
          <a:prstGeom prst="rightArrow">
            <a:avLst/>
          </a:prstGeom>
          <a:solidFill>
            <a:srgbClr val="2C8C8B"/>
          </a:solidFill>
          <a:ln w="12700">
            <a:solidFill>
              <a:srgbClr val="2C8C8B"/>
            </a:solidFill>
            <a:prstDash val="solid"/>
          </a:ln>
        </p:spPr>
      </p:sp>
      <p:sp>
        <p:nvSpPr>
          <p:cNvPr id="28" name="Shape 22"/>
          <p:cNvSpPr/>
          <p:nvPr/>
        </p:nvSpPr>
        <p:spPr>
          <a:xfrm>
            <a:off x="9630461" y="1481328"/>
            <a:ext cx="2011680" cy="2724912"/>
          </a:xfrm>
          <a:prstGeom prst="roundRect">
            <a:avLst>
              <a:gd name="adj" fmla="val 4545"/>
            </a:avLst>
          </a:prstGeom>
          <a:solidFill>
            <a:srgbClr val="152A2A"/>
          </a:solidFill>
          <a:ln w="9525">
            <a:solidFill>
              <a:srgbClr val="27413F"/>
            </a:solidFill>
            <a:prstDash val="solid"/>
          </a:ln>
        </p:spPr>
      </p:sp>
      <p:sp>
        <p:nvSpPr>
          <p:cNvPr id="29" name="Shape 23"/>
          <p:cNvSpPr/>
          <p:nvPr/>
        </p:nvSpPr>
        <p:spPr>
          <a:xfrm>
            <a:off x="9813341" y="1664208"/>
            <a:ext cx="402336" cy="402336"/>
          </a:xfrm>
          <a:prstGeom prst="ellipse">
            <a:avLst/>
          </a:prstGeom>
          <a:solidFill>
            <a:srgbClr val="10302F"/>
          </a:solidFill>
          <a:ln w="6350">
            <a:solidFill>
              <a:srgbClr val="27413F"/>
            </a:solidFill>
            <a:prstDash val="solid"/>
          </a:ln>
        </p:spPr>
      </p:sp>
      <p:pic>
        <p:nvPicPr>
          <p:cNvPr id="30" name="Image 4" descr="list icon">    </p:cNvPr>
          <p:cNvPicPr>
            <a:picLocks noChangeAspect="1"/>
          </p:cNvPicPr>
          <p:nvPr/>
        </p:nvPicPr>
        <p:blipFill>
          <a:blip r:embed="rId5"/>
          <a:stretch>
            <a:fillRect/>
          </a:stretch>
        </p:blipFill>
        <p:spPr>
          <a:xfrm>
            <a:off x="9901855" y="1752722"/>
            <a:ext cx="225308" cy="225308"/>
          </a:xfrm>
          <a:prstGeom prst="rect">
            <a:avLst/>
          </a:prstGeom>
        </p:spPr>
      </p:pic>
      <p:sp>
        <p:nvSpPr>
          <p:cNvPr id="31" name="Text 24"/>
          <p:cNvSpPr txBox="1"/>
          <p:nvPr/>
        </p:nvSpPr>
        <p:spPr>
          <a:xfrm>
            <a:off x="10307117" y="1664208"/>
            <a:ext cx="1234440" cy="402336"/>
          </a:xfrm>
          <a:prstGeom prst="rect">
            <a:avLst/>
          </a:prstGeom>
          <a:noFill/>
          <a:ln/>
        </p:spPr>
        <p:txBody>
          <a:bodyPr wrap="square" lIns="0" tIns="0" rIns="0" bIns="0" rtlCol="0" anchor="ctr"/>
          <a:lstStyle/>
          <a:p>
            <a:pPr algn="l" indent="0" marL="0">
              <a:buNone/>
            </a:pPr>
            <a:r>
              <a:rPr lang="en-US" sz="1550" b="1" dirty="0">
                <a:solidFill>
                  <a:srgbClr val="F1F6F5"/>
                </a:solidFill>
              </a:rPr>
              <a:t>Explain</a:t>
            </a:r>
            <a:endParaRPr lang="en-US" sz="1550" dirty="0"/>
          </a:p>
        </p:txBody>
      </p:sp>
      <p:sp>
        <p:nvSpPr>
          <p:cNvPr id="32" name="Text 25"/>
          <p:cNvSpPr txBox="1"/>
          <p:nvPr/>
        </p:nvSpPr>
        <p:spPr>
          <a:xfrm>
            <a:off x="9813341" y="2231136"/>
            <a:ext cx="1719072" cy="1901952"/>
          </a:xfrm>
          <a:prstGeom prst="rect">
            <a:avLst/>
          </a:prstGeom>
          <a:noFill/>
          <a:ln/>
        </p:spPr>
        <p:txBody>
          <a:bodyPr wrap="square" lIns="0" tIns="0" rIns="0" bIns="0" rtlCol="0" anchor="t"/>
          <a:lstStyle/>
          <a:p>
            <a:pPr marL="152400" indent="-152400">
              <a:spcAft>
                <a:spcPts val="700"/>
              </a:spcAft>
              <a:buSzPct val="100000"/>
              <a:buChar char="•"/>
            </a:pPr>
            <a:r>
              <a:rPr lang="en-US" sz="1350" b="1" dirty="0">
                <a:solidFill>
                  <a:srgbClr val="F1F6F5"/>
                </a:solidFill>
              </a:rPr>
              <a:t>SHAP reasons </a:t>
            </a:r>
            <a:r>
              <a:rPr lang="en-US" sz="1350" dirty="0">
                <a:solidFill>
                  <a:srgbClr val="C9D8D6"/>
                </a:solidFill>
              </a:rPr>
              <a:t>in plain words</a:t>
            </a:r>
            <a:endParaRPr lang="en-US" sz="1350" dirty="0"/>
          </a:p>
          <a:p>
            <a:pPr marL="152400" indent="-152400">
              <a:spcAft>
                <a:spcPts val="700"/>
              </a:spcAft>
              <a:buSzPct val="100000"/>
              <a:buChar char="•"/>
            </a:pPr>
            <a:r>
              <a:rPr lang="en-US" sz="1350" b="1" dirty="0">
                <a:solidFill>
                  <a:srgbClr val="F1F6F5"/>
                </a:solidFill>
              </a:rPr>
              <a:t>Split </a:t>
            </a:r>
            <a:r>
              <a:rPr lang="en-US" sz="1350" dirty="0">
                <a:solidFill>
                  <a:srgbClr val="C9D8D6"/>
                </a:solidFill>
              </a:rPr>
              <a:t>into record and watch</a:t>
            </a:r>
            <a:endParaRPr lang="en-US" sz="1350" dirty="0"/>
          </a:p>
          <a:p>
            <a:pPr marL="152400" indent="-152400">
              <a:spcAft>
                <a:spcPts val="700"/>
              </a:spcAft>
              <a:buSzPct val="100000"/>
              <a:buChar char="•"/>
            </a:pPr>
            <a:r>
              <a:rPr lang="en-US" sz="1350" b="1" dirty="0">
                <a:solidFill>
                  <a:srgbClr val="F1F6F5"/>
                </a:solidFill>
              </a:rPr>
              <a:t>Suggested next step </a:t>
            </a:r>
            <a:r>
              <a:rPr lang="en-US" sz="1350" dirty="0">
                <a:solidFill>
                  <a:srgbClr val="C9D8D6"/>
                </a:solidFill>
              </a:rPr>
              <a:t>for the doctor</a:t>
            </a:r>
            <a:endParaRPr lang="en-US" sz="1350" dirty="0"/>
          </a:p>
        </p:txBody>
      </p:sp>
      <p:sp>
        <p:nvSpPr>
          <p:cNvPr id="33" name="Shape 26"/>
          <p:cNvSpPr/>
          <p:nvPr/>
        </p:nvSpPr>
        <p:spPr>
          <a:xfrm>
            <a:off x="548640" y="4407408"/>
            <a:ext cx="5432908" cy="1764792"/>
          </a:xfrm>
          <a:prstGeom prst="roundRect">
            <a:avLst>
              <a:gd name="adj" fmla="val 5181"/>
            </a:avLst>
          </a:prstGeom>
          <a:solidFill>
            <a:srgbClr val="10302F"/>
          </a:solidFill>
          <a:ln w="9525">
            <a:solidFill>
              <a:srgbClr val="27413F"/>
            </a:solidFill>
            <a:prstDash val="solid"/>
          </a:ln>
        </p:spPr>
      </p:sp>
      <p:sp>
        <p:nvSpPr>
          <p:cNvPr id="34" name="Shape 27"/>
          <p:cNvSpPr/>
          <p:nvPr/>
        </p:nvSpPr>
        <p:spPr>
          <a:xfrm>
            <a:off x="749808" y="4590288"/>
            <a:ext cx="402336" cy="402336"/>
          </a:xfrm>
          <a:prstGeom prst="ellipse">
            <a:avLst/>
          </a:prstGeom>
          <a:solidFill>
            <a:srgbClr val="0E1A1A"/>
          </a:solidFill>
          <a:ln w="6350">
            <a:solidFill>
              <a:srgbClr val="27413F"/>
            </a:solidFill>
            <a:prstDash val="solid"/>
          </a:ln>
        </p:spPr>
      </p:sp>
      <p:pic>
        <p:nvPicPr>
          <p:cNvPr id="35" name="Image 5" descr="shield icon">    </p:cNvPr>
          <p:cNvPicPr>
            <a:picLocks noChangeAspect="1"/>
          </p:cNvPicPr>
          <p:nvPr/>
        </p:nvPicPr>
        <p:blipFill>
          <a:blip r:embed="rId6"/>
          <a:stretch>
            <a:fillRect/>
          </a:stretch>
        </p:blipFill>
        <p:spPr>
          <a:xfrm>
            <a:off x="838322" y="4678802"/>
            <a:ext cx="225308" cy="225308"/>
          </a:xfrm>
          <a:prstGeom prst="rect">
            <a:avLst/>
          </a:prstGeom>
        </p:spPr>
      </p:pic>
      <p:sp>
        <p:nvSpPr>
          <p:cNvPr id="36" name="Text 28"/>
          <p:cNvSpPr txBox="1"/>
          <p:nvPr/>
        </p:nvSpPr>
        <p:spPr>
          <a:xfrm>
            <a:off x="1261872" y="4590288"/>
            <a:ext cx="2743200" cy="402336"/>
          </a:xfrm>
          <a:prstGeom prst="rect">
            <a:avLst/>
          </a:prstGeom>
          <a:noFill/>
          <a:ln/>
        </p:spPr>
        <p:txBody>
          <a:bodyPr wrap="square" lIns="0" tIns="0" rIns="0" bIns="0" rtlCol="0" anchor="ctr"/>
          <a:lstStyle/>
          <a:p>
            <a:pPr algn="l" indent="0" marL="0">
              <a:buNone/>
            </a:pPr>
            <a:r>
              <a:rPr lang="en-US" sz="1550" b="1" dirty="0">
                <a:solidFill>
                  <a:srgbClr val="F1F6F5"/>
                </a:solidFill>
              </a:rPr>
              <a:t>Validation</a:t>
            </a:r>
            <a:endParaRPr lang="en-US" sz="1550" dirty="0"/>
          </a:p>
        </p:txBody>
      </p:sp>
      <p:sp>
        <p:nvSpPr>
          <p:cNvPr id="37" name="Text 29"/>
          <p:cNvSpPr txBox="1"/>
          <p:nvPr/>
        </p:nvSpPr>
        <p:spPr>
          <a:xfrm>
            <a:off x="768096" y="5102352"/>
            <a:ext cx="5030572" cy="10149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F1F6F5"/>
                </a:solidFill>
              </a:rPr>
              <a:t>Patient-level 5-fold CV, </a:t>
            </a:r>
            <a:r>
              <a:rPr lang="en-US" sz="1300" dirty="0">
                <a:solidFill>
                  <a:srgbClr val="C9D8D6"/>
                </a:solidFill>
              </a:rPr>
              <a:t>repeated on 3 splits (seeds 42, 43, 44)</a:t>
            </a:r>
            <a:endParaRPr lang="en-US" sz="1300" dirty="0"/>
          </a:p>
          <a:p>
            <a:pPr marL="177800" indent="-177800">
              <a:spcAft>
                <a:spcPts val="400"/>
              </a:spcAft>
              <a:buSzPct val="100000"/>
              <a:buChar char="•"/>
            </a:pPr>
            <a:r>
              <a:rPr lang="en-US" sz="1300" b="1" dirty="0">
                <a:solidFill>
                  <a:srgbClr val="F1F6F5"/>
                </a:solidFill>
              </a:rPr>
              <a:t>Every dashboard patient </a:t>
            </a:r>
            <a:r>
              <a:rPr lang="en-US" sz="1300" dirty="0">
                <a:solidFill>
                  <a:srgbClr val="C9D8D6"/>
                </a:solidFill>
              </a:rPr>
              <a:t>scored by a model that never saw them</a:t>
            </a:r>
            <a:endParaRPr lang="en-US" sz="1300" dirty="0"/>
          </a:p>
          <a:p>
            <a:pPr marL="177800" indent="-177800">
              <a:spcAft>
                <a:spcPts val="400"/>
              </a:spcAft>
              <a:buSzPct val="100000"/>
              <a:buChar char="•"/>
            </a:pPr>
            <a:r>
              <a:rPr lang="en-US" sz="1300" b="1" dirty="0">
                <a:solidFill>
                  <a:srgbClr val="F1F6F5"/>
                </a:solidFill>
              </a:rPr>
              <a:t>3 leakage tests; </a:t>
            </a:r>
            <a:r>
              <a:rPr lang="en-US" sz="1300" dirty="0">
                <a:solidFill>
                  <a:srgbClr val="C9D8D6"/>
                </a:solidFill>
              </a:rPr>
              <a:t>NightSignal-style rule run alongside as a baseline</a:t>
            </a:r>
            <a:endParaRPr lang="en-US" sz="1300" dirty="0"/>
          </a:p>
        </p:txBody>
      </p:sp>
      <p:sp>
        <p:nvSpPr>
          <p:cNvPr id="38" name="Shape 30"/>
          <p:cNvSpPr/>
          <p:nvPr/>
        </p:nvSpPr>
        <p:spPr>
          <a:xfrm>
            <a:off x="6210148" y="4407408"/>
            <a:ext cx="5432908" cy="1764792"/>
          </a:xfrm>
          <a:prstGeom prst="roundRect">
            <a:avLst>
              <a:gd name="adj" fmla="val 5181"/>
            </a:avLst>
          </a:prstGeom>
          <a:solidFill>
            <a:srgbClr val="10302F"/>
          </a:solidFill>
          <a:ln w="9525">
            <a:solidFill>
              <a:srgbClr val="27413F"/>
            </a:solidFill>
            <a:prstDash val="solid"/>
          </a:ln>
        </p:spPr>
      </p:sp>
      <p:sp>
        <p:nvSpPr>
          <p:cNvPr id="39" name="Shape 31"/>
          <p:cNvSpPr/>
          <p:nvPr/>
        </p:nvSpPr>
        <p:spPr>
          <a:xfrm>
            <a:off x="6411316" y="4590288"/>
            <a:ext cx="402336" cy="402336"/>
          </a:xfrm>
          <a:prstGeom prst="ellipse">
            <a:avLst/>
          </a:prstGeom>
          <a:solidFill>
            <a:srgbClr val="0E1A1A"/>
          </a:solidFill>
          <a:ln w="6350">
            <a:solidFill>
              <a:srgbClr val="27413F"/>
            </a:solidFill>
            <a:prstDash val="solid"/>
          </a:ln>
        </p:spPr>
      </p:sp>
      <p:pic>
        <p:nvPicPr>
          <p:cNvPr id="40" name="Image 6" descr="clock icon">    </p:cNvPr>
          <p:cNvPicPr>
            <a:picLocks noChangeAspect="1"/>
          </p:cNvPicPr>
          <p:nvPr/>
        </p:nvPicPr>
        <p:blipFill>
          <a:blip r:embed="rId7"/>
          <a:stretch>
            <a:fillRect/>
          </a:stretch>
        </p:blipFill>
        <p:spPr>
          <a:xfrm>
            <a:off x="6499830" y="4678802"/>
            <a:ext cx="225308" cy="225308"/>
          </a:xfrm>
          <a:prstGeom prst="rect">
            <a:avLst/>
          </a:prstGeom>
        </p:spPr>
      </p:pic>
      <p:sp>
        <p:nvSpPr>
          <p:cNvPr id="41" name="Text 32"/>
          <p:cNvSpPr txBox="1"/>
          <p:nvPr/>
        </p:nvSpPr>
        <p:spPr>
          <a:xfrm>
            <a:off x="6923380" y="4590288"/>
            <a:ext cx="4114800" cy="402336"/>
          </a:xfrm>
          <a:prstGeom prst="rect">
            <a:avLst/>
          </a:prstGeom>
          <a:noFill/>
          <a:ln/>
        </p:spPr>
        <p:txBody>
          <a:bodyPr wrap="square" lIns="0" tIns="0" rIns="0" bIns="0" rtlCol="0" anchor="ctr"/>
          <a:lstStyle/>
          <a:p>
            <a:pPr algn="l" indent="0" marL="0">
              <a:buNone/>
            </a:pPr>
            <a:r>
              <a:rPr lang="en-US" sz="1550" b="1" dirty="0">
                <a:solidFill>
                  <a:srgbClr val="F1F6F5"/>
                </a:solidFill>
              </a:rPr>
              <a:t>Forecasts for the next 3 days</a:t>
            </a:r>
            <a:endParaRPr lang="en-US" sz="1550" dirty="0"/>
          </a:p>
        </p:txBody>
      </p:sp>
      <p:sp>
        <p:nvSpPr>
          <p:cNvPr id="42" name="Text 33"/>
          <p:cNvSpPr txBox="1"/>
          <p:nvPr/>
        </p:nvSpPr>
        <p:spPr>
          <a:xfrm>
            <a:off x="6429604" y="5102352"/>
            <a:ext cx="5030572" cy="10149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F1F6F5"/>
                </a:solidFill>
              </a:rPr>
              <a:t>18 quantile models: </a:t>
            </a:r>
            <a:r>
              <a:rPr lang="en-US" sz="1300" dirty="0">
                <a:solidFill>
                  <a:srgbClr val="C9D8D6"/>
                </a:solidFill>
              </a:rPr>
              <a:t>resting HR and systolic BP, days 1 to 3, P10, P50, P90</a:t>
            </a:r>
            <a:endParaRPr lang="en-US" sz="1300" dirty="0"/>
          </a:p>
          <a:p>
            <a:pPr marL="177800" indent="-177800">
              <a:spcAft>
                <a:spcPts val="400"/>
              </a:spcAft>
              <a:buSzPct val="100000"/>
              <a:buChar char="•"/>
            </a:pPr>
            <a:r>
              <a:rPr lang="en-US" sz="1300" b="1" dirty="0">
                <a:solidFill>
                  <a:srgbClr val="F1F6F5"/>
                </a:solidFill>
              </a:rPr>
              <a:t>Day-1 error: </a:t>
            </a:r>
            <a:r>
              <a:rPr lang="en-US" sz="1300" dirty="0">
                <a:solidFill>
                  <a:srgbClr val="C9D8D6"/>
                </a:solidFill>
              </a:rPr>
              <a:t>2.5 bpm heart rate, 6.2 mmHg BP</a:t>
            </a:r>
            <a:endParaRPr lang="en-US" sz="1300" dirty="0"/>
          </a:p>
          <a:p>
            <a:pPr marL="177800" indent="-177800">
              <a:spcAft>
                <a:spcPts val="400"/>
              </a:spcAft>
              <a:buSzPct val="100000"/>
              <a:buChar char="•"/>
            </a:pPr>
            <a:r>
              <a:rPr lang="en-US" sz="1300" b="1" dirty="0">
                <a:solidFill>
                  <a:srgbClr val="F1F6F5"/>
                </a:solidFill>
              </a:rPr>
              <a:t>P10 to P90 band </a:t>
            </a:r>
            <a:r>
              <a:rPr lang="en-US" sz="1300" dirty="0">
                <a:solidFill>
                  <a:srgbClr val="C9D8D6"/>
                </a:solidFill>
              </a:rPr>
              <a:t>holds 73% of next-day readings</a:t>
            </a:r>
            <a:endParaRPr lang="en-US" sz="13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Results: the twin adds lift on every patient split</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Mean of three patient splits, 240 patients, measured on patients the model never saw</a:t>
            </a:r>
            <a:endParaRPr lang="en-US" sz="1500" dirty="0"/>
          </a:p>
        </p:txBody>
      </p:sp>
      <p:sp>
        <p:nvSpPr>
          <p:cNvPr id="4" name="Shape 2"/>
          <p:cNvSpPr/>
          <p:nvPr/>
        </p:nvSpPr>
        <p:spPr>
          <a:xfrm>
            <a:off x="548640" y="1481328"/>
            <a:ext cx="5432908" cy="3401568"/>
          </a:xfrm>
          <a:prstGeom prst="roundRect">
            <a:avLst>
              <a:gd name="adj" fmla="val 2688"/>
            </a:avLst>
          </a:prstGeom>
          <a:solidFill>
            <a:srgbClr val="152A2A"/>
          </a:solidFill>
          <a:ln w="9525">
            <a:solidFill>
              <a:srgbClr val="27413F"/>
            </a:solidFill>
            <a:prstDash val="solid"/>
          </a:ln>
        </p:spPr>
      </p:sp>
      <p:sp>
        <p:nvSpPr>
          <p:cNvPr id="5" name="Text 3"/>
          <p:cNvSpPr txBox="1"/>
          <p:nvPr/>
        </p:nvSpPr>
        <p:spPr>
          <a:xfrm>
            <a:off x="768096" y="1627632"/>
            <a:ext cx="5067148" cy="310896"/>
          </a:xfrm>
          <a:prstGeom prst="rect">
            <a:avLst/>
          </a:prstGeom>
          <a:noFill/>
          <a:ln/>
        </p:spPr>
        <p:txBody>
          <a:bodyPr wrap="square" lIns="0" tIns="0" rIns="0" bIns="0" rtlCol="0" anchor="t"/>
          <a:lstStyle/>
          <a:p>
            <a:pPr algn="l" indent="0" marL="0">
              <a:buNone/>
            </a:pPr>
            <a:r>
              <a:rPr lang="en-US" sz="1400" b="1" dirty="0">
                <a:solidFill>
                  <a:srgbClr val="F1F6F5"/>
                </a:solidFill>
              </a:rPr>
              <a:t>AUROC (axis from 0.5, chance)</a:t>
            </a:r>
            <a:endParaRPr lang="en-US" sz="1400" dirty="0"/>
          </a:p>
        </p:txBody>
      </p:sp>
      <p:graphicFrame>
        <p:nvGraphicFramePr>
          <p:cNvPr id="6" name="Chart 0" descr=""/>
          <p:cNvGraphicFramePr/>
          <p:nvPr/>
        </p:nvGraphicFramePr>
        <p:xfrm>
          <a:off x="640080" y="1956816"/>
          <a:ext cx="5250028"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210148" y="1481328"/>
            <a:ext cx="5432908" cy="3401568"/>
          </a:xfrm>
          <a:prstGeom prst="roundRect">
            <a:avLst>
              <a:gd name="adj" fmla="val 2688"/>
            </a:avLst>
          </a:prstGeom>
          <a:solidFill>
            <a:srgbClr val="152A2A"/>
          </a:solidFill>
          <a:ln w="9525">
            <a:solidFill>
              <a:srgbClr val="27413F"/>
            </a:solidFill>
            <a:prstDash val="solid"/>
          </a:ln>
        </p:spPr>
      </p:sp>
      <p:sp>
        <p:nvSpPr>
          <p:cNvPr id="8" name="Text 5"/>
          <p:cNvSpPr txBox="1"/>
          <p:nvPr/>
        </p:nvSpPr>
        <p:spPr>
          <a:xfrm>
            <a:off x="6429604" y="1627632"/>
            <a:ext cx="5067148" cy="310896"/>
          </a:xfrm>
          <a:prstGeom prst="rect">
            <a:avLst/>
          </a:prstGeom>
          <a:noFill/>
          <a:ln/>
        </p:spPr>
        <p:txBody>
          <a:bodyPr wrap="square" lIns="0" tIns="0" rIns="0" bIns="0" rtlCol="0" anchor="t"/>
          <a:lstStyle/>
          <a:p>
            <a:pPr algn="l" indent="0" marL="0">
              <a:buNone/>
            </a:pPr>
            <a:r>
              <a:rPr lang="en-US" sz="1400" b="1" dirty="0">
                <a:solidFill>
                  <a:srgbClr val="F1F6F5"/>
                </a:solidFill>
              </a:rPr>
              <a:t>Episodes caught at the false-alert budget (%)</a:t>
            </a:r>
            <a:endParaRPr lang="en-US" sz="1400" dirty="0"/>
          </a:p>
        </p:txBody>
      </p:sp>
      <p:graphicFrame>
        <p:nvGraphicFramePr>
          <p:cNvPr id="9" name="Chart 1" descr=""/>
          <p:cNvGraphicFramePr/>
          <p:nvPr/>
        </p:nvGraphicFramePr>
        <p:xfrm>
          <a:off x="6301588" y="1956816"/>
          <a:ext cx="5250028" cy="283464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548640" y="5047488"/>
            <a:ext cx="2615184" cy="1124712"/>
          </a:xfrm>
          <a:prstGeom prst="roundRect">
            <a:avLst>
              <a:gd name="adj" fmla="val 8130"/>
            </a:avLst>
          </a:prstGeom>
          <a:solidFill>
            <a:srgbClr val="10302F"/>
          </a:solidFill>
          <a:ln w="9525">
            <a:solidFill>
              <a:srgbClr val="27413F"/>
            </a:solidFill>
            <a:prstDash val="solid"/>
          </a:ln>
        </p:spPr>
      </p:sp>
      <p:sp>
        <p:nvSpPr>
          <p:cNvPr id="11" name="Text 7"/>
          <p:cNvSpPr txBox="1"/>
          <p:nvPr/>
        </p:nvSpPr>
        <p:spPr>
          <a:xfrm>
            <a:off x="749808" y="5029200"/>
            <a:ext cx="2249424" cy="457200"/>
          </a:xfrm>
          <a:prstGeom prst="rect">
            <a:avLst/>
          </a:prstGeom>
          <a:noFill/>
          <a:ln/>
        </p:spPr>
        <p:txBody>
          <a:bodyPr wrap="square" lIns="0" tIns="0" rIns="0" bIns="0" rtlCol="0" anchor="b"/>
          <a:lstStyle/>
          <a:p>
            <a:pPr algn="l" indent="0" marL="0">
              <a:buNone/>
            </a:pPr>
            <a:r>
              <a:rPr lang="en-US" sz="2600" b="1" dirty="0">
                <a:solidFill>
                  <a:srgbClr val="3FC1C0"/>
                </a:solidFill>
              </a:rPr>
              <a:t>+0.025</a:t>
            </a:r>
            <a:endParaRPr lang="en-US" sz="2600" dirty="0"/>
          </a:p>
        </p:txBody>
      </p:sp>
      <p:sp>
        <p:nvSpPr>
          <p:cNvPr id="12" name="Text 8"/>
          <p:cNvSpPr txBox="1"/>
          <p:nvPr/>
        </p:nvSpPr>
        <p:spPr>
          <a:xfrm>
            <a:off x="749808" y="5541264"/>
            <a:ext cx="2249424" cy="566928"/>
          </a:xfrm>
          <a:prstGeom prst="rect">
            <a:avLst/>
          </a:prstGeom>
          <a:noFill/>
          <a:ln/>
        </p:spPr>
        <p:txBody>
          <a:bodyPr wrap="square" lIns="0" tIns="0" rIns="0" bIns="0" rtlCol="0" anchor="t"/>
          <a:lstStyle/>
          <a:p>
            <a:pPr algn="l" indent="0" marL="0">
              <a:buNone/>
            </a:pPr>
            <a:r>
              <a:rPr lang="en-US" sz="1150" dirty="0">
                <a:solidFill>
                  <a:srgbClr val="93ADAA"/>
                </a:solidFill>
              </a:rPr>
              <a:t>AUROC from the twin, better on 3 of 3 splits; +7 points of episodes caught</a:t>
            </a:r>
            <a:endParaRPr lang="en-US" sz="1150" dirty="0"/>
          </a:p>
        </p:txBody>
      </p:sp>
      <p:sp>
        <p:nvSpPr>
          <p:cNvPr id="13" name="Shape 9"/>
          <p:cNvSpPr/>
          <p:nvPr/>
        </p:nvSpPr>
        <p:spPr>
          <a:xfrm>
            <a:off x="3376879" y="5047488"/>
            <a:ext cx="2615184" cy="1124712"/>
          </a:xfrm>
          <a:prstGeom prst="roundRect">
            <a:avLst>
              <a:gd name="adj" fmla="val 8130"/>
            </a:avLst>
          </a:prstGeom>
          <a:solidFill>
            <a:srgbClr val="10302F"/>
          </a:solidFill>
          <a:ln w="9525">
            <a:solidFill>
              <a:srgbClr val="27413F"/>
            </a:solidFill>
            <a:prstDash val="solid"/>
          </a:ln>
        </p:spPr>
      </p:sp>
      <p:sp>
        <p:nvSpPr>
          <p:cNvPr id="14" name="Text 10"/>
          <p:cNvSpPr txBox="1"/>
          <p:nvPr/>
        </p:nvSpPr>
        <p:spPr>
          <a:xfrm>
            <a:off x="3578047" y="5029200"/>
            <a:ext cx="2249424" cy="457200"/>
          </a:xfrm>
          <a:prstGeom prst="rect">
            <a:avLst/>
          </a:prstGeom>
          <a:noFill/>
          <a:ln/>
        </p:spPr>
        <p:txBody>
          <a:bodyPr wrap="square" lIns="0" tIns="0" rIns="0" bIns="0" rtlCol="0" anchor="b"/>
          <a:lstStyle/>
          <a:p>
            <a:pPr algn="l" indent="0" marL="0">
              <a:buNone/>
            </a:pPr>
            <a:r>
              <a:rPr lang="en-US" sz="2600" b="1" dirty="0">
                <a:solidFill>
                  <a:srgbClr val="3FC1C0"/>
                </a:solidFill>
              </a:rPr>
              <a:t>48 h</a:t>
            </a:r>
            <a:endParaRPr lang="en-US" sz="2600" dirty="0"/>
          </a:p>
        </p:txBody>
      </p:sp>
      <p:sp>
        <p:nvSpPr>
          <p:cNvPr id="15" name="Text 11"/>
          <p:cNvSpPr txBox="1"/>
          <p:nvPr/>
        </p:nvSpPr>
        <p:spPr>
          <a:xfrm>
            <a:off x="3578047" y="5541264"/>
            <a:ext cx="2249424" cy="566928"/>
          </a:xfrm>
          <a:prstGeom prst="rect">
            <a:avLst/>
          </a:prstGeom>
          <a:noFill/>
          <a:ln/>
        </p:spPr>
        <p:txBody>
          <a:bodyPr wrap="square" lIns="0" tIns="0" rIns="0" bIns="0" rtlCol="0" anchor="t"/>
          <a:lstStyle/>
          <a:p>
            <a:pPr algn="l" indent="0" marL="0">
              <a:buNone/>
            </a:pPr>
            <a:r>
              <a:rPr lang="en-US" sz="1150" dirty="0">
                <a:solidFill>
                  <a:srgbClr val="93ADAA"/>
                </a:solidFill>
              </a:rPr>
              <a:t>median warning; half of all episodes caught 48 h or more ahead</a:t>
            </a:r>
            <a:endParaRPr lang="en-US" sz="1150" dirty="0"/>
          </a:p>
        </p:txBody>
      </p:sp>
      <p:sp>
        <p:nvSpPr>
          <p:cNvPr id="16" name="Shape 12"/>
          <p:cNvSpPr/>
          <p:nvPr/>
        </p:nvSpPr>
        <p:spPr>
          <a:xfrm>
            <a:off x="6205118" y="5047488"/>
            <a:ext cx="2615184" cy="1124712"/>
          </a:xfrm>
          <a:prstGeom prst="roundRect">
            <a:avLst>
              <a:gd name="adj" fmla="val 8130"/>
            </a:avLst>
          </a:prstGeom>
          <a:solidFill>
            <a:srgbClr val="10302F"/>
          </a:solidFill>
          <a:ln w="9525">
            <a:solidFill>
              <a:srgbClr val="27413F"/>
            </a:solidFill>
            <a:prstDash val="solid"/>
          </a:ln>
        </p:spPr>
      </p:sp>
      <p:sp>
        <p:nvSpPr>
          <p:cNvPr id="17" name="Text 13"/>
          <p:cNvSpPr txBox="1"/>
          <p:nvPr/>
        </p:nvSpPr>
        <p:spPr>
          <a:xfrm>
            <a:off x="6406286" y="5029200"/>
            <a:ext cx="2249424" cy="457200"/>
          </a:xfrm>
          <a:prstGeom prst="rect">
            <a:avLst/>
          </a:prstGeom>
          <a:noFill/>
          <a:ln/>
        </p:spPr>
        <p:txBody>
          <a:bodyPr wrap="square" lIns="0" tIns="0" rIns="0" bIns="0" rtlCol="0" anchor="b"/>
          <a:lstStyle/>
          <a:p>
            <a:pPr algn="l" indent="0" marL="0">
              <a:buNone/>
            </a:pPr>
            <a:r>
              <a:rPr lang="en-US" sz="2600" b="1" dirty="0">
                <a:solidFill>
                  <a:srgbClr val="D6A06A"/>
                </a:solidFill>
              </a:rPr>
              <a:t>1 per 22</a:t>
            </a:r>
            <a:endParaRPr lang="en-US" sz="2600" dirty="0"/>
          </a:p>
        </p:txBody>
      </p:sp>
      <p:sp>
        <p:nvSpPr>
          <p:cNvPr id="18" name="Text 14"/>
          <p:cNvSpPr txBox="1"/>
          <p:nvPr/>
        </p:nvSpPr>
        <p:spPr>
          <a:xfrm>
            <a:off x="6406286" y="5541264"/>
            <a:ext cx="2249424" cy="566928"/>
          </a:xfrm>
          <a:prstGeom prst="rect">
            <a:avLst/>
          </a:prstGeom>
          <a:noFill/>
          <a:ln/>
        </p:spPr>
        <p:txBody>
          <a:bodyPr wrap="square" lIns="0" tIns="0" rIns="0" bIns="0" rtlCol="0" anchor="t"/>
          <a:lstStyle/>
          <a:p>
            <a:pPr algn="l" indent="0" marL="0">
              <a:buNone/>
            </a:pPr>
            <a:r>
              <a:rPr lang="en-US" sz="1150" dirty="0">
                <a:solidFill>
                  <a:srgbClr val="93ADAA"/>
                </a:solidFill>
              </a:rPr>
              <a:t>patient-days: the false-alert budget (0.045 a day)</a:t>
            </a:r>
            <a:endParaRPr lang="en-US" sz="1150" dirty="0"/>
          </a:p>
        </p:txBody>
      </p:sp>
      <p:sp>
        <p:nvSpPr>
          <p:cNvPr id="19" name="Shape 15"/>
          <p:cNvSpPr/>
          <p:nvPr/>
        </p:nvSpPr>
        <p:spPr>
          <a:xfrm>
            <a:off x="9033358" y="5047488"/>
            <a:ext cx="2615184" cy="1124712"/>
          </a:xfrm>
          <a:prstGeom prst="roundRect">
            <a:avLst>
              <a:gd name="adj" fmla="val 8130"/>
            </a:avLst>
          </a:prstGeom>
          <a:solidFill>
            <a:srgbClr val="10302F"/>
          </a:solidFill>
          <a:ln w="9525">
            <a:solidFill>
              <a:srgbClr val="27413F"/>
            </a:solidFill>
            <a:prstDash val="solid"/>
          </a:ln>
        </p:spPr>
      </p:sp>
      <p:sp>
        <p:nvSpPr>
          <p:cNvPr id="20" name="Text 16"/>
          <p:cNvSpPr txBox="1"/>
          <p:nvPr/>
        </p:nvSpPr>
        <p:spPr>
          <a:xfrm>
            <a:off x="9234526" y="5029200"/>
            <a:ext cx="2249424" cy="457200"/>
          </a:xfrm>
          <a:prstGeom prst="rect">
            <a:avLst/>
          </a:prstGeom>
          <a:noFill/>
          <a:ln/>
        </p:spPr>
        <p:txBody>
          <a:bodyPr wrap="square" lIns="0" tIns="0" rIns="0" bIns="0" rtlCol="0" anchor="b"/>
          <a:lstStyle/>
          <a:p>
            <a:pPr algn="l" indent="0" marL="0">
              <a:buNone/>
            </a:pPr>
            <a:r>
              <a:rPr lang="en-US" sz="2600" b="1" dirty="0">
                <a:solidFill>
                  <a:srgbClr val="E07A9E"/>
                </a:solidFill>
              </a:rPr>
              <a:t>233 to 164</a:t>
            </a:r>
            <a:endParaRPr lang="en-US" sz="2600" dirty="0"/>
          </a:p>
        </p:txBody>
      </p:sp>
      <p:sp>
        <p:nvSpPr>
          <p:cNvPr id="21" name="Text 17"/>
          <p:cNvSpPr txBox="1"/>
          <p:nvPr/>
        </p:nvSpPr>
        <p:spPr>
          <a:xfrm>
            <a:off x="9234526" y="5541264"/>
            <a:ext cx="2249424" cy="566928"/>
          </a:xfrm>
          <a:prstGeom prst="rect">
            <a:avLst/>
          </a:prstGeom>
          <a:noFill/>
          <a:ln/>
        </p:spPr>
        <p:txBody>
          <a:bodyPr wrap="square" lIns="0" tIns="0" rIns="0" bIns="0" rtlCol="0" anchor="t"/>
          <a:lstStyle/>
          <a:p>
            <a:pPr algn="l" indent="0" marL="0">
              <a:buNone/>
            </a:pPr>
            <a:r>
              <a:rPr lang="en-US" sz="1150" dirty="0">
                <a:solidFill>
                  <a:srgbClr val="93ADAA"/>
                </a:solidFill>
              </a:rPr>
              <a:t>cold-like windows alerted at 90% sensitivity once the cuff joins</a:t>
            </a:r>
            <a:endParaRPr lang="en-US" sz="115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Proof the twin learns the right person</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The generator hides each person's true slopes, so recovery can be checked directly</a:t>
            </a:r>
            <a:endParaRPr lang="en-US" sz="1500" dirty="0"/>
          </a:p>
        </p:txBody>
      </p:sp>
      <p:sp>
        <p:nvSpPr>
          <p:cNvPr id="4" name="Shape 2"/>
          <p:cNvSpPr/>
          <p:nvPr/>
        </p:nvSpPr>
        <p:spPr>
          <a:xfrm>
            <a:off x="548640" y="1481328"/>
            <a:ext cx="5349240" cy="3401568"/>
          </a:xfrm>
          <a:prstGeom prst="roundRect">
            <a:avLst>
              <a:gd name="adj" fmla="val 2688"/>
            </a:avLst>
          </a:prstGeom>
          <a:solidFill>
            <a:srgbClr val="152A2A"/>
          </a:solidFill>
          <a:ln w="9525">
            <a:solidFill>
              <a:srgbClr val="27413F"/>
            </a:solidFill>
            <a:prstDash val="solid"/>
          </a:ln>
        </p:spPr>
      </p:sp>
      <p:sp>
        <p:nvSpPr>
          <p:cNvPr id="5" name="Text 3"/>
          <p:cNvSpPr txBox="1"/>
          <p:nvPr/>
        </p:nvSpPr>
        <p:spPr>
          <a:xfrm>
            <a:off x="768096" y="1627632"/>
            <a:ext cx="4983480" cy="310896"/>
          </a:xfrm>
          <a:prstGeom prst="rect">
            <a:avLst/>
          </a:prstGeom>
          <a:noFill/>
          <a:ln/>
        </p:spPr>
        <p:txBody>
          <a:bodyPr wrap="square" lIns="0" tIns="0" rIns="0" bIns="0" rtlCol="0" anchor="t"/>
          <a:lstStyle/>
          <a:p>
            <a:pPr algn="l" indent="0" marL="0">
              <a:buNone/>
            </a:pPr>
            <a:r>
              <a:rPr lang="en-US" sz="1400" b="1" dirty="0">
                <a:solidFill>
                  <a:srgbClr val="F1F6F5"/>
                </a:solidFill>
              </a:rPr>
              <a:t>Error cut vs one slope for everyone (%)</a:t>
            </a:r>
            <a:endParaRPr lang="en-US" sz="1400" dirty="0"/>
          </a:p>
        </p:txBody>
      </p:sp>
      <p:graphicFrame>
        <p:nvGraphicFramePr>
          <p:cNvPr id="6" name="Chart 0" descr=""/>
          <p:cNvGraphicFramePr/>
          <p:nvPr/>
        </p:nvGraphicFramePr>
        <p:xfrm>
          <a:off x="640080" y="1956816"/>
          <a:ext cx="5166360"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26480" y="1481328"/>
            <a:ext cx="5516575" cy="3401568"/>
          </a:xfrm>
          <a:prstGeom prst="roundRect">
            <a:avLst>
              <a:gd name="adj" fmla="val 2688"/>
            </a:avLst>
          </a:prstGeom>
          <a:solidFill>
            <a:srgbClr val="152A2A"/>
          </a:solidFill>
          <a:ln w="9525">
            <a:solidFill>
              <a:srgbClr val="27413F"/>
            </a:solidFill>
            <a:prstDash val="solid"/>
          </a:ln>
        </p:spPr>
      </p:sp>
      <p:sp>
        <p:nvSpPr>
          <p:cNvPr id="8" name="Text 5"/>
          <p:cNvSpPr txBox="1"/>
          <p:nvPr/>
        </p:nvSpPr>
        <p:spPr>
          <a:xfrm>
            <a:off x="6345936" y="1627632"/>
            <a:ext cx="5150815" cy="310896"/>
          </a:xfrm>
          <a:prstGeom prst="rect">
            <a:avLst/>
          </a:prstGeom>
          <a:noFill/>
          <a:ln/>
        </p:spPr>
        <p:txBody>
          <a:bodyPr wrap="square" lIns="0" tIns="0" rIns="0" bIns="0" rtlCol="0" anchor="t"/>
          <a:lstStyle/>
          <a:p>
            <a:pPr algn="l" indent="0" marL="0">
              <a:buNone/>
            </a:pPr>
            <a:r>
              <a:rPr lang="en-US" sz="1400" b="1" dirty="0">
                <a:solidFill>
                  <a:srgbClr val="F1F6F5"/>
                </a:solidFill>
              </a:rPr>
              <a:t>Recovery of the hidden truth</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309360" y="2048256"/>
          <a:ext cx="5150815" cy="914400"/>
        </p:xfrm>
        <a:graphic>
          <a:graphicData uri="http://schemas.openxmlformats.org/drawingml/2006/table">
            <a:tbl>
              <a:tblPr/>
              <a:tblGrid>
                <a:gridCol w="1737360"/>
                <a:gridCol w="822960"/>
                <a:gridCol w="822960"/>
                <a:gridCol w="914400"/>
                <a:gridCol w="853135"/>
              </a:tblGrid>
              <a:tr h="420624">
                <a:tc>
                  <a:txBody>
                    <a:bodyPr/>
                    <a:lstStyle/>
                    <a:p>
                      <a:pPr algn="l" indent="0" marL="0">
                        <a:buNone/>
                      </a:pPr>
                      <a:r>
                        <a:rPr lang="en-US" sz="1150" b="1" dirty="0">
                          <a:solidFill>
                            <a:srgbClr val="93ADAA"/>
                          </a:solidFill>
                          <a:latin typeface="Calibri" pitchFamily="34" charset="0"/>
                          <a:ea typeface="Calibri" pitchFamily="34" charset="-122"/>
                          <a:cs typeface="Calibri" pitchFamily="34" charset="-120"/>
                        </a:rPr>
                        <a:t>Response</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150" b="1" dirty="0">
                          <a:solidFill>
                            <a:srgbClr val="93ADAA"/>
                          </a:solidFill>
                          <a:latin typeface="Calibri" pitchFamily="34" charset="0"/>
                          <a:ea typeface="Calibri" pitchFamily="34" charset="-122"/>
                          <a:cs typeface="Calibri" pitchFamily="34" charset="-120"/>
                        </a:rPr>
                        <a:t>Match (r)</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150" b="1" dirty="0">
                          <a:solidFill>
                            <a:srgbClr val="93ADAA"/>
                          </a:solidFill>
                          <a:latin typeface="Calibri" pitchFamily="34" charset="0"/>
                          <a:ea typeface="Calibri" pitchFamily="34" charset="-122"/>
                          <a:cs typeface="Calibri" pitchFamily="34" charset="-120"/>
                        </a:rPr>
                        <a:t>Twin error</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150" b="1" dirty="0">
                          <a:solidFill>
                            <a:srgbClr val="93ADAA"/>
                          </a:solidFill>
                          <a:latin typeface="Calibri" pitchFamily="34" charset="0"/>
                          <a:ea typeface="Calibri" pitchFamily="34" charset="-122"/>
                          <a:cs typeface="Calibri" pitchFamily="34" charset="-120"/>
                        </a:rPr>
                        <a:t>One slope error</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150" b="1" dirty="0">
                          <a:solidFill>
                            <a:srgbClr val="93ADAA"/>
                          </a:solidFill>
                          <a:latin typeface="Calibri" pitchFamily="34" charset="0"/>
                          <a:ea typeface="Calibri" pitchFamily="34" charset="-122"/>
                          <a:cs typeface="Calibri" pitchFamily="34" charset="-120"/>
                        </a:rPr>
                        <a:t>In 80% band</a:t>
                      </a:r>
                      <a:endParaRPr lang="en-US" sz="115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20624">
                <a:tc>
                  <a:txBody>
                    <a:bodyPr/>
                    <a:lstStyle/>
                    <a:p>
                      <a:pPr algn="l" indent="0" marL="0">
                        <a:buNone/>
                      </a:pPr>
                      <a:r>
                        <a:rPr lang="en-US" sz="1300" dirty="0">
                          <a:solidFill>
                            <a:srgbClr val="F1F6F5"/>
                          </a:solidFill>
                          <a:latin typeface="Calibri" pitchFamily="34" charset="0"/>
                          <a:ea typeface="Calibri" pitchFamily="34" charset="-122"/>
                          <a:cs typeface="Calibri" pitchFamily="34" charset="-120"/>
                        </a:rPr>
                        <a:t>Sleep to heart rate</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b="1" dirty="0">
                          <a:solidFill>
                            <a:srgbClr val="3FC1C0"/>
                          </a:solidFill>
                          <a:latin typeface="Calibri" pitchFamily="34" charset="0"/>
                          <a:ea typeface="Calibri" pitchFamily="34" charset="-122"/>
                          <a:cs typeface="Calibri" pitchFamily="34" charset="-120"/>
                        </a:rPr>
                        <a:t>0.71</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93ADAA"/>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20624">
                <a:tc>
                  <a:txBody>
                    <a:bodyPr/>
                    <a:lstStyle/>
                    <a:p>
                      <a:pPr algn="l" indent="0" marL="0">
                        <a:buNone/>
                      </a:pPr>
                      <a:r>
                        <a:rPr lang="en-US" sz="1300" dirty="0">
                          <a:solidFill>
                            <a:srgbClr val="F1F6F5"/>
                          </a:solidFill>
                          <a:latin typeface="Calibri" pitchFamily="34" charset="0"/>
                          <a:ea typeface="Calibri" pitchFamily="34" charset="-122"/>
                          <a:cs typeface="Calibri" pitchFamily="34" charset="-120"/>
                        </a:rPr>
                        <a:t>Walking to heart rate</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b="1" dirty="0">
                          <a:solidFill>
                            <a:srgbClr val="3FC1C0"/>
                          </a:solidFill>
                          <a:latin typeface="Calibri" pitchFamily="34" charset="0"/>
                          <a:ea typeface="Calibri" pitchFamily="34" charset="-122"/>
                          <a:cs typeface="Calibri" pitchFamily="34" charset="-120"/>
                        </a:rPr>
                        <a:t>0.66</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93ADAA"/>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20624">
                <a:tc>
                  <a:txBody>
                    <a:bodyPr/>
                    <a:lstStyle/>
                    <a:p>
                      <a:pPr algn="l" indent="0" marL="0">
                        <a:buNone/>
                      </a:pPr>
                      <a:r>
                        <a:rPr lang="en-US" sz="1300" dirty="0">
                          <a:solidFill>
                            <a:srgbClr val="F1F6F5"/>
                          </a:solidFill>
                          <a:latin typeface="Calibri" pitchFamily="34" charset="0"/>
                          <a:ea typeface="Calibri" pitchFamily="34" charset="-122"/>
                          <a:cs typeface="Calibri" pitchFamily="34" charset="-120"/>
                        </a:rPr>
                        <a:t>Walking to BP</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b="1" dirty="0">
                          <a:solidFill>
                            <a:srgbClr val="3FC1C0"/>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93ADAA"/>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20624">
                <a:tc>
                  <a:txBody>
                    <a:bodyPr/>
                    <a:lstStyle/>
                    <a:p>
                      <a:pPr algn="l" indent="0" marL="0">
                        <a:buNone/>
                      </a:pPr>
                      <a:r>
                        <a:rPr lang="en-US" sz="1300" dirty="0">
                          <a:solidFill>
                            <a:srgbClr val="F1F6F5"/>
                          </a:solidFill>
                          <a:latin typeface="Calibri" pitchFamily="34" charset="0"/>
                          <a:ea typeface="Calibri" pitchFamily="34" charset="-122"/>
                          <a:cs typeface="Calibri" pitchFamily="34" charset="-120"/>
                        </a:rPr>
                        <a:t>Sleep to HRV</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b="1" dirty="0">
                          <a:solidFill>
                            <a:srgbClr val="3FC1C0"/>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1.32</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93ADAA"/>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algn="r" indent="0" marL="0">
                        <a:buNone/>
                      </a:pPr>
                      <a:r>
                        <a:rPr lang="en-US" sz="1300" dirty="0">
                          <a:solidFill>
                            <a:srgbClr val="F1F6F5"/>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54864" marR="54864"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bl>
          </a:graphicData>
        </a:graphic>
      </p:graphicFrame>
      <p:sp>
        <p:nvSpPr>
          <p:cNvPr id="10" name="Text 6"/>
          <p:cNvSpPr txBox="1"/>
          <p:nvPr/>
        </p:nvSpPr>
        <p:spPr>
          <a:xfrm>
            <a:off x="6345936" y="4425696"/>
            <a:ext cx="5150815" cy="365760"/>
          </a:xfrm>
          <a:prstGeom prst="rect">
            <a:avLst/>
          </a:prstGeom>
          <a:noFill/>
          <a:ln/>
        </p:spPr>
        <p:txBody>
          <a:bodyPr wrap="square" lIns="0" tIns="0" rIns="0" bIns="0" rtlCol="0" anchor="t"/>
          <a:lstStyle/>
          <a:p>
            <a:pPr algn="l" indent="0" marL="0">
              <a:buNone/>
            </a:pPr>
            <a:r>
              <a:rPr lang="en-US" sz="1150" dirty="0">
                <a:solidFill>
                  <a:srgbClr val="93ADAA"/>
                </a:solidFill>
              </a:rPr>
              <a:t>Error: mean absolute error in each slope's own unit. One slope: the population average for everyone.</a:t>
            </a:r>
            <a:endParaRPr lang="en-US" sz="1150" dirty="0"/>
          </a:p>
        </p:txBody>
      </p:sp>
      <p:sp>
        <p:nvSpPr>
          <p:cNvPr id="11" name="Shape 7"/>
          <p:cNvSpPr/>
          <p:nvPr/>
        </p:nvSpPr>
        <p:spPr>
          <a:xfrm>
            <a:off x="548640" y="5047488"/>
            <a:ext cx="3545738" cy="1124712"/>
          </a:xfrm>
          <a:prstGeom prst="roundRect">
            <a:avLst>
              <a:gd name="adj" fmla="val 8130"/>
            </a:avLst>
          </a:prstGeom>
          <a:solidFill>
            <a:srgbClr val="10302F"/>
          </a:solidFill>
          <a:ln w="9525">
            <a:solidFill>
              <a:srgbClr val="27413F"/>
            </a:solidFill>
            <a:prstDash val="solid"/>
          </a:ln>
        </p:spPr>
      </p:sp>
      <p:sp>
        <p:nvSpPr>
          <p:cNvPr id="12" name="Shape 8"/>
          <p:cNvSpPr/>
          <p:nvPr/>
        </p:nvSpPr>
        <p:spPr>
          <a:xfrm>
            <a:off x="731520" y="5230368"/>
            <a:ext cx="402336" cy="402336"/>
          </a:xfrm>
          <a:prstGeom prst="ellipse">
            <a:avLst/>
          </a:prstGeom>
          <a:solidFill>
            <a:srgbClr val="0E1A1A"/>
          </a:solidFill>
          <a:ln w="6350">
            <a:solidFill>
              <a:srgbClr val="27413F"/>
            </a:solidFill>
            <a:prstDash val="solid"/>
          </a:ln>
        </p:spPr>
      </p:sp>
      <p:pic>
        <p:nvPicPr>
          <p:cNvPr id="13" name="Image 0" descr="steps icon">    </p:cNvPr>
          <p:cNvPicPr>
            <a:picLocks noChangeAspect="1"/>
          </p:cNvPicPr>
          <p:nvPr/>
        </p:nvPicPr>
        <p:blipFill>
          <a:blip r:embed="rId2"/>
          <a:stretch>
            <a:fillRect/>
          </a:stretch>
        </p:blipFill>
        <p:spPr>
          <a:xfrm>
            <a:off x="820034" y="5318882"/>
            <a:ext cx="225308" cy="225308"/>
          </a:xfrm>
          <a:prstGeom prst="rect">
            <a:avLst/>
          </a:prstGeom>
        </p:spPr>
      </p:pic>
      <p:sp>
        <p:nvSpPr>
          <p:cNvPr id="14" name="Text 9"/>
          <p:cNvSpPr txBox="1"/>
          <p:nvPr/>
        </p:nvSpPr>
        <p:spPr>
          <a:xfrm>
            <a:off x="1261872" y="5102352"/>
            <a:ext cx="2677058" cy="1005840"/>
          </a:xfrm>
          <a:prstGeom prst="rect">
            <a:avLst/>
          </a:prstGeom>
          <a:noFill/>
          <a:ln/>
        </p:spPr>
        <p:txBody>
          <a:bodyPr wrap="square" lIns="0" tIns="0" rIns="0" bIns="0" rtlCol="0" anchor="ctr"/>
          <a:lstStyle/>
          <a:p>
            <a:pPr indent="0" marL="0">
              <a:buNone/>
            </a:pPr>
            <a:r>
              <a:rPr lang="en-US" sz="1300" b="1" dirty="0">
                <a:solidFill>
                  <a:srgbClr val="F1F6F5"/>
                </a:solidFill>
              </a:rPr>
              <a:t>Personal what-if</a:t>
            </a:r>
            <a:endParaRPr lang="en-US" sz="1300" dirty="0"/>
          </a:p>
          <a:p>
            <a:pPr indent="0" marL="0">
              <a:buNone/>
            </a:pPr>
            <a:r>
              <a:rPr lang="en-US" sz="1300" dirty="0">
                <a:solidFill>
                  <a:srgbClr val="C9D8D6"/>
                </a:solidFill>
              </a:rPr>
              <a:t>Walking advice sized to her body, not the average body</a:t>
            </a:r>
            <a:endParaRPr lang="en-US" sz="1300" dirty="0"/>
          </a:p>
        </p:txBody>
      </p:sp>
      <p:sp>
        <p:nvSpPr>
          <p:cNvPr id="15" name="Shape 10"/>
          <p:cNvSpPr/>
          <p:nvPr/>
        </p:nvSpPr>
        <p:spPr>
          <a:xfrm>
            <a:off x="4322978" y="5047488"/>
            <a:ext cx="3545738" cy="1124712"/>
          </a:xfrm>
          <a:prstGeom prst="roundRect">
            <a:avLst>
              <a:gd name="adj" fmla="val 8130"/>
            </a:avLst>
          </a:prstGeom>
          <a:solidFill>
            <a:srgbClr val="10302F"/>
          </a:solidFill>
          <a:ln w="9525">
            <a:solidFill>
              <a:srgbClr val="27413F"/>
            </a:solidFill>
            <a:prstDash val="solid"/>
          </a:ln>
        </p:spPr>
      </p:sp>
      <p:sp>
        <p:nvSpPr>
          <p:cNvPr id="16" name="Shape 11"/>
          <p:cNvSpPr/>
          <p:nvPr/>
        </p:nvSpPr>
        <p:spPr>
          <a:xfrm>
            <a:off x="4505858" y="5230368"/>
            <a:ext cx="402336" cy="402336"/>
          </a:xfrm>
          <a:prstGeom prst="ellipse">
            <a:avLst/>
          </a:prstGeom>
          <a:solidFill>
            <a:srgbClr val="0E1A1A"/>
          </a:solidFill>
          <a:ln w="6350">
            <a:solidFill>
              <a:srgbClr val="27413F"/>
            </a:solidFill>
            <a:prstDash val="solid"/>
          </a:ln>
        </p:spPr>
      </p:sp>
      <p:pic>
        <p:nvPicPr>
          <p:cNvPr id="17" name="Image 1" descr="moon icon">    </p:cNvPr>
          <p:cNvPicPr>
            <a:picLocks noChangeAspect="1"/>
          </p:cNvPicPr>
          <p:nvPr/>
        </p:nvPicPr>
        <p:blipFill>
          <a:blip r:embed="rId3"/>
          <a:stretch>
            <a:fillRect/>
          </a:stretch>
        </p:blipFill>
        <p:spPr>
          <a:xfrm>
            <a:off x="4594372" y="5318882"/>
            <a:ext cx="225308" cy="225308"/>
          </a:xfrm>
          <a:prstGeom prst="rect">
            <a:avLst/>
          </a:prstGeom>
        </p:spPr>
      </p:pic>
      <p:sp>
        <p:nvSpPr>
          <p:cNvPr id="18" name="Text 12"/>
          <p:cNvSpPr txBox="1"/>
          <p:nvPr/>
        </p:nvSpPr>
        <p:spPr>
          <a:xfrm>
            <a:off x="5036210" y="5102352"/>
            <a:ext cx="2677058" cy="1005840"/>
          </a:xfrm>
          <a:prstGeom prst="rect">
            <a:avLst/>
          </a:prstGeom>
          <a:noFill/>
          <a:ln/>
        </p:spPr>
        <p:txBody>
          <a:bodyPr wrap="square" lIns="0" tIns="0" rIns="0" bIns="0" rtlCol="0" anchor="ctr"/>
          <a:lstStyle/>
          <a:p>
            <a:pPr indent="0" marL="0">
              <a:buNone/>
            </a:pPr>
            <a:r>
              <a:rPr lang="en-US" sz="1300" b="1" dirty="0">
                <a:solidFill>
                  <a:srgbClr val="F1F6F5"/>
                </a:solidFill>
              </a:rPr>
              <a:t>Fewer false alarms</a:t>
            </a:r>
            <a:endParaRPr lang="en-US" sz="1300" dirty="0"/>
          </a:p>
          <a:p>
            <a:pPr indent="0" marL="0">
              <a:buNone/>
            </a:pPr>
            <a:r>
              <a:rPr lang="en-US" sz="1300" dirty="0">
                <a:solidFill>
                  <a:srgbClr val="C9D8D6"/>
                </a:solidFill>
              </a:rPr>
              <a:t>A late night is explained by her own sleep slope, not alerted</a:t>
            </a:r>
            <a:endParaRPr lang="en-US" sz="1300" dirty="0"/>
          </a:p>
        </p:txBody>
      </p:sp>
      <p:sp>
        <p:nvSpPr>
          <p:cNvPr id="19" name="Shape 13"/>
          <p:cNvSpPr/>
          <p:nvPr/>
        </p:nvSpPr>
        <p:spPr>
          <a:xfrm>
            <a:off x="8097317" y="5047488"/>
            <a:ext cx="3545738" cy="1124712"/>
          </a:xfrm>
          <a:prstGeom prst="roundRect">
            <a:avLst>
              <a:gd name="adj" fmla="val 8130"/>
            </a:avLst>
          </a:prstGeom>
          <a:solidFill>
            <a:srgbClr val="10302F"/>
          </a:solidFill>
          <a:ln w="9525">
            <a:solidFill>
              <a:srgbClr val="27413F"/>
            </a:solidFill>
            <a:prstDash val="solid"/>
          </a:ln>
        </p:spPr>
      </p:sp>
      <p:sp>
        <p:nvSpPr>
          <p:cNvPr id="20" name="Shape 14"/>
          <p:cNvSpPr/>
          <p:nvPr/>
        </p:nvSpPr>
        <p:spPr>
          <a:xfrm>
            <a:off x="8280197" y="5230368"/>
            <a:ext cx="402336" cy="402336"/>
          </a:xfrm>
          <a:prstGeom prst="ellipse">
            <a:avLst/>
          </a:prstGeom>
          <a:solidFill>
            <a:srgbClr val="0E1A1A"/>
          </a:solidFill>
          <a:ln w="6350">
            <a:solidFill>
              <a:srgbClr val="27413F"/>
            </a:solidFill>
            <a:prstDash val="solid"/>
          </a:ln>
        </p:spPr>
      </p:sp>
      <p:pic>
        <p:nvPicPr>
          <p:cNvPr id="21" name="Image 2" descr="scale icon">    </p:cNvPr>
          <p:cNvPicPr>
            <a:picLocks noChangeAspect="1"/>
          </p:cNvPicPr>
          <p:nvPr/>
        </p:nvPicPr>
        <p:blipFill>
          <a:blip r:embed="rId4"/>
          <a:stretch>
            <a:fillRect/>
          </a:stretch>
        </p:blipFill>
        <p:spPr>
          <a:xfrm>
            <a:off x="8368711" y="5318882"/>
            <a:ext cx="225308" cy="225308"/>
          </a:xfrm>
          <a:prstGeom prst="rect">
            <a:avLst/>
          </a:prstGeom>
        </p:spPr>
      </p:pic>
      <p:sp>
        <p:nvSpPr>
          <p:cNvPr id="22" name="Text 15"/>
          <p:cNvSpPr txBox="1"/>
          <p:nvPr/>
        </p:nvSpPr>
        <p:spPr>
          <a:xfrm>
            <a:off x="8810549" y="5102352"/>
            <a:ext cx="2677058" cy="1005840"/>
          </a:xfrm>
          <a:prstGeom prst="rect">
            <a:avLst/>
          </a:prstGeom>
          <a:noFill/>
          <a:ln/>
        </p:spPr>
        <p:txBody>
          <a:bodyPr wrap="square" lIns="0" tIns="0" rIns="0" bIns="0" rtlCol="0" anchor="ctr"/>
          <a:lstStyle/>
          <a:p>
            <a:pPr indent="0" marL="0">
              <a:buNone/>
            </a:pPr>
            <a:r>
              <a:rPr lang="en-US" sz="1300" b="1" dirty="0">
                <a:solidFill>
                  <a:srgbClr val="F1F6F5"/>
                </a:solidFill>
              </a:rPr>
              <a:t>Honest uncertainty</a:t>
            </a:r>
            <a:endParaRPr lang="en-US" sz="1300" dirty="0"/>
          </a:p>
          <a:p>
            <a:pPr indent="0" marL="0">
              <a:buNone/>
            </a:pPr>
            <a:r>
              <a:rPr lang="en-US" sz="1300" dirty="0">
                <a:solidFill>
                  <a:srgbClr val="C9D8D6"/>
                </a:solidFill>
              </a:rPr>
              <a:t>80% intervals hold 72% to 76% of the true slopes</a:t>
            </a:r>
            <a:endParaRPr lang="en-US" sz="13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Doctor console: who needs attention today, and why</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Live demo: pratibimb-pi.vercel.app/console</a:t>
            </a:r>
            <a:endParaRPr lang="en-US" sz="1500" dirty="0"/>
          </a:p>
        </p:txBody>
      </p:sp>
      <p:pic>
        <p:nvPicPr>
          <p:cNvPr id="4" name="Image 0" descr="Triage list sorted by 72 hour risk">    </p:cNvPr>
          <p:cNvPicPr>
            <a:picLocks noChangeAspect="1"/>
          </p:cNvPicPr>
          <p:nvPr/>
        </p:nvPicPr>
        <p:blipFill>
          <a:blip r:embed="rId1"/>
          <a:stretch>
            <a:fillRect/>
          </a:stretch>
        </p:blipFill>
        <p:spPr>
          <a:xfrm>
            <a:off x="548640" y="1444752"/>
            <a:ext cx="5442509" cy="3401568"/>
          </a:xfrm>
          <a:prstGeom prst="rect">
            <a:avLst/>
          </a:prstGeom>
        </p:spPr>
      </p:pic>
      <p:pic>
        <p:nvPicPr>
          <p:cNvPr id="5" name="Image 1" descr="Twin page summary for Meera Iyer">    </p:cNvPr>
          <p:cNvPicPr>
            <a:picLocks noChangeAspect="1"/>
          </p:cNvPicPr>
          <p:nvPr/>
        </p:nvPicPr>
        <p:blipFill>
          <a:blip r:embed="rId2"/>
          <a:stretch>
            <a:fillRect/>
          </a:stretch>
        </p:blipFill>
        <p:spPr>
          <a:xfrm>
            <a:off x="6692339" y="1444752"/>
            <a:ext cx="4950716" cy="3401568"/>
          </a:xfrm>
          <a:prstGeom prst="rect">
            <a:avLst/>
          </a:prstGeom>
        </p:spPr>
      </p:pic>
      <p:sp>
        <p:nvSpPr>
          <p:cNvPr id="6" name="Shape 2"/>
          <p:cNvSpPr/>
          <p:nvPr/>
        </p:nvSpPr>
        <p:spPr>
          <a:xfrm>
            <a:off x="548640" y="5047488"/>
            <a:ext cx="5432908" cy="1124712"/>
          </a:xfrm>
          <a:prstGeom prst="roundRect">
            <a:avLst>
              <a:gd name="adj" fmla="val 8130"/>
            </a:avLst>
          </a:prstGeom>
          <a:solidFill>
            <a:srgbClr val="152A2A"/>
          </a:solidFill>
          <a:ln w="9525">
            <a:solidFill>
              <a:srgbClr val="27413F"/>
            </a:solidFill>
            <a:prstDash val="solid"/>
          </a:ln>
        </p:spPr>
      </p:sp>
      <p:sp>
        <p:nvSpPr>
          <p:cNvPr id="7" name="Text 3"/>
          <p:cNvSpPr txBox="1"/>
          <p:nvPr/>
        </p:nvSpPr>
        <p:spPr>
          <a:xfrm>
            <a:off x="768096" y="5138928"/>
            <a:ext cx="5030572" cy="960120"/>
          </a:xfrm>
          <a:prstGeom prst="rect">
            <a:avLst/>
          </a:prstGeom>
          <a:noFill/>
          <a:ln/>
        </p:spPr>
        <p:txBody>
          <a:bodyPr wrap="square" lIns="0" tIns="0" rIns="0" bIns="0" rtlCol="0" anchor="ctr"/>
          <a:lstStyle/>
          <a:p>
            <a:pPr marL="177800" indent="-177800">
              <a:spcAft>
                <a:spcPts val="400"/>
              </a:spcAft>
              <a:buSzPct val="100000"/>
              <a:buChar char="•"/>
            </a:pPr>
            <a:r>
              <a:rPr lang="en-US" sz="1350" b="1" dirty="0">
                <a:solidFill>
                  <a:srgbClr val="F1F6F5"/>
                </a:solidFill>
              </a:rPr>
              <a:t>Today: </a:t>
            </a:r>
            <a:r>
              <a:rPr lang="en-US" sz="1350" dirty="0">
                <a:solidFill>
                  <a:srgbClr val="C9D8D6"/>
                </a:solidFill>
              </a:rPr>
              <a:t>10 urgent, 26 check-in, 204 steady, sorted by 72 h risk</a:t>
            </a:r>
            <a:endParaRPr lang="en-US" sz="1350" dirty="0"/>
          </a:p>
          <a:p>
            <a:pPr marL="177800" indent="-177800">
              <a:spcAft>
                <a:spcPts val="400"/>
              </a:spcAft>
              <a:buSzPct val="100000"/>
              <a:buChar char="•"/>
            </a:pPr>
            <a:r>
              <a:rPr lang="en-US" sz="1350" b="1" dirty="0">
                <a:solidFill>
                  <a:srgbClr val="F1F6F5"/>
                </a:solidFill>
              </a:rPr>
              <a:t>Every row: </a:t>
            </a:r>
            <a:r>
              <a:rPr lang="en-US" sz="1350" dirty="0">
                <a:solidFill>
                  <a:srgbClr val="C9D8D6"/>
                </a:solidFill>
              </a:rPr>
              <a:t>reason, sparklines, data freshness</a:t>
            </a:r>
            <a:endParaRPr lang="en-US" sz="1350" dirty="0"/>
          </a:p>
        </p:txBody>
      </p:sp>
      <p:sp>
        <p:nvSpPr>
          <p:cNvPr id="8" name="Shape 4"/>
          <p:cNvSpPr/>
          <p:nvPr/>
        </p:nvSpPr>
        <p:spPr>
          <a:xfrm>
            <a:off x="6210148" y="5047488"/>
            <a:ext cx="5432908" cy="1124712"/>
          </a:xfrm>
          <a:prstGeom prst="roundRect">
            <a:avLst>
              <a:gd name="adj" fmla="val 8130"/>
            </a:avLst>
          </a:prstGeom>
          <a:solidFill>
            <a:srgbClr val="152A2A"/>
          </a:solidFill>
          <a:ln w="9525">
            <a:solidFill>
              <a:srgbClr val="27413F"/>
            </a:solidFill>
            <a:prstDash val="solid"/>
          </a:ln>
        </p:spPr>
      </p:sp>
      <p:sp>
        <p:nvSpPr>
          <p:cNvPr id="9" name="Text 5"/>
          <p:cNvSpPr txBox="1"/>
          <p:nvPr/>
        </p:nvSpPr>
        <p:spPr>
          <a:xfrm>
            <a:off x="6429604" y="5138928"/>
            <a:ext cx="5030572" cy="960120"/>
          </a:xfrm>
          <a:prstGeom prst="rect">
            <a:avLst/>
          </a:prstGeom>
          <a:noFill/>
          <a:ln/>
        </p:spPr>
        <p:txBody>
          <a:bodyPr wrap="square" lIns="0" tIns="0" rIns="0" bIns="0" rtlCol="0" anchor="ctr"/>
          <a:lstStyle/>
          <a:p>
            <a:pPr marL="177800" indent="-177800">
              <a:spcAft>
                <a:spcPts val="400"/>
              </a:spcAft>
              <a:buSzPct val="100000"/>
              <a:buChar char="•"/>
            </a:pPr>
            <a:r>
              <a:rPr lang="en-US" sz="1350" b="1" dirty="0">
                <a:solidFill>
                  <a:srgbClr val="F1F6F5"/>
                </a:solidFill>
              </a:rPr>
              <a:t>Twin page: </a:t>
            </a:r>
            <a:r>
              <a:rPr lang="en-US" sz="1350" dirty="0">
                <a:solidFill>
                  <a:srgbClr val="C9D8D6"/>
                </a:solidFill>
              </a:rPr>
              <a:t>three-sentence summary, 24% with its likely range</a:t>
            </a:r>
            <a:endParaRPr lang="en-US" sz="1350" dirty="0"/>
          </a:p>
          <a:p>
            <a:pPr marL="177800" indent="-177800">
              <a:spcAft>
                <a:spcPts val="400"/>
              </a:spcAft>
              <a:buSzPct val="100000"/>
              <a:buChar char="•"/>
            </a:pPr>
            <a:r>
              <a:rPr lang="en-US" sz="1350" b="1" dirty="0">
                <a:solidFill>
                  <a:srgbClr val="F1F6F5"/>
                </a:solidFill>
              </a:rPr>
              <a:t>What the twin used </a:t>
            </a:r>
            <a:r>
              <a:rPr lang="en-US" sz="1350" dirty="0">
                <a:solidFill>
                  <a:srgbClr val="C9D8D6"/>
                </a:solidFill>
              </a:rPr>
              <a:t>and a suggested next step: acknowledge, call, escalate</a:t>
            </a:r>
            <a:endParaRPr lang="en-US" sz="135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Doctor console: try changes on her body, keep alerts on budget</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Simulate uses Meera's own slopes; every alert carries its reasons and inputs</a:t>
            </a:r>
            <a:endParaRPr lang="en-US" sz="1500" dirty="0"/>
          </a:p>
        </p:txBody>
      </p:sp>
      <p:pic>
        <p:nvPicPr>
          <p:cNvPr id="4" name="Image 0" descr="What-if simulator for Meera">    </p:cNvPr>
          <p:cNvPicPr>
            <a:picLocks noChangeAspect="1"/>
          </p:cNvPicPr>
          <p:nvPr/>
        </p:nvPicPr>
        <p:blipFill>
          <a:blip r:embed="rId1"/>
          <a:stretch>
            <a:fillRect/>
          </a:stretch>
        </p:blipFill>
        <p:spPr>
          <a:xfrm>
            <a:off x="548640" y="1444752"/>
            <a:ext cx="6660213" cy="3401568"/>
          </a:xfrm>
          <a:prstGeom prst="rect">
            <a:avLst/>
          </a:prstGeom>
        </p:spPr>
      </p:pic>
      <p:pic>
        <p:nvPicPr>
          <p:cNvPr id="5" name="Image 1" descr="Why this alert drawer">    </p:cNvPr>
          <p:cNvPicPr>
            <a:picLocks noChangeAspect="1"/>
          </p:cNvPicPr>
          <p:nvPr/>
        </p:nvPicPr>
        <p:blipFill>
          <a:blip r:embed="rId2"/>
          <a:stretch>
            <a:fillRect/>
          </a:stretch>
        </p:blipFill>
        <p:spPr>
          <a:xfrm>
            <a:off x="7437453" y="1444752"/>
            <a:ext cx="1965350" cy="3401568"/>
          </a:xfrm>
          <a:prstGeom prst="rect">
            <a:avLst/>
          </a:prstGeom>
        </p:spPr>
      </p:pic>
      <p:sp>
        <p:nvSpPr>
          <p:cNvPr id="6" name="Shape 2"/>
          <p:cNvSpPr/>
          <p:nvPr/>
        </p:nvSpPr>
        <p:spPr>
          <a:xfrm>
            <a:off x="9631403" y="1444752"/>
            <a:ext cx="2011652" cy="3401568"/>
          </a:xfrm>
          <a:prstGeom prst="roundRect">
            <a:avLst>
              <a:gd name="adj" fmla="val 4546"/>
            </a:avLst>
          </a:prstGeom>
          <a:solidFill>
            <a:srgbClr val="10302F"/>
          </a:solidFill>
          <a:ln w="9525">
            <a:solidFill>
              <a:srgbClr val="27413F"/>
            </a:solidFill>
            <a:prstDash val="solid"/>
          </a:ln>
        </p:spPr>
      </p:sp>
      <p:sp>
        <p:nvSpPr>
          <p:cNvPr id="7" name="Text 3"/>
          <p:cNvSpPr txBox="1"/>
          <p:nvPr/>
        </p:nvSpPr>
        <p:spPr>
          <a:xfrm>
            <a:off x="9814283" y="1554480"/>
            <a:ext cx="1737332" cy="457200"/>
          </a:xfrm>
          <a:prstGeom prst="rect">
            <a:avLst/>
          </a:prstGeom>
          <a:noFill/>
          <a:ln/>
        </p:spPr>
        <p:txBody>
          <a:bodyPr wrap="square" lIns="0" tIns="0" rIns="0" bIns="0" rtlCol="0" anchor="b"/>
          <a:lstStyle/>
          <a:p>
            <a:pPr algn="l" indent="0" marL="0">
              <a:buNone/>
            </a:pPr>
            <a:r>
              <a:rPr lang="en-US" sz="2600" b="1" dirty="0">
                <a:solidFill>
                  <a:srgbClr val="3FC1C0"/>
                </a:solidFill>
              </a:rPr>
              <a:t>0.037</a:t>
            </a:r>
            <a:endParaRPr lang="en-US" sz="2600" dirty="0"/>
          </a:p>
        </p:txBody>
      </p:sp>
      <p:sp>
        <p:nvSpPr>
          <p:cNvPr id="8" name="Text 4"/>
          <p:cNvSpPr txBox="1"/>
          <p:nvPr/>
        </p:nvSpPr>
        <p:spPr>
          <a:xfrm>
            <a:off x="9814283" y="2066544"/>
            <a:ext cx="1737332" cy="502920"/>
          </a:xfrm>
          <a:prstGeom prst="rect">
            <a:avLst/>
          </a:prstGeom>
          <a:noFill/>
          <a:ln/>
        </p:spPr>
        <p:txBody>
          <a:bodyPr wrap="square" lIns="0" tIns="0" rIns="0" bIns="0" rtlCol="0" anchor="t"/>
          <a:lstStyle/>
          <a:p>
            <a:pPr algn="l" indent="0" marL="0">
              <a:buNone/>
            </a:pPr>
            <a:r>
              <a:rPr lang="en-US" sz="1150" dirty="0">
                <a:solidFill>
                  <a:srgbClr val="93ADAA"/>
                </a:solidFill>
              </a:rPr>
              <a:t>false alerts a patient-day this week</a:t>
            </a:r>
            <a:endParaRPr lang="en-US" sz="1150" dirty="0"/>
          </a:p>
        </p:txBody>
      </p:sp>
      <p:sp>
        <p:nvSpPr>
          <p:cNvPr id="9" name="Text 5"/>
          <p:cNvSpPr txBox="1"/>
          <p:nvPr/>
        </p:nvSpPr>
        <p:spPr>
          <a:xfrm>
            <a:off x="9814283" y="2615184"/>
            <a:ext cx="1737332" cy="457200"/>
          </a:xfrm>
          <a:prstGeom prst="rect">
            <a:avLst/>
          </a:prstGeom>
          <a:noFill/>
          <a:ln/>
        </p:spPr>
        <p:txBody>
          <a:bodyPr wrap="square" lIns="0" tIns="0" rIns="0" bIns="0" rtlCol="0" anchor="b"/>
          <a:lstStyle/>
          <a:p>
            <a:pPr algn="l" indent="0" marL="0">
              <a:buNone/>
            </a:pPr>
            <a:r>
              <a:rPr lang="en-US" sz="2600" b="1" dirty="0">
                <a:solidFill>
                  <a:srgbClr val="D6A06A"/>
                </a:solidFill>
              </a:rPr>
              <a:t>0.045</a:t>
            </a:r>
            <a:endParaRPr lang="en-US" sz="2600" dirty="0"/>
          </a:p>
        </p:txBody>
      </p:sp>
      <p:sp>
        <p:nvSpPr>
          <p:cNvPr id="10" name="Text 6"/>
          <p:cNvSpPr txBox="1"/>
          <p:nvPr/>
        </p:nvSpPr>
        <p:spPr>
          <a:xfrm>
            <a:off x="9814283" y="3127248"/>
            <a:ext cx="1737332" cy="365760"/>
          </a:xfrm>
          <a:prstGeom prst="rect">
            <a:avLst/>
          </a:prstGeom>
          <a:noFill/>
          <a:ln/>
        </p:spPr>
        <p:txBody>
          <a:bodyPr wrap="square" lIns="0" tIns="0" rIns="0" bIns="0" rtlCol="0" anchor="t"/>
          <a:lstStyle/>
          <a:p>
            <a:pPr algn="l" indent="0" marL="0">
              <a:buNone/>
            </a:pPr>
            <a:r>
              <a:rPr lang="en-US" sz="1150" dirty="0">
                <a:solidFill>
                  <a:srgbClr val="93ADAA"/>
                </a:solidFill>
              </a:rPr>
              <a:t>budget the clinic sets</a:t>
            </a:r>
            <a:endParaRPr lang="en-US" sz="1150" dirty="0"/>
          </a:p>
        </p:txBody>
      </p:sp>
      <p:sp>
        <p:nvSpPr>
          <p:cNvPr id="11" name="Text 7"/>
          <p:cNvSpPr txBox="1"/>
          <p:nvPr/>
        </p:nvSpPr>
        <p:spPr>
          <a:xfrm>
            <a:off x="9814283" y="3547872"/>
            <a:ext cx="1737332" cy="457200"/>
          </a:xfrm>
          <a:prstGeom prst="rect">
            <a:avLst/>
          </a:prstGeom>
          <a:noFill/>
          <a:ln/>
        </p:spPr>
        <p:txBody>
          <a:bodyPr wrap="square" lIns="0" tIns="0" rIns="0" bIns="0" rtlCol="0" anchor="b"/>
          <a:lstStyle/>
          <a:p>
            <a:pPr algn="l" indent="0" marL="0">
              <a:buNone/>
            </a:pPr>
            <a:r>
              <a:rPr lang="en-US" sz="2600" b="1" dirty="0">
                <a:solidFill>
                  <a:srgbClr val="3FC1C0"/>
                </a:solidFill>
              </a:rPr>
              <a:t>14 days</a:t>
            </a:r>
            <a:endParaRPr lang="en-US" sz="2600" dirty="0"/>
          </a:p>
        </p:txBody>
      </p:sp>
      <p:sp>
        <p:nvSpPr>
          <p:cNvPr id="12" name="Text 8"/>
          <p:cNvSpPr txBox="1"/>
          <p:nvPr/>
        </p:nvSpPr>
        <p:spPr>
          <a:xfrm>
            <a:off x="9814283" y="4059936"/>
            <a:ext cx="1737332" cy="502920"/>
          </a:xfrm>
          <a:prstGeom prst="rect">
            <a:avLst/>
          </a:prstGeom>
          <a:noFill/>
          <a:ln/>
        </p:spPr>
        <p:txBody>
          <a:bodyPr wrap="square" lIns="0" tIns="0" rIns="0" bIns="0" rtlCol="0" anchor="t"/>
          <a:lstStyle/>
          <a:p>
            <a:pPr algn="l" indent="0" marL="0">
              <a:buNone/>
            </a:pPr>
            <a:r>
              <a:rPr lang="en-US" sz="1150" dirty="0">
                <a:solidFill>
                  <a:srgbClr val="93ADAA"/>
                </a:solidFill>
              </a:rPr>
              <a:t>replayed before a threshold change</a:t>
            </a:r>
            <a:endParaRPr lang="en-US" sz="1150" dirty="0"/>
          </a:p>
        </p:txBody>
      </p:sp>
      <p:sp>
        <p:nvSpPr>
          <p:cNvPr id="13" name="Shape 9"/>
          <p:cNvSpPr/>
          <p:nvPr/>
        </p:nvSpPr>
        <p:spPr>
          <a:xfrm>
            <a:off x="548640" y="5047488"/>
            <a:ext cx="3545738" cy="1124712"/>
          </a:xfrm>
          <a:prstGeom prst="roundRect">
            <a:avLst>
              <a:gd name="adj" fmla="val 8130"/>
            </a:avLst>
          </a:prstGeom>
          <a:solidFill>
            <a:srgbClr val="152A2A"/>
          </a:solidFill>
          <a:ln w="9525">
            <a:solidFill>
              <a:srgbClr val="27413F"/>
            </a:solidFill>
            <a:prstDash val="solid"/>
          </a:ln>
        </p:spPr>
      </p:sp>
      <p:sp>
        <p:nvSpPr>
          <p:cNvPr id="14" name="Text 10"/>
          <p:cNvSpPr txBox="1"/>
          <p:nvPr/>
        </p:nvSpPr>
        <p:spPr>
          <a:xfrm>
            <a:off x="749808" y="5120640"/>
            <a:ext cx="3179978" cy="987552"/>
          </a:xfrm>
          <a:prstGeom prst="rect">
            <a:avLst/>
          </a:prstGeom>
          <a:noFill/>
          <a:ln/>
        </p:spPr>
        <p:txBody>
          <a:bodyPr wrap="square" lIns="0" tIns="0" rIns="0" bIns="0" rtlCol="0" anchor="ctr"/>
          <a:lstStyle/>
          <a:p>
            <a:pPr marL="177800" indent="-177800">
              <a:spcAft>
                <a:spcPts val="400"/>
              </a:spcAft>
              <a:buSzPct val="100000"/>
              <a:buChar char="•"/>
            </a:pPr>
            <a:r>
              <a:rPr lang="en-US" sz="1300" b="1" dirty="0">
                <a:solidFill>
                  <a:srgbClr val="F1F6F5"/>
                </a:solidFill>
              </a:rPr>
              <a:t>Simulate: </a:t>
            </a:r>
            <a:r>
              <a:rPr lang="en-US" sz="1300" dirty="0">
                <a:solidFill>
                  <a:srgbClr val="C9D8D6"/>
                </a:solidFill>
              </a:rPr>
              <a:t>walking, sleep, medicine, salt, alcohol</a:t>
            </a:r>
            <a:endParaRPr lang="en-US" sz="1300" dirty="0"/>
          </a:p>
          <a:p>
            <a:pPr marL="177800" indent="-177800">
              <a:spcAft>
                <a:spcPts val="400"/>
              </a:spcAft>
              <a:buSzPct val="100000"/>
              <a:buChar char="•"/>
            </a:pPr>
            <a:r>
              <a:rPr lang="en-US" sz="1300" b="1" dirty="0">
                <a:solidFill>
                  <a:srgbClr val="F1F6F5"/>
                </a:solidFill>
              </a:rPr>
              <a:t>72 h risk holds </a:t>
            </a:r>
            <a:r>
              <a:rPr lang="en-US" sz="1300" dirty="0">
                <a:solidFill>
                  <a:srgbClr val="C9D8D6"/>
                </a:solidFill>
              </a:rPr>
              <a:t>once strain is under way; ordinary week falls 27%</a:t>
            </a:r>
            <a:endParaRPr lang="en-US" sz="1300" dirty="0"/>
          </a:p>
        </p:txBody>
      </p:sp>
      <p:sp>
        <p:nvSpPr>
          <p:cNvPr id="15" name="Shape 11"/>
          <p:cNvSpPr/>
          <p:nvPr/>
        </p:nvSpPr>
        <p:spPr>
          <a:xfrm>
            <a:off x="4322978" y="5047488"/>
            <a:ext cx="3545738" cy="1124712"/>
          </a:xfrm>
          <a:prstGeom prst="roundRect">
            <a:avLst>
              <a:gd name="adj" fmla="val 8130"/>
            </a:avLst>
          </a:prstGeom>
          <a:solidFill>
            <a:srgbClr val="152A2A"/>
          </a:solidFill>
          <a:ln w="9525">
            <a:solidFill>
              <a:srgbClr val="27413F"/>
            </a:solidFill>
            <a:prstDash val="solid"/>
          </a:ln>
        </p:spPr>
      </p:sp>
      <p:sp>
        <p:nvSpPr>
          <p:cNvPr id="16" name="Text 12"/>
          <p:cNvSpPr txBox="1"/>
          <p:nvPr/>
        </p:nvSpPr>
        <p:spPr>
          <a:xfrm>
            <a:off x="4524146" y="5120640"/>
            <a:ext cx="3179978" cy="987552"/>
          </a:xfrm>
          <a:prstGeom prst="rect">
            <a:avLst/>
          </a:prstGeom>
          <a:noFill/>
          <a:ln/>
        </p:spPr>
        <p:txBody>
          <a:bodyPr wrap="square" lIns="0" tIns="0" rIns="0" bIns="0" rtlCol="0" anchor="ctr"/>
          <a:lstStyle/>
          <a:p>
            <a:pPr marL="177800" indent="-177800">
              <a:spcAft>
                <a:spcPts val="400"/>
              </a:spcAft>
              <a:buSzPct val="100000"/>
              <a:buChar char="•"/>
            </a:pPr>
            <a:r>
              <a:rPr lang="en-US" sz="1300" b="1" dirty="0">
                <a:solidFill>
                  <a:srgbClr val="F1F6F5"/>
                </a:solidFill>
              </a:rPr>
              <a:t>Why this alert: </a:t>
            </a:r>
            <a:r>
              <a:rPr lang="en-US" sz="1300" dirty="0">
                <a:solidFill>
                  <a:srgbClr val="C9D8D6"/>
                </a:solidFill>
              </a:rPr>
              <a:t>reasons, inputs, confidence</a:t>
            </a:r>
            <a:endParaRPr lang="en-US" sz="1300" dirty="0"/>
          </a:p>
          <a:p>
            <a:pPr marL="177800" indent="-177800">
              <a:spcAft>
                <a:spcPts val="400"/>
              </a:spcAft>
              <a:buSzPct val="100000"/>
              <a:buChar char="•"/>
            </a:pPr>
            <a:r>
              <a:rPr lang="en-US" sz="1300" b="1" dirty="0">
                <a:solidFill>
                  <a:srgbClr val="F1F6F5"/>
                </a:solidFill>
              </a:rPr>
              <a:t>Model stats </a:t>
            </a:r>
            <a:r>
              <a:rPr lang="en-US" sz="1300" dirty="0">
                <a:solidFill>
                  <a:srgbClr val="C9D8D6"/>
                </a:solidFill>
              </a:rPr>
              <a:t>beside every alert: 70% caught, AUROC 0.876</a:t>
            </a:r>
            <a:endParaRPr lang="en-US" sz="1300" dirty="0"/>
          </a:p>
        </p:txBody>
      </p:sp>
      <p:sp>
        <p:nvSpPr>
          <p:cNvPr id="17" name="Shape 13"/>
          <p:cNvSpPr/>
          <p:nvPr/>
        </p:nvSpPr>
        <p:spPr>
          <a:xfrm>
            <a:off x="8097317" y="5047488"/>
            <a:ext cx="3545738" cy="1124712"/>
          </a:xfrm>
          <a:prstGeom prst="roundRect">
            <a:avLst>
              <a:gd name="adj" fmla="val 8130"/>
            </a:avLst>
          </a:prstGeom>
          <a:solidFill>
            <a:srgbClr val="152A2A"/>
          </a:solidFill>
          <a:ln w="9525">
            <a:solidFill>
              <a:srgbClr val="27413F"/>
            </a:solidFill>
            <a:prstDash val="solid"/>
          </a:ln>
        </p:spPr>
      </p:sp>
      <p:sp>
        <p:nvSpPr>
          <p:cNvPr id="18" name="Text 14"/>
          <p:cNvSpPr txBox="1"/>
          <p:nvPr/>
        </p:nvSpPr>
        <p:spPr>
          <a:xfrm>
            <a:off x="8298485" y="5120640"/>
            <a:ext cx="3179978" cy="987552"/>
          </a:xfrm>
          <a:prstGeom prst="rect">
            <a:avLst/>
          </a:prstGeom>
          <a:noFill/>
          <a:ln/>
        </p:spPr>
        <p:txBody>
          <a:bodyPr wrap="square" lIns="0" tIns="0" rIns="0" bIns="0" rtlCol="0" anchor="ctr"/>
          <a:lstStyle/>
          <a:p>
            <a:pPr marL="177800" indent="-177800">
              <a:spcAft>
                <a:spcPts val="400"/>
              </a:spcAft>
              <a:buSzPct val="100000"/>
              <a:buChar char="•"/>
            </a:pPr>
            <a:r>
              <a:rPr lang="en-US" sz="1300" b="1" dirty="0">
                <a:solidFill>
                  <a:srgbClr val="F1F6F5"/>
                </a:solidFill>
              </a:rPr>
              <a:t>Thresholds: </a:t>
            </a:r>
            <a:r>
              <a:rPr lang="en-US" sz="1300" dirty="0">
                <a:solidFill>
                  <a:srgbClr val="C9D8D6"/>
                </a:solidFill>
              </a:rPr>
              <a:t>preview on 14 days of history</a:t>
            </a:r>
            <a:endParaRPr lang="en-US" sz="1300" dirty="0"/>
          </a:p>
          <a:p>
            <a:pPr marL="177800" indent="-177800">
              <a:spcAft>
                <a:spcPts val="400"/>
              </a:spcAft>
              <a:buSzPct val="100000"/>
              <a:buChar char="•"/>
            </a:pPr>
            <a:r>
              <a:rPr lang="en-US" sz="1300" b="1" dirty="0">
                <a:solidFill>
                  <a:srgbClr val="F1F6F5"/>
                </a:solidFill>
              </a:rPr>
              <a:t>Audit log: </a:t>
            </a:r>
            <a:r>
              <a:rPr lang="en-US" sz="1300" dirty="0">
                <a:solidFill>
                  <a:srgbClr val="C9D8D6"/>
                </a:solidFill>
              </a:rPr>
              <a:t>append-only, with the consent basis</a:t>
            </a:r>
            <a:endParaRPr lang="en-US" sz="13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Patient view: plain words, her own levers, a safe SOS</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Live demo: pratibimb-pi.vercel.app/me/P-0007</a:t>
            </a:r>
            <a:endParaRPr lang="en-US" sz="1500" dirty="0"/>
          </a:p>
        </p:txBody>
      </p:sp>
      <p:pic>
        <p:nvPicPr>
          <p:cNvPr id="4" name="Image 0" descr="Status vs her usual">    </p:cNvPr>
          <p:cNvPicPr>
            <a:picLocks noChangeAspect="1"/>
          </p:cNvPicPr>
          <p:nvPr/>
        </p:nvPicPr>
        <p:blipFill>
          <a:blip r:embed="rId1"/>
          <a:stretch>
            <a:fillRect/>
          </a:stretch>
        </p:blipFill>
        <p:spPr>
          <a:xfrm>
            <a:off x="548640" y="1444752"/>
            <a:ext cx="2003929" cy="4343400"/>
          </a:xfrm>
          <a:prstGeom prst="rect">
            <a:avLst/>
          </a:prstGeom>
        </p:spPr>
      </p:pic>
      <p:sp>
        <p:nvSpPr>
          <p:cNvPr id="5" name="Text 2"/>
          <p:cNvSpPr txBox="1"/>
          <p:nvPr/>
        </p:nvSpPr>
        <p:spPr>
          <a:xfrm>
            <a:off x="548640" y="5879592"/>
            <a:ext cx="2003929" cy="274320"/>
          </a:xfrm>
          <a:prstGeom prst="rect">
            <a:avLst/>
          </a:prstGeom>
          <a:noFill/>
          <a:ln/>
        </p:spPr>
        <p:txBody>
          <a:bodyPr wrap="square" lIns="0" tIns="0" rIns="0" bIns="0" rtlCol="0" anchor="t"/>
          <a:lstStyle/>
          <a:p>
            <a:pPr algn="ctr" indent="0" marL="0">
              <a:buNone/>
            </a:pPr>
            <a:r>
              <a:rPr lang="en-US" sz="1200" dirty="0">
                <a:solidFill>
                  <a:srgbClr val="93ADAA"/>
                </a:solidFill>
              </a:rPr>
              <a:t>Status vs her usual</a:t>
            </a:r>
            <a:endParaRPr lang="en-US" sz="1200" dirty="0"/>
          </a:p>
        </p:txBody>
      </p:sp>
      <p:pic>
        <p:nvPicPr>
          <p:cNvPr id="6" name="Image 1" descr="Hindi, with read-aloud">    </p:cNvPr>
          <p:cNvPicPr>
            <a:picLocks noChangeAspect="1"/>
          </p:cNvPicPr>
          <p:nvPr/>
        </p:nvPicPr>
        <p:blipFill>
          <a:blip r:embed="rId2"/>
          <a:stretch>
            <a:fillRect/>
          </a:stretch>
        </p:blipFill>
        <p:spPr>
          <a:xfrm>
            <a:off x="2753737" y="1444752"/>
            <a:ext cx="2003929" cy="4343400"/>
          </a:xfrm>
          <a:prstGeom prst="rect">
            <a:avLst/>
          </a:prstGeom>
        </p:spPr>
      </p:pic>
      <p:sp>
        <p:nvSpPr>
          <p:cNvPr id="7" name="Text 3"/>
          <p:cNvSpPr txBox="1"/>
          <p:nvPr/>
        </p:nvSpPr>
        <p:spPr>
          <a:xfrm>
            <a:off x="2753737" y="5879592"/>
            <a:ext cx="2003929" cy="274320"/>
          </a:xfrm>
          <a:prstGeom prst="rect">
            <a:avLst/>
          </a:prstGeom>
          <a:noFill/>
          <a:ln/>
        </p:spPr>
        <p:txBody>
          <a:bodyPr wrap="square" lIns="0" tIns="0" rIns="0" bIns="0" rtlCol="0" anchor="t"/>
          <a:lstStyle/>
          <a:p>
            <a:pPr algn="ctr" indent="0" marL="0">
              <a:buNone/>
            </a:pPr>
            <a:r>
              <a:rPr lang="en-US" sz="1200" dirty="0">
                <a:solidFill>
                  <a:srgbClr val="93ADAA"/>
                </a:solidFill>
              </a:rPr>
              <a:t>Hindi, with read-aloud</a:t>
            </a:r>
            <a:endParaRPr lang="en-US" sz="1200" dirty="0"/>
          </a:p>
        </p:txBody>
      </p:sp>
      <p:pic>
        <p:nvPicPr>
          <p:cNvPr id="8" name="Image 2" descr="SOS check-in ladder">    </p:cNvPr>
          <p:cNvPicPr>
            <a:picLocks noChangeAspect="1"/>
          </p:cNvPicPr>
          <p:nvPr/>
        </p:nvPicPr>
        <p:blipFill>
          <a:blip r:embed="rId3"/>
          <a:stretch>
            <a:fillRect/>
          </a:stretch>
        </p:blipFill>
        <p:spPr>
          <a:xfrm>
            <a:off x="4958834" y="1444752"/>
            <a:ext cx="2003929" cy="4343400"/>
          </a:xfrm>
          <a:prstGeom prst="rect">
            <a:avLst/>
          </a:prstGeom>
        </p:spPr>
      </p:pic>
      <p:sp>
        <p:nvSpPr>
          <p:cNvPr id="9" name="Text 4"/>
          <p:cNvSpPr txBox="1"/>
          <p:nvPr/>
        </p:nvSpPr>
        <p:spPr>
          <a:xfrm>
            <a:off x="4958834" y="5879592"/>
            <a:ext cx="2003929" cy="274320"/>
          </a:xfrm>
          <a:prstGeom prst="rect">
            <a:avLst/>
          </a:prstGeom>
          <a:noFill/>
          <a:ln/>
        </p:spPr>
        <p:txBody>
          <a:bodyPr wrap="square" lIns="0" tIns="0" rIns="0" bIns="0" rtlCol="0" anchor="t"/>
          <a:lstStyle/>
          <a:p>
            <a:pPr algn="ctr" indent="0" marL="0">
              <a:buNone/>
            </a:pPr>
            <a:r>
              <a:rPr lang="en-US" sz="1200" dirty="0">
                <a:solidFill>
                  <a:srgbClr val="93ADAA"/>
                </a:solidFill>
              </a:rPr>
              <a:t>SOS check-in ladder</a:t>
            </a:r>
            <a:endParaRPr lang="en-US" sz="1200" dirty="0"/>
          </a:p>
        </p:txBody>
      </p:sp>
      <p:sp>
        <p:nvSpPr>
          <p:cNvPr id="10" name="Shape 5"/>
          <p:cNvSpPr/>
          <p:nvPr/>
        </p:nvSpPr>
        <p:spPr>
          <a:xfrm>
            <a:off x="7301092" y="1444752"/>
            <a:ext cx="4341964" cy="4727448"/>
          </a:xfrm>
          <a:prstGeom prst="roundRect">
            <a:avLst>
              <a:gd name="adj" fmla="val 2106"/>
            </a:avLst>
          </a:prstGeom>
          <a:solidFill>
            <a:srgbClr val="152A2A"/>
          </a:solidFill>
          <a:ln w="9525">
            <a:solidFill>
              <a:srgbClr val="27413F"/>
            </a:solidFill>
            <a:prstDash val="solid"/>
          </a:ln>
        </p:spPr>
      </p:sp>
      <p:sp>
        <p:nvSpPr>
          <p:cNvPr id="11" name="Text 6"/>
          <p:cNvSpPr txBox="1"/>
          <p:nvPr/>
        </p:nvSpPr>
        <p:spPr>
          <a:xfrm>
            <a:off x="7538836" y="1700784"/>
            <a:ext cx="3903052" cy="4343400"/>
          </a:xfrm>
          <a:prstGeom prst="rect">
            <a:avLst/>
          </a:prstGeom>
          <a:noFill/>
          <a:ln/>
        </p:spPr>
        <p:txBody>
          <a:bodyPr wrap="square" lIns="0" tIns="0" rIns="0" bIns="0" rtlCol="0" anchor="t"/>
          <a:lstStyle/>
          <a:p>
            <a:pPr marL="177800" indent="-177800">
              <a:spcAft>
                <a:spcPts val="1300"/>
              </a:spcAft>
              <a:buSzPct val="100000"/>
              <a:buChar char="•"/>
            </a:pPr>
            <a:r>
              <a:rPr lang="en-US" sz="1500" b="1" dirty="0">
                <a:solidFill>
                  <a:srgbClr val="F1F6F5"/>
                </a:solidFill>
              </a:rPr>
              <a:t>One sentence </a:t>
            </a:r>
            <a:r>
              <a:rPr lang="en-US" sz="1500" dirty="0">
                <a:solidFill>
                  <a:srgbClr val="C9D8D6"/>
                </a:solidFill>
              </a:rPr>
              <a:t>in English or Hindi; compared with her usual, not with others</a:t>
            </a:r>
            <a:endParaRPr lang="en-US" sz="1500" dirty="0"/>
          </a:p>
          <a:p>
            <a:pPr marL="177800" indent="-177800">
              <a:spcAft>
                <a:spcPts val="1300"/>
              </a:spcAft>
              <a:buSzPct val="100000"/>
              <a:buChar char="•"/>
            </a:pPr>
            <a:r>
              <a:rPr lang="en-US" sz="1500" b="1" dirty="0">
                <a:solidFill>
                  <a:srgbClr val="F1F6F5"/>
                </a:solidFill>
              </a:rPr>
              <a:t>What helps you: </a:t>
            </a:r>
            <a:r>
              <a:rPr lang="en-US" sz="1500" dirty="0">
                <a:solidFill>
                  <a:srgbClr val="C9D8D6"/>
                </a:solidFill>
              </a:rPr>
              <a:t>her own strongest levers, learned from her calm days</a:t>
            </a:r>
            <a:endParaRPr lang="en-US" sz="1500" dirty="0"/>
          </a:p>
          <a:p>
            <a:pPr marL="177800" indent="-177800">
              <a:spcAft>
                <a:spcPts val="1300"/>
              </a:spcAft>
              <a:buSzPct val="100000"/>
              <a:buChar char="•"/>
            </a:pPr>
            <a:r>
              <a:rPr lang="en-US" sz="1500" b="1" dirty="0">
                <a:solidFill>
                  <a:srgbClr val="F1F6F5"/>
                </a:solidFill>
              </a:rPr>
              <a:t>Check-in: </a:t>
            </a:r>
            <a:r>
              <a:rPr lang="en-US" sz="1500" dirty="0">
                <a:solidFill>
                  <a:srgbClr val="C9D8D6"/>
                </a:solidFill>
              </a:rPr>
              <a:t>fine, tired, dizzy, chest discomfort; a note to the doctor</a:t>
            </a:r>
            <a:endParaRPr lang="en-US" sz="1500" dirty="0"/>
          </a:p>
          <a:p>
            <a:pPr marL="177800" indent="-177800">
              <a:spcAft>
                <a:spcPts val="1300"/>
              </a:spcAft>
              <a:buSzPct val="100000"/>
              <a:buChar char="•"/>
            </a:pPr>
            <a:r>
              <a:rPr lang="en-US" sz="1500" b="1" dirty="0">
                <a:solidFill>
                  <a:srgbClr val="F1F6F5"/>
                </a:solidFill>
              </a:rPr>
              <a:t>Press-and-hold SOS: </a:t>
            </a:r>
            <a:r>
              <a:rPr lang="en-US" sz="1500" dirty="0">
                <a:solidFill>
                  <a:srgbClr val="C9D8D6"/>
                </a:solidFill>
              </a:rPr>
              <a:t>patient first, then two contacts, then the doctor</a:t>
            </a:r>
            <a:endParaRPr lang="en-US" sz="1500" dirty="0"/>
          </a:p>
          <a:p>
            <a:pPr marL="177800" indent="-177800">
              <a:spcAft>
                <a:spcPts val="1300"/>
              </a:spcAft>
              <a:buSzPct val="100000"/>
              <a:buChar char="•"/>
            </a:pPr>
            <a:r>
              <a:rPr lang="en-US" sz="1500" b="1" dirty="0">
                <a:solidFill>
                  <a:srgbClr val="F1F6F5"/>
                </a:solidFill>
              </a:rPr>
              <a:t>One tap to 112 </a:t>
            </a:r>
            <a:r>
              <a:rPr lang="en-US" sz="1500" dirty="0">
                <a:solidFill>
                  <a:srgbClr val="C9D8D6"/>
                </a:solidFill>
              </a:rPr>
              <a:t>at every step; the server never dials it</a:t>
            </a:r>
            <a:endParaRPr lang="en-US" sz="1500" dirty="0"/>
          </a:p>
          <a:p>
            <a:pPr marL="177800" indent="-177800">
              <a:spcAft>
                <a:spcPts val="1300"/>
              </a:spcAft>
              <a:buSzPct val="100000"/>
              <a:buChar char="•"/>
            </a:pPr>
            <a:r>
              <a:rPr lang="en-US" sz="1500" b="1" dirty="0">
                <a:solidFill>
                  <a:srgbClr val="F1F6F5"/>
                </a:solidFill>
              </a:rPr>
              <a:t>New users: </a:t>
            </a:r>
            <a:r>
              <a:rPr lang="en-US" sz="1500" dirty="0">
                <a:solidFill>
                  <a:srgbClr val="C9D8D6"/>
                </a:solidFill>
              </a:rPr>
              <a:t>"still learning your normal", never a guess</a:t>
            </a:r>
            <a:endParaRPr lang="en-US" sz="15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Built for India: devices, standards, consent, regulation</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Details in docs/COMPLIANCE.md and docs/DEVICE_SYNC.md</a:t>
            </a:r>
            <a:endParaRPr lang="en-US" sz="1500" dirty="0"/>
          </a:p>
        </p:txBody>
      </p:sp>
      <p:sp>
        <p:nvSpPr>
          <p:cNvPr id="4" name="Shape 2"/>
          <p:cNvSpPr/>
          <p:nvPr/>
        </p:nvSpPr>
        <p:spPr>
          <a:xfrm>
            <a:off x="548640" y="1426464"/>
            <a:ext cx="3576218" cy="2304288"/>
          </a:xfrm>
          <a:prstGeom prst="roundRect">
            <a:avLst>
              <a:gd name="adj" fmla="val 3968"/>
            </a:avLst>
          </a:prstGeom>
          <a:solidFill>
            <a:srgbClr val="152A2A"/>
          </a:solidFill>
          <a:ln w="9525">
            <a:solidFill>
              <a:srgbClr val="27413F"/>
            </a:solidFill>
            <a:prstDash val="solid"/>
          </a:ln>
        </p:spPr>
      </p:sp>
      <p:sp>
        <p:nvSpPr>
          <p:cNvPr id="5" name="Shape 3"/>
          <p:cNvSpPr/>
          <p:nvPr/>
        </p:nvSpPr>
        <p:spPr>
          <a:xfrm>
            <a:off x="749808" y="1627632"/>
            <a:ext cx="420624" cy="420624"/>
          </a:xfrm>
          <a:prstGeom prst="ellipse">
            <a:avLst/>
          </a:prstGeom>
          <a:solidFill>
            <a:srgbClr val="10302F"/>
          </a:solidFill>
          <a:ln w="6350">
            <a:solidFill>
              <a:srgbClr val="27413F"/>
            </a:solidFill>
            <a:prstDash val="solid"/>
          </a:ln>
        </p:spPr>
      </p:sp>
      <p:pic>
        <p:nvPicPr>
          <p:cNvPr id="6" name="Image 0" descr="watch icon">    </p:cNvPr>
          <p:cNvPicPr>
            <a:picLocks noChangeAspect="1"/>
          </p:cNvPicPr>
          <p:nvPr/>
        </p:nvPicPr>
        <p:blipFill>
          <a:blip r:embed="rId1"/>
          <a:stretch>
            <a:fillRect/>
          </a:stretch>
        </p:blipFill>
        <p:spPr>
          <a:xfrm>
            <a:off x="842345" y="1720169"/>
            <a:ext cx="235549" cy="235549"/>
          </a:xfrm>
          <a:prstGeom prst="rect">
            <a:avLst/>
          </a:prstGeom>
        </p:spPr>
      </p:pic>
      <p:sp>
        <p:nvSpPr>
          <p:cNvPr id="7" name="Text 4"/>
          <p:cNvSpPr txBox="1"/>
          <p:nvPr/>
        </p:nvSpPr>
        <p:spPr>
          <a:xfrm>
            <a:off x="1280160" y="1627632"/>
            <a:ext cx="2661818" cy="420624"/>
          </a:xfrm>
          <a:prstGeom prst="rect">
            <a:avLst/>
          </a:prstGeom>
          <a:noFill/>
          <a:ln/>
        </p:spPr>
        <p:txBody>
          <a:bodyPr wrap="square" lIns="0" tIns="0" rIns="0" bIns="0" rtlCol="0" anchor="ctr"/>
          <a:lstStyle/>
          <a:p>
            <a:pPr algn="l" indent="0" marL="0">
              <a:buNone/>
            </a:pPr>
            <a:r>
              <a:rPr lang="en-US" sz="1600" b="1" dirty="0">
                <a:solidFill>
                  <a:srgbClr val="F1F6F5"/>
                </a:solidFill>
              </a:rPr>
              <a:t>Devices India owns</a:t>
            </a:r>
            <a:endParaRPr lang="en-US" sz="1600" dirty="0"/>
          </a:p>
        </p:txBody>
      </p:sp>
      <p:sp>
        <p:nvSpPr>
          <p:cNvPr id="8" name="Text 5"/>
          <p:cNvSpPr txBox="1"/>
          <p:nvPr/>
        </p:nvSpPr>
        <p:spPr>
          <a:xfrm>
            <a:off x="768096" y="2203704"/>
            <a:ext cx="3155594" cy="1435608"/>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F1F6F5"/>
                </a:solidFill>
              </a:rPr>
              <a:t>Budget watches </a:t>
            </a:r>
            <a:r>
              <a:rPr lang="en-US" sz="1350" dirty="0">
                <a:solidFill>
                  <a:srgbClr val="C9D8D6"/>
                </a:solidFill>
              </a:rPr>
              <a:t>via Android Health Connect</a:t>
            </a:r>
            <a:endParaRPr lang="en-US" sz="1350" dirty="0"/>
          </a:p>
          <a:p>
            <a:pPr marL="177800" indent="-177800">
              <a:spcAft>
                <a:spcPts val="600"/>
              </a:spcAft>
              <a:buSzPct val="100000"/>
              <a:buChar char="•"/>
            </a:pPr>
            <a:r>
              <a:rPr lang="en-US" sz="1350" b="1" dirty="0">
                <a:solidFill>
                  <a:srgbClr val="F1F6F5"/>
                </a:solidFill>
              </a:rPr>
              <a:t>Apple Watch </a:t>
            </a:r>
            <a:r>
              <a:rPr lang="en-US" sz="1350" dirty="0">
                <a:solidFill>
                  <a:srgbClr val="C9D8D6"/>
                </a:solidFill>
              </a:rPr>
              <a:t>via HealthKit; Oura, Whoop; CSV upload</a:t>
            </a:r>
            <a:endParaRPr lang="en-US" sz="1350" dirty="0"/>
          </a:p>
          <a:p>
            <a:pPr marL="177800" indent="-177800">
              <a:spcAft>
                <a:spcPts val="600"/>
              </a:spcAft>
              <a:buSzPct val="100000"/>
              <a:buChar char="•"/>
            </a:pPr>
            <a:r>
              <a:rPr lang="en-US" sz="1350" b="1" dirty="0">
                <a:solidFill>
                  <a:srgbClr val="F1F6F5"/>
                </a:solidFill>
              </a:rPr>
              <a:t>Freshness: </a:t>
            </a:r>
            <a:r>
              <a:rPr lang="en-US" sz="1350" dirty="0">
                <a:solidFill>
                  <a:srgbClr val="C9D8D6"/>
                </a:solidFill>
              </a:rPr>
              <a:t>last sync shown on every card</a:t>
            </a:r>
            <a:endParaRPr lang="en-US" sz="1350" dirty="0"/>
          </a:p>
        </p:txBody>
      </p:sp>
      <p:sp>
        <p:nvSpPr>
          <p:cNvPr id="9" name="Shape 6"/>
          <p:cNvSpPr/>
          <p:nvPr/>
        </p:nvSpPr>
        <p:spPr>
          <a:xfrm>
            <a:off x="4307738" y="1426464"/>
            <a:ext cx="3576218" cy="2304288"/>
          </a:xfrm>
          <a:prstGeom prst="roundRect">
            <a:avLst>
              <a:gd name="adj" fmla="val 3968"/>
            </a:avLst>
          </a:prstGeom>
          <a:solidFill>
            <a:srgbClr val="152A2A"/>
          </a:solidFill>
          <a:ln w="9525">
            <a:solidFill>
              <a:srgbClr val="27413F"/>
            </a:solidFill>
            <a:prstDash val="solid"/>
          </a:ln>
        </p:spPr>
      </p:sp>
      <p:sp>
        <p:nvSpPr>
          <p:cNvPr id="10" name="Shape 7"/>
          <p:cNvSpPr/>
          <p:nvPr/>
        </p:nvSpPr>
        <p:spPr>
          <a:xfrm>
            <a:off x="4508906" y="1627632"/>
            <a:ext cx="420624" cy="420624"/>
          </a:xfrm>
          <a:prstGeom prst="ellipse">
            <a:avLst/>
          </a:prstGeom>
          <a:solidFill>
            <a:srgbClr val="10302F"/>
          </a:solidFill>
          <a:ln w="6350">
            <a:solidFill>
              <a:srgbClr val="27413F"/>
            </a:solidFill>
            <a:prstDash val="solid"/>
          </a:ln>
        </p:spPr>
      </p:sp>
      <p:pic>
        <p:nvPicPr>
          <p:cNvPr id="11" name="Image 1" descr="fileCheck icon">    </p:cNvPr>
          <p:cNvPicPr>
            <a:picLocks noChangeAspect="1"/>
          </p:cNvPicPr>
          <p:nvPr/>
        </p:nvPicPr>
        <p:blipFill>
          <a:blip r:embed="rId2"/>
          <a:stretch>
            <a:fillRect/>
          </a:stretch>
        </p:blipFill>
        <p:spPr>
          <a:xfrm>
            <a:off x="4601444" y="1720169"/>
            <a:ext cx="235549" cy="235549"/>
          </a:xfrm>
          <a:prstGeom prst="rect">
            <a:avLst/>
          </a:prstGeom>
        </p:spPr>
      </p:pic>
      <p:sp>
        <p:nvSpPr>
          <p:cNvPr id="12" name="Text 8"/>
          <p:cNvSpPr txBox="1"/>
          <p:nvPr/>
        </p:nvSpPr>
        <p:spPr>
          <a:xfrm>
            <a:off x="5039258" y="1627632"/>
            <a:ext cx="2661818" cy="420624"/>
          </a:xfrm>
          <a:prstGeom prst="rect">
            <a:avLst/>
          </a:prstGeom>
          <a:noFill/>
          <a:ln/>
        </p:spPr>
        <p:txBody>
          <a:bodyPr wrap="square" lIns="0" tIns="0" rIns="0" bIns="0" rtlCol="0" anchor="ctr"/>
          <a:lstStyle/>
          <a:p>
            <a:pPr algn="l" indent="0" marL="0">
              <a:buNone/>
            </a:pPr>
            <a:r>
              <a:rPr lang="en-US" sz="1600" b="1" dirty="0">
                <a:solidFill>
                  <a:srgbClr val="F1F6F5"/>
                </a:solidFill>
              </a:rPr>
              <a:t>Health standards</a:t>
            </a:r>
            <a:endParaRPr lang="en-US" sz="1600" dirty="0"/>
          </a:p>
        </p:txBody>
      </p:sp>
      <p:sp>
        <p:nvSpPr>
          <p:cNvPr id="13" name="Text 9"/>
          <p:cNvSpPr txBox="1"/>
          <p:nvPr/>
        </p:nvSpPr>
        <p:spPr>
          <a:xfrm>
            <a:off x="4527194" y="2203704"/>
            <a:ext cx="3155594" cy="1435608"/>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F1F6F5"/>
                </a:solidFill>
              </a:rPr>
              <a:t>FHIR R4 </a:t>
            </a:r>
            <a:r>
              <a:rPr lang="en-US" sz="1350" dirty="0">
                <a:solidFill>
                  <a:srgbClr val="C9D8D6"/>
                </a:solidFill>
              </a:rPr>
              <a:t>with SNOMED CT and LOINC</a:t>
            </a:r>
            <a:endParaRPr lang="en-US" sz="1350" dirty="0"/>
          </a:p>
          <a:p>
            <a:pPr marL="177800" indent="-177800">
              <a:spcAft>
                <a:spcPts val="600"/>
              </a:spcAft>
              <a:buSzPct val="100000"/>
              <a:buChar char="•"/>
            </a:pPr>
            <a:r>
              <a:rPr lang="en-US" sz="1350" b="1" dirty="0">
                <a:solidFill>
                  <a:srgbClr val="F1F6F5"/>
                </a:solidFill>
              </a:rPr>
              <a:t>ABDM WellnessRecord </a:t>
            </a:r>
            <a:r>
              <a:rPr lang="en-US" sz="1350" dirty="0">
                <a:solidFill>
                  <a:srgbClr val="C9D8D6"/>
                </a:solidFill>
              </a:rPr>
              <a:t>bundle (NRCeS); masked ABHA</a:t>
            </a:r>
            <a:endParaRPr lang="en-US" sz="1350" dirty="0"/>
          </a:p>
          <a:p>
            <a:pPr marL="177800" indent="-177800">
              <a:spcAft>
                <a:spcPts val="600"/>
              </a:spcAft>
              <a:buSzPct val="100000"/>
              <a:buChar char="•"/>
            </a:pPr>
            <a:r>
              <a:rPr lang="en-US" sz="1350" b="1" dirty="0">
                <a:solidFill>
                  <a:srgbClr val="F1F6F5"/>
                </a:solidFill>
              </a:rPr>
              <a:t>One-tap export </a:t>
            </a:r>
            <a:r>
              <a:rPr lang="en-US" sz="1350" dirty="0">
                <a:solidFill>
                  <a:srgbClr val="C9D8D6"/>
                </a:solidFill>
              </a:rPr>
              <a:t>per patient from the Records tab</a:t>
            </a:r>
            <a:endParaRPr lang="en-US" sz="1350" dirty="0"/>
          </a:p>
        </p:txBody>
      </p:sp>
      <p:sp>
        <p:nvSpPr>
          <p:cNvPr id="14" name="Shape 10"/>
          <p:cNvSpPr/>
          <p:nvPr/>
        </p:nvSpPr>
        <p:spPr>
          <a:xfrm>
            <a:off x="8066837" y="1426464"/>
            <a:ext cx="3576218" cy="2304288"/>
          </a:xfrm>
          <a:prstGeom prst="roundRect">
            <a:avLst>
              <a:gd name="adj" fmla="val 3968"/>
            </a:avLst>
          </a:prstGeom>
          <a:solidFill>
            <a:srgbClr val="152A2A"/>
          </a:solidFill>
          <a:ln w="9525">
            <a:solidFill>
              <a:srgbClr val="27413F"/>
            </a:solidFill>
            <a:prstDash val="solid"/>
          </a:ln>
        </p:spPr>
      </p:sp>
      <p:sp>
        <p:nvSpPr>
          <p:cNvPr id="15" name="Shape 11"/>
          <p:cNvSpPr/>
          <p:nvPr/>
        </p:nvSpPr>
        <p:spPr>
          <a:xfrm>
            <a:off x="8268005" y="1627632"/>
            <a:ext cx="420624" cy="420624"/>
          </a:xfrm>
          <a:prstGeom prst="ellipse">
            <a:avLst/>
          </a:prstGeom>
          <a:solidFill>
            <a:srgbClr val="10302F"/>
          </a:solidFill>
          <a:ln w="6350">
            <a:solidFill>
              <a:srgbClr val="27413F"/>
            </a:solidFill>
            <a:prstDash val="solid"/>
          </a:ln>
        </p:spPr>
      </p:sp>
      <p:pic>
        <p:nvPicPr>
          <p:cNvPr id="16" name="Image 2" descr="shield icon">    </p:cNvPr>
          <p:cNvPicPr>
            <a:picLocks noChangeAspect="1"/>
          </p:cNvPicPr>
          <p:nvPr/>
        </p:nvPicPr>
        <p:blipFill>
          <a:blip r:embed="rId3"/>
          <a:stretch>
            <a:fillRect/>
          </a:stretch>
        </p:blipFill>
        <p:spPr>
          <a:xfrm>
            <a:off x="8360542" y="1720169"/>
            <a:ext cx="235549" cy="235549"/>
          </a:xfrm>
          <a:prstGeom prst="rect">
            <a:avLst/>
          </a:prstGeom>
        </p:spPr>
      </p:pic>
      <p:sp>
        <p:nvSpPr>
          <p:cNvPr id="17" name="Text 12"/>
          <p:cNvSpPr txBox="1"/>
          <p:nvPr/>
        </p:nvSpPr>
        <p:spPr>
          <a:xfrm>
            <a:off x="8798357" y="1627632"/>
            <a:ext cx="2661818" cy="420624"/>
          </a:xfrm>
          <a:prstGeom prst="rect">
            <a:avLst/>
          </a:prstGeom>
          <a:noFill/>
          <a:ln/>
        </p:spPr>
        <p:txBody>
          <a:bodyPr wrap="square" lIns="0" tIns="0" rIns="0" bIns="0" rtlCol="0" anchor="ctr"/>
          <a:lstStyle/>
          <a:p>
            <a:pPr algn="l" indent="0" marL="0">
              <a:buNone/>
            </a:pPr>
            <a:r>
              <a:rPr lang="en-US" sz="1600" b="1" dirty="0">
                <a:solidFill>
                  <a:srgbClr val="F1F6F5"/>
                </a:solidFill>
              </a:rPr>
              <a:t>DPDP-ready consent</a:t>
            </a:r>
            <a:endParaRPr lang="en-US" sz="1600" dirty="0"/>
          </a:p>
        </p:txBody>
      </p:sp>
      <p:sp>
        <p:nvSpPr>
          <p:cNvPr id="18" name="Text 13"/>
          <p:cNvSpPr txBox="1"/>
          <p:nvPr/>
        </p:nvSpPr>
        <p:spPr>
          <a:xfrm>
            <a:off x="8286293" y="2203704"/>
            <a:ext cx="3155594" cy="1435608"/>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F1F6F5"/>
                </a:solidFill>
              </a:rPr>
              <a:t>Consent per stream; </a:t>
            </a:r>
            <a:r>
              <a:rPr lang="en-US" sz="1350" dirty="0">
                <a:solidFill>
                  <a:srgbClr val="C9D8D6"/>
                </a:solidFill>
              </a:rPr>
              <a:t>opt out of AI, keep records</a:t>
            </a:r>
            <a:endParaRPr lang="en-US" sz="1350" dirty="0"/>
          </a:p>
          <a:p>
            <a:pPr marL="177800" indent="-177800">
              <a:spcAft>
                <a:spcPts val="600"/>
              </a:spcAft>
              <a:buSzPct val="100000"/>
              <a:buChar char="•"/>
            </a:pPr>
            <a:r>
              <a:rPr lang="en-US" sz="1350" b="1" dirty="0">
                <a:solidFill>
                  <a:srgbClr val="F1F6F5"/>
                </a:solidFill>
              </a:rPr>
              <a:t>Withdraw and delete; </a:t>
            </a:r>
            <a:r>
              <a:rPr lang="en-US" sz="1350" dirty="0">
                <a:solidFill>
                  <a:srgbClr val="C9D8D6"/>
                </a:solidFill>
              </a:rPr>
              <a:t>18+ gate; contacts consent ahead</a:t>
            </a:r>
            <a:endParaRPr lang="en-US" sz="1350" dirty="0"/>
          </a:p>
          <a:p>
            <a:pPr marL="177800" indent="-177800">
              <a:spcAft>
                <a:spcPts val="600"/>
              </a:spcAft>
              <a:buSzPct val="100000"/>
              <a:buChar char="•"/>
            </a:pPr>
            <a:r>
              <a:rPr lang="en-US" sz="1350" b="1" dirty="0">
                <a:solidFill>
                  <a:srgbClr val="F1F6F5"/>
                </a:solidFill>
              </a:rPr>
              <a:t>Audit log: </a:t>
            </a:r>
            <a:r>
              <a:rPr lang="en-US" sz="1350" dirty="0">
                <a:solidFill>
                  <a:srgbClr val="C9D8D6"/>
                </a:solidFill>
              </a:rPr>
              <a:t>consent basis of every action</a:t>
            </a:r>
            <a:endParaRPr lang="en-US" sz="1350" dirty="0"/>
          </a:p>
        </p:txBody>
      </p:sp>
      <p:sp>
        <p:nvSpPr>
          <p:cNvPr id="19" name="Shape 14"/>
          <p:cNvSpPr/>
          <p:nvPr/>
        </p:nvSpPr>
        <p:spPr>
          <a:xfrm>
            <a:off x="548640" y="3867912"/>
            <a:ext cx="3576218" cy="2304288"/>
          </a:xfrm>
          <a:prstGeom prst="roundRect">
            <a:avLst>
              <a:gd name="adj" fmla="val 3968"/>
            </a:avLst>
          </a:prstGeom>
          <a:solidFill>
            <a:srgbClr val="152A2A"/>
          </a:solidFill>
          <a:ln w="9525">
            <a:solidFill>
              <a:srgbClr val="27413F"/>
            </a:solidFill>
            <a:prstDash val="solid"/>
          </a:ln>
        </p:spPr>
      </p:sp>
      <p:sp>
        <p:nvSpPr>
          <p:cNvPr id="20" name="Shape 15"/>
          <p:cNvSpPr/>
          <p:nvPr/>
        </p:nvSpPr>
        <p:spPr>
          <a:xfrm>
            <a:off x="749808" y="4069080"/>
            <a:ext cx="420624" cy="420624"/>
          </a:xfrm>
          <a:prstGeom prst="ellipse">
            <a:avLst/>
          </a:prstGeom>
          <a:solidFill>
            <a:srgbClr val="10302F"/>
          </a:solidFill>
          <a:ln w="6350">
            <a:solidFill>
              <a:srgbClr val="27413F"/>
            </a:solidFill>
            <a:prstDash val="solid"/>
          </a:ln>
        </p:spPr>
      </p:sp>
      <p:pic>
        <p:nvPicPr>
          <p:cNvPr id="21" name="Image 3" descr="doctor icon">    </p:cNvPr>
          <p:cNvPicPr>
            <a:picLocks noChangeAspect="1"/>
          </p:cNvPicPr>
          <p:nvPr/>
        </p:nvPicPr>
        <p:blipFill>
          <a:blip r:embed="rId4"/>
          <a:stretch>
            <a:fillRect/>
          </a:stretch>
        </p:blipFill>
        <p:spPr>
          <a:xfrm>
            <a:off x="842345" y="4161617"/>
            <a:ext cx="235549" cy="235549"/>
          </a:xfrm>
          <a:prstGeom prst="rect">
            <a:avLst/>
          </a:prstGeom>
        </p:spPr>
      </p:pic>
      <p:sp>
        <p:nvSpPr>
          <p:cNvPr id="22" name="Text 16"/>
          <p:cNvSpPr txBox="1"/>
          <p:nvPr/>
        </p:nvSpPr>
        <p:spPr>
          <a:xfrm>
            <a:off x="1280160" y="4069080"/>
            <a:ext cx="2661818" cy="420624"/>
          </a:xfrm>
          <a:prstGeom prst="rect">
            <a:avLst/>
          </a:prstGeom>
          <a:noFill/>
          <a:ln/>
        </p:spPr>
        <p:txBody>
          <a:bodyPr wrap="square" lIns="0" tIns="0" rIns="0" bIns="0" rtlCol="0" anchor="ctr"/>
          <a:lstStyle/>
          <a:p>
            <a:pPr algn="l" indent="0" marL="0">
              <a:buNone/>
            </a:pPr>
            <a:r>
              <a:rPr lang="en-US" sz="1600" b="1" dirty="0">
                <a:solidFill>
                  <a:srgbClr val="F1F6F5"/>
                </a:solidFill>
              </a:rPr>
              <a:t>Clinical safety</a:t>
            </a:r>
            <a:endParaRPr lang="en-US" sz="1600" dirty="0"/>
          </a:p>
        </p:txBody>
      </p:sp>
      <p:sp>
        <p:nvSpPr>
          <p:cNvPr id="23" name="Text 17"/>
          <p:cNvSpPr txBox="1"/>
          <p:nvPr/>
        </p:nvSpPr>
        <p:spPr>
          <a:xfrm>
            <a:off x="768096" y="4645152"/>
            <a:ext cx="3155594" cy="1435608"/>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F1F6F5"/>
                </a:solidFill>
              </a:rPr>
              <a:t>No AI prescribing: </a:t>
            </a:r>
            <a:r>
              <a:rPr lang="en-US" sz="1350" dirty="0">
                <a:solidFill>
                  <a:srgbClr val="C9D8D6"/>
                </a:solidFill>
              </a:rPr>
              <a:t>patient text never changes doses (Telemedicine Guidelines 2020)</a:t>
            </a:r>
            <a:endParaRPr lang="en-US" sz="1350" dirty="0"/>
          </a:p>
          <a:p>
            <a:pPr marL="177800" indent="-177800">
              <a:spcAft>
                <a:spcPts val="600"/>
              </a:spcAft>
              <a:buSzPct val="100000"/>
              <a:buChar char="•"/>
            </a:pPr>
            <a:r>
              <a:rPr lang="en-US" sz="1350" b="1" dirty="0">
                <a:solidFill>
                  <a:srgbClr val="F1F6F5"/>
                </a:solidFill>
              </a:rPr>
              <a:t>Doctor decides; </a:t>
            </a:r>
            <a:r>
              <a:rPr lang="en-US" sz="1350" dirty="0">
                <a:solidFill>
                  <a:srgbClr val="C9D8D6"/>
                </a:solidFill>
              </a:rPr>
              <a:t>server never dials 112</a:t>
            </a:r>
            <a:endParaRPr lang="en-US" sz="1350" dirty="0"/>
          </a:p>
          <a:p>
            <a:pPr marL="177800" indent="-177800">
              <a:spcAft>
                <a:spcPts val="600"/>
              </a:spcAft>
              <a:buSzPct val="100000"/>
              <a:buChar char="•"/>
            </a:pPr>
            <a:r>
              <a:rPr lang="en-US" sz="1350" b="1" dirty="0">
                <a:solidFill>
                  <a:srgbClr val="F1F6F5"/>
                </a:solidFill>
              </a:rPr>
              <a:t>Contacts reached </a:t>
            </a:r>
            <a:r>
              <a:rPr lang="en-US" sz="1350" dirty="0">
                <a:solidFill>
                  <a:srgbClr val="C9D8D6"/>
                </a:solidFill>
              </a:rPr>
              <a:t>by SMS, WhatsApp, voice (mocked)</a:t>
            </a:r>
            <a:endParaRPr lang="en-US" sz="1350" dirty="0"/>
          </a:p>
        </p:txBody>
      </p:sp>
      <p:sp>
        <p:nvSpPr>
          <p:cNvPr id="24" name="Shape 18"/>
          <p:cNvSpPr/>
          <p:nvPr/>
        </p:nvSpPr>
        <p:spPr>
          <a:xfrm>
            <a:off x="4307738" y="3867912"/>
            <a:ext cx="3576218" cy="2304288"/>
          </a:xfrm>
          <a:prstGeom prst="roundRect">
            <a:avLst>
              <a:gd name="adj" fmla="val 3968"/>
            </a:avLst>
          </a:prstGeom>
          <a:solidFill>
            <a:srgbClr val="152A2A"/>
          </a:solidFill>
          <a:ln w="9525">
            <a:solidFill>
              <a:srgbClr val="27413F"/>
            </a:solidFill>
            <a:prstDash val="solid"/>
          </a:ln>
        </p:spPr>
      </p:sp>
      <p:sp>
        <p:nvSpPr>
          <p:cNvPr id="25" name="Shape 19"/>
          <p:cNvSpPr/>
          <p:nvPr/>
        </p:nvSpPr>
        <p:spPr>
          <a:xfrm>
            <a:off x="4508906" y="4069080"/>
            <a:ext cx="420624" cy="420624"/>
          </a:xfrm>
          <a:prstGeom prst="ellipse">
            <a:avLst/>
          </a:prstGeom>
          <a:solidFill>
            <a:srgbClr val="10302F"/>
          </a:solidFill>
          <a:ln w="6350">
            <a:solidFill>
              <a:srgbClr val="27413F"/>
            </a:solidFill>
            <a:prstDash val="solid"/>
          </a:ln>
        </p:spPr>
      </p:sp>
      <p:pic>
        <p:nvPicPr>
          <p:cNvPr id="26" name="Image 4" descr="book icon">    </p:cNvPr>
          <p:cNvPicPr>
            <a:picLocks noChangeAspect="1"/>
          </p:cNvPicPr>
          <p:nvPr/>
        </p:nvPicPr>
        <p:blipFill>
          <a:blip r:embed="rId5"/>
          <a:stretch>
            <a:fillRect/>
          </a:stretch>
        </p:blipFill>
        <p:spPr>
          <a:xfrm>
            <a:off x="4601444" y="4161617"/>
            <a:ext cx="235549" cy="235549"/>
          </a:xfrm>
          <a:prstGeom prst="rect">
            <a:avLst/>
          </a:prstGeom>
        </p:spPr>
      </p:pic>
      <p:sp>
        <p:nvSpPr>
          <p:cNvPr id="27" name="Text 20"/>
          <p:cNvSpPr txBox="1"/>
          <p:nvPr/>
        </p:nvSpPr>
        <p:spPr>
          <a:xfrm>
            <a:off x="5039258" y="4069080"/>
            <a:ext cx="2661818" cy="420624"/>
          </a:xfrm>
          <a:prstGeom prst="rect">
            <a:avLst/>
          </a:prstGeom>
          <a:noFill/>
          <a:ln/>
        </p:spPr>
        <p:txBody>
          <a:bodyPr wrap="square" lIns="0" tIns="0" rIns="0" bIns="0" rtlCol="0" anchor="ctr"/>
          <a:lstStyle/>
          <a:p>
            <a:pPr algn="l" indent="0" marL="0">
              <a:buNone/>
            </a:pPr>
            <a:r>
              <a:rPr lang="en-US" sz="1600" b="1" dirty="0">
                <a:solidFill>
                  <a:srgbClr val="F1F6F5"/>
                </a:solidFill>
              </a:rPr>
              <a:t>Regulatory path</a:t>
            </a:r>
            <a:endParaRPr lang="en-US" sz="1600" dirty="0"/>
          </a:p>
        </p:txBody>
      </p:sp>
      <p:sp>
        <p:nvSpPr>
          <p:cNvPr id="28" name="Text 21"/>
          <p:cNvSpPr txBox="1"/>
          <p:nvPr/>
        </p:nvSpPr>
        <p:spPr>
          <a:xfrm>
            <a:off x="4527194" y="4645152"/>
            <a:ext cx="3155594" cy="1435608"/>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F1F6F5"/>
                </a:solidFill>
              </a:rPr>
              <a:t>CDSCO Medical Device Software </a:t>
            </a:r>
            <a:r>
              <a:rPr lang="en-US" sz="1350" dirty="0">
                <a:solidFill>
                  <a:srgbClr val="C9D8D6"/>
                </a:solidFill>
              </a:rPr>
              <a:t>guidance (30 July 2026)</a:t>
            </a:r>
            <a:endParaRPr lang="en-US" sz="1350" dirty="0"/>
          </a:p>
          <a:p>
            <a:pPr marL="177800" indent="-177800">
              <a:spcAft>
                <a:spcPts val="600"/>
              </a:spcAft>
              <a:buSzPct val="100000"/>
              <a:buChar char="•"/>
            </a:pPr>
            <a:r>
              <a:rPr lang="en-US" sz="1350" b="1" dirty="0">
                <a:solidFill>
                  <a:srgbClr val="F1F6F5"/>
                </a:solidFill>
              </a:rPr>
              <a:t>Likely Class B or C; </a:t>
            </a:r>
            <a:r>
              <a:rPr lang="en-US" sz="1350" dirty="0">
                <a:solidFill>
                  <a:srgbClr val="C9D8D6"/>
                </a:solidFill>
              </a:rPr>
              <a:t>append-only audit log</a:t>
            </a:r>
            <a:endParaRPr lang="en-US" sz="1350" dirty="0"/>
          </a:p>
          <a:p>
            <a:pPr marL="177800" indent="-177800">
              <a:spcAft>
                <a:spcPts val="600"/>
              </a:spcAft>
              <a:buSzPct val="100000"/>
              <a:buChar char="•"/>
            </a:pPr>
            <a:r>
              <a:rPr lang="en-US" sz="1350" b="1" dirty="0">
                <a:solidFill>
                  <a:srgbClr val="F1F6F5"/>
                </a:solidFill>
              </a:rPr>
              <a:t>Decision support </a:t>
            </a:r>
            <a:r>
              <a:rPr lang="en-US" sz="1350" dirty="0">
                <a:solidFill>
                  <a:srgbClr val="C9D8D6"/>
                </a:solidFill>
              </a:rPr>
              <a:t>for a registered practitioner, not a diagnosis</a:t>
            </a:r>
            <a:endParaRPr lang="en-US" sz="1350" dirty="0"/>
          </a:p>
        </p:txBody>
      </p:sp>
      <p:sp>
        <p:nvSpPr>
          <p:cNvPr id="29" name="Shape 22"/>
          <p:cNvSpPr/>
          <p:nvPr/>
        </p:nvSpPr>
        <p:spPr>
          <a:xfrm>
            <a:off x="8066837" y="3867912"/>
            <a:ext cx="3576218" cy="2304288"/>
          </a:xfrm>
          <a:prstGeom prst="roundRect">
            <a:avLst>
              <a:gd name="adj" fmla="val 3968"/>
            </a:avLst>
          </a:prstGeom>
          <a:solidFill>
            <a:srgbClr val="152A2A"/>
          </a:solidFill>
          <a:ln w="9525">
            <a:solidFill>
              <a:srgbClr val="27413F"/>
            </a:solidFill>
            <a:prstDash val="solid"/>
          </a:ln>
        </p:spPr>
      </p:sp>
      <p:sp>
        <p:nvSpPr>
          <p:cNvPr id="30" name="Shape 23"/>
          <p:cNvSpPr/>
          <p:nvPr/>
        </p:nvSpPr>
        <p:spPr>
          <a:xfrm>
            <a:off x="8268005" y="4069080"/>
            <a:ext cx="420624" cy="420624"/>
          </a:xfrm>
          <a:prstGeom prst="ellipse">
            <a:avLst/>
          </a:prstGeom>
          <a:solidFill>
            <a:srgbClr val="10302F"/>
          </a:solidFill>
          <a:ln w="6350">
            <a:solidFill>
              <a:srgbClr val="27413F"/>
            </a:solidFill>
            <a:prstDash val="solid"/>
          </a:ln>
        </p:spPr>
      </p:sp>
      <p:pic>
        <p:nvPicPr>
          <p:cNvPr id="31" name="Image 5" descr="lang icon">    </p:cNvPr>
          <p:cNvPicPr>
            <a:picLocks noChangeAspect="1"/>
          </p:cNvPicPr>
          <p:nvPr/>
        </p:nvPicPr>
        <p:blipFill>
          <a:blip r:embed="rId6"/>
          <a:stretch>
            <a:fillRect/>
          </a:stretch>
        </p:blipFill>
        <p:spPr>
          <a:xfrm>
            <a:off x="8360542" y="4161617"/>
            <a:ext cx="235549" cy="235549"/>
          </a:xfrm>
          <a:prstGeom prst="rect">
            <a:avLst/>
          </a:prstGeom>
        </p:spPr>
      </p:pic>
      <p:sp>
        <p:nvSpPr>
          <p:cNvPr id="32" name="Text 24"/>
          <p:cNvSpPr txBox="1"/>
          <p:nvPr/>
        </p:nvSpPr>
        <p:spPr>
          <a:xfrm>
            <a:off x="8798357" y="4069080"/>
            <a:ext cx="2661818" cy="420624"/>
          </a:xfrm>
          <a:prstGeom prst="rect">
            <a:avLst/>
          </a:prstGeom>
          <a:noFill/>
          <a:ln/>
        </p:spPr>
        <p:txBody>
          <a:bodyPr wrap="square" lIns="0" tIns="0" rIns="0" bIns="0" rtlCol="0" anchor="ctr"/>
          <a:lstStyle/>
          <a:p>
            <a:pPr algn="l" indent="0" marL="0">
              <a:buNone/>
            </a:pPr>
            <a:r>
              <a:rPr lang="en-US" sz="1600" b="1" dirty="0">
                <a:solidFill>
                  <a:srgbClr val="F1F6F5"/>
                </a:solidFill>
              </a:rPr>
              <a:t>Language and cost</a:t>
            </a:r>
            <a:endParaRPr lang="en-US" sz="1600" dirty="0"/>
          </a:p>
        </p:txBody>
      </p:sp>
      <p:sp>
        <p:nvSpPr>
          <p:cNvPr id="33" name="Text 25"/>
          <p:cNvSpPr txBox="1"/>
          <p:nvPr/>
        </p:nvSpPr>
        <p:spPr>
          <a:xfrm>
            <a:off x="8286293" y="4645152"/>
            <a:ext cx="3155594" cy="1435608"/>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F1F6F5"/>
                </a:solidFill>
              </a:rPr>
              <a:t>English and Hindi </a:t>
            </a:r>
            <a:r>
              <a:rPr lang="en-US" sz="1350" dirty="0">
                <a:solidFill>
                  <a:srgbClr val="C9D8D6"/>
                </a:solidFill>
              </a:rPr>
              <a:t>with read-aloud</a:t>
            </a:r>
            <a:endParaRPr lang="en-US" sz="1350" dirty="0"/>
          </a:p>
          <a:p>
            <a:pPr marL="177800" indent="-177800">
              <a:spcAft>
                <a:spcPts val="600"/>
              </a:spcAft>
              <a:buSzPct val="100000"/>
              <a:buChar char="•"/>
            </a:pPr>
            <a:r>
              <a:rPr lang="en-US" sz="1350" b="1" dirty="0">
                <a:solidFill>
                  <a:srgbClr val="F1F6F5"/>
                </a:solidFill>
              </a:rPr>
              <a:t>Works on a Rs 2,000 watch </a:t>
            </a:r>
            <a:r>
              <a:rPr lang="en-US" sz="1350" dirty="0">
                <a:solidFill>
                  <a:srgbClr val="C9D8D6"/>
                </a:solidFill>
              </a:rPr>
              <a:t>plus a home BP cuff</a:t>
            </a:r>
            <a:endParaRPr lang="en-US" sz="1350" dirty="0"/>
          </a:p>
          <a:p>
            <a:pPr marL="177800" indent="-177800">
              <a:spcAft>
                <a:spcPts val="600"/>
              </a:spcAft>
              <a:buSzPct val="100000"/>
              <a:buChar char="•"/>
            </a:pPr>
            <a:r>
              <a:rPr lang="en-US" sz="1350" b="1" dirty="0">
                <a:solidFill>
                  <a:srgbClr val="F1F6F5"/>
                </a:solidFill>
              </a:rPr>
              <a:t>No new hardware: </a:t>
            </a:r>
            <a:r>
              <a:rPr lang="en-US" sz="1350" dirty="0">
                <a:solidFill>
                  <a:srgbClr val="C9D8D6"/>
                </a:solidFill>
              </a:rPr>
              <a:t>reads the phone's health store</a:t>
            </a:r>
            <a:endParaRPr lang="en-US" sz="135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Outcomes: what is built and what it shows</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Every item is in the public repository and the live demo</a:t>
            </a:r>
            <a:endParaRPr lang="en-US" sz="1500" dirty="0"/>
          </a:p>
        </p:txBody>
      </p:sp>
      <p:sp>
        <p:nvSpPr>
          <p:cNvPr id="4" name="Shape 2"/>
          <p:cNvSpPr/>
          <p:nvPr/>
        </p:nvSpPr>
        <p:spPr>
          <a:xfrm>
            <a:off x="548640" y="1463040"/>
            <a:ext cx="6629400" cy="4709160"/>
          </a:xfrm>
          <a:prstGeom prst="roundRect">
            <a:avLst>
              <a:gd name="adj" fmla="val 1942"/>
            </a:avLst>
          </a:prstGeom>
          <a:solidFill>
            <a:srgbClr val="152A2A"/>
          </a:solidFill>
          <a:ln w="9525">
            <a:solidFill>
              <a:srgbClr val="27413F"/>
            </a:solidFill>
            <a:prstDash val="solid"/>
          </a:ln>
        </p:spPr>
      </p:sp>
      <p:sp>
        <p:nvSpPr>
          <p:cNvPr id="5" name="Text 3"/>
          <p:cNvSpPr txBox="1"/>
          <p:nvPr/>
        </p:nvSpPr>
        <p:spPr>
          <a:xfrm>
            <a:off x="768096" y="1627632"/>
            <a:ext cx="2743200" cy="365760"/>
          </a:xfrm>
          <a:prstGeom prst="rect">
            <a:avLst/>
          </a:prstGeom>
          <a:noFill/>
          <a:ln/>
        </p:spPr>
        <p:txBody>
          <a:bodyPr wrap="square" lIns="0" tIns="0" rIns="0" bIns="0" rtlCol="0" anchor="t"/>
          <a:lstStyle/>
          <a:p>
            <a:pPr algn="l" indent="0" marL="0">
              <a:buNone/>
            </a:pPr>
            <a:r>
              <a:rPr lang="en-US" sz="1600" b="1" dirty="0">
                <a:solidFill>
                  <a:srgbClr val="F1F6F5"/>
                </a:solidFill>
              </a:rPr>
              <a:t>Delivered</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2066544"/>
          <a:ext cx="6263640" cy="914400"/>
        </p:xfrm>
        <a:graphic>
          <a:graphicData uri="http://schemas.openxmlformats.org/drawingml/2006/table">
            <a:tbl>
              <a:tblPr/>
              <a:tblGrid>
                <a:gridCol w="2240280"/>
                <a:gridCol w="4023360"/>
              </a:tblGrid>
              <a:tr h="457200">
                <a:tc>
                  <a:txBody>
                    <a:bodyPr/>
                    <a:lstStyle/>
                    <a:p>
                      <a:pPr indent="0" marL="0">
                        <a:buNone/>
                      </a:pPr>
                      <a:r>
                        <a:rPr lang="en-US" sz="1150" b="1" dirty="0">
                          <a:solidFill>
                            <a:srgbClr val="93ADAA"/>
                          </a:solidFill>
                          <a:latin typeface="Calibri" pitchFamily="34" charset="0"/>
                          <a:ea typeface="Calibri" pitchFamily="34" charset="-122"/>
                          <a:cs typeface="Calibri" pitchFamily="34" charset="-120"/>
                        </a:rPr>
                        <a:t>Deliverable</a:t>
                      </a:r>
                      <a:endParaRPr lang="en-US" sz="115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150" b="1" dirty="0">
                          <a:solidFill>
                            <a:srgbClr val="93ADAA"/>
                          </a:solidFill>
                          <a:latin typeface="Calibri" pitchFamily="34" charset="0"/>
                          <a:ea typeface="Calibri" pitchFamily="34" charset="-122"/>
                          <a:cs typeface="Calibri" pitchFamily="34" charset="-120"/>
                        </a:rPr>
                        <a:t>Proof</a:t>
                      </a:r>
                      <a:endParaRPr lang="en-US" sz="115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Working prediction model</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AUROC 0.876; 70% caught at budget; leakage-tested</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Personal Physiology Engine</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recovers hidden slopes, r 0.59 to 0.71</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Doctor dashboard</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triage, twin, simulate, alerts, thresholds, model card, audit</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Patient app</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English and Hindi, check-in, consented SOS ladder</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Interoperability</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FHIR R4 and ABDM WellnessRecord export</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Live demo</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pratibimb-pi.vercel.app, no sign-in</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r h="457200">
                <a:tc>
                  <a:txBody>
                    <a:bodyPr/>
                    <a:lstStyle/>
                    <a:p>
                      <a:pPr indent="0" marL="0">
                        <a:buNone/>
                      </a:pPr>
                      <a:r>
                        <a:rPr lang="en-US" sz="1300" b="1" dirty="0">
                          <a:solidFill>
                            <a:srgbClr val="F1F6F5"/>
                          </a:solidFill>
                          <a:latin typeface="Calibri" pitchFamily="34" charset="0"/>
                          <a:ea typeface="Calibri" pitchFamily="34" charset="-122"/>
                          <a:cs typeface="Calibri" pitchFamily="34" charset="-120"/>
                        </a:rPr>
                        <a:t>Open source</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c>
                  <a:txBody>
                    <a:bodyPr/>
                    <a:lstStyle/>
                    <a:p>
                      <a:pPr indent="0" marL="0">
                        <a:buNone/>
                      </a:pPr>
                      <a:r>
                        <a:rPr lang="en-US" sz="1300" dirty="0">
                          <a:solidFill>
                            <a:srgbClr val="C9D8D6"/>
                          </a:solidFill>
                          <a:latin typeface="Calibri" pitchFamily="34" charset="0"/>
                          <a:ea typeface="Calibri" pitchFamily="34" charset="-122"/>
                          <a:cs typeface="Calibri" pitchFamily="34" charset="-120"/>
                        </a:rPr>
                        <a:t>MIT; 25 tests; Docker; reproducible seed</a:t>
                      </a:r>
                      <a:endParaRPr lang="en-US" sz="1300" dirty="0">
                        <a:latin typeface="Calibri" charset="0"/>
                        <a:ea typeface="Calibri" charset="0"/>
                        <a:cs typeface="Calibri" charset="0"/>
                      </a:endParaRPr>
                    </a:p>
                  </a:txBody>
                  <a:tcPr marL="73152" marR="73152" marT="27432" marB="27432" anchor="ctr">
                    <a:lnL w="6350" cap="flat" cmpd="sng" algn="ctr">
                      <a:solidFill>
                        <a:srgbClr val="27413F"/>
                      </a:solidFill>
                      <a:prstDash val="solid"/>
                      <a:round/>
                      <a:headEnd type="none" w="med" len="med"/>
                      <a:tailEnd type="none" w="med" len="med"/>
                    </a:lnL>
                    <a:lnR w="6350" cap="flat" cmpd="sng" algn="ctr">
                      <a:solidFill>
                        <a:srgbClr val="27413F"/>
                      </a:solidFill>
                      <a:prstDash val="solid"/>
                      <a:round/>
                      <a:headEnd type="none" w="med" len="med"/>
                      <a:tailEnd type="none" w="med" len="med"/>
                    </a:lnR>
                    <a:lnT w="6350" cap="flat" cmpd="sng" algn="ctr">
                      <a:solidFill>
                        <a:srgbClr val="27413F"/>
                      </a:solidFill>
                      <a:prstDash val="solid"/>
                      <a:round/>
                      <a:headEnd type="none" w="med" len="med"/>
                      <a:tailEnd type="none" w="med" len="med"/>
                    </a:lnT>
                    <a:lnB w="6350" cap="flat" cmpd="sng" algn="ctr">
                      <a:solidFill>
                        <a:srgbClr val="27413F"/>
                      </a:solidFill>
                      <a:prstDash val="solid"/>
                      <a:round/>
                      <a:headEnd type="none" w="med" len="med"/>
                      <a:tailEnd type="none" w="med" len="med"/>
                    </a:lnB>
                    <a:solidFill>
                      <a:srgbClr val="152A2A"/>
                    </a:solidFill>
                  </a:tcPr>
                </a:tc>
              </a:tr>
            </a:tbl>
          </a:graphicData>
        </a:graphic>
      </p:graphicFrame>
      <p:sp>
        <p:nvSpPr>
          <p:cNvPr id="7" name="Shape 4"/>
          <p:cNvSpPr/>
          <p:nvPr/>
        </p:nvSpPr>
        <p:spPr>
          <a:xfrm>
            <a:off x="7406640" y="1463040"/>
            <a:ext cx="4236415" cy="4709160"/>
          </a:xfrm>
          <a:prstGeom prst="roundRect">
            <a:avLst>
              <a:gd name="adj" fmla="val 2158"/>
            </a:avLst>
          </a:prstGeom>
          <a:solidFill>
            <a:srgbClr val="10302F"/>
          </a:solidFill>
          <a:ln w="9525">
            <a:solidFill>
              <a:srgbClr val="27413F"/>
            </a:solidFill>
            <a:prstDash val="solid"/>
          </a:ln>
        </p:spPr>
      </p:sp>
      <p:sp>
        <p:nvSpPr>
          <p:cNvPr id="8" name="Text 5"/>
          <p:cNvSpPr txBox="1"/>
          <p:nvPr/>
        </p:nvSpPr>
        <p:spPr>
          <a:xfrm>
            <a:off x="7644384" y="1627632"/>
            <a:ext cx="3870655" cy="365760"/>
          </a:xfrm>
          <a:prstGeom prst="rect">
            <a:avLst/>
          </a:prstGeom>
          <a:noFill/>
          <a:ln/>
        </p:spPr>
        <p:txBody>
          <a:bodyPr wrap="square" lIns="0" tIns="0" rIns="0" bIns="0" rtlCol="0" anchor="t"/>
          <a:lstStyle/>
          <a:p>
            <a:pPr algn="l" indent="0" marL="0">
              <a:buNone/>
            </a:pPr>
            <a:r>
              <a:rPr lang="en-US" sz="1600" b="1" dirty="0">
                <a:solidFill>
                  <a:srgbClr val="F1F6F5"/>
                </a:solidFill>
              </a:rPr>
              <a:t>A day in the clinic</a:t>
            </a:r>
            <a:endParaRPr lang="en-US" sz="1600" dirty="0"/>
          </a:p>
        </p:txBody>
      </p:sp>
      <p:sp>
        <p:nvSpPr>
          <p:cNvPr id="9" name="Text 6"/>
          <p:cNvSpPr txBox="1"/>
          <p:nvPr/>
        </p:nvSpPr>
        <p:spPr>
          <a:xfrm>
            <a:off x="7644384" y="1975104"/>
            <a:ext cx="3870655" cy="274320"/>
          </a:xfrm>
          <a:prstGeom prst="rect">
            <a:avLst/>
          </a:prstGeom>
          <a:noFill/>
          <a:ln/>
        </p:spPr>
        <p:txBody>
          <a:bodyPr wrap="square" lIns="0" tIns="0" rIns="0" bIns="0" rtlCol="0" anchor="t"/>
          <a:lstStyle/>
          <a:p>
            <a:pPr algn="l" indent="0" marL="0">
              <a:buNone/>
            </a:pPr>
            <a:r>
              <a:rPr lang="en-US" sz="1200" dirty="0">
                <a:solidFill>
                  <a:srgbClr val="93ADAA"/>
                </a:solidFill>
              </a:rPr>
              <a:t>12 October, 240 synthetic patients</a:t>
            </a:r>
            <a:endParaRPr lang="en-US" sz="1200" dirty="0"/>
          </a:p>
        </p:txBody>
      </p:sp>
      <p:sp>
        <p:nvSpPr>
          <p:cNvPr id="10" name="Text 7"/>
          <p:cNvSpPr txBox="1"/>
          <p:nvPr/>
        </p:nvSpPr>
        <p:spPr>
          <a:xfrm>
            <a:off x="7644384" y="2377440"/>
            <a:ext cx="1143000" cy="713232"/>
          </a:xfrm>
          <a:prstGeom prst="rect">
            <a:avLst/>
          </a:prstGeom>
          <a:noFill/>
          <a:ln/>
        </p:spPr>
        <p:txBody>
          <a:bodyPr wrap="square" lIns="0" tIns="0" rIns="0" bIns="0" rtlCol="0" anchor="ctr"/>
          <a:lstStyle/>
          <a:p>
            <a:pPr algn="l" indent="0" marL="0">
              <a:buNone/>
            </a:pPr>
            <a:r>
              <a:rPr lang="en-US" sz="4000" b="1" dirty="0">
                <a:solidFill>
                  <a:srgbClr val="EB6F55"/>
                </a:solidFill>
              </a:rPr>
              <a:t>10</a:t>
            </a:r>
            <a:endParaRPr lang="en-US" sz="4000" dirty="0"/>
          </a:p>
        </p:txBody>
      </p:sp>
      <p:sp>
        <p:nvSpPr>
          <p:cNvPr id="11" name="Text 8"/>
          <p:cNvSpPr txBox="1"/>
          <p:nvPr/>
        </p:nvSpPr>
        <p:spPr>
          <a:xfrm>
            <a:off x="8823960" y="2377440"/>
            <a:ext cx="2636215" cy="713232"/>
          </a:xfrm>
          <a:prstGeom prst="rect">
            <a:avLst/>
          </a:prstGeom>
          <a:noFill/>
          <a:ln/>
        </p:spPr>
        <p:txBody>
          <a:bodyPr wrap="square" lIns="0" tIns="0" rIns="0" bIns="0" rtlCol="0" anchor="ctr"/>
          <a:lstStyle/>
          <a:p>
            <a:pPr algn="l" indent="0" marL="0">
              <a:buNone/>
            </a:pPr>
            <a:r>
              <a:rPr lang="en-US" sz="1400" dirty="0">
                <a:solidFill>
                  <a:srgbClr val="C9D8D6"/>
                </a:solidFill>
              </a:rPr>
              <a:t>need attention today</a:t>
            </a:r>
            <a:endParaRPr lang="en-US" sz="1400" dirty="0"/>
          </a:p>
        </p:txBody>
      </p:sp>
      <p:sp>
        <p:nvSpPr>
          <p:cNvPr id="12" name="Text 9"/>
          <p:cNvSpPr txBox="1"/>
          <p:nvPr/>
        </p:nvSpPr>
        <p:spPr>
          <a:xfrm>
            <a:off x="7644384" y="3246120"/>
            <a:ext cx="1143000" cy="713232"/>
          </a:xfrm>
          <a:prstGeom prst="rect">
            <a:avLst/>
          </a:prstGeom>
          <a:noFill/>
          <a:ln/>
        </p:spPr>
        <p:txBody>
          <a:bodyPr wrap="square" lIns="0" tIns="0" rIns="0" bIns="0" rtlCol="0" anchor="ctr"/>
          <a:lstStyle/>
          <a:p>
            <a:pPr algn="l" indent="0" marL="0">
              <a:buNone/>
            </a:pPr>
            <a:r>
              <a:rPr lang="en-US" sz="4000" b="1" dirty="0">
                <a:solidFill>
                  <a:srgbClr val="E3B341"/>
                </a:solidFill>
              </a:rPr>
              <a:t>26</a:t>
            </a:r>
            <a:endParaRPr lang="en-US" sz="4000" dirty="0"/>
          </a:p>
        </p:txBody>
      </p:sp>
      <p:sp>
        <p:nvSpPr>
          <p:cNvPr id="13" name="Text 10"/>
          <p:cNvSpPr txBox="1"/>
          <p:nvPr/>
        </p:nvSpPr>
        <p:spPr>
          <a:xfrm>
            <a:off x="8823960" y="3246120"/>
            <a:ext cx="2636215" cy="713232"/>
          </a:xfrm>
          <a:prstGeom prst="rect">
            <a:avLst/>
          </a:prstGeom>
          <a:noFill/>
          <a:ln/>
        </p:spPr>
        <p:txBody>
          <a:bodyPr wrap="square" lIns="0" tIns="0" rIns="0" bIns="0" rtlCol="0" anchor="ctr"/>
          <a:lstStyle/>
          <a:p>
            <a:pPr algn="l" indent="0" marL="0">
              <a:buNone/>
            </a:pPr>
            <a:r>
              <a:rPr lang="en-US" sz="1400" dirty="0">
                <a:solidFill>
                  <a:srgbClr val="C9D8D6"/>
                </a:solidFill>
              </a:rPr>
              <a:t>worth a check-in</a:t>
            </a:r>
            <a:endParaRPr lang="en-US" sz="1400" dirty="0"/>
          </a:p>
        </p:txBody>
      </p:sp>
      <p:sp>
        <p:nvSpPr>
          <p:cNvPr id="14" name="Text 11"/>
          <p:cNvSpPr txBox="1"/>
          <p:nvPr/>
        </p:nvSpPr>
        <p:spPr>
          <a:xfrm>
            <a:off x="7644384" y="4114800"/>
            <a:ext cx="1143000" cy="713232"/>
          </a:xfrm>
          <a:prstGeom prst="rect">
            <a:avLst/>
          </a:prstGeom>
          <a:noFill/>
          <a:ln/>
        </p:spPr>
        <p:txBody>
          <a:bodyPr wrap="square" lIns="0" tIns="0" rIns="0" bIns="0" rtlCol="0" anchor="ctr"/>
          <a:lstStyle/>
          <a:p>
            <a:pPr algn="l" indent="0" marL="0">
              <a:buNone/>
            </a:pPr>
            <a:r>
              <a:rPr lang="en-US" sz="4000" b="1" dirty="0">
                <a:solidFill>
                  <a:srgbClr val="5BC08A"/>
                </a:solidFill>
              </a:rPr>
              <a:t>204</a:t>
            </a:r>
            <a:endParaRPr lang="en-US" sz="4000" dirty="0"/>
          </a:p>
        </p:txBody>
      </p:sp>
      <p:sp>
        <p:nvSpPr>
          <p:cNvPr id="15" name="Text 12"/>
          <p:cNvSpPr txBox="1"/>
          <p:nvPr/>
        </p:nvSpPr>
        <p:spPr>
          <a:xfrm>
            <a:off x="8823960" y="4114800"/>
            <a:ext cx="2636215" cy="713232"/>
          </a:xfrm>
          <a:prstGeom prst="rect">
            <a:avLst/>
          </a:prstGeom>
          <a:noFill/>
          <a:ln/>
        </p:spPr>
        <p:txBody>
          <a:bodyPr wrap="square" lIns="0" tIns="0" rIns="0" bIns="0" rtlCol="0" anchor="ctr"/>
          <a:lstStyle/>
          <a:p>
            <a:pPr algn="l" indent="0" marL="0">
              <a:buNone/>
            </a:pPr>
            <a:r>
              <a:rPr lang="en-US" sz="1400" dirty="0">
                <a:solidFill>
                  <a:srgbClr val="C9D8D6"/>
                </a:solidFill>
              </a:rPr>
              <a:t>steady: no action needed</a:t>
            </a:r>
            <a:endParaRPr lang="en-US" sz="1400" dirty="0"/>
          </a:p>
        </p:txBody>
      </p:sp>
      <p:sp>
        <p:nvSpPr>
          <p:cNvPr id="16" name="Shape 13"/>
          <p:cNvSpPr/>
          <p:nvPr/>
        </p:nvSpPr>
        <p:spPr>
          <a:xfrm>
            <a:off x="7644384" y="5074920"/>
            <a:ext cx="3760927" cy="0"/>
          </a:xfrm>
          <a:prstGeom prst="line">
            <a:avLst/>
          </a:prstGeom>
          <a:noFill/>
          <a:ln w="9525">
            <a:solidFill>
              <a:srgbClr val="27413F"/>
            </a:solidFill>
            <a:prstDash val="solid"/>
          </a:ln>
        </p:spPr>
      </p:sp>
      <p:sp>
        <p:nvSpPr>
          <p:cNvPr id="17" name="Text 14"/>
          <p:cNvSpPr txBox="1"/>
          <p:nvPr/>
        </p:nvSpPr>
        <p:spPr>
          <a:xfrm>
            <a:off x="7644384" y="5166360"/>
            <a:ext cx="3779215" cy="868680"/>
          </a:xfrm>
          <a:prstGeom prst="rect">
            <a:avLst/>
          </a:prstGeom>
          <a:noFill/>
          <a:ln/>
        </p:spPr>
        <p:txBody>
          <a:bodyPr wrap="square" lIns="0" tIns="0" rIns="0" bIns="0" rtlCol="0" anchor="ctr"/>
          <a:lstStyle/>
          <a:p>
            <a:pPr indent="0" marL="0">
              <a:buNone/>
            </a:pPr>
            <a:r>
              <a:rPr lang="en-US" sz="1350" b="1" dirty="0">
                <a:solidFill>
                  <a:srgbClr val="F1F6F5"/>
                </a:solidFill>
              </a:rPr>
              <a:t>0.041 false alerts a patient-day</a:t>
            </a:r>
            <a:endParaRPr lang="en-US" sz="1350" dirty="0"/>
          </a:p>
          <a:p>
            <a:pPr indent="0" marL="0">
              <a:buNone/>
            </a:pPr>
            <a:r>
              <a:rPr lang="en-US" sz="1350" dirty="0">
                <a:solidFill>
                  <a:srgbClr val="C9D8D6"/>
                </a:solidFill>
              </a:rPr>
              <a:t>inside the 0.045 budget; 36 open alerts, each with reasons and inputs</a:t>
            </a:r>
            <a:endParaRPr lang="en-US" sz="135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Honest limits and the road to a clinic</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What the evidence does not show yet, and how we close each gap</a:t>
            </a:r>
            <a:endParaRPr lang="en-US" sz="1500" dirty="0"/>
          </a:p>
        </p:txBody>
      </p:sp>
      <p:sp>
        <p:nvSpPr>
          <p:cNvPr id="4" name="Shape 2"/>
          <p:cNvSpPr/>
          <p:nvPr/>
        </p:nvSpPr>
        <p:spPr>
          <a:xfrm>
            <a:off x="548640" y="1463040"/>
            <a:ext cx="4572000" cy="4709160"/>
          </a:xfrm>
          <a:prstGeom prst="roundRect">
            <a:avLst>
              <a:gd name="adj" fmla="val 2000"/>
            </a:avLst>
          </a:prstGeom>
          <a:solidFill>
            <a:srgbClr val="152A2A"/>
          </a:solidFill>
          <a:ln w="9525">
            <a:solidFill>
              <a:srgbClr val="27413F"/>
            </a:solidFill>
            <a:prstDash val="solid"/>
          </a:ln>
        </p:spPr>
      </p:sp>
      <p:sp>
        <p:nvSpPr>
          <p:cNvPr id="5" name="Shape 3"/>
          <p:cNvSpPr/>
          <p:nvPr/>
        </p:nvSpPr>
        <p:spPr>
          <a:xfrm>
            <a:off x="749808" y="1645920"/>
            <a:ext cx="420624" cy="420624"/>
          </a:xfrm>
          <a:prstGeom prst="ellipse">
            <a:avLst/>
          </a:prstGeom>
          <a:solidFill>
            <a:srgbClr val="10302F"/>
          </a:solidFill>
          <a:ln w="6350">
            <a:solidFill>
              <a:srgbClr val="27413F"/>
            </a:solidFill>
            <a:prstDash val="solid"/>
          </a:ln>
        </p:spPr>
      </p:sp>
      <p:pic>
        <p:nvPicPr>
          <p:cNvPr id="6" name="Image 0" descr="alert icon">    </p:cNvPr>
          <p:cNvPicPr>
            <a:picLocks noChangeAspect="1"/>
          </p:cNvPicPr>
          <p:nvPr/>
        </p:nvPicPr>
        <p:blipFill>
          <a:blip r:embed="rId1"/>
          <a:stretch>
            <a:fillRect/>
          </a:stretch>
        </p:blipFill>
        <p:spPr>
          <a:xfrm>
            <a:off x="842345" y="1738457"/>
            <a:ext cx="235549" cy="235549"/>
          </a:xfrm>
          <a:prstGeom prst="rect">
            <a:avLst/>
          </a:prstGeom>
        </p:spPr>
      </p:pic>
      <p:sp>
        <p:nvSpPr>
          <p:cNvPr id="7" name="Text 4"/>
          <p:cNvSpPr txBox="1"/>
          <p:nvPr/>
        </p:nvSpPr>
        <p:spPr>
          <a:xfrm>
            <a:off x="1280160" y="1645920"/>
            <a:ext cx="3200400" cy="420624"/>
          </a:xfrm>
          <a:prstGeom prst="rect">
            <a:avLst/>
          </a:prstGeom>
          <a:noFill/>
          <a:ln/>
        </p:spPr>
        <p:txBody>
          <a:bodyPr wrap="square" lIns="0" tIns="0" rIns="0" bIns="0" rtlCol="0" anchor="ctr"/>
          <a:lstStyle/>
          <a:p>
            <a:pPr algn="l" indent="0" marL="0">
              <a:buNone/>
            </a:pPr>
            <a:r>
              <a:rPr lang="en-US" sz="1600" b="1" dirty="0">
                <a:solidFill>
                  <a:srgbClr val="F1F6F5"/>
                </a:solidFill>
              </a:rPr>
              <a:t>Limits today</a:t>
            </a:r>
            <a:endParaRPr lang="en-US" sz="1600" dirty="0"/>
          </a:p>
        </p:txBody>
      </p:sp>
      <p:sp>
        <p:nvSpPr>
          <p:cNvPr id="8" name="Text 5"/>
          <p:cNvSpPr txBox="1"/>
          <p:nvPr/>
        </p:nvSpPr>
        <p:spPr>
          <a:xfrm>
            <a:off x="768096" y="2267712"/>
            <a:ext cx="4169664" cy="3794760"/>
          </a:xfrm>
          <a:prstGeom prst="rect">
            <a:avLst/>
          </a:prstGeom>
          <a:noFill/>
          <a:ln/>
        </p:spPr>
        <p:txBody>
          <a:bodyPr wrap="square" lIns="0" tIns="0" rIns="0" bIns="0" rtlCol="0" anchor="t"/>
          <a:lstStyle/>
          <a:p>
            <a:pPr marL="177800" indent="-177800">
              <a:spcAft>
                <a:spcPts val="1100"/>
              </a:spcAft>
              <a:buSzPct val="100000"/>
              <a:buChar char="•"/>
            </a:pPr>
            <a:r>
              <a:rPr lang="en-US" sz="1450" b="1" dirty="0">
                <a:solidFill>
                  <a:srgbClr val="F1F6F5"/>
                </a:solidFill>
              </a:rPr>
              <a:t>Synthetic labels: </a:t>
            </a:r>
            <a:r>
              <a:rPr lang="en-US" sz="1450" dirty="0">
                <a:solidFill>
                  <a:srgbClr val="C9D8D6"/>
                </a:solidFill>
              </a:rPr>
              <a:t>real-world performance will be lower</a:t>
            </a:r>
            <a:endParaRPr lang="en-US" sz="1450" dirty="0"/>
          </a:p>
          <a:p>
            <a:pPr marL="177800" indent="-177800">
              <a:spcAft>
                <a:spcPts val="1100"/>
              </a:spcAft>
              <a:buSzPct val="100000"/>
              <a:buChar char="•"/>
            </a:pPr>
            <a:r>
              <a:rPr lang="en-US" sz="1450" b="1" dirty="0">
                <a:solidFill>
                  <a:srgbClr val="F1F6F5"/>
                </a:solidFill>
              </a:rPr>
              <a:t>Nightly, not minute by minute: </a:t>
            </a:r>
            <a:r>
              <a:rPr lang="en-US" sz="1450" dirty="0">
                <a:solidFill>
                  <a:srgbClr val="C9D8D6"/>
                </a:solidFill>
              </a:rPr>
              <a:t>budget watches sync hourly to daily</a:t>
            </a:r>
            <a:endParaRPr lang="en-US" sz="1450" dirty="0"/>
          </a:p>
          <a:p>
            <a:pPr marL="177800" indent="-177800">
              <a:spcAft>
                <a:spcPts val="1100"/>
              </a:spcAft>
              <a:buSzPct val="100000"/>
              <a:buChar char="•"/>
            </a:pPr>
            <a:r>
              <a:rPr lang="en-US" sz="1450" b="1" dirty="0">
                <a:solidFill>
                  <a:srgbClr val="F1F6F5"/>
                </a:solidFill>
              </a:rPr>
              <a:t>No heart-attack detection; </a:t>
            </a:r>
            <a:r>
              <a:rPr lang="en-US" sz="1450" dirty="0">
                <a:solidFill>
                  <a:srgbClr val="C9D8D6"/>
                </a:solidFill>
              </a:rPr>
              <a:t>acute events go to SOS and 112</a:t>
            </a:r>
            <a:endParaRPr lang="en-US" sz="1450" dirty="0"/>
          </a:p>
          <a:p>
            <a:pPr marL="177800" indent="-177800">
              <a:spcAft>
                <a:spcPts val="1100"/>
              </a:spcAft>
              <a:buSzPct val="100000"/>
              <a:buChar char="•"/>
            </a:pPr>
            <a:r>
              <a:rPr lang="en-US" sz="1450" b="1" dirty="0">
                <a:solidFill>
                  <a:srgbClr val="F1F6F5"/>
                </a:solidFill>
              </a:rPr>
              <a:t>Record adds ranking, </a:t>
            </a:r>
            <a:r>
              <a:rPr lang="en-US" sz="1450" dirty="0">
                <a:solidFill>
                  <a:srgbClr val="C9D8D6"/>
                </a:solidFill>
              </a:rPr>
              <a:t>not timing; its job is reading the watch right</a:t>
            </a:r>
            <a:endParaRPr lang="en-US" sz="1450" dirty="0"/>
          </a:p>
          <a:p>
            <a:pPr marL="177800" indent="-177800">
              <a:spcAft>
                <a:spcPts val="1100"/>
              </a:spcAft>
              <a:buSzPct val="100000"/>
              <a:buChar char="•"/>
            </a:pPr>
            <a:r>
              <a:rPr lang="en-US" sz="1450" b="1" dirty="0">
                <a:solidFill>
                  <a:srgbClr val="F1F6F5"/>
                </a:solidFill>
              </a:rPr>
              <a:t>Framingham under-estimates </a:t>
            </a:r>
            <a:r>
              <a:rPr lang="en-US" sz="1450" dirty="0">
                <a:solidFill>
                  <a:srgbClr val="C9D8D6"/>
                </a:solidFill>
              </a:rPr>
              <a:t>South Asian risk</a:t>
            </a:r>
            <a:endParaRPr lang="en-US" sz="1450" dirty="0"/>
          </a:p>
          <a:p>
            <a:pPr marL="177800" indent="-177800">
              <a:spcAft>
                <a:spcPts val="1100"/>
              </a:spcAft>
              <a:buSzPct val="100000"/>
              <a:buChar char="•"/>
            </a:pPr>
            <a:r>
              <a:rPr lang="en-US" sz="1450" b="1" dirty="0">
                <a:solidFill>
                  <a:srgbClr val="F1F6F5"/>
                </a:solidFill>
              </a:rPr>
              <a:t>Single splits vary </a:t>
            </a:r>
            <a:r>
              <a:rPr lang="en-US" sz="1450" dirty="0">
                <a:solidFill>
                  <a:srgbClr val="C9D8D6"/>
                </a:solidFill>
              </a:rPr>
              <a:t>by up to 19 points; every headline is a 3-split mean</a:t>
            </a:r>
            <a:endParaRPr lang="en-US" sz="1450" dirty="0"/>
          </a:p>
        </p:txBody>
      </p:sp>
      <p:sp>
        <p:nvSpPr>
          <p:cNvPr id="9" name="Shape 6"/>
          <p:cNvSpPr/>
          <p:nvPr/>
        </p:nvSpPr>
        <p:spPr>
          <a:xfrm>
            <a:off x="5349240" y="1463040"/>
            <a:ext cx="6293815" cy="1074420"/>
          </a:xfrm>
          <a:prstGeom prst="roundRect">
            <a:avLst>
              <a:gd name="adj" fmla="val 8511"/>
            </a:avLst>
          </a:prstGeom>
          <a:solidFill>
            <a:srgbClr val="10302F"/>
          </a:solidFill>
          <a:ln w="9525">
            <a:solidFill>
              <a:srgbClr val="27413F"/>
            </a:solidFill>
            <a:prstDash val="solid"/>
          </a:ln>
        </p:spPr>
      </p:sp>
      <p:sp>
        <p:nvSpPr>
          <p:cNvPr id="10" name="Shape 7"/>
          <p:cNvSpPr/>
          <p:nvPr/>
        </p:nvSpPr>
        <p:spPr>
          <a:xfrm>
            <a:off x="5550408" y="1808226"/>
            <a:ext cx="384048" cy="384048"/>
          </a:xfrm>
          <a:prstGeom prst="ellipse">
            <a:avLst/>
          </a:prstGeom>
          <a:solidFill>
            <a:srgbClr val="0E1A1A"/>
          </a:solidFill>
          <a:ln w="9525">
            <a:solidFill>
              <a:srgbClr val="2C8C8B"/>
            </a:solidFill>
            <a:prstDash val="solid"/>
          </a:ln>
        </p:spPr>
      </p:sp>
      <p:sp>
        <p:nvSpPr>
          <p:cNvPr id="11" name="Text 8"/>
          <p:cNvSpPr txBox="1"/>
          <p:nvPr/>
        </p:nvSpPr>
        <p:spPr>
          <a:xfrm>
            <a:off x="5550408" y="1808226"/>
            <a:ext cx="384048" cy="384048"/>
          </a:xfrm>
          <a:prstGeom prst="rect">
            <a:avLst/>
          </a:prstGeom>
          <a:noFill/>
          <a:ln/>
        </p:spPr>
        <p:txBody>
          <a:bodyPr wrap="square" lIns="0" tIns="0" rIns="0" bIns="0" rtlCol="0" anchor="ctr"/>
          <a:lstStyle/>
          <a:p>
            <a:pPr algn="ctr" indent="0" marL="0">
              <a:buNone/>
            </a:pPr>
            <a:r>
              <a:rPr lang="en-US" sz="1400" b="1" dirty="0">
                <a:solidFill>
                  <a:srgbClr val="3FC1C0"/>
                </a:solidFill>
              </a:rPr>
              <a:t>1</a:t>
            </a:r>
            <a:endParaRPr lang="en-US" sz="1400" dirty="0"/>
          </a:p>
        </p:txBody>
      </p:sp>
      <p:sp>
        <p:nvSpPr>
          <p:cNvPr id="12" name="Text 9"/>
          <p:cNvSpPr txBox="1"/>
          <p:nvPr/>
        </p:nvSpPr>
        <p:spPr>
          <a:xfrm>
            <a:off x="6126480" y="1536192"/>
            <a:ext cx="1828800" cy="928116"/>
          </a:xfrm>
          <a:prstGeom prst="rect">
            <a:avLst/>
          </a:prstGeom>
          <a:noFill/>
          <a:ln/>
        </p:spPr>
        <p:txBody>
          <a:bodyPr wrap="square" lIns="0" tIns="0" rIns="0" bIns="0" rtlCol="0" anchor="ctr"/>
          <a:lstStyle/>
          <a:p>
            <a:pPr algn="l" indent="0" marL="0">
              <a:buNone/>
            </a:pPr>
            <a:r>
              <a:rPr lang="en-US" sz="1500" b="1" dirty="0">
                <a:solidFill>
                  <a:srgbClr val="3FC1C0"/>
                </a:solidFill>
              </a:rPr>
              <a:t>Next 3 months</a:t>
            </a:r>
            <a:endParaRPr lang="en-US" sz="1500" dirty="0"/>
          </a:p>
        </p:txBody>
      </p:sp>
      <p:sp>
        <p:nvSpPr>
          <p:cNvPr id="13" name="Text 10"/>
          <p:cNvSpPr txBox="1"/>
          <p:nvPr/>
        </p:nvSpPr>
        <p:spPr>
          <a:xfrm>
            <a:off x="7955280" y="1536192"/>
            <a:ext cx="3504895" cy="928116"/>
          </a:xfrm>
          <a:prstGeom prst="rect">
            <a:avLst/>
          </a:prstGeom>
          <a:noFill/>
          <a:ln/>
        </p:spPr>
        <p:txBody>
          <a:bodyPr wrap="square" lIns="0" tIns="0" rIns="0" bIns="0" rtlCol="0" anchor="ctr"/>
          <a:lstStyle/>
          <a:p>
            <a:pPr algn="l" indent="0" marL="0">
              <a:buNone/>
            </a:pPr>
            <a:r>
              <a:rPr lang="en-US" sz="1400" dirty="0">
                <a:solidFill>
                  <a:srgbClr val="C9D8D6"/>
                </a:solidFill>
              </a:rPr>
              <a:t>ABDM sandbox integration; Android companion app on Health Connect</a:t>
            </a:r>
            <a:endParaRPr lang="en-US" sz="1400" dirty="0"/>
          </a:p>
        </p:txBody>
      </p:sp>
      <p:sp>
        <p:nvSpPr>
          <p:cNvPr id="14" name="Shape 11"/>
          <p:cNvSpPr/>
          <p:nvPr/>
        </p:nvSpPr>
        <p:spPr>
          <a:xfrm>
            <a:off x="5349240" y="2674620"/>
            <a:ext cx="6293815" cy="1074420"/>
          </a:xfrm>
          <a:prstGeom prst="roundRect">
            <a:avLst>
              <a:gd name="adj" fmla="val 8511"/>
            </a:avLst>
          </a:prstGeom>
          <a:solidFill>
            <a:srgbClr val="152A2A"/>
          </a:solidFill>
          <a:ln w="9525">
            <a:solidFill>
              <a:srgbClr val="27413F"/>
            </a:solidFill>
            <a:prstDash val="solid"/>
          </a:ln>
        </p:spPr>
      </p:sp>
      <p:sp>
        <p:nvSpPr>
          <p:cNvPr id="15" name="Shape 12"/>
          <p:cNvSpPr/>
          <p:nvPr/>
        </p:nvSpPr>
        <p:spPr>
          <a:xfrm>
            <a:off x="5550408" y="3019806"/>
            <a:ext cx="384048" cy="384048"/>
          </a:xfrm>
          <a:prstGeom prst="ellipse">
            <a:avLst/>
          </a:prstGeom>
          <a:solidFill>
            <a:srgbClr val="0E1A1A"/>
          </a:solidFill>
          <a:ln w="9525">
            <a:solidFill>
              <a:srgbClr val="2C8C8B"/>
            </a:solidFill>
            <a:prstDash val="solid"/>
          </a:ln>
        </p:spPr>
      </p:sp>
      <p:sp>
        <p:nvSpPr>
          <p:cNvPr id="16" name="Text 13"/>
          <p:cNvSpPr txBox="1"/>
          <p:nvPr/>
        </p:nvSpPr>
        <p:spPr>
          <a:xfrm>
            <a:off x="5550408" y="3019806"/>
            <a:ext cx="384048" cy="384048"/>
          </a:xfrm>
          <a:prstGeom prst="rect">
            <a:avLst/>
          </a:prstGeom>
          <a:noFill/>
          <a:ln/>
        </p:spPr>
        <p:txBody>
          <a:bodyPr wrap="square" lIns="0" tIns="0" rIns="0" bIns="0" rtlCol="0" anchor="ctr"/>
          <a:lstStyle/>
          <a:p>
            <a:pPr algn="ctr" indent="0" marL="0">
              <a:buNone/>
            </a:pPr>
            <a:r>
              <a:rPr lang="en-US" sz="1400" b="1" dirty="0">
                <a:solidFill>
                  <a:srgbClr val="3FC1C0"/>
                </a:solidFill>
              </a:rPr>
              <a:t>2</a:t>
            </a:r>
            <a:endParaRPr lang="en-US" sz="1400" dirty="0"/>
          </a:p>
        </p:txBody>
      </p:sp>
      <p:sp>
        <p:nvSpPr>
          <p:cNvPr id="17" name="Text 14"/>
          <p:cNvSpPr txBox="1"/>
          <p:nvPr/>
        </p:nvSpPr>
        <p:spPr>
          <a:xfrm>
            <a:off x="6126480" y="2747772"/>
            <a:ext cx="1828800" cy="928116"/>
          </a:xfrm>
          <a:prstGeom prst="rect">
            <a:avLst/>
          </a:prstGeom>
          <a:noFill/>
          <a:ln/>
        </p:spPr>
        <p:txBody>
          <a:bodyPr wrap="square" lIns="0" tIns="0" rIns="0" bIns="0" rtlCol="0" anchor="ctr"/>
          <a:lstStyle/>
          <a:p>
            <a:pPr algn="l" indent="0" marL="0">
              <a:buNone/>
            </a:pPr>
            <a:r>
              <a:rPr lang="en-US" sz="1500" b="1" dirty="0">
                <a:solidFill>
                  <a:srgbClr val="3FC1C0"/>
                </a:solidFill>
              </a:rPr>
              <a:t>3 to 6 months</a:t>
            </a:r>
            <a:endParaRPr lang="en-US" sz="1500" dirty="0"/>
          </a:p>
        </p:txBody>
      </p:sp>
      <p:sp>
        <p:nvSpPr>
          <p:cNvPr id="18" name="Text 15"/>
          <p:cNvSpPr txBox="1"/>
          <p:nvPr/>
        </p:nvSpPr>
        <p:spPr>
          <a:xfrm>
            <a:off x="7955280" y="2747772"/>
            <a:ext cx="3504895" cy="928116"/>
          </a:xfrm>
          <a:prstGeom prst="rect">
            <a:avLst/>
          </a:prstGeom>
          <a:noFill/>
          <a:ln/>
        </p:spPr>
        <p:txBody>
          <a:bodyPr wrap="square" lIns="0" tIns="0" rIns="0" bIns="0" rtlCol="0" anchor="ctr"/>
          <a:lstStyle/>
          <a:p>
            <a:pPr algn="l" indent="0" marL="0">
              <a:buNone/>
            </a:pPr>
            <a:r>
              <a:rPr lang="en-US" sz="1400" dirty="0">
                <a:solidFill>
                  <a:srgbClr val="C9D8D6"/>
                </a:solidFill>
              </a:rPr>
              <a:t>Silent-mode pilot with one hypertension clinic; validate on consented real data</a:t>
            </a:r>
            <a:endParaRPr lang="en-US" sz="1400" dirty="0"/>
          </a:p>
        </p:txBody>
      </p:sp>
      <p:sp>
        <p:nvSpPr>
          <p:cNvPr id="19" name="Shape 16"/>
          <p:cNvSpPr/>
          <p:nvPr/>
        </p:nvSpPr>
        <p:spPr>
          <a:xfrm>
            <a:off x="5349240" y="3886200"/>
            <a:ext cx="6293815" cy="1074420"/>
          </a:xfrm>
          <a:prstGeom prst="roundRect">
            <a:avLst>
              <a:gd name="adj" fmla="val 8511"/>
            </a:avLst>
          </a:prstGeom>
          <a:solidFill>
            <a:srgbClr val="152A2A"/>
          </a:solidFill>
          <a:ln w="9525">
            <a:solidFill>
              <a:srgbClr val="27413F"/>
            </a:solidFill>
            <a:prstDash val="solid"/>
          </a:ln>
        </p:spPr>
      </p:sp>
      <p:sp>
        <p:nvSpPr>
          <p:cNvPr id="20" name="Shape 17"/>
          <p:cNvSpPr/>
          <p:nvPr/>
        </p:nvSpPr>
        <p:spPr>
          <a:xfrm>
            <a:off x="5550408" y="4231386"/>
            <a:ext cx="384048" cy="384048"/>
          </a:xfrm>
          <a:prstGeom prst="ellipse">
            <a:avLst/>
          </a:prstGeom>
          <a:solidFill>
            <a:srgbClr val="0E1A1A"/>
          </a:solidFill>
          <a:ln w="9525">
            <a:solidFill>
              <a:srgbClr val="2C8C8B"/>
            </a:solidFill>
            <a:prstDash val="solid"/>
          </a:ln>
        </p:spPr>
      </p:sp>
      <p:sp>
        <p:nvSpPr>
          <p:cNvPr id="21" name="Text 18"/>
          <p:cNvSpPr txBox="1"/>
          <p:nvPr/>
        </p:nvSpPr>
        <p:spPr>
          <a:xfrm>
            <a:off x="5550408" y="4231386"/>
            <a:ext cx="384048" cy="384048"/>
          </a:xfrm>
          <a:prstGeom prst="rect">
            <a:avLst/>
          </a:prstGeom>
          <a:noFill/>
          <a:ln/>
        </p:spPr>
        <p:txBody>
          <a:bodyPr wrap="square" lIns="0" tIns="0" rIns="0" bIns="0" rtlCol="0" anchor="ctr"/>
          <a:lstStyle/>
          <a:p>
            <a:pPr algn="ctr" indent="0" marL="0">
              <a:buNone/>
            </a:pPr>
            <a:r>
              <a:rPr lang="en-US" sz="1400" b="1" dirty="0">
                <a:solidFill>
                  <a:srgbClr val="3FC1C0"/>
                </a:solidFill>
              </a:rPr>
              <a:t>3</a:t>
            </a:r>
            <a:endParaRPr lang="en-US" sz="1400" dirty="0"/>
          </a:p>
        </p:txBody>
      </p:sp>
      <p:sp>
        <p:nvSpPr>
          <p:cNvPr id="22" name="Text 19"/>
          <p:cNvSpPr txBox="1"/>
          <p:nvPr/>
        </p:nvSpPr>
        <p:spPr>
          <a:xfrm>
            <a:off x="6126480" y="3959352"/>
            <a:ext cx="1828800" cy="928116"/>
          </a:xfrm>
          <a:prstGeom prst="rect">
            <a:avLst/>
          </a:prstGeom>
          <a:noFill/>
          <a:ln/>
        </p:spPr>
        <p:txBody>
          <a:bodyPr wrap="square" lIns="0" tIns="0" rIns="0" bIns="0" rtlCol="0" anchor="ctr"/>
          <a:lstStyle/>
          <a:p>
            <a:pPr algn="l" indent="0" marL="0">
              <a:buNone/>
            </a:pPr>
            <a:r>
              <a:rPr lang="en-US" sz="1500" b="1" dirty="0">
                <a:solidFill>
                  <a:srgbClr val="3FC1C0"/>
                </a:solidFill>
              </a:rPr>
              <a:t>6 to 12 months</a:t>
            </a:r>
            <a:endParaRPr lang="en-US" sz="1500" dirty="0"/>
          </a:p>
        </p:txBody>
      </p:sp>
      <p:sp>
        <p:nvSpPr>
          <p:cNvPr id="23" name="Text 20"/>
          <p:cNvSpPr txBox="1"/>
          <p:nvPr/>
        </p:nvSpPr>
        <p:spPr>
          <a:xfrm>
            <a:off x="7955280" y="3959352"/>
            <a:ext cx="3504895" cy="928116"/>
          </a:xfrm>
          <a:prstGeom prst="rect">
            <a:avLst/>
          </a:prstGeom>
          <a:noFill/>
          <a:ln/>
        </p:spPr>
        <p:txBody>
          <a:bodyPr wrap="square" lIns="0" tIns="0" rIns="0" bIns="0" rtlCol="0" anchor="ctr"/>
          <a:lstStyle/>
          <a:p>
            <a:pPr algn="l" indent="0" marL="0">
              <a:buNone/>
            </a:pPr>
            <a:r>
              <a:rPr lang="en-US" sz="1400" dirty="0">
                <a:solidFill>
                  <a:srgbClr val="C9D8D6"/>
                </a:solidFill>
              </a:rPr>
              <a:t>WHO 2019 SEAR risk chart; CGM stream for diabetic patients; more Indian languages</a:t>
            </a:r>
            <a:endParaRPr lang="en-US" sz="1400" dirty="0"/>
          </a:p>
        </p:txBody>
      </p:sp>
      <p:sp>
        <p:nvSpPr>
          <p:cNvPr id="24" name="Shape 21"/>
          <p:cNvSpPr/>
          <p:nvPr/>
        </p:nvSpPr>
        <p:spPr>
          <a:xfrm>
            <a:off x="5349240" y="5097780"/>
            <a:ext cx="6293815" cy="1074420"/>
          </a:xfrm>
          <a:prstGeom prst="roundRect">
            <a:avLst>
              <a:gd name="adj" fmla="val 8511"/>
            </a:avLst>
          </a:prstGeom>
          <a:solidFill>
            <a:srgbClr val="152A2A"/>
          </a:solidFill>
          <a:ln w="9525">
            <a:solidFill>
              <a:srgbClr val="27413F"/>
            </a:solidFill>
            <a:prstDash val="solid"/>
          </a:ln>
        </p:spPr>
      </p:sp>
      <p:sp>
        <p:nvSpPr>
          <p:cNvPr id="25" name="Shape 22"/>
          <p:cNvSpPr/>
          <p:nvPr/>
        </p:nvSpPr>
        <p:spPr>
          <a:xfrm>
            <a:off x="5550408" y="5442966"/>
            <a:ext cx="384048" cy="384048"/>
          </a:xfrm>
          <a:prstGeom prst="ellipse">
            <a:avLst/>
          </a:prstGeom>
          <a:solidFill>
            <a:srgbClr val="0E1A1A"/>
          </a:solidFill>
          <a:ln w="9525">
            <a:solidFill>
              <a:srgbClr val="2C8C8B"/>
            </a:solidFill>
            <a:prstDash val="solid"/>
          </a:ln>
        </p:spPr>
      </p:sp>
      <p:sp>
        <p:nvSpPr>
          <p:cNvPr id="26" name="Text 23"/>
          <p:cNvSpPr txBox="1"/>
          <p:nvPr/>
        </p:nvSpPr>
        <p:spPr>
          <a:xfrm>
            <a:off x="5550408" y="5442966"/>
            <a:ext cx="384048" cy="384048"/>
          </a:xfrm>
          <a:prstGeom prst="rect">
            <a:avLst/>
          </a:prstGeom>
          <a:noFill/>
          <a:ln/>
        </p:spPr>
        <p:txBody>
          <a:bodyPr wrap="square" lIns="0" tIns="0" rIns="0" bIns="0" rtlCol="0" anchor="ctr"/>
          <a:lstStyle/>
          <a:p>
            <a:pPr algn="ctr" indent="0" marL="0">
              <a:buNone/>
            </a:pPr>
            <a:r>
              <a:rPr lang="en-US" sz="1400" b="1" dirty="0">
                <a:solidFill>
                  <a:srgbClr val="3FC1C0"/>
                </a:solidFill>
              </a:rPr>
              <a:t>4</a:t>
            </a:r>
            <a:endParaRPr lang="en-US" sz="1400" dirty="0"/>
          </a:p>
        </p:txBody>
      </p:sp>
      <p:sp>
        <p:nvSpPr>
          <p:cNvPr id="27" name="Text 24"/>
          <p:cNvSpPr txBox="1"/>
          <p:nvPr/>
        </p:nvSpPr>
        <p:spPr>
          <a:xfrm>
            <a:off x="6126480" y="5170932"/>
            <a:ext cx="1828800" cy="928116"/>
          </a:xfrm>
          <a:prstGeom prst="rect">
            <a:avLst/>
          </a:prstGeom>
          <a:noFill/>
          <a:ln/>
        </p:spPr>
        <p:txBody>
          <a:bodyPr wrap="square" lIns="0" tIns="0" rIns="0" bIns="0" rtlCol="0" anchor="ctr"/>
          <a:lstStyle/>
          <a:p>
            <a:pPr algn="l" indent="0" marL="0">
              <a:buNone/>
            </a:pPr>
            <a:r>
              <a:rPr lang="en-US" sz="1500" b="1" dirty="0">
                <a:solidFill>
                  <a:srgbClr val="3FC1C0"/>
                </a:solidFill>
              </a:rPr>
              <a:t>12 months on</a:t>
            </a:r>
            <a:endParaRPr lang="en-US" sz="1500" dirty="0"/>
          </a:p>
        </p:txBody>
      </p:sp>
      <p:sp>
        <p:nvSpPr>
          <p:cNvPr id="28" name="Text 25"/>
          <p:cNvSpPr txBox="1"/>
          <p:nvPr/>
        </p:nvSpPr>
        <p:spPr>
          <a:xfrm>
            <a:off x="7955280" y="5170932"/>
            <a:ext cx="3504895" cy="928116"/>
          </a:xfrm>
          <a:prstGeom prst="rect">
            <a:avLst/>
          </a:prstGeom>
          <a:noFill/>
          <a:ln/>
        </p:spPr>
        <p:txBody>
          <a:bodyPr wrap="square" lIns="0" tIns="0" rIns="0" bIns="0" rtlCol="0" anchor="ctr"/>
          <a:lstStyle/>
          <a:p>
            <a:pPr algn="l" indent="0" marL="0">
              <a:buNone/>
            </a:pPr>
            <a:r>
              <a:rPr lang="en-US" sz="1400" dirty="0">
                <a:solidFill>
                  <a:srgbClr val="C9D8D6"/>
                </a:solidFill>
              </a:rPr>
              <a:t>CDSCO Medical Device Software filing (Class B or C); clinic network roll-out</a:t>
            </a:r>
            <a:endParaRPr lang="en-US" sz="140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329184"/>
            <a:ext cx="11094415" cy="603504"/>
          </a:xfrm>
          <a:prstGeom prst="rect">
            <a:avLst/>
          </a:prstGeom>
          <a:noFill/>
          <a:ln/>
        </p:spPr>
        <p:txBody>
          <a:bodyPr wrap="square" lIns="0" tIns="0" rIns="0" bIns="0" rtlCol="0" anchor="ctr"/>
          <a:lstStyle/>
          <a:p>
            <a:pPr algn="l" indent="0" marL="0">
              <a:buNone/>
            </a:pPr>
            <a:r>
              <a:rPr lang="en-US" sz="3000" b="1" dirty="0">
                <a:solidFill>
                  <a:srgbClr val="F1F6F5"/>
                </a:solidFill>
              </a:rPr>
              <a:t>Team AMAZE, IIM Lucknow</a:t>
            </a:r>
            <a:endParaRPr lang="en-US" sz="3000" dirty="0"/>
          </a:p>
        </p:txBody>
      </p:sp>
      <p:sp>
        <p:nvSpPr>
          <p:cNvPr id="3" name="Text 1"/>
          <p:cNvSpPr/>
          <p:nvPr>
            <p:ph idx="103" type="body" hasCustomPrompt="1"/>
          </p:nvPr>
        </p:nvSpPr>
        <p:spPr>
          <a:xfrm>
            <a:off x="548640" y="932688"/>
            <a:ext cx="11094415" cy="384048"/>
          </a:xfrm>
          <a:prstGeom prst="rect">
            <a:avLst/>
          </a:prstGeom>
          <a:noFill/>
          <a:ln/>
        </p:spPr>
        <p:txBody>
          <a:bodyPr wrap="square" lIns="0" tIns="0" rIns="0" bIns="0" rtlCol="0" anchor="t"/>
          <a:lstStyle/>
          <a:p>
            <a:pPr algn="l" indent="0" marL="0">
              <a:buNone/>
            </a:pPr>
            <a:r>
              <a:rPr lang="en-US" sz="1500" dirty="0">
                <a:solidFill>
                  <a:srgbClr val="93ADAA"/>
                </a:solidFill>
              </a:rPr>
              <a:t>Happiest Health Digital Twin Challenge 2026</a:t>
            </a:r>
            <a:endParaRPr lang="en-US" sz="1500" dirty="0"/>
          </a:p>
        </p:txBody>
      </p:sp>
      <p:sp>
        <p:nvSpPr>
          <p:cNvPr id="4" name="Shape 2"/>
          <p:cNvSpPr/>
          <p:nvPr/>
        </p:nvSpPr>
        <p:spPr>
          <a:xfrm>
            <a:off x="548640" y="1463040"/>
            <a:ext cx="2606040" cy="2103120"/>
          </a:xfrm>
          <a:prstGeom prst="roundRect">
            <a:avLst>
              <a:gd name="adj" fmla="val 4348"/>
            </a:avLst>
          </a:prstGeom>
          <a:solidFill>
            <a:srgbClr val="152A2A"/>
          </a:solidFill>
          <a:ln w="9525">
            <a:solidFill>
              <a:srgbClr val="27413F"/>
            </a:solidFill>
            <a:prstDash val="solid"/>
          </a:ln>
        </p:spPr>
      </p:sp>
      <p:sp>
        <p:nvSpPr>
          <p:cNvPr id="5" name="Shape 3"/>
          <p:cNvSpPr/>
          <p:nvPr/>
        </p:nvSpPr>
        <p:spPr>
          <a:xfrm>
            <a:off x="768096" y="1700784"/>
            <a:ext cx="512064" cy="512064"/>
          </a:xfrm>
          <a:prstGeom prst="ellipse">
            <a:avLst/>
          </a:prstGeom>
          <a:solidFill>
            <a:srgbClr val="10302F"/>
          </a:solidFill>
          <a:ln w="6350">
            <a:solidFill>
              <a:srgbClr val="27413F"/>
            </a:solidFill>
            <a:prstDash val="solid"/>
          </a:ln>
        </p:spPr>
      </p:sp>
      <p:pic>
        <p:nvPicPr>
          <p:cNvPr id="6" name="Image 0" descr="cap icon">    </p:cNvPr>
          <p:cNvPicPr>
            <a:picLocks noChangeAspect="1"/>
          </p:cNvPicPr>
          <p:nvPr/>
        </p:nvPicPr>
        <p:blipFill>
          <a:blip r:embed="rId1"/>
          <a:stretch>
            <a:fillRect/>
          </a:stretch>
        </p:blipFill>
        <p:spPr>
          <a:xfrm>
            <a:off x="880750" y="1813438"/>
            <a:ext cx="286756" cy="286756"/>
          </a:xfrm>
          <a:prstGeom prst="rect">
            <a:avLst/>
          </a:prstGeom>
        </p:spPr>
      </p:pic>
      <p:sp>
        <p:nvSpPr>
          <p:cNvPr id="7" name="Text 4"/>
          <p:cNvSpPr txBox="1"/>
          <p:nvPr/>
        </p:nvSpPr>
        <p:spPr>
          <a:xfrm>
            <a:off x="768096" y="2377440"/>
            <a:ext cx="2194560" cy="384048"/>
          </a:xfrm>
          <a:prstGeom prst="rect">
            <a:avLst/>
          </a:prstGeom>
          <a:noFill/>
          <a:ln/>
        </p:spPr>
        <p:txBody>
          <a:bodyPr wrap="square" lIns="0" tIns="0" rIns="0" bIns="0" rtlCol="0" anchor="t"/>
          <a:lstStyle/>
          <a:p>
            <a:pPr algn="l" indent="0" marL="0">
              <a:buNone/>
            </a:pPr>
            <a:r>
              <a:rPr lang="en-US" sz="1900" b="1" dirty="0">
                <a:solidFill>
                  <a:srgbClr val="F1F6F5"/>
                </a:solidFill>
              </a:rPr>
              <a:t>Nikita Pandey</a:t>
            </a:r>
            <a:endParaRPr lang="en-US" sz="1900" dirty="0"/>
          </a:p>
        </p:txBody>
      </p:sp>
      <p:sp>
        <p:nvSpPr>
          <p:cNvPr id="8" name="Text 5"/>
          <p:cNvSpPr txBox="1"/>
          <p:nvPr/>
        </p:nvSpPr>
        <p:spPr>
          <a:xfrm>
            <a:off x="768096" y="2761488"/>
            <a:ext cx="2194560" cy="292608"/>
          </a:xfrm>
          <a:prstGeom prst="rect">
            <a:avLst/>
          </a:prstGeom>
          <a:noFill/>
          <a:ln/>
        </p:spPr>
        <p:txBody>
          <a:bodyPr wrap="square" lIns="0" tIns="0" rIns="0" bIns="0" rtlCol="0" anchor="t"/>
          <a:lstStyle/>
          <a:p>
            <a:pPr algn="l" indent="0" marL="0">
              <a:buNone/>
            </a:pPr>
            <a:r>
              <a:rPr lang="en-US" sz="1400" b="1" dirty="0">
                <a:solidFill>
                  <a:srgbClr val="D6A06A"/>
                </a:solidFill>
              </a:rPr>
              <a:t>Team leader</a:t>
            </a:r>
            <a:endParaRPr lang="en-US" sz="1400" dirty="0"/>
          </a:p>
        </p:txBody>
      </p:sp>
      <p:sp>
        <p:nvSpPr>
          <p:cNvPr id="9" name="Text 6"/>
          <p:cNvSpPr txBox="1"/>
          <p:nvPr/>
        </p:nvSpPr>
        <p:spPr>
          <a:xfrm>
            <a:off x="768096" y="3072384"/>
            <a:ext cx="2194560" cy="292608"/>
          </a:xfrm>
          <a:prstGeom prst="rect">
            <a:avLst/>
          </a:prstGeom>
          <a:noFill/>
          <a:ln/>
        </p:spPr>
        <p:txBody>
          <a:bodyPr wrap="square" lIns="0" tIns="0" rIns="0" bIns="0" rtlCol="0" anchor="t"/>
          <a:lstStyle/>
          <a:p>
            <a:pPr algn="l" indent="0" marL="0">
              <a:buNone/>
            </a:pPr>
            <a:r>
              <a:rPr lang="en-US" sz="1300" dirty="0">
                <a:solidFill>
                  <a:srgbClr val="93ADAA"/>
                </a:solidFill>
              </a:rPr>
              <a:t>PGPSM, IIM Lucknow</a:t>
            </a:r>
            <a:endParaRPr lang="en-US" sz="1300" dirty="0"/>
          </a:p>
        </p:txBody>
      </p:sp>
      <p:sp>
        <p:nvSpPr>
          <p:cNvPr id="10" name="Shape 7"/>
          <p:cNvSpPr/>
          <p:nvPr/>
        </p:nvSpPr>
        <p:spPr>
          <a:xfrm>
            <a:off x="3337560" y="1463040"/>
            <a:ext cx="2606040" cy="2103120"/>
          </a:xfrm>
          <a:prstGeom prst="roundRect">
            <a:avLst>
              <a:gd name="adj" fmla="val 4348"/>
            </a:avLst>
          </a:prstGeom>
          <a:solidFill>
            <a:srgbClr val="152A2A"/>
          </a:solidFill>
          <a:ln w="9525">
            <a:solidFill>
              <a:srgbClr val="27413F"/>
            </a:solidFill>
            <a:prstDash val="solid"/>
          </a:ln>
        </p:spPr>
      </p:sp>
      <p:sp>
        <p:nvSpPr>
          <p:cNvPr id="11" name="Shape 8"/>
          <p:cNvSpPr/>
          <p:nvPr/>
        </p:nvSpPr>
        <p:spPr>
          <a:xfrm>
            <a:off x="3557016" y="1700784"/>
            <a:ext cx="512064" cy="512064"/>
          </a:xfrm>
          <a:prstGeom prst="ellipse">
            <a:avLst/>
          </a:prstGeom>
          <a:solidFill>
            <a:srgbClr val="10302F"/>
          </a:solidFill>
          <a:ln w="6350">
            <a:solidFill>
              <a:srgbClr val="27413F"/>
            </a:solidFill>
            <a:prstDash val="solid"/>
          </a:ln>
        </p:spPr>
      </p:sp>
      <p:pic>
        <p:nvPicPr>
          <p:cNvPr id="12" name="Image 1" descr="cap icon">    </p:cNvPr>
          <p:cNvPicPr>
            <a:picLocks noChangeAspect="1"/>
          </p:cNvPicPr>
          <p:nvPr/>
        </p:nvPicPr>
        <p:blipFill>
          <a:blip r:embed="rId2"/>
          <a:stretch>
            <a:fillRect/>
          </a:stretch>
        </p:blipFill>
        <p:spPr>
          <a:xfrm>
            <a:off x="3669670" y="1813438"/>
            <a:ext cx="286756" cy="286756"/>
          </a:xfrm>
          <a:prstGeom prst="rect">
            <a:avLst/>
          </a:prstGeom>
        </p:spPr>
      </p:pic>
      <p:sp>
        <p:nvSpPr>
          <p:cNvPr id="13" name="Text 9"/>
          <p:cNvSpPr txBox="1"/>
          <p:nvPr/>
        </p:nvSpPr>
        <p:spPr>
          <a:xfrm>
            <a:off x="3557016" y="2377440"/>
            <a:ext cx="2194560" cy="384048"/>
          </a:xfrm>
          <a:prstGeom prst="rect">
            <a:avLst/>
          </a:prstGeom>
          <a:noFill/>
          <a:ln/>
        </p:spPr>
        <p:txBody>
          <a:bodyPr wrap="square" lIns="0" tIns="0" rIns="0" bIns="0" rtlCol="0" anchor="t"/>
          <a:lstStyle/>
          <a:p>
            <a:pPr algn="l" indent="0" marL="0">
              <a:buNone/>
            </a:pPr>
            <a:r>
              <a:rPr lang="en-US" sz="1900" b="1" dirty="0">
                <a:solidFill>
                  <a:srgbClr val="F1F6F5"/>
                </a:solidFill>
              </a:rPr>
              <a:t>Suraj Aryan</a:t>
            </a:r>
            <a:endParaRPr lang="en-US" sz="1900" dirty="0"/>
          </a:p>
        </p:txBody>
      </p:sp>
      <p:sp>
        <p:nvSpPr>
          <p:cNvPr id="14" name="Text 10"/>
          <p:cNvSpPr txBox="1"/>
          <p:nvPr/>
        </p:nvSpPr>
        <p:spPr>
          <a:xfrm>
            <a:off x="3557016" y="2761488"/>
            <a:ext cx="2194560" cy="292608"/>
          </a:xfrm>
          <a:prstGeom prst="rect">
            <a:avLst/>
          </a:prstGeom>
          <a:noFill/>
          <a:ln/>
        </p:spPr>
        <p:txBody>
          <a:bodyPr wrap="square" lIns="0" tIns="0" rIns="0" bIns="0" rtlCol="0" anchor="t"/>
          <a:lstStyle/>
          <a:p>
            <a:pPr algn="l" indent="0" marL="0">
              <a:buNone/>
            </a:pPr>
            <a:r>
              <a:rPr lang="en-US" sz="1400" b="1" dirty="0">
                <a:solidFill>
                  <a:srgbClr val="D6A06A"/>
                </a:solidFill>
              </a:rPr>
              <a:t>Member</a:t>
            </a:r>
            <a:endParaRPr lang="en-US" sz="1400" dirty="0"/>
          </a:p>
        </p:txBody>
      </p:sp>
      <p:sp>
        <p:nvSpPr>
          <p:cNvPr id="15" name="Text 11"/>
          <p:cNvSpPr txBox="1"/>
          <p:nvPr/>
        </p:nvSpPr>
        <p:spPr>
          <a:xfrm>
            <a:off x="3557016" y="3072384"/>
            <a:ext cx="2194560" cy="292608"/>
          </a:xfrm>
          <a:prstGeom prst="rect">
            <a:avLst/>
          </a:prstGeom>
          <a:noFill/>
          <a:ln/>
        </p:spPr>
        <p:txBody>
          <a:bodyPr wrap="square" lIns="0" tIns="0" rIns="0" bIns="0" rtlCol="0" anchor="t"/>
          <a:lstStyle/>
          <a:p>
            <a:pPr algn="l" indent="0" marL="0">
              <a:buNone/>
            </a:pPr>
            <a:r>
              <a:rPr lang="en-US" sz="1300" dirty="0">
                <a:solidFill>
                  <a:srgbClr val="93ADAA"/>
                </a:solidFill>
              </a:rPr>
              <a:t>PGPSM, IIM Lucknow</a:t>
            </a:r>
            <a:endParaRPr lang="en-US" sz="1300" dirty="0"/>
          </a:p>
        </p:txBody>
      </p:sp>
      <p:sp>
        <p:nvSpPr>
          <p:cNvPr id="16" name="Shape 12"/>
          <p:cNvSpPr/>
          <p:nvPr/>
        </p:nvSpPr>
        <p:spPr>
          <a:xfrm>
            <a:off x="548640" y="3794760"/>
            <a:ext cx="5440680" cy="2377440"/>
          </a:xfrm>
          <a:prstGeom prst="roundRect">
            <a:avLst>
              <a:gd name="adj" fmla="val 3846"/>
            </a:avLst>
          </a:prstGeom>
          <a:solidFill>
            <a:srgbClr val="10302F"/>
          </a:solidFill>
          <a:ln w="9525">
            <a:solidFill>
              <a:srgbClr val="27413F"/>
            </a:solidFill>
            <a:prstDash val="solid"/>
          </a:ln>
        </p:spPr>
      </p:sp>
      <p:pic>
        <p:nvPicPr>
          <p:cNvPr id="17" name="Image 2" descr="Pratibimb mark">    </p:cNvPr>
          <p:cNvPicPr>
            <a:picLocks noChangeAspect="1"/>
          </p:cNvPicPr>
          <p:nvPr/>
        </p:nvPicPr>
        <p:blipFill>
          <a:blip r:embed="rId3"/>
          <a:stretch>
            <a:fillRect/>
          </a:stretch>
        </p:blipFill>
        <p:spPr>
          <a:xfrm>
            <a:off x="822960" y="4069080"/>
            <a:ext cx="1828800" cy="1211580"/>
          </a:xfrm>
          <a:prstGeom prst="rect">
            <a:avLst/>
          </a:prstGeom>
        </p:spPr>
      </p:pic>
      <p:sp>
        <p:nvSpPr>
          <p:cNvPr id="18" name="Text 13"/>
          <p:cNvSpPr txBox="1"/>
          <p:nvPr/>
        </p:nvSpPr>
        <p:spPr>
          <a:xfrm>
            <a:off x="2926080" y="4023360"/>
            <a:ext cx="2926080" cy="548640"/>
          </a:xfrm>
          <a:prstGeom prst="rect">
            <a:avLst/>
          </a:prstGeom>
          <a:noFill/>
          <a:ln/>
        </p:spPr>
        <p:txBody>
          <a:bodyPr wrap="square" lIns="0" tIns="0" rIns="0" bIns="0" rtlCol="0" anchor="t"/>
          <a:lstStyle/>
          <a:p>
            <a:pPr algn="l" indent="0" marL="0">
              <a:buNone/>
            </a:pPr>
            <a:r>
              <a:rPr lang="en-US" sz="3000" b="1" dirty="0">
                <a:solidFill>
                  <a:srgbClr val="F1F6F5"/>
                </a:solidFill>
              </a:rPr>
              <a:t>Thank you</a:t>
            </a:r>
            <a:endParaRPr lang="en-US" sz="3000" dirty="0"/>
          </a:p>
        </p:txBody>
      </p:sp>
      <p:sp>
        <p:nvSpPr>
          <p:cNvPr id="19" name="Text 14"/>
          <p:cNvSpPr txBox="1"/>
          <p:nvPr/>
        </p:nvSpPr>
        <p:spPr>
          <a:xfrm>
            <a:off x="2926080" y="4617720"/>
            <a:ext cx="2880360" cy="914400"/>
          </a:xfrm>
          <a:prstGeom prst="rect">
            <a:avLst/>
          </a:prstGeom>
          <a:noFill/>
          <a:ln/>
        </p:spPr>
        <p:txBody>
          <a:bodyPr wrap="square" lIns="0" tIns="0" rIns="0" bIns="0" rtlCol="0" anchor="t"/>
          <a:lstStyle/>
          <a:p>
            <a:pPr algn="l" indent="0" marL="0">
              <a:buNone/>
            </a:pPr>
            <a:r>
              <a:rPr lang="en-US" sz="1400" dirty="0">
                <a:solidFill>
                  <a:srgbClr val="C9D8D6"/>
                </a:solidFill>
              </a:rPr>
              <a:t>Pratibimb: a reflection of one body, read ahead of time.</a:t>
            </a:r>
            <a:endParaRPr lang="en-US" sz="1400" dirty="0"/>
          </a:p>
        </p:txBody>
      </p:sp>
      <p:sp>
        <p:nvSpPr>
          <p:cNvPr id="20" name="Shape 15"/>
          <p:cNvSpPr/>
          <p:nvPr/>
        </p:nvSpPr>
        <p:spPr>
          <a:xfrm>
            <a:off x="6217920" y="1463040"/>
            <a:ext cx="5425135" cy="4709160"/>
          </a:xfrm>
          <a:prstGeom prst="roundRect">
            <a:avLst>
              <a:gd name="adj" fmla="val 1942"/>
            </a:avLst>
          </a:prstGeom>
          <a:solidFill>
            <a:srgbClr val="152A2A"/>
          </a:solidFill>
          <a:ln w="9525">
            <a:solidFill>
              <a:srgbClr val="27413F"/>
            </a:solidFill>
            <a:prstDash val="solid"/>
          </a:ln>
        </p:spPr>
      </p:sp>
      <p:sp>
        <p:nvSpPr>
          <p:cNvPr id="21" name="Text 16"/>
          <p:cNvSpPr txBox="1"/>
          <p:nvPr/>
        </p:nvSpPr>
        <p:spPr>
          <a:xfrm>
            <a:off x="6455664" y="1645920"/>
            <a:ext cx="5059375" cy="384048"/>
          </a:xfrm>
          <a:prstGeom prst="rect">
            <a:avLst/>
          </a:prstGeom>
          <a:noFill/>
          <a:ln/>
        </p:spPr>
        <p:txBody>
          <a:bodyPr wrap="square" lIns="0" tIns="0" rIns="0" bIns="0" rtlCol="0" anchor="t"/>
          <a:lstStyle/>
          <a:p>
            <a:pPr algn="l" indent="0" marL="0">
              <a:buNone/>
            </a:pPr>
            <a:r>
              <a:rPr lang="en-US" sz="1600" b="1" dirty="0">
                <a:solidFill>
                  <a:srgbClr val="F1F6F5"/>
                </a:solidFill>
              </a:rPr>
              <a:t>Everything is public</a:t>
            </a:r>
            <a:endParaRPr lang="en-US" sz="1600" dirty="0"/>
          </a:p>
        </p:txBody>
      </p:sp>
      <p:sp>
        <p:nvSpPr>
          <p:cNvPr id="22" name="Shape 17"/>
          <p:cNvSpPr/>
          <p:nvPr/>
        </p:nvSpPr>
        <p:spPr>
          <a:xfrm>
            <a:off x="6455664" y="2176272"/>
            <a:ext cx="365760" cy="365760"/>
          </a:xfrm>
          <a:prstGeom prst="ellipse">
            <a:avLst/>
          </a:prstGeom>
          <a:solidFill>
            <a:srgbClr val="10302F"/>
          </a:solidFill>
          <a:ln w="6350">
            <a:solidFill>
              <a:srgbClr val="27413F"/>
            </a:solidFill>
            <a:prstDash val="solid"/>
          </a:ln>
        </p:spPr>
      </p:sp>
      <p:pic>
        <p:nvPicPr>
          <p:cNvPr id="23" name="Image 3" descr="link icon">    </p:cNvPr>
          <p:cNvPicPr>
            <a:picLocks noChangeAspect="1"/>
          </p:cNvPicPr>
          <p:nvPr/>
        </p:nvPicPr>
        <p:blipFill>
          <a:blip r:embed="rId4"/>
          <a:stretch>
            <a:fillRect/>
          </a:stretch>
        </p:blipFill>
        <p:spPr>
          <a:xfrm>
            <a:off x="6536131" y="2256739"/>
            <a:ext cx="204826" cy="204826"/>
          </a:xfrm>
          <a:prstGeom prst="rect">
            <a:avLst/>
          </a:prstGeom>
        </p:spPr>
      </p:pic>
      <p:sp>
        <p:nvSpPr>
          <p:cNvPr id="24" name="Text 18"/>
          <p:cNvSpPr txBox="1"/>
          <p:nvPr/>
        </p:nvSpPr>
        <p:spPr>
          <a:xfrm>
            <a:off x="6949440" y="2139696"/>
            <a:ext cx="1280160" cy="438912"/>
          </a:xfrm>
          <a:prstGeom prst="rect">
            <a:avLst/>
          </a:prstGeom>
          <a:noFill/>
          <a:ln/>
        </p:spPr>
        <p:txBody>
          <a:bodyPr wrap="square" lIns="0" tIns="0" rIns="0" bIns="0" rtlCol="0" anchor="ctr"/>
          <a:lstStyle/>
          <a:p>
            <a:pPr algn="l" indent="0" marL="0">
              <a:buNone/>
            </a:pPr>
            <a:r>
              <a:rPr lang="en-US" sz="1400" b="1" dirty="0">
                <a:solidFill>
                  <a:srgbClr val="F1F6F5"/>
                </a:solidFill>
              </a:rPr>
              <a:t>Live demo</a:t>
            </a:r>
            <a:endParaRPr lang="en-US" sz="1400" dirty="0"/>
          </a:p>
        </p:txBody>
      </p:sp>
      <p:sp>
        <p:nvSpPr>
          <p:cNvPr id="25" name="Text 19"/>
          <p:cNvSpPr txBox="1"/>
          <p:nvPr/>
        </p:nvSpPr>
        <p:spPr>
          <a:xfrm>
            <a:off x="8183880" y="2139696"/>
            <a:ext cx="3322015" cy="438912"/>
          </a:xfrm>
          <a:prstGeom prst="rect">
            <a:avLst/>
          </a:prstGeom>
          <a:noFill/>
          <a:ln/>
        </p:spPr>
        <p:txBody>
          <a:bodyPr wrap="square" lIns="0" tIns="0" rIns="0" bIns="0" rtlCol="0" anchor="ctr"/>
          <a:lstStyle/>
          <a:p>
            <a:pPr indent="0" marL="0">
              <a:buNone/>
            </a:pPr>
            <a:r>
              <a:rPr lang="en-US" sz="1300" u="sng" dirty="0">
                <a:solidFill>
                  <a:srgbClr val="3FC1C0"/>
                </a:solidFill>
                <a:hlinkClick r:id="rId5" invalidUrl="" action="" tgtFrame="" tooltip="Live demo" history="1" highlightClick="0" endSnd="0">
                  <a:extLst>
                    <a:ext uri="{A12FA001-AC4F-418D-AE19-62706E023703}">
                      <ahyp:hlinkClr xmlns:ahyp="http://schemas.microsoft.com/office/drawing/2018/hyperlinkcolor" val="tx"/>
                    </a:ext>
                  </a:extLst>
                </a:hlinkClick>
              </a:rPr>
              <a:t>pratibimb-pi.vercel.app</a:t>
            </a:r>
            <a:endParaRPr lang="en-US" sz="1300" dirty="0"/>
          </a:p>
        </p:txBody>
      </p:sp>
      <p:sp>
        <p:nvSpPr>
          <p:cNvPr id="26" name="Shape 20"/>
          <p:cNvSpPr/>
          <p:nvPr/>
        </p:nvSpPr>
        <p:spPr>
          <a:xfrm>
            <a:off x="6455664" y="2724912"/>
            <a:ext cx="365760" cy="365760"/>
          </a:xfrm>
          <a:prstGeom prst="ellipse">
            <a:avLst/>
          </a:prstGeom>
          <a:solidFill>
            <a:srgbClr val="10302F"/>
          </a:solidFill>
          <a:ln w="6350">
            <a:solidFill>
              <a:srgbClr val="27413F"/>
            </a:solidFill>
            <a:prstDash val="solid"/>
          </a:ln>
        </p:spPr>
      </p:sp>
      <p:pic>
        <p:nvPicPr>
          <p:cNvPr id="27" name="Image 4" descr="link icon">    </p:cNvPr>
          <p:cNvPicPr>
            <a:picLocks noChangeAspect="1"/>
          </p:cNvPicPr>
          <p:nvPr/>
        </p:nvPicPr>
        <p:blipFill>
          <a:blip r:embed="rId6"/>
          <a:stretch>
            <a:fillRect/>
          </a:stretch>
        </p:blipFill>
        <p:spPr>
          <a:xfrm>
            <a:off x="6536131" y="2805379"/>
            <a:ext cx="204826" cy="204826"/>
          </a:xfrm>
          <a:prstGeom prst="rect">
            <a:avLst/>
          </a:prstGeom>
        </p:spPr>
      </p:pic>
      <p:sp>
        <p:nvSpPr>
          <p:cNvPr id="28" name="Text 21"/>
          <p:cNvSpPr txBox="1"/>
          <p:nvPr/>
        </p:nvSpPr>
        <p:spPr>
          <a:xfrm>
            <a:off x="6949440" y="2688336"/>
            <a:ext cx="1280160" cy="438912"/>
          </a:xfrm>
          <a:prstGeom prst="rect">
            <a:avLst/>
          </a:prstGeom>
          <a:noFill/>
          <a:ln/>
        </p:spPr>
        <p:txBody>
          <a:bodyPr wrap="square" lIns="0" tIns="0" rIns="0" bIns="0" rtlCol="0" anchor="ctr"/>
          <a:lstStyle/>
          <a:p>
            <a:pPr algn="l" indent="0" marL="0">
              <a:buNone/>
            </a:pPr>
            <a:r>
              <a:rPr lang="en-US" sz="1400" b="1" dirty="0">
                <a:solidFill>
                  <a:srgbClr val="F1F6F5"/>
                </a:solidFill>
              </a:rPr>
              <a:t>Repository</a:t>
            </a:r>
            <a:endParaRPr lang="en-US" sz="1400" dirty="0"/>
          </a:p>
        </p:txBody>
      </p:sp>
      <p:sp>
        <p:nvSpPr>
          <p:cNvPr id="29" name="Text 22"/>
          <p:cNvSpPr txBox="1"/>
          <p:nvPr/>
        </p:nvSpPr>
        <p:spPr>
          <a:xfrm>
            <a:off x="8183880" y="2688336"/>
            <a:ext cx="3322015" cy="438912"/>
          </a:xfrm>
          <a:prstGeom prst="rect">
            <a:avLst/>
          </a:prstGeom>
          <a:noFill/>
          <a:ln/>
        </p:spPr>
        <p:txBody>
          <a:bodyPr wrap="square" lIns="0" tIns="0" rIns="0" bIns="0" rtlCol="0" anchor="ctr"/>
          <a:lstStyle/>
          <a:p>
            <a:pPr indent="0" marL="0">
              <a:buNone/>
            </a:pPr>
            <a:r>
              <a:rPr lang="en-US" sz="1300" u="sng" dirty="0">
                <a:solidFill>
                  <a:srgbClr val="3FC1C0"/>
                </a:solidFill>
                <a:hlinkClick r:id="rId7" invalidUrl="" action="" tgtFrame="" tooltip="Repository" history="1" highlightClick="0" endSnd="0">
                  <a:extLst>
                    <a:ext uri="{A12FA001-AC4F-418D-AE19-62706E023703}">
                      <ahyp:hlinkClr xmlns:ahyp="http://schemas.microsoft.com/office/drawing/2018/hyperlinkcolor" val="tx"/>
                    </a:ext>
                  </a:extLst>
                </a:hlinkClick>
              </a:rPr>
              <a:t>github.com/pndynkt/Team-AMAZE_IIM-Lucknow</a:t>
            </a:r>
            <a:endParaRPr lang="en-US" sz="1300" dirty="0"/>
          </a:p>
        </p:txBody>
      </p:sp>
      <p:sp>
        <p:nvSpPr>
          <p:cNvPr id="30" name="Shape 23"/>
          <p:cNvSpPr/>
          <p:nvPr/>
        </p:nvSpPr>
        <p:spPr>
          <a:xfrm>
            <a:off x="6455664" y="3273552"/>
            <a:ext cx="365760" cy="365760"/>
          </a:xfrm>
          <a:prstGeom prst="ellipse">
            <a:avLst/>
          </a:prstGeom>
          <a:solidFill>
            <a:srgbClr val="10302F"/>
          </a:solidFill>
          <a:ln w="6350">
            <a:solidFill>
              <a:srgbClr val="27413F"/>
            </a:solidFill>
            <a:prstDash val="solid"/>
          </a:ln>
        </p:spPr>
      </p:sp>
      <p:pic>
        <p:nvPicPr>
          <p:cNvPr id="31" name="Image 5" descr="link icon">    </p:cNvPr>
          <p:cNvPicPr>
            <a:picLocks noChangeAspect="1"/>
          </p:cNvPicPr>
          <p:nvPr/>
        </p:nvPicPr>
        <p:blipFill>
          <a:blip r:embed="rId8"/>
          <a:stretch>
            <a:fillRect/>
          </a:stretch>
        </p:blipFill>
        <p:spPr>
          <a:xfrm>
            <a:off x="6536131" y="3354019"/>
            <a:ext cx="204826" cy="204826"/>
          </a:xfrm>
          <a:prstGeom prst="rect">
            <a:avLst/>
          </a:prstGeom>
        </p:spPr>
      </p:pic>
      <p:sp>
        <p:nvSpPr>
          <p:cNvPr id="32" name="Text 24"/>
          <p:cNvSpPr txBox="1"/>
          <p:nvPr/>
        </p:nvSpPr>
        <p:spPr>
          <a:xfrm>
            <a:off x="6949440" y="3236976"/>
            <a:ext cx="1280160" cy="438912"/>
          </a:xfrm>
          <a:prstGeom prst="rect">
            <a:avLst/>
          </a:prstGeom>
          <a:noFill/>
          <a:ln/>
        </p:spPr>
        <p:txBody>
          <a:bodyPr wrap="square" lIns="0" tIns="0" rIns="0" bIns="0" rtlCol="0" anchor="ctr"/>
          <a:lstStyle/>
          <a:p>
            <a:pPr algn="l" indent="0" marL="0">
              <a:buNone/>
            </a:pPr>
            <a:r>
              <a:rPr lang="en-US" sz="1400" b="1" dirty="0">
                <a:solidFill>
                  <a:srgbClr val="F1F6F5"/>
                </a:solidFill>
              </a:rPr>
              <a:t>Algorithm</a:t>
            </a:r>
            <a:endParaRPr lang="en-US" sz="1400" dirty="0"/>
          </a:p>
        </p:txBody>
      </p:sp>
      <p:sp>
        <p:nvSpPr>
          <p:cNvPr id="33" name="Text 25"/>
          <p:cNvSpPr txBox="1"/>
          <p:nvPr/>
        </p:nvSpPr>
        <p:spPr>
          <a:xfrm>
            <a:off x="8183880" y="3236976"/>
            <a:ext cx="3322015" cy="438912"/>
          </a:xfrm>
          <a:prstGeom prst="rect">
            <a:avLst/>
          </a:prstGeom>
          <a:noFill/>
          <a:ln/>
        </p:spPr>
        <p:txBody>
          <a:bodyPr wrap="square" lIns="0" tIns="0" rIns="0" bIns="0" rtlCol="0" anchor="ctr"/>
          <a:lstStyle/>
          <a:p>
            <a:pPr indent="0" marL="0">
              <a:buNone/>
            </a:pPr>
            <a:r>
              <a:rPr lang="en-US" sz="1300" u="sng" dirty="0">
                <a:solidFill>
                  <a:srgbClr val="3FC1C0"/>
                </a:solidFill>
                <a:hlinkClick r:id="rId9" invalidUrl="" action="" tgtFrame="" tooltip="Algorithm" history="1" highlightClick="0" endSnd="0">
                  <a:extLst>
                    <a:ext uri="{A12FA001-AC4F-418D-AE19-62706E023703}">
                      <ahyp:hlinkClr xmlns:ahyp="http://schemas.microsoft.com/office/drawing/2018/hyperlinkcolor" val="tx"/>
                    </a:ext>
                  </a:extLst>
                </a:hlinkClick>
              </a:rPr>
              <a:t>docs/ALGORITHM.md</a:t>
            </a:r>
            <a:endParaRPr lang="en-US" sz="1300" dirty="0"/>
          </a:p>
        </p:txBody>
      </p:sp>
      <p:sp>
        <p:nvSpPr>
          <p:cNvPr id="34" name="Shape 26"/>
          <p:cNvSpPr/>
          <p:nvPr/>
        </p:nvSpPr>
        <p:spPr>
          <a:xfrm>
            <a:off x="6455664" y="3822192"/>
            <a:ext cx="365760" cy="365760"/>
          </a:xfrm>
          <a:prstGeom prst="ellipse">
            <a:avLst/>
          </a:prstGeom>
          <a:solidFill>
            <a:srgbClr val="10302F"/>
          </a:solidFill>
          <a:ln w="6350">
            <a:solidFill>
              <a:srgbClr val="27413F"/>
            </a:solidFill>
            <a:prstDash val="solid"/>
          </a:ln>
        </p:spPr>
      </p:sp>
      <p:pic>
        <p:nvPicPr>
          <p:cNvPr id="35" name="Image 6" descr="link icon">    </p:cNvPr>
          <p:cNvPicPr>
            <a:picLocks noChangeAspect="1"/>
          </p:cNvPicPr>
          <p:nvPr/>
        </p:nvPicPr>
        <p:blipFill>
          <a:blip r:embed="rId10"/>
          <a:stretch>
            <a:fillRect/>
          </a:stretch>
        </p:blipFill>
        <p:spPr>
          <a:xfrm>
            <a:off x="6536131" y="3902659"/>
            <a:ext cx="204826" cy="204826"/>
          </a:xfrm>
          <a:prstGeom prst="rect">
            <a:avLst/>
          </a:prstGeom>
        </p:spPr>
      </p:pic>
      <p:sp>
        <p:nvSpPr>
          <p:cNvPr id="36" name="Text 27"/>
          <p:cNvSpPr txBox="1"/>
          <p:nvPr/>
        </p:nvSpPr>
        <p:spPr>
          <a:xfrm>
            <a:off x="6949440" y="3785616"/>
            <a:ext cx="1280160" cy="438912"/>
          </a:xfrm>
          <a:prstGeom prst="rect">
            <a:avLst/>
          </a:prstGeom>
          <a:noFill/>
          <a:ln/>
        </p:spPr>
        <p:txBody>
          <a:bodyPr wrap="square" lIns="0" tIns="0" rIns="0" bIns="0" rtlCol="0" anchor="ctr"/>
          <a:lstStyle/>
          <a:p>
            <a:pPr algn="l" indent="0" marL="0">
              <a:buNone/>
            </a:pPr>
            <a:r>
              <a:rPr lang="en-US" sz="1400" b="1" dirty="0">
                <a:solidFill>
                  <a:srgbClr val="F1F6F5"/>
                </a:solidFill>
              </a:rPr>
              <a:t>Model card</a:t>
            </a:r>
            <a:endParaRPr lang="en-US" sz="1400" dirty="0"/>
          </a:p>
        </p:txBody>
      </p:sp>
      <p:sp>
        <p:nvSpPr>
          <p:cNvPr id="37" name="Text 28"/>
          <p:cNvSpPr txBox="1"/>
          <p:nvPr/>
        </p:nvSpPr>
        <p:spPr>
          <a:xfrm>
            <a:off x="8183880" y="3785616"/>
            <a:ext cx="3322015" cy="438912"/>
          </a:xfrm>
          <a:prstGeom prst="rect">
            <a:avLst/>
          </a:prstGeom>
          <a:noFill/>
          <a:ln/>
        </p:spPr>
        <p:txBody>
          <a:bodyPr wrap="square" lIns="0" tIns="0" rIns="0" bIns="0" rtlCol="0" anchor="ctr"/>
          <a:lstStyle/>
          <a:p>
            <a:pPr indent="0" marL="0">
              <a:buNone/>
            </a:pPr>
            <a:r>
              <a:rPr lang="en-US" sz="1300" u="sng" dirty="0">
                <a:solidFill>
                  <a:srgbClr val="3FC1C0"/>
                </a:solidFill>
                <a:hlinkClick r:id="rId11" invalidUrl="" action="" tgtFrame="" tooltip="Model card" history="1" highlightClick="0" endSnd="0">
                  <a:extLst>
                    <a:ext uri="{A12FA001-AC4F-418D-AE19-62706E023703}">
                      <ahyp:hlinkClr xmlns:ahyp="http://schemas.microsoft.com/office/drawing/2018/hyperlinkcolor" val="tx"/>
                    </a:ext>
                  </a:extLst>
                </a:hlinkClick>
              </a:rPr>
              <a:t>docs/MODEL_CARD.md</a:t>
            </a:r>
            <a:endParaRPr lang="en-US" sz="1300" dirty="0"/>
          </a:p>
        </p:txBody>
      </p:sp>
      <p:sp>
        <p:nvSpPr>
          <p:cNvPr id="38" name="Shape 29"/>
          <p:cNvSpPr/>
          <p:nvPr/>
        </p:nvSpPr>
        <p:spPr>
          <a:xfrm>
            <a:off x="6455664" y="4370832"/>
            <a:ext cx="365760" cy="365760"/>
          </a:xfrm>
          <a:prstGeom prst="ellipse">
            <a:avLst/>
          </a:prstGeom>
          <a:solidFill>
            <a:srgbClr val="10302F"/>
          </a:solidFill>
          <a:ln w="6350">
            <a:solidFill>
              <a:srgbClr val="27413F"/>
            </a:solidFill>
            <a:prstDash val="solid"/>
          </a:ln>
        </p:spPr>
      </p:sp>
      <p:pic>
        <p:nvPicPr>
          <p:cNvPr id="39" name="Image 7" descr="link icon">    </p:cNvPr>
          <p:cNvPicPr>
            <a:picLocks noChangeAspect="1"/>
          </p:cNvPicPr>
          <p:nvPr/>
        </p:nvPicPr>
        <p:blipFill>
          <a:blip r:embed="rId12"/>
          <a:stretch>
            <a:fillRect/>
          </a:stretch>
        </p:blipFill>
        <p:spPr>
          <a:xfrm>
            <a:off x="6536131" y="4451299"/>
            <a:ext cx="204826" cy="204826"/>
          </a:xfrm>
          <a:prstGeom prst="rect">
            <a:avLst/>
          </a:prstGeom>
        </p:spPr>
      </p:pic>
      <p:sp>
        <p:nvSpPr>
          <p:cNvPr id="40" name="Text 30"/>
          <p:cNvSpPr txBox="1"/>
          <p:nvPr/>
        </p:nvSpPr>
        <p:spPr>
          <a:xfrm>
            <a:off x="6949440" y="4334256"/>
            <a:ext cx="1280160" cy="438912"/>
          </a:xfrm>
          <a:prstGeom prst="rect">
            <a:avLst/>
          </a:prstGeom>
          <a:noFill/>
          <a:ln/>
        </p:spPr>
        <p:txBody>
          <a:bodyPr wrap="square" lIns="0" tIns="0" rIns="0" bIns="0" rtlCol="0" anchor="ctr"/>
          <a:lstStyle/>
          <a:p>
            <a:pPr algn="l" indent="0" marL="0">
              <a:buNone/>
            </a:pPr>
            <a:r>
              <a:rPr lang="en-US" sz="1400" b="1" dirty="0">
                <a:solidFill>
                  <a:srgbClr val="F1F6F5"/>
                </a:solidFill>
              </a:rPr>
              <a:t>Architecture</a:t>
            </a:r>
            <a:endParaRPr lang="en-US" sz="1400" dirty="0"/>
          </a:p>
        </p:txBody>
      </p:sp>
      <p:sp>
        <p:nvSpPr>
          <p:cNvPr id="41" name="Text 31"/>
          <p:cNvSpPr txBox="1"/>
          <p:nvPr/>
        </p:nvSpPr>
        <p:spPr>
          <a:xfrm>
            <a:off x="8183880" y="4334256"/>
            <a:ext cx="3322015" cy="438912"/>
          </a:xfrm>
          <a:prstGeom prst="rect">
            <a:avLst/>
          </a:prstGeom>
          <a:noFill/>
          <a:ln/>
        </p:spPr>
        <p:txBody>
          <a:bodyPr wrap="square" lIns="0" tIns="0" rIns="0" bIns="0" rtlCol="0" anchor="ctr"/>
          <a:lstStyle/>
          <a:p>
            <a:pPr indent="0" marL="0">
              <a:buNone/>
            </a:pPr>
            <a:r>
              <a:rPr lang="en-US" sz="1300" u="sng" dirty="0">
                <a:solidFill>
                  <a:srgbClr val="3FC1C0"/>
                </a:solidFill>
                <a:hlinkClick r:id="rId13" invalidUrl="" action="" tgtFrame="" tooltip="Architecture" history="1" highlightClick="0" endSnd="0">
                  <a:extLst>
                    <a:ext uri="{A12FA001-AC4F-418D-AE19-62706E023703}">
                      <ahyp:hlinkClr xmlns:ahyp="http://schemas.microsoft.com/office/drawing/2018/hyperlinkcolor" val="tx"/>
                    </a:ext>
                  </a:extLst>
                </a:hlinkClick>
              </a:rPr>
              <a:t>docs/architecture.pdf</a:t>
            </a:r>
            <a:endParaRPr lang="en-US" sz="1300" dirty="0"/>
          </a:p>
        </p:txBody>
      </p:sp>
      <p:sp>
        <p:nvSpPr>
          <p:cNvPr id="42" name="Shape 32"/>
          <p:cNvSpPr/>
          <p:nvPr/>
        </p:nvSpPr>
        <p:spPr>
          <a:xfrm>
            <a:off x="6455664" y="4919472"/>
            <a:ext cx="365760" cy="365760"/>
          </a:xfrm>
          <a:prstGeom prst="ellipse">
            <a:avLst/>
          </a:prstGeom>
          <a:solidFill>
            <a:srgbClr val="10302F"/>
          </a:solidFill>
          <a:ln w="6350">
            <a:solidFill>
              <a:srgbClr val="27413F"/>
            </a:solidFill>
            <a:prstDash val="solid"/>
          </a:ln>
        </p:spPr>
      </p:sp>
      <p:pic>
        <p:nvPicPr>
          <p:cNvPr id="43" name="Image 8" descr="link icon">    </p:cNvPr>
          <p:cNvPicPr>
            <a:picLocks noChangeAspect="1"/>
          </p:cNvPicPr>
          <p:nvPr/>
        </p:nvPicPr>
        <p:blipFill>
          <a:blip r:embed="rId14"/>
          <a:stretch>
            <a:fillRect/>
          </a:stretch>
        </p:blipFill>
        <p:spPr>
          <a:xfrm>
            <a:off x="6536131" y="4999939"/>
            <a:ext cx="204826" cy="204826"/>
          </a:xfrm>
          <a:prstGeom prst="rect">
            <a:avLst/>
          </a:prstGeom>
        </p:spPr>
      </p:pic>
      <p:sp>
        <p:nvSpPr>
          <p:cNvPr id="44" name="Text 33"/>
          <p:cNvSpPr txBox="1"/>
          <p:nvPr/>
        </p:nvSpPr>
        <p:spPr>
          <a:xfrm>
            <a:off x="6949440" y="4882896"/>
            <a:ext cx="1280160" cy="438912"/>
          </a:xfrm>
          <a:prstGeom prst="rect">
            <a:avLst/>
          </a:prstGeom>
          <a:noFill/>
          <a:ln/>
        </p:spPr>
        <p:txBody>
          <a:bodyPr wrap="square" lIns="0" tIns="0" rIns="0" bIns="0" rtlCol="0" anchor="ctr"/>
          <a:lstStyle/>
          <a:p>
            <a:pPr algn="l" indent="0" marL="0">
              <a:buNone/>
            </a:pPr>
            <a:r>
              <a:rPr lang="en-US" sz="1400" b="1" dirty="0">
                <a:solidFill>
                  <a:srgbClr val="F1F6F5"/>
                </a:solidFill>
              </a:rPr>
              <a:t>Demo video</a:t>
            </a:r>
            <a:endParaRPr lang="en-US" sz="1400" dirty="0"/>
          </a:p>
        </p:txBody>
      </p:sp>
      <p:sp>
        <p:nvSpPr>
          <p:cNvPr id="45" name="Text 34"/>
          <p:cNvSpPr txBox="1"/>
          <p:nvPr/>
        </p:nvSpPr>
        <p:spPr>
          <a:xfrm>
            <a:off x="8183880" y="4882896"/>
            <a:ext cx="3322015" cy="438912"/>
          </a:xfrm>
          <a:prstGeom prst="rect">
            <a:avLst/>
          </a:prstGeom>
          <a:noFill/>
          <a:ln/>
        </p:spPr>
        <p:txBody>
          <a:bodyPr wrap="square" lIns="0" tIns="0" rIns="0" bIns="0" rtlCol="0" anchor="ctr"/>
          <a:lstStyle/>
          <a:p>
            <a:pPr indent="0" marL="0">
              <a:buNone/>
            </a:pPr>
            <a:r>
              <a:rPr lang="en-US" sz="1300" u="sng" dirty="0">
                <a:solidFill>
                  <a:srgbClr val="3FC1C0"/>
                </a:solidFill>
                <a:hlinkClick r:id="rId15" invalidUrl="" action="" tgtFrame="" tooltip="Demo video" history="1" highlightClick="0" endSnd="0">
                  <a:extLst>
                    <a:ext uri="{A12FA001-AC4F-418D-AE19-62706E023703}">
                      <ahyp:hlinkClr xmlns:ahyp="http://schemas.microsoft.com/office/drawing/2018/hyperlinkcolor" val="tx"/>
                    </a:ext>
                  </a:extLst>
                </a:hlinkClick>
              </a:rPr>
              <a:t>unlisted YouTube; link in the README</a:t>
            </a:r>
            <a:endParaRPr lang="en-US" sz="1300" dirty="0"/>
          </a:p>
        </p:txBody>
      </p:sp>
      <p:sp>
        <p:nvSpPr>
          <p:cNvPr id="46" name="Text 35"/>
          <p:cNvSpPr txBox="1"/>
          <p:nvPr/>
        </p:nvSpPr>
        <p:spPr>
          <a:xfrm>
            <a:off x="6455664" y="5623560"/>
            <a:ext cx="4967935" cy="365760"/>
          </a:xfrm>
          <a:prstGeom prst="rect">
            <a:avLst/>
          </a:prstGeom>
          <a:noFill/>
          <a:ln/>
        </p:spPr>
        <p:txBody>
          <a:bodyPr wrap="square" lIns="0" tIns="0" rIns="0" bIns="0" rtlCol="0" anchor="t"/>
          <a:lstStyle/>
          <a:p>
            <a:pPr algn="l" indent="0" marL="0">
              <a:buNone/>
            </a:pPr>
            <a:r>
              <a:rPr lang="en-US" sz="1150" dirty="0">
                <a:solidFill>
                  <a:srgbClr val="93ADAA"/>
                </a:solidFill>
              </a:rPr>
              <a:t>Research prototype on synthetic data. Not a medical device. In an emergency, call 112.</a:t>
            </a:r>
            <a:endParaRPr lang="en-US" sz="1150" dirty="0"/>
          </a:p>
        </p:txBody>
      </p:sp>
      <p:sp>
        <p:nvSpPr>
          <p:cNvPr id="25" name="Slide Number Placeholder 0"/>
          <p:cNvSpPr>
            <a:spLocks noGrp="1"/>
          </p:cNvSpPr>
          <p:nvPr>
            <p:ph type="sldNum" sz="quarter" idx="4294967295"/>
          </p:nvPr>
        </p:nvSpPr>
        <p:spPr>
          <a:xfrm>
            <a:off x="11183112"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3ADAA"/>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Pratibimb">
  <a:themeElements>
    <a:clrScheme name="Pratibimb">
      <a:dk1>
        <a:srgbClr val="0E1A1A"/>
      </a:dk1>
      <a:lt1>
        <a:srgbClr val="F1F6F5"/>
      </a:lt1>
      <a:dk2>
        <a:srgbClr val="10302F"/>
      </a:dk2>
      <a:lt2>
        <a:srgbClr val="93ADAA"/>
      </a:lt2>
      <a:accent1>
        <a:srgbClr val="3FC1C0"/>
      </a:accent1>
      <a:accent2>
        <a:srgbClr val="D6A06A"/>
      </a:accent2>
      <a:accent3>
        <a:srgbClr val="E07A9E"/>
      </a:accent3>
      <a:accent4>
        <a:srgbClr val="2C8C8B"/>
      </a:accent4>
      <a:accent5>
        <a:srgbClr val="5BC08A"/>
      </a:accent5>
      <a:accent6>
        <a:srgbClr val="E3B341"/>
      </a:accent6>
      <a:hlink>
        <a:srgbClr val="3FC1C0"/>
      </a:hlink>
      <a:folHlink>
        <a:srgbClr val="D6A06A"/>
      </a:folHlink>
    </a:clrScheme>
    <a:fontScheme name="Pratibimb">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IIM Lucknow</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Pratibimb: a digital twin for hypertension</dc:title>
  <dc:subject>Happiest Health Digital Twin Challenge 2026</dc:subject>
  <dc:creator>Team AMAZE</dc:creator>
  <cp:lastModifiedBy>Team AMAZE</cp:lastModifiedBy>
  <cp:revision>1</cp:revision>
  <dcterms:created xsi:type="dcterms:W3CDTF">2026-10-17T11:54:32Z</dcterms:created>
  <dcterms:modified xsi:type="dcterms:W3CDTF">2026-10-17T11:54:32Z</dcterms:modified>
</cp:coreProperties>
</file>